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6"/>
  </p:notesMasterIdLst>
  <p:handoutMasterIdLst>
    <p:handoutMasterId r:id="rId17"/>
  </p:handoutMasterIdLst>
  <p:sldIdLst>
    <p:sldId id="275" r:id="rId2"/>
    <p:sldId id="276" r:id="rId3"/>
    <p:sldId id="278" r:id="rId4"/>
    <p:sldId id="289" r:id="rId5"/>
    <p:sldId id="290" r:id="rId6"/>
    <p:sldId id="291" r:id="rId7"/>
    <p:sldId id="282" r:id="rId8"/>
    <p:sldId id="292" r:id="rId9"/>
    <p:sldId id="294" r:id="rId10"/>
    <p:sldId id="293" r:id="rId11"/>
    <p:sldId id="284" r:id="rId12"/>
    <p:sldId id="288" r:id="rId13"/>
    <p:sldId id="277" r:id="rId14"/>
    <p:sldId id="286" r:id="rId15"/>
  </p:sldIdLst>
  <p:sldSz cx="9144000" cy="6858000" type="screen4x3"/>
  <p:notesSz cx="6858000" cy="9144000"/>
  <p:embeddedFontLst>
    <p:embeddedFont>
      <p:font typeface="Calibri" panose="020F0502020204030204" pitchFamily="34" charset="0"/>
      <p:regular r:id="rId18"/>
      <p:bold r:id="rId19"/>
      <p:italic r:id="rId20"/>
      <p:boldItalic r:id="rId21"/>
    </p:embeddedFont>
    <p:embeddedFont>
      <p:font typeface="Roboto" panose="02000000000000000000" pitchFamily="2" charset="0"/>
      <p:regular r:id="rId22"/>
      <p:bold r:id="rId23"/>
      <p:italic r:id="rId24"/>
      <p:boldItalic r:id="rId25"/>
    </p:embeddedFont>
    <p:embeddedFont>
      <p:font typeface="Twinkl" pitchFamily="2"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4" pos="340" userDrawn="1">
          <p15:clr>
            <a:srgbClr val="A4A3A4"/>
          </p15:clr>
        </p15:guide>
        <p15:guide id="5" orient="horz" pos="3952" userDrawn="1">
          <p15:clr>
            <a:srgbClr val="A4A3A4"/>
          </p15:clr>
        </p15:guide>
        <p15:guide id="6" pos="5420" userDrawn="1">
          <p15:clr>
            <a:srgbClr val="A4A3A4"/>
          </p15:clr>
        </p15:guide>
        <p15:guide id="7" orient="horz" pos="346" userDrawn="1">
          <p15:clr>
            <a:srgbClr val="A4A3A4"/>
          </p15:clr>
        </p15:guide>
        <p15:guide id="8" pos="476" userDrawn="1">
          <p15:clr>
            <a:srgbClr val="A4A3A4"/>
          </p15:clr>
        </p15:guide>
        <p15:guide id="9" orient="horz" pos="459" userDrawn="1">
          <p15:clr>
            <a:srgbClr val="A4A3A4"/>
          </p15:clr>
        </p15:guide>
        <p15:guide id="10" orient="horz" pos="3838" userDrawn="1">
          <p15:clr>
            <a:srgbClr val="A4A3A4"/>
          </p15:clr>
        </p15:guide>
        <p15:guide id="11" pos="52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B000"/>
    <a:srgbClr val="FFEDAA"/>
    <a:srgbClr val="F8BD95"/>
    <a:srgbClr val="E94E13"/>
    <a:srgbClr val="F08215"/>
    <a:srgbClr val="F3F3F3"/>
    <a:srgbClr val="689429"/>
    <a:srgbClr val="CFE09B"/>
    <a:srgbClr val="01407D"/>
    <a:srgbClr val="90C8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11" d="100"/>
          <a:sy n="111" d="100"/>
        </p:scale>
        <p:origin x="798" y="102"/>
      </p:cViewPr>
      <p:guideLst>
        <p:guide orient="horz" pos="2160"/>
        <p:guide pos="2880"/>
        <p:guide pos="340"/>
        <p:guide orient="horz" pos="3952"/>
        <p:guide pos="5420"/>
        <p:guide orient="horz" pos="346"/>
        <p:guide pos="476"/>
        <p:guide orient="horz" pos="459"/>
        <p:guide orient="horz" pos="3838"/>
        <p:guide pos="5284"/>
      </p:guideLst>
    </p:cSldViewPr>
  </p:slideViewPr>
  <p:notesTextViewPr>
    <p:cViewPr>
      <p:scale>
        <a:sx n="3" d="2"/>
        <a:sy n="3" d="2"/>
      </p:scale>
      <p:origin x="0" y="0"/>
    </p:cViewPr>
  </p:notesTextViewPr>
  <p:notesViewPr>
    <p:cSldViewPr snapToGrid="0" showGuides="1">
      <p:cViewPr varScale="1">
        <p:scale>
          <a:sx n="84" d="100"/>
          <a:sy n="84" d="100"/>
        </p:scale>
        <p:origin x="382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t>27/05/2020</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t>‹#›</a:t>
            </a:fld>
            <a:endParaRPr lang="en-GB"/>
          </a:p>
        </p:txBody>
      </p:sp>
    </p:spTree>
    <p:extLst>
      <p:ext uri="{BB962C8B-B14F-4D97-AF65-F5344CB8AC3E}">
        <p14:creationId xmlns:p14="http://schemas.microsoft.com/office/powerpoint/2010/main" val="2645397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t>27/05/2020</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t>‹#›</a:t>
            </a:fld>
            <a:endParaRPr lang="en-GB"/>
          </a:p>
        </p:txBody>
      </p:sp>
    </p:spTree>
    <p:extLst>
      <p:ext uri="{BB962C8B-B14F-4D97-AF65-F5344CB8AC3E}">
        <p14:creationId xmlns:p14="http://schemas.microsoft.com/office/powerpoint/2010/main" val="84704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hyperlink" Target="https://www.twinkl.co.uk/" TargetMode="Externa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hyperlink" Target="https://www.twinkl.co.uk/"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22767" y="6196125"/>
            <a:ext cx="576495" cy="580719"/>
          </a:xfrm>
          <a:prstGeom prst="rect">
            <a:avLst/>
          </a:prstGeom>
        </p:spPr>
      </p:pic>
      <p:sp>
        <p:nvSpPr>
          <p:cNvPr id="4" name="Rectangle 3">
            <a:hlinkClick r:id="rId4"/>
          </p:cNvPr>
          <p:cNvSpPr/>
          <p:nvPr userDrawn="1"/>
        </p:nvSpPr>
        <p:spPr>
          <a:xfrm>
            <a:off x="470333" y="5834189"/>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3704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Box">
    <p:spTree>
      <p:nvGrpSpPr>
        <p:cNvPr id="1" name=""/>
        <p:cNvGrpSpPr/>
        <p:nvPr/>
      </p:nvGrpSpPr>
      <p:grpSpPr>
        <a:xfrm>
          <a:off x="0" y="0"/>
          <a:ext cx="0" cy="0"/>
          <a:chOff x="0" y="0"/>
          <a:chExt cx="0" cy="0"/>
        </a:xfrm>
      </p:grpSpPr>
      <p:sp>
        <p:nvSpPr>
          <p:cNvPr id="4" name="Rounded Rectangle 3"/>
          <p:cNvSpPr/>
          <p:nvPr userDrawn="1"/>
        </p:nvSpPr>
        <p:spPr bwMode="auto">
          <a:xfrm>
            <a:off x="457198" y="438151"/>
            <a:ext cx="8220075" cy="5957887"/>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72497" y="5734211"/>
            <a:ext cx="576495" cy="580719"/>
          </a:xfrm>
          <a:prstGeom prst="rect">
            <a:avLst/>
          </a:prstGeom>
        </p:spPr>
      </p:pic>
    </p:spTree>
    <p:extLst>
      <p:ext uri="{BB962C8B-B14F-4D97-AF65-F5344CB8AC3E}">
        <p14:creationId xmlns:p14="http://schemas.microsoft.com/office/powerpoint/2010/main" val="3429871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alpha val="90000"/>
            </a:scheme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8" name="Title 5"/>
          <p:cNvSpPr>
            <a:spLocks noGrp="1"/>
          </p:cNvSpPr>
          <p:nvPr>
            <p:ph type="title"/>
          </p:nvPr>
        </p:nvSpPr>
        <p:spPr>
          <a:xfrm>
            <a:off x="457198" y="478895"/>
            <a:ext cx="8220075" cy="994306"/>
          </a:xfrm>
        </p:spPr>
        <p:txBody>
          <a:bodyPr>
            <a:noAutofit/>
          </a:bodyPr>
          <a:lstStyle>
            <a:lvl1pPr>
              <a:defRPr>
                <a:latin typeface="Twinkl" pitchFamily="2" charset="0"/>
              </a:defRPr>
            </a:lvl1pPr>
          </a:lstStyle>
          <a:p>
            <a:r>
              <a:rPr lang="en-US"/>
              <a:t>Click to edit Master title style</a:t>
            </a:r>
            <a:endParaRPr lang="en-GB" dirty="0"/>
          </a:p>
        </p:txBody>
      </p:sp>
    </p:spTree>
    <p:extLst>
      <p:ext uri="{BB962C8B-B14F-4D97-AF65-F5344CB8AC3E}">
        <p14:creationId xmlns:p14="http://schemas.microsoft.com/office/powerpoint/2010/main" val="261079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7523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22767" y="6196125"/>
            <a:ext cx="576495" cy="580719"/>
          </a:xfrm>
          <a:prstGeom prst="rect">
            <a:avLst/>
          </a:prstGeom>
        </p:spPr>
      </p:pic>
      <p:sp>
        <p:nvSpPr>
          <p:cNvPr id="4" name="Rectangle 3">
            <a:hlinkClick r:id="rId4"/>
          </p:cNvPr>
          <p:cNvSpPr/>
          <p:nvPr userDrawn="1"/>
        </p:nvSpPr>
        <p:spPr>
          <a:xfrm>
            <a:off x="4137660" y="3152488"/>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819737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9745" y="695325"/>
            <a:ext cx="8164510" cy="1150938"/>
          </a:xfrm>
          <a:prstGeom prst="roundRect">
            <a:avLst>
              <a:gd name="adj" fmla="val 9641"/>
            </a:avLst>
          </a:prstGeom>
          <a:noFill/>
          <a:ln w="25400">
            <a:noFill/>
          </a:ln>
        </p:spPr>
        <p:txBody>
          <a:bodyPr vert="horz" lIns="252000" tIns="252000" rIns="252000" bIns="252000" rtlCol="0" anchor="ctr" anchorCtr="1">
            <a:normAutofit/>
          </a:bodyPr>
          <a:lstStyle/>
          <a:p>
            <a:r>
              <a:rPr lang="en-US"/>
              <a:t>Click to edit Master title style</a:t>
            </a:r>
            <a:endParaRPr lang="en-US" dirty="0"/>
          </a:p>
        </p:txBody>
      </p:sp>
      <p:sp>
        <p:nvSpPr>
          <p:cNvPr id="3" name="Text Placeholder 2"/>
          <p:cNvSpPr>
            <a:spLocks noGrp="1"/>
          </p:cNvSpPr>
          <p:nvPr>
            <p:ph type="body" idx="1"/>
          </p:nvPr>
        </p:nvSpPr>
        <p:spPr>
          <a:xfrm>
            <a:off x="489745" y="1957386"/>
            <a:ext cx="8164510" cy="4387851"/>
          </a:xfrm>
          <a:prstGeom prst="roundRect">
            <a:avLst>
              <a:gd name="adj" fmla="val 2585"/>
            </a:avLst>
          </a:prstGeom>
          <a:noFill/>
          <a:ln w="25400">
            <a:noFill/>
          </a:ln>
        </p:spPr>
        <p:txBody>
          <a:bodyPr vert="horz" lIns="252000" tIns="252000" rIns="252000" bIns="252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89201"/>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2" r:id="rId3"/>
    <p:sldLayoutId id="2147483663" r:id="rId4"/>
    <p:sldLayoutId id="2147483666" r:id="rId5"/>
  </p:sldLayoutIdLst>
  <p:txStyles>
    <p:titleStyle>
      <a:lvl1pPr algn="l" defTabSz="914400" rtl="0" eaLnBrk="1" latinLnBrk="0" hangingPunct="1">
        <a:lnSpc>
          <a:spcPct val="90000"/>
        </a:lnSpc>
        <a:spcBef>
          <a:spcPct val="0"/>
        </a:spcBef>
        <a:buNone/>
        <a:defRPr sz="4000" b="1" kern="1200">
          <a:solidFill>
            <a:srgbClr val="1C1C1C"/>
          </a:solidFill>
          <a:latin typeface="Twinkl"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www.twinkl.co.uk/resources/white-rose-maths-resources/year-5-white-rose-maths-resources-key-stage-1-year-1-year-2/summer-block-1-decimals-year-5-white-rose-maths-hub-supporting-resources-key-stage-1"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jpeg"/><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jpe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25.jpeg"/><Relationship Id="rId7" Type="http://schemas.openxmlformats.org/officeDocument/2006/relationships/image" Target="../media/image29.jpeg"/><Relationship Id="rId2" Type="http://schemas.openxmlformats.org/officeDocument/2006/relationships/image" Target="../media/image24.png"/><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jpe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www.twinkl.co.uk/resources/planit-maths-primary-teaching-resources-year-5/planit-maths-primary-teaching-resources-year-5-number---multiplication-and-division/planit-maths-primary-teaching-resources-year-5-number---multiplication-and-division-multiply-and-divide-whole-numbers-and-those-involving-decimals-by-10-100-and-1000" TargetMode="External"/><Relationship Id="rId1" Type="http://schemas.openxmlformats.org/officeDocument/2006/relationships/slideLayout" Target="../slideLayouts/slideLayout4.xml"/><Relationship Id="rId5" Type="http://schemas.openxmlformats.org/officeDocument/2006/relationships/image" Target="../media/image33.jpg"/><Relationship Id="rId4" Type="http://schemas.openxmlformats.org/officeDocument/2006/relationships/image" Target="../media/image32.jpg"/></Relationships>
</file>

<file path=ppt/slides/_rels/slide14.xml.rels><?xml version="1.0" encoding="UTF-8" standalone="yes"?>
<Relationships xmlns="http://schemas.openxmlformats.org/package/2006/relationships"><Relationship Id="rId2" Type="http://schemas.openxmlformats.org/officeDocument/2006/relationships/hyperlink" Target="https://www.twinkl.co.uk/resources/white-rose-maths-resources/year-5-white-rose-maths-resources-key-stage-1-year-1-year-2/summer-block-1-decimals-year-5-white-rose-maths-hub-supporting-resources-key-stage-1"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hlinkClick r:id="rId2"/>
            <a:extLst>
              <a:ext uri="{FF2B5EF4-FFF2-40B4-BE49-F238E27FC236}">
                <a16:creationId xmlns:a16="http://schemas.microsoft.com/office/drawing/2014/main" id="{47DCDF90-87FE-4A1E-8942-EEE01238FF5C}"/>
              </a:ext>
            </a:extLst>
          </p:cNvPr>
          <p:cNvSpPr/>
          <p:nvPr/>
        </p:nvSpPr>
        <p:spPr>
          <a:xfrm>
            <a:off x="414068" y="5736567"/>
            <a:ext cx="1009290" cy="712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9622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461962" y="762000"/>
            <a:ext cx="8220075" cy="652318"/>
          </a:xfrm>
          <a:prstGeom prst="roundRect">
            <a:avLst>
              <a:gd name="adj" fmla="val 9641"/>
            </a:avLst>
          </a:prstGeom>
          <a:noFill/>
          <a:ln w="25400">
            <a:noFill/>
          </a:ln>
        </p:spPr>
        <p:txBody>
          <a:bodyPr vert="horz" lIns="252000" tIns="252000" rIns="252000" bIns="252000" rtlCol="0" anchor="ctr" anchorCtr="1">
            <a:noAutofit/>
          </a:bodyPr>
          <a:lstStyle>
            <a:lvl1pPr algn="l" defTabSz="914400" rtl="0" eaLnBrk="1" latinLnBrk="0" hangingPunct="1">
              <a:lnSpc>
                <a:spcPct val="90000"/>
              </a:lnSpc>
              <a:spcBef>
                <a:spcPct val="0"/>
              </a:spcBef>
              <a:buNone/>
              <a:defRPr sz="4000" b="1" kern="1200">
                <a:solidFill>
                  <a:srgbClr val="1C1C1C"/>
                </a:solidFill>
                <a:latin typeface="Twinkl SemiBold" pitchFamily="2"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altLang="en-US" sz="2800" b="1" i="0" u="none" strike="noStrike" kern="1200" cap="none" spc="0" normalizeH="0" baseline="0" noProof="0" dirty="0">
                <a:ln>
                  <a:noFill/>
                </a:ln>
                <a:solidFill>
                  <a:srgbClr val="014482"/>
                </a:solidFill>
                <a:effectLst/>
                <a:uLnTx/>
                <a:uFillTx/>
                <a:latin typeface="Roboto" panose="02000000000000000000" pitchFamily="2" charset="0"/>
                <a:ea typeface="Roboto" panose="02000000000000000000" pitchFamily="2" charset="0"/>
                <a:cs typeface="Arial" panose="020B0604020202020204" pitchFamily="34" charset="0"/>
              </a:rPr>
              <a:t>Diving into Mastery Guidance for Educators</a:t>
            </a:r>
          </a:p>
        </p:txBody>
      </p:sp>
      <p:sp>
        <p:nvSpPr>
          <p:cNvPr id="4" name="Rectangle 3">
            <a:extLst>
              <a:ext uri="{FF2B5EF4-FFF2-40B4-BE49-F238E27FC236}">
                <a16:creationId xmlns:a16="http://schemas.microsoft.com/office/drawing/2014/main" id="{FA04B34F-55C5-40A6-8A7E-881778633952}"/>
              </a:ext>
            </a:extLst>
          </p:cNvPr>
          <p:cNvSpPr/>
          <p:nvPr/>
        </p:nvSpPr>
        <p:spPr>
          <a:xfrm>
            <a:off x="761153" y="1994284"/>
            <a:ext cx="3196589" cy="3795053"/>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ysClr val="windowText" lastClr="000000"/>
              </a:solidFill>
              <a:effectLst/>
              <a:uLnTx/>
              <a:uFillTx/>
              <a:latin typeface="Twinkl" pitchFamily="50" charset="0"/>
            </a:endParaRPr>
          </a:p>
        </p:txBody>
      </p:sp>
      <p:sp>
        <p:nvSpPr>
          <p:cNvPr id="5" name="Rectangle 4"/>
          <p:cNvSpPr/>
          <p:nvPr/>
        </p:nvSpPr>
        <p:spPr>
          <a:xfrm>
            <a:off x="769943" y="1341966"/>
            <a:ext cx="7623169" cy="584775"/>
          </a:xfrm>
          <a:prstGeom prst="rect">
            <a:avLst/>
          </a:prstGeom>
        </p:spPr>
        <p:txBody>
          <a:bodyPr wrap="square">
            <a:spAutoFit/>
          </a:bodyPr>
          <a:lstStyle/>
          <a:p>
            <a:pPr algn="just"/>
            <a:r>
              <a:rPr lang="en-GB" sz="1600" dirty="0">
                <a:latin typeface="Roboto" panose="02000000000000000000" pitchFamily="2" charset="0"/>
                <a:ea typeface="Roboto" panose="02000000000000000000" pitchFamily="2" charset="0"/>
              </a:rPr>
              <a:t>Each activity sheet is split into three sections, diving, deeper and deepest, which are represented by the following icons:</a:t>
            </a:r>
          </a:p>
        </p:txBody>
      </p:sp>
      <p:sp>
        <p:nvSpPr>
          <p:cNvPr id="6" name="Rectangle 5">
            <a:extLst>
              <a:ext uri="{FF2B5EF4-FFF2-40B4-BE49-F238E27FC236}">
                <a16:creationId xmlns:a16="http://schemas.microsoft.com/office/drawing/2014/main" id="{D7C4EA92-F36C-4499-A738-0B1DDBF02EE5}"/>
              </a:ext>
            </a:extLst>
          </p:cNvPr>
          <p:cNvSpPr/>
          <p:nvPr/>
        </p:nvSpPr>
        <p:spPr>
          <a:xfrm>
            <a:off x="4184822" y="1936618"/>
            <a:ext cx="4208289" cy="3046988"/>
          </a:xfrm>
          <a:prstGeom prst="rect">
            <a:avLst/>
          </a:prstGeom>
        </p:spPr>
        <p:txBody>
          <a:bodyPr wrap="square" lIns="0" tIns="0" rIns="0" bIns="0">
            <a:spAutoFit/>
          </a:bodyPr>
          <a:lstStyle/>
          <a:p>
            <a:pPr algn="just"/>
            <a:r>
              <a:rPr lang="en-GB" sz="1600" dirty="0">
                <a:latin typeface="Roboto" panose="02000000000000000000" pitchFamily="2" charset="0"/>
                <a:ea typeface="Roboto" panose="02000000000000000000" pitchFamily="2" charset="0"/>
              </a:rPr>
              <a:t>These carefully designed activities take your children through a learning journey, initially ensuring they are fluent with the key concept being taught; then applying this to a range of reasoning and problem-solving activities. </a:t>
            </a:r>
          </a:p>
          <a:p>
            <a:pPr algn="just"/>
            <a:endParaRPr lang="en-GB" sz="1600" dirty="0">
              <a:latin typeface="Roboto" panose="02000000000000000000" pitchFamily="2" charset="0"/>
              <a:ea typeface="Roboto" panose="02000000000000000000" pitchFamily="2" charset="0"/>
            </a:endParaRPr>
          </a:p>
          <a:p>
            <a:pPr algn="just"/>
            <a:r>
              <a:rPr lang="en-GB" sz="1600" dirty="0">
                <a:latin typeface="Roboto" panose="02000000000000000000" pitchFamily="2" charset="0"/>
                <a:ea typeface="Roboto" panose="02000000000000000000" pitchFamily="2" charset="0"/>
              </a:rPr>
              <a:t>These sheets might not necessarily be used in a linear way. Some children might begin at the ‘Deeper’ section and in fact, others may ‘dive straight in’ to the ‘Deepest’ section if they have already mastered the skill and are applying this to show their depth of understanding. </a:t>
            </a:r>
          </a:p>
        </p:txBody>
      </p:sp>
      <p:grpSp>
        <p:nvGrpSpPr>
          <p:cNvPr id="7" name="Group 6"/>
          <p:cNvGrpSpPr/>
          <p:nvPr/>
        </p:nvGrpSpPr>
        <p:grpSpPr>
          <a:xfrm>
            <a:off x="1213030" y="2423057"/>
            <a:ext cx="2292835" cy="2937506"/>
            <a:chOff x="1213030" y="2423057"/>
            <a:chExt cx="2292835" cy="2937506"/>
          </a:xfrm>
        </p:grpSpPr>
        <p:pic>
          <p:nvPicPr>
            <p:cNvPr id="8" name="Picture 7">
              <a:extLst>
                <a:ext uri="{FF2B5EF4-FFF2-40B4-BE49-F238E27FC236}">
                  <a16:creationId xmlns:a16="http://schemas.microsoft.com/office/drawing/2014/main" id="{82F8BBE3-D3F3-4DE6-A818-2D773F20B1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3030" y="2423057"/>
              <a:ext cx="868680" cy="868680"/>
            </a:xfrm>
            <a:prstGeom prst="rect">
              <a:avLst/>
            </a:prstGeom>
          </p:spPr>
        </p:pic>
        <p:pic>
          <p:nvPicPr>
            <p:cNvPr id="9" name="Picture 8">
              <a:extLst>
                <a:ext uri="{FF2B5EF4-FFF2-40B4-BE49-F238E27FC236}">
                  <a16:creationId xmlns:a16="http://schemas.microsoft.com/office/drawing/2014/main" id="{164A8FE3-B06C-4E40-977F-4F3E0ACC2A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3030" y="3457470"/>
              <a:ext cx="868680" cy="868680"/>
            </a:xfrm>
            <a:prstGeom prst="rect">
              <a:avLst/>
            </a:prstGeom>
          </p:spPr>
        </p:pic>
        <p:pic>
          <p:nvPicPr>
            <p:cNvPr id="10" name="Picture 9">
              <a:extLst>
                <a:ext uri="{FF2B5EF4-FFF2-40B4-BE49-F238E27FC236}">
                  <a16:creationId xmlns:a16="http://schemas.microsoft.com/office/drawing/2014/main" id="{788CE03C-10B4-46B1-849A-0D1B9CBCCE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13030" y="4491883"/>
              <a:ext cx="868680" cy="868680"/>
            </a:xfrm>
            <a:prstGeom prst="rect">
              <a:avLst/>
            </a:prstGeom>
          </p:spPr>
        </p:pic>
        <p:sp>
          <p:nvSpPr>
            <p:cNvPr id="11" name="Arrow: Pentagon 11">
              <a:extLst>
                <a:ext uri="{FF2B5EF4-FFF2-40B4-BE49-F238E27FC236}">
                  <a16:creationId xmlns:a16="http://schemas.microsoft.com/office/drawing/2014/main" id="{602133B5-7961-4F75-A2BE-B73C6DB63E21}"/>
                </a:ext>
              </a:extLst>
            </p:cNvPr>
            <p:cNvSpPr/>
            <p:nvPr/>
          </p:nvSpPr>
          <p:spPr>
            <a:xfrm flipH="1">
              <a:off x="2180298" y="2674517"/>
              <a:ext cx="1325567" cy="365760"/>
            </a:xfrm>
            <a:prstGeom prst="homePlate">
              <a:avLst/>
            </a:prstGeom>
            <a:solidFill>
              <a:srgbClr val="4EB2E5"/>
            </a:solidFill>
            <a:ln>
              <a:no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lstStyle/>
            <a:p>
              <a:pPr algn="ctr"/>
              <a:r>
                <a:rPr lang="en-GB" b="1" kern="0" dirty="0">
                  <a:solidFill>
                    <a:schemeClr val="bg1"/>
                  </a:solidFill>
                  <a:latin typeface="Roboto" panose="02000000000000000000" pitchFamily="2" charset="0"/>
                  <a:ea typeface="Roboto" panose="02000000000000000000" pitchFamily="2" charset="0"/>
                  <a:cs typeface="Arial" panose="020B0604020202020204" pitchFamily="34" charset="0"/>
                </a:rPr>
                <a:t>Diving</a:t>
              </a:r>
              <a:endParaRPr lang="en-US" b="1" dirty="0">
                <a:solidFill>
                  <a:schemeClr val="bg1"/>
                </a:solidFill>
              </a:endParaRPr>
            </a:p>
          </p:txBody>
        </p:sp>
        <p:sp>
          <p:nvSpPr>
            <p:cNvPr id="12" name="Arrow: Pentagon 12">
              <a:extLst>
                <a:ext uri="{FF2B5EF4-FFF2-40B4-BE49-F238E27FC236}">
                  <a16:creationId xmlns:a16="http://schemas.microsoft.com/office/drawing/2014/main" id="{D99180F2-5FC9-4895-9C62-0CB9474D9C82}"/>
                </a:ext>
              </a:extLst>
            </p:cNvPr>
            <p:cNvSpPr/>
            <p:nvPr/>
          </p:nvSpPr>
          <p:spPr>
            <a:xfrm flipH="1">
              <a:off x="2180298" y="3708930"/>
              <a:ext cx="1325567" cy="365760"/>
            </a:xfrm>
            <a:prstGeom prst="homePlate">
              <a:avLst/>
            </a:prstGeom>
            <a:solidFill>
              <a:srgbClr val="007AC3"/>
            </a:solidFill>
            <a:ln>
              <a:no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lstStyle/>
            <a:p>
              <a:pPr algn="ctr"/>
              <a:r>
                <a:rPr lang="en-GB" b="1" kern="0" dirty="0">
                  <a:solidFill>
                    <a:schemeClr val="bg1"/>
                  </a:solidFill>
                  <a:latin typeface="Roboto" panose="02000000000000000000" pitchFamily="2" charset="0"/>
                  <a:ea typeface="Roboto" panose="02000000000000000000" pitchFamily="2" charset="0"/>
                  <a:cs typeface="Arial" panose="020B0604020202020204" pitchFamily="34" charset="0"/>
                </a:rPr>
                <a:t>Deeper</a:t>
              </a:r>
              <a:endParaRPr lang="en-US" b="1" dirty="0">
                <a:solidFill>
                  <a:schemeClr val="bg1"/>
                </a:solidFill>
              </a:endParaRPr>
            </a:p>
          </p:txBody>
        </p:sp>
        <p:sp>
          <p:nvSpPr>
            <p:cNvPr id="13" name="Arrow: Pentagon 13">
              <a:extLst>
                <a:ext uri="{FF2B5EF4-FFF2-40B4-BE49-F238E27FC236}">
                  <a16:creationId xmlns:a16="http://schemas.microsoft.com/office/drawing/2014/main" id="{6997B7B1-BA29-4830-B759-33B615380048}"/>
                </a:ext>
              </a:extLst>
            </p:cNvPr>
            <p:cNvSpPr/>
            <p:nvPr/>
          </p:nvSpPr>
          <p:spPr>
            <a:xfrm flipH="1">
              <a:off x="2180298" y="4743343"/>
              <a:ext cx="1325567" cy="365760"/>
            </a:xfrm>
            <a:prstGeom prst="homePlate">
              <a:avLst/>
            </a:prstGeom>
            <a:solidFill>
              <a:srgbClr val="00529C"/>
            </a:solidFill>
            <a:ln>
              <a:no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lstStyle/>
            <a:p>
              <a:pPr algn="ctr"/>
              <a:r>
                <a:rPr lang="en-GB" b="1" kern="0" dirty="0">
                  <a:solidFill>
                    <a:schemeClr val="bg1"/>
                  </a:solidFill>
                  <a:latin typeface="Roboto" panose="02000000000000000000" pitchFamily="2" charset="0"/>
                  <a:ea typeface="Roboto" panose="02000000000000000000" pitchFamily="2" charset="0"/>
                  <a:cs typeface="Arial" panose="020B0604020202020204" pitchFamily="34" charset="0"/>
                </a:rPr>
                <a:t>Deepest</a:t>
              </a:r>
              <a:endParaRPr lang="en-US" b="1" dirty="0">
                <a:solidFill>
                  <a:schemeClr val="bg1"/>
                </a:solidFill>
              </a:endParaRPr>
            </a:p>
          </p:txBody>
        </p:sp>
      </p:grpSp>
    </p:spTree>
    <p:extLst>
      <p:ext uri="{BB962C8B-B14F-4D97-AF65-F5344CB8AC3E}">
        <p14:creationId xmlns:p14="http://schemas.microsoft.com/office/powerpoint/2010/main" val="1324850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p:cNvSpPr/>
          <p:nvPr/>
        </p:nvSpPr>
        <p:spPr bwMode="auto">
          <a:xfrm>
            <a:off x="503239" y="512763"/>
            <a:ext cx="8137524" cy="2193019"/>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3" name="Title 1"/>
          <p:cNvSpPr txBox="1">
            <a:spLocks/>
          </p:cNvSpPr>
          <p:nvPr/>
        </p:nvSpPr>
        <p:spPr>
          <a:xfrm>
            <a:off x="628648" y="734785"/>
            <a:ext cx="7886700" cy="540000"/>
          </a:xfrm>
          <a:prstGeom prst="rect">
            <a:avLst/>
          </a:prstGeom>
        </p:spPr>
        <p:txBody>
          <a:bodyPr lIns="0" tIns="0" rIns="0" bIns="0" anchor="ctr" anchorCtr="1">
            <a:noAutofit/>
          </a:bodyPr>
          <a:lstStyle>
            <a:lvl1pPr algn="l" defTabSz="914400" rtl="0" eaLnBrk="1" latinLnBrk="0" hangingPunct="1">
              <a:lnSpc>
                <a:spcPct val="90000"/>
              </a:lnSpc>
              <a:spcBef>
                <a:spcPct val="0"/>
              </a:spcBef>
              <a:buNone/>
              <a:defRPr sz="4000" b="1" kern="1200">
                <a:solidFill>
                  <a:schemeClr val="tx1"/>
                </a:solidFill>
                <a:latin typeface="Sassoon Infant Md" panose="02000603050000020003" pitchFamily="50" charset="0"/>
                <a:ea typeface="+mj-ea"/>
                <a:cs typeface="+mj-cs"/>
              </a:defRPr>
            </a:lvl1pPr>
          </a:lstStyle>
          <a:p>
            <a:r>
              <a:rPr lang="en-US" sz="3600" dirty="0">
                <a:latin typeface="+mn-lt"/>
              </a:rPr>
              <a:t>Aim</a:t>
            </a:r>
          </a:p>
        </p:txBody>
      </p:sp>
      <p:sp>
        <p:nvSpPr>
          <p:cNvPr id="14" name="Content Placeholder 15"/>
          <p:cNvSpPr txBox="1">
            <a:spLocks/>
          </p:cNvSpPr>
          <p:nvPr/>
        </p:nvSpPr>
        <p:spPr>
          <a:xfrm>
            <a:off x="628650" y="1127760"/>
            <a:ext cx="7886700" cy="1409700"/>
          </a:xfrm>
          <a:prstGeom prst="roundRect">
            <a:avLst>
              <a:gd name="adj" fmla="val 2585"/>
            </a:avLst>
          </a:prstGeom>
          <a:noFill/>
          <a:ln w="25400">
            <a:noFill/>
          </a:ln>
        </p:spPr>
        <p:txBody>
          <a:bodyPr vert="horz" lIns="252000" tIns="252000" rIns="252000" bIns="252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GB" dirty="0">
                <a:solidFill>
                  <a:srgbClr val="000000"/>
                </a:solidFill>
              </a:rPr>
              <a:t>Multiply and divide whole numbers and those involving decimals by 10, 100 and 1000.</a:t>
            </a:r>
          </a:p>
        </p:txBody>
      </p:sp>
    </p:spTree>
    <p:extLst>
      <p:ext uri="{BB962C8B-B14F-4D97-AF65-F5344CB8AC3E}">
        <p14:creationId xmlns:p14="http://schemas.microsoft.com/office/powerpoint/2010/main" val="3643935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927966D-6FF9-4762-BCD6-2D8A991F1E23}"/>
              </a:ext>
            </a:extLst>
          </p:cNvPr>
          <p:cNvSpPr/>
          <p:nvPr/>
        </p:nvSpPr>
        <p:spPr>
          <a:xfrm>
            <a:off x="445574" y="702863"/>
            <a:ext cx="4374076" cy="355276"/>
          </a:xfrm>
          <a:prstGeom prst="rect">
            <a:avLst/>
          </a:prstGeom>
          <a:solidFill>
            <a:srgbClr val="072F54"/>
          </a:solidFill>
        </p:spPr>
        <p:txBody>
          <a:bodyPr wrap="square" lIns="180000" tIns="36000" rIns="180000" bIns="72000" anchor="ctr">
            <a:spAutoFit/>
          </a:bodyPr>
          <a:lstStyle/>
          <a:p>
            <a:r>
              <a:rPr lang="en-GB" sz="1600" b="1" dirty="0">
                <a:solidFill>
                  <a:schemeClr val="bg1"/>
                </a:solidFill>
              </a:rPr>
              <a:t>Multiplying Decimals by 10, 100 and 1000.</a:t>
            </a:r>
          </a:p>
        </p:txBody>
      </p:sp>
      <p:sp>
        <p:nvSpPr>
          <p:cNvPr id="27" name="Rectangle 26">
            <a:extLst>
              <a:ext uri="{FF2B5EF4-FFF2-40B4-BE49-F238E27FC236}">
                <a16:creationId xmlns:a16="http://schemas.microsoft.com/office/drawing/2014/main" id="{AE578BD9-5C18-423C-81C4-73E97EEDA2D8}"/>
              </a:ext>
            </a:extLst>
          </p:cNvPr>
          <p:cNvSpPr/>
          <p:nvPr/>
        </p:nvSpPr>
        <p:spPr>
          <a:xfrm>
            <a:off x="4819650" y="702863"/>
            <a:ext cx="976684" cy="355276"/>
          </a:xfrm>
          <a:prstGeom prst="rect">
            <a:avLst/>
          </a:prstGeom>
          <a:solidFill>
            <a:srgbClr val="4EB2E5"/>
          </a:solidFill>
        </p:spPr>
        <p:txBody>
          <a:bodyPr wrap="square" lIns="180000" tIns="36000" rIns="180000" bIns="72000" anchor="ctr">
            <a:spAutoFit/>
          </a:bodyPr>
          <a:lstStyle/>
          <a:p>
            <a:pPr algn="ctr"/>
            <a:r>
              <a:rPr lang="en-GB" altLang="en-US" sz="1600" b="1" dirty="0">
                <a:solidFill>
                  <a:schemeClr val="bg1"/>
                </a:solidFill>
              </a:rPr>
              <a:t>Diving</a:t>
            </a:r>
            <a:endParaRPr lang="en-GB" sz="1600" b="1" dirty="0">
              <a:solidFill>
                <a:schemeClr val="bg1"/>
              </a:solidFill>
            </a:endParaRPr>
          </a:p>
        </p:txBody>
      </p:sp>
      <p:cxnSp>
        <p:nvCxnSpPr>
          <p:cNvPr id="28" name="Straight Connector 27">
            <a:extLst>
              <a:ext uri="{FF2B5EF4-FFF2-40B4-BE49-F238E27FC236}">
                <a16:creationId xmlns:a16="http://schemas.microsoft.com/office/drawing/2014/main" id="{FBC56827-6E47-4A52-B8C1-C25345F73EFC}"/>
              </a:ext>
            </a:extLst>
          </p:cNvPr>
          <p:cNvCxnSpPr/>
          <p:nvPr/>
        </p:nvCxnSpPr>
        <p:spPr>
          <a:xfrm>
            <a:off x="4819650" y="701739"/>
            <a:ext cx="0" cy="3564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A89F8AF-9683-438A-8052-F5C41646AF9D}"/>
              </a:ext>
            </a:extLst>
          </p:cNvPr>
          <p:cNvSpPr/>
          <p:nvPr/>
        </p:nvSpPr>
        <p:spPr>
          <a:xfrm>
            <a:off x="539750" y="1337094"/>
            <a:ext cx="8064498" cy="4936706"/>
          </a:xfrm>
          <a:prstGeom prst="rect">
            <a:avLst/>
          </a:prstGeom>
          <a:solidFill>
            <a:srgbClr val="6E6D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32" name="Picture 131">
            <a:extLst>
              <a:ext uri="{FF2B5EF4-FFF2-40B4-BE49-F238E27FC236}">
                <a16:creationId xmlns:a16="http://schemas.microsoft.com/office/drawing/2014/main" id="{83B2E1DD-1BF6-4E89-92B3-29666AB2539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595" t="2024" r="1588" b="2024"/>
          <a:stretch/>
        </p:blipFill>
        <p:spPr>
          <a:xfrm>
            <a:off x="539751" y="1337094"/>
            <a:ext cx="8064500" cy="4936706"/>
          </a:xfrm>
          <a:prstGeom prst="rect">
            <a:avLst/>
          </a:prstGeom>
        </p:spPr>
      </p:pic>
      <p:pic>
        <p:nvPicPr>
          <p:cNvPr id="98" name="Picture 97">
            <a:extLst>
              <a:ext uri="{FF2B5EF4-FFF2-40B4-BE49-F238E27FC236}">
                <a16:creationId xmlns:a16="http://schemas.microsoft.com/office/drawing/2014/main" id="{6078A644-0840-4131-AA2B-29CA3E1F1B0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1495004" y="2377570"/>
            <a:ext cx="6153990" cy="3896230"/>
          </a:xfrm>
          <a:prstGeom prst="rect">
            <a:avLst/>
          </a:prstGeom>
          <a:effectLst>
            <a:outerShdw blurRad="50800" dist="38100" dir="18900000" algn="bl" rotWithShape="0">
              <a:prstClr val="black">
                <a:alpha val="40000"/>
              </a:prstClr>
            </a:outerShdw>
          </a:effectLst>
        </p:spPr>
      </p:pic>
      <p:pic>
        <p:nvPicPr>
          <p:cNvPr id="5" name="Picture 4">
            <a:extLst>
              <a:ext uri="{FF2B5EF4-FFF2-40B4-BE49-F238E27FC236}">
                <a16:creationId xmlns:a16="http://schemas.microsoft.com/office/drawing/2014/main" id="{2830866F-58AA-4213-AFD1-4A7F919ABC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04094" y="532799"/>
            <a:ext cx="700156" cy="700156"/>
          </a:xfrm>
          <a:prstGeom prst="rect">
            <a:avLst/>
          </a:prstGeom>
        </p:spPr>
      </p:pic>
      <p:sp>
        <p:nvSpPr>
          <p:cNvPr id="91" name="TextBox 90">
            <a:extLst>
              <a:ext uri="{FF2B5EF4-FFF2-40B4-BE49-F238E27FC236}">
                <a16:creationId xmlns:a16="http://schemas.microsoft.com/office/drawing/2014/main" id="{64F2C1FE-2A0C-4C40-941A-5F46145A93A0}"/>
              </a:ext>
            </a:extLst>
          </p:cNvPr>
          <p:cNvSpPr txBox="1"/>
          <p:nvPr/>
        </p:nvSpPr>
        <p:spPr>
          <a:xfrm>
            <a:off x="-448575" y="1499808"/>
            <a:ext cx="7125599" cy="710678"/>
          </a:xfrm>
          <a:prstGeom prst="rect">
            <a:avLst/>
          </a:prstGeom>
          <a:solidFill>
            <a:srgbClr val="90C8E5"/>
          </a:solidFill>
          <a:ln w="19050">
            <a:solidFill>
              <a:srgbClr val="01407D"/>
            </a:solidFill>
          </a:ln>
          <a:effectLst>
            <a:outerShdw blurRad="50800" dist="38100" dir="8100000" algn="tr" rotWithShape="0">
              <a:prstClr val="black">
                <a:alpha val="40000"/>
              </a:prstClr>
            </a:outerShdw>
          </a:effectLst>
        </p:spPr>
        <p:txBody>
          <a:bodyPr wrap="square" lIns="108000" tIns="108000" rIns="252000" bIns="108000" rtlCol="0" anchor="ctr">
            <a:noAutofit/>
          </a:bodyPr>
          <a:lstStyle/>
          <a:p>
            <a:pPr algn="r"/>
            <a:r>
              <a:rPr lang="en-GB" b="1" dirty="0"/>
              <a:t>What is the answer when 2.34 is multiplied by 100?</a:t>
            </a:r>
          </a:p>
        </p:txBody>
      </p:sp>
      <p:graphicFrame>
        <p:nvGraphicFramePr>
          <p:cNvPr id="87" name="Table 4">
            <a:extLst>
              <a:ext uri="{FF2B5EF4-FFF2-40B4-BE49-F238E27FC236}">
                <a16:creationId xmlns:a16="http://schemas.microsoft.com/office/drawing/2014/main" id="{2E08238F-C945-4939-8F65-4D62BB3CC0EF}"/>
              </a:ext>
            </a:extLst>
          </p:cNvPr>
          <p:cNvGraphicFramePr>
            <a:graphicFrameLocks noGrp="1"/>
          </p:cNvGraphicFramePr>
          <p:nvPr>
            <p:extLst>
              <p:ext uri="{D42A27DB-BD31-4B8C-83A1-F6EECF244321}">
                <p14:modId xmlns:p14="http://schemas.microsoft.com/office/powerpoint/2010/main" val="1506079340"/>
              </p:ext>
            </p:extLst>
          </p:nvPr>
        </p:nvGraphicFramePr>
        <p:xfrm>
          <a:off x="1762127" y="2794686"/>
          <a:ext cx="5619748" cy="1043051"/>
        </p:xfrm>
        <a:graphic>
          <a:graphicData uri="http://schemas.openxmlformats.org/drawingml/2006/table">
            <a:tbl>
              <a:tblPr firstRow="1" bandRow="1">
                <a:tableStyleId>{5C22544A-7EE6-4342-B048-85BDC9FD1C3A}</a:tableStyleId>
              </a:tblPr>
              <a:tblGrid>
                <a:gridCol w="990808">
                  <a:extLst>
                    <a:ext uri="{9D8B030D-6E8A-4147-A177-3AD203B41FA5}">
                      <a16:colId xmlns:a16="http://schemas.microsoft.com/office/drawing/2014/main" val="849675884"/>
                    </a:ext>
                  </a:extLst>
                </a:gridCol>
                <a:gridCol w="885525">
                  <a:extLst>
                    <a:ext uri="{9D8B030D-6E8A-4147-A177-3AD203B41FA5}">
                      <a16:colId xmlns:a16="http://schemas.microsoft.com/office/drawing/2014/main" val="232478989"/>
                    </a:ext>
                  </a:extLst>
                </a:gridCol>
                <a:gridCol w="838875">
                  <a:extLst>
                    <a:ext uri="{9D8B030D-6E8A-4147-A177-3AD203B41FA5}">
                      <a16:colId xmlns:a16="http://schemas.microsoft.com/office/drawing/2014/main" val="2391122521"/>
                    </a:ext>
                  </a:extLst>
                </a:gridCol>
                <a:gridCol w="762614">
                  <a:extLst>
                    <a:ext uri="{9D8B030D-6E8A-4147-A177-3AD203B41FA5}">
                      <a16:colId xmlns:a16="http://schemas.microsoft.com/office/drawing/2014/main" val="2586586273"/>
                    </a:ext>
                  </a:extLst>
                </a:gridCol>
                <a:gridCol w="1042238">
                  <a:extLst>
                    <a:ext uri="{9D8B030D-6E8A-4147-A177-3AD203B41FA5}">
                      <a16:colId xmlns:a16="http://schemas.microsoft.com/office/drawing/2014/main" val="3919420830"/>
                    </a:ext>
                  </a:extLst>
                </a:gridCol>
                <a:gridCol w="1099688">
                  <a:extLst>
                    <a:ext uri="{9D8B030D-6E8A-4147-A177-3AD203B41FA5}">
                      <a16:colId xmlns:a16="http://schemas.microsoft.com/office/drawing/2014/main" val="1234579158"/>
                    </a:ext>
                  </a:extLst>
                </a:gridCol>
              </a:tblGrid>
              <a:tr h="331137">
                <a:tc>
                  <a:txBody>
                    <a:bodyPr/>
                    <a:lstStyle/>
                    <a:p>
                      <a:pPr algn="ctr"/>
                      <a:r>
                        <a:rPr lang="en-GB" sz="1300" b="1" dirty="0">
                          <a:solidFill>
                            <a:schemeClr val="tx1"/>
                          </a:solidFill>
                        </a:rPr>
                        <a:t>hundreds</a:t>
                      </a:r>
                    </a:p>
                  </a:txBody>
                  <a:tcPr marL="64719" marR="64719" marT="32360" marB="3236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FB6D8"/>
                    </a:solidFill>
                  </a:tcPr>
                </a:tc>
                <a:tc>
                  <a:txBody>
                    <a:bodyPr/>
                    <a:lstStyle/>
                    <a:p>
                      <a:pPr algn="ctr"/>
                      <a:r>
                        <a:rPr lang="en-GB" sz="1300" b="1" dirty="0">
                          <a:solidFill>
                            <a:schemeClr val="tx1"/>
                          </a:solidFill>
                        </a:rPr>
                        <a:t>tens</a:t>
                      </a:r>
                    </a:p>
                  </a:txBody>
                  <a:tcPr marL="64719" marR="64719" marT="32360" marB="323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FB6D8"/>
                    </a:solidFill>
                  </a:tcPr>
                </a:tc>
                <a:tc>
                  <a:txBody>
                    <a:bodyPr/>
                    <a:lstStyle/>
                    <a:p>
                      <a:pPr algn="ctr"/>
                      <a:r>
                        <a:rPr lang="en-GB" sz="1300" b="1" dirty="0">
                          <a:solidFill>
                            <a:schemeClr val="tx1"/>
                          </a:solidFill>
                        </a:rPr>
                        <a:t>ones</a:t>
                      </a:r>
                    </a:p>
                  </a:txBody>
                  <a:tcPr marL="64719" marR="64719" marT="32360" marB="323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FB6D8"/>
                    </a:solidFill>
                  </a:tcPr>
                </a:tc>
                <a:tc>
                  <a:txBody>
                    <a:bodyPr/>
                    <a:lstStyle/>
                    <a:p>
                      <a:pPr algn="ctr"/>
                      <a:r>
                        <a:rPr lang="en-GB" sz="1300" b="1" dirty="0">
                          <a:solidFill>
                            <a:schemeClr val="tx1"/>
                          </a:solidFill>
                        </a:rPr>
                        <a:t>tenths</a:t>
                      </a:r>
                    </a:p>
                  </a:txBody>
                  <a:tcPr marL="64719" marR="64719" marT="32360" marB="323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FB6D8"/>
                    </a:solidFill>
                  </a:tcPr>
                </a:tc>
                <a:tc>
                  <a:txBody>
                    <a:bodyPr/>
                    <a:lstStyle/>
                    <a:p>
                      <a:pPr algn="ctr"/>
                      <a:r>
                        <a:rPr lang="en-GB" sz="1300" b="1" dirty="0">
                          <a:solidFill>
                            <a:schemeClr val="tx1"/>
                          </a:solidFill>
                        </a:rPr>
                        <a:t>hundredths</a:t>
                      </a:r>
                    </a:p>
                  </a:txBody>
                  <a:tcPr marL="64719" marR="64719" marT="32360" marB="323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FB6D8"/>
                    </a:solidFill>
                  </a:tcPr>
                </a:tc>
                <a:tc>
                  <a:txBody>
                    <a:bodyPr/>
                    <a:lstStyle/>
                    <a:p>
                      <a:pPr algn="ctr"/>
                      <a:r>
                        <a:rPr lang="en-GB" sz="1300" b="1" dirty="0">
                          <a:solidFill>
                            <a:schemeClr val="tx1"/>
                          </a:solidFill>
                        </a:rPr>
                        <a:t>thousandths</a:t>
                      </a:r>
                    </a:p>
                  </a:txBody>
                  <a:tcPr marL="64719" marR="64719" marT="32360" marB="3236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FB6D8"/>
                    </a:solidFill>
                  </a:tcPr>
                </a:tc>
                <a:extLst>
                  <a:ext uri="{0D108BD9-81ED-4DB2-BD59-A6C34878D82A}">
                    <a16:rowId xmlns:a16="http://schemas.microsoft.com/office/drawing/2014/main" val="4198052327"/>
                  </a:ext>
                </a:extLst>
              </a:tr>
              <a:tr h="711914">
                <a:tc>
                  <a:txBody>
                    <a:bodyPr/>
                    <a:lstStyle/>
                    <a:p>
                      <a:pPr algn="ctr"/>
                      <a:endParaRPr lang="en-GB" sz="4200" dirty="0"/>
                    </a:p>
                  </a:txBody>
                  <a:tcPr marL="64719" marR="64719" marT="32360" marB="32360">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endParaRPr lang="en-GB" sz="4200" dirty="0"/>
                    </a:p>
                  </a:txBody>
                  <a:tcPr marL="64719" marR="64719" marT="32360" marB="323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endParaRPr lang="en-GB" sz="4200" dirty="0"/>
                    </a:p>
                  </a:txBody>
                  <a:tcPr marL="64719" marR="64719" marT="32360" marB="323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endParaRPr lang="en-GB" sz="4200" dirty="0"/>
                    </a:p>
                  </a:txBody>
                  <a:tcPr marL="64719" marR="64719" marT="32360" marB="323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endParaRPr lang="en-GB" sz="4200" dirty="0"/>
                    </a:p>
                  </a:txBody>
                  <a:tcPr marL="64719" marR="64719" marT="32360" marB="323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endParaRPr lang="en-GB" sz="4200" dirty="0"/>
                    </a:p>
                  </a:txBody>
                  <a:tcPr marL="64719" marR="64719" marT="32360" marB="32360">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8949578"/>
                  </a:ext>
                </a:extLst>
              </a:tr>
            </a:tbl>
          </a:graphicData>
        </a:graphic>
      </p:graphicFrame>
      <p:sp>
        <p:nvSpPr>
          <p:cNvPr id="7" name="Oval 6">
            <a:extLst>
              <a:ext uri="{FF2B5EF4-FFF2-40B4-BE49-F238E27FC236}">
                <a16:creationId xmlns:a16="http://schemas.microsoft.com/office/drawing/2014/main" id="{3ACBF676-FE37-4E72-8696-03EB18B09285}"/>
              </a:ext>
            </a:extLst>
          </p:cNvPr>
          <p:cNvSpPr/>
          <p:nvPr/>
        </p:nvSpPr>
        <p:spPr>
          <a:xfrm>
            <a:off x="4429999" y="3437209"/>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a:extLst>
              <a:ext uri="{FF2B5EF4-FFF2-40B4-BE49-F238E27FC236}">
                <a16:creationId xmlns:a16="http://schemas.microsoft.com/office/drawing/2014/main" id="{A0DD5D37-03B8-41AB-989F-423AF0154582}"/>
              </a:ext>
            </a:extLst>
          </p:cNvPr>
          <p:cNvSpPr/>
          <p:nvPr/>
        </p:nvSpPr>
        <p:spPr>
          <a:xfrm>
            <a:off x="4429999" y="2931827"/>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Rounded Corners 24">
            <a:extLst>
              <a:ext uri="{FF2B5EF4-FFF2-40B4-BE49-F238E27FC236}">
                <a16:creationId xmlns:a16="http://schemas.microsoft.com/office/drawing/2014/main" id="{EFE13AC7-2CC7-47ED-8B09-CDF56CE1F92B}"/>
              </a:ext>
            </a:extLst>
          </p:cNvPr>
          <p:cNvSpPr/>
          <p:nvPr/>
        </p:nvSpPr>
        <p:spPr>
          <a:xfrm>
            <a:off x="1638292" y="4902089"/>
            <a:ext cx="1355286" cy="885696"/>
          </a:xfrm>
          <a:prstGeom prst="round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23.4</a:t>
            </a:r>
          </a:p>
        </p:txBody>
      </p:sp>
      <p:sp>
        <p:nvSpPr>
          <p:cNvPr id="102" name="Rectangle: Rounded Corners 101">
            <a:extLst>
              <a:ext uri="{FF2B5EF4-FFF2-40B4-BE49-F238E27FC236}">
                <a16:creationId xmlns:a16="http://schemas.microsoft.com/office/drawing/2014/main" id="{49C21CC8-258E-4641-A56B-CFF5C3F257ED}"/>
              </a:ext>
            </a:extLst>
          </p:cNvPr>
          <p:cNvSpPr/>
          <p:nvPr/>
        </p:nvSpPr>
        <p:spPr>
          <a:xfrm>
            <a:off x="3144717" y="4902089"/>
            <a:ext cx="1355286" cy="885696"/>
          </a:xfrm>
          <a:prstGeom prst="round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234</a:t>
            </a:r>
          </a:p>
        </p:txBody>
      </p:sp>
      <p:sp>
        <p:nvSpPr>
          <p:cNvPr id="104" name="Rectangle: Rounded Corners 103">
            <a:extLst>
              <a:ext uri="{FF2B5EF4-FFF2-40B4-BE49-F238E27FC236}">
                <a16:creationId xmlns:a16="http://schemas.microsoft.com/office/drawing/2014/main" id="{979EF5E8-EBC5-4B5B-A63F-9173E793DE1A}"/>
              </a:ext>
            </a:extLst>
          </p:cNvPr>
          <p:cNvSpPr/>
          <p:nvPr/>
        </p:nvSpPr>
        <p:spPr>
          <a:xfrm>
            <a:off x="4645668" y="4902089"/>
            <a:ext cx="1355286" cy="885696"/>
          </a:xfrm>
          <a:prstGeom prst="round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2340</a:t>
            </a:r>
          </a:p>
        </p:txBody>
      </p:sp>
      <p:sp>
        <p:nvSpPr>
          <p:cNvPr id="105" name="Rectangle: Rounded Corners 104">
            <a:extLst>
              <a:ext uri="{FF2B5EF4-FFF2-40B4-BE49-F238E27FC236}">
                <a16:creationId xmlns:a16="http://schemas.microsoft.com/office/drawing/2014/main" id="{612977D7-6A9C-4AFC-B814-A87193A48EB3}"/>
              </a:ext>
            </a:extLst>
          </p:cNvPr>
          <p:cNvSpPr/>
          <p:nvPr/>
        </p:nvSpPr>
        <p:spPr>
          <a:xfrm>
            <a:off x="6150414" y="4902089"/>
            <a:ext cx="1355286" cy="885696"/>
          </a:xfrm>
          <a:prstGeom prst="round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23</a:t>
            </a:r>
          </a:p>
        </p:txBody>
      </p:sp>
      <p:sp>
        <p:nvSpPr>
          <p:cNvPr id="115" name="Rectangle: Rounded Corners 114">
            <a:extLst>
              <a:ext uri="{FF2B5EF4-FFF2-40B4-BE49-F238E27FC236}">
                <a16:creationId xmlns:a16="http://schemas.microsoft.com/office/drawing/2014/main" id="{2D0E8A9A-37D6-4843-AB28-85064D254372}"/>
              </a:ext>
            </a:extLst>
          </p:cNvPr>
          <p:cNvSpPr/>
          <p:nvPr/>
        </p:nvSpPr>
        <p:spPr>
          <a:xfrm>
            <a:off x="3144716" y="4902089"/>
            <a:ext cx="1357657" cy="885696"/>
          </a:xfrm>
          <a:prstGeom prst="roundRect">
            <a:avLst/>
          </a:prstGeom>
          <a:solidFill>
            <a:schemeClr val="bg1"/>
          </a:solidFill>
          <a:ln w="38100">
            <a:solidFill>
              <a:srgbClr val="68942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sz="2400" dirty="0"/>
          </a:p>
        </p:txBody>
      </p:sp>
      <p:sp>
        <p:nvSpPr>
          <p:cNvPr id="10" name="TextBox 9">
            <a:extLst>
              <a:ext uri="{FF2B5EF4-FFF2-40B4-BE49-F238E27FC236}">
                <a16:creationId xmlns:a16="http://schemas.microsoft.com/office/drawing/2014/main" id="{A4A8C899-5CD5-4C8F-A307-C3126F922AC3}"/>
              </a:ext>
            </a:extLst>
          </p:cNvPr>
          <p:cNvSpPr txBox="1"/>
          <p:nvPr/>
        </p:nvSpPr>
        <p:spPr>
          <a:xfrm>
            <a:off x="3866482" y="3182245"/>
            <a:ext cx="402674" cy="584775"/>
          </a:xfrm>
          <a:prstGeom prst="rect">
            <a:avLst/>
          </a:prstGeom>
          <a:noFill/>
        </p:spPr>
        <p:txBody>
          <a:bodyPr wrap="none" rtlCol="0">
            <a:spAutoFit/>
          </a:bodyPr>
          <a:lstStyle/>
          <a:p>
            <a:pPr algn="ctr"/>
            <a:r>
              <a:rPr lang="en-GB" sz="3200" b="1" dirty="0">
                <a:solidFill>
                  <a:srgbClr val="689429"/>
                </a:solidFill>
              </a:rPr>
              <a:t>2</a:t>
            </a:r>
          </a:p>
        </p:txBody>
      </p:sp>
      <p:sp>
        <p:nvSpPr>
          <p:cNvPr id="106" name="TextBox 105">
            <a:extLst>
              <a:ext uri="{FF2B5EF4-FFF2-40B4-BE49-F238E27FC236}">
                <a16:creationId xmlns:a16="http://schemas.microsoft.com/office/drawing/2014/main" id="{6927EB8B-ABD8-40BD-B9E0-9F2848008114}"/>
              </a:ext>
            </a:extLst>
          </p:cNvPr>
          <p:cNvSpPr txBox="1"/>
          <p:nvPr/>
        </p:nvSpPr>
        <p:spPr>
          <a:xfrm>
            <a:off x="4685875" y="3182245"/>
            <a:ext cx="377941" cy="584775"/>
          </a:xfrm>
          <a:prstGeom prst="rect">
            <a:avLst/>
          </a:prstGeom>
          <a:noFill/>
        </p:spPr>
        <p:txBody>
          <a:bodyPr wrap="square" rtlCol="0">
            <a:spAutoFit/>
          </a:bodyPr>
          <a:lstStyle/>
          <a:p>
            <a:pPr algn="ctr"/>
            <a:r>
              <a:rPr lang="en-GB" sz="3200" b="1" dirty="0">
                <a:solidFill>
                  <a:srgbClr val="689429"/>
                </a:solidFill>
              </a:rPr>
              <a:t>3</a:t>
            </a:r>
          </a:p>
        </p:txBody>
      </p:sp>
      <p:sp>
        <p:nvSpPr>
          <p:cNvPr id="107" name="TextBox 106">
            <a:extLst>
              <a:ext uri="{FF2B5EF4-FFF2-40B4-BE49-F238E27FC236}">
                <a16:creationId xmlns:a16="http://schemas.microsoft.com/office/drawing/2014/main" id="{C65D2CE6-BA16-43F9-8DAC-2D9CFD35CC66}"/>
              </a:ext>
            </a:extLst>
          </p:cNvPr>
          <p:cNvSpPr txBox="1"/>
          <p:nvPr/>
        </p:nvSpPr>
        <p:spPr>
          <a:xfrm>
            <a:off x="5563393" y="3182245"/>
            <a:ext cx="377941" cy="584775"/>
          </a:xfrm>
          <a:prstGeom prst="rect">
            <a:avLst/>
          </a:prstGeom>
          <a:noFill/>
        </p:spPr>
        <p:txBody>
          <a:bodyPr wrap="square" rtlCol="0">
            <a:spAutoFit/>
          </a:bodyPr>
          <a:lstStyle/>
          <a:p>
            <a:pPr algn="ctr"/>
            <a:r>
              <a:rPr lang="en-GB" sz="3200" b="1" dirty="0">
                <a:solidFill>
                  <a:srgbClr val="689429"/>
                </a:solidFill>
              </a:rPr>
              <a:t>4</a:t>
            </a:r>
          </a:p>
        </p:txBody>
      </p:sp>
      <p:sp>
        <p:nvSpPr>
          <p:cNvPr id="12" name="Rectangle 11">
            <a:extLst>
              <a:ext uri="{FF2B5EF4-FFF2-40B4-BE49-F238E27FC236}">
                <a16:creationId xmlns:a16="http://schemas.microsoft.com/office/drawing/2014/main" id="{41204D00-ED1B-4975-A7D4-CB4A139C8703}"/>
              </a:ext>
            </a:extLst>
          </p:cNvPr>
          <p:cNvSpPr/>
          <p:nvPr/>
        </p:nvSpPr>
        <p:spPr>
          <a:xfrm>
            <a:off x="3479539" y="5114105"/>
            <a:ext cx="688010" cy="461665"/>
          </a:xfrm>
          <a:prstGeom prst="rect">
            <a:avLst/>
          </a:prstGeom>
        </p:spPr>
        <p:txBody>
          <a:bodyPr wrap="none">
            <a:spAutoFit/>
          </a:bodyPr>
          <a:lstStyle/>
          <a:p>
            <a:pPr algn="ctr"/>
            <a:r>
              <a:rPr lang="en-GB" sz="2400" b="1" dirty="0"/>
              <a:t>234</a:t>
            </a:r>
          </a:p>
        </p:txBody>
      </p:sp>
      <p:pic>
        <p:nvPicPr>
          <p:cNvPr id="128" name="Picture 127">
            <a:extLst>
              <a:ext uri="{FF2B5EF4-FFF2-40B4-BE49-F238E27FC236}">
                <a16:creationId xmlns:a16="http://schemas.microsoft.com/office/drawing/2014/main" id="{33C91E66-9B43-4A5C-9385-408E323F720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2929" y="3694441"/>
            <a:ext cx="4514208" cy="3762657"/>
          </a:xfrm>
          <a:prstGeom prst="rect">
            <a:avLst/>
          </a:prstGeom>
        </p:spPr>
      </p:pic>
      <p:pic>
        <p:nvPicPr>
          <p:cNvPr id="108" name="Picture 107">
            <a:extLst>
              <a:ext uri="{FF2B5EF4-FFF2-40B4-BE49-F238E27FC236}">
                <a16:creationId xmlns:a16="http://schemas.microsoft.com/office/drawing/2014/main" id="{35EA629D-7315-4E18-B4F4-EC27D88C93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6176" y="-666523"/>
            <a:ext cx="4867971" cy="4192476"/>
          </a:xfrm>
          <a:prstGeom prst="rect">
            <a:avLst/>
          </a:prstGeom>
        </p:spPr>
      </p:pic>
      <p:pic>
        <p:nvPicPr>
          <p:cNvPr id="110" name="Picture 109">
            <a:extLst>
              <a:ext uri="{FF2B5EF4-FFF2-40B4-BE49-F238E27FC236}">
                <a16:creationId xmlns:a16="http://schemas.microsoft.com/office/drawing/2014/main" id="{520F377E-7346-4FEB-8F78-2AFAE278D6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78000" y="-628538"/>
            <a:ext cx="4867971" cy="4192476"/>
          </a:xfrm>
          <a:prstGeom prst="rect">
            <a:avLst/>
          </a:prstGeom>
        </p:spPr>
      </p:pic>
      <p:pic>
        <p:nvPicPr>
          <p:cNvPr id="111" name="Picture 110">
            <a:extLst>
              <a:ext uri="{FF2B5EF4-FFF2-40B4-BE49-F238E27FC236}">
                <a16:creationId xmlns:a16="http://schemas.microsoft.com/office/drawing/2014/main" id="{540A3060-BC18-489F-BFEE-8A77F5AD5BB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58573" y="-655809"/>
            <a:ext cx="4867971" cy="4192476"/>
          </a:xfrm>
          <a:prstGeom prst="rect">
            <a:avLst/>
          </a:prstGeom>
        </p:spPr>
      </p:pic>
    </p:spTree>
    <p:extLst>
      <p:ext uri="{BB962C8B-B14F-4D97-AF65-F5344CB8AC3E}">
        <p14:creationId xmlns:p14="http://schemas.microsoft.com/office/powerpoint/2010/main" val="3676274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4" presetClass="path" presetSubtype="0" accel="50000" decel="50000" fill="hold" grpId="1" nodeType="clickEffect">
                                  <p:stCondLst>
                                    <p:cond delay="0"/>
                                  </p:stCondLst>
                                  <p:childTnLst>
                                    <p:animMotion origin="layout" path="M -1.66667E-6 -2.96296E-6 L -0.02465 -0.03217 C -0.02969 -0.03935 -0.03715 -0.04282 -0.04496 -0.04282 C -0.05416 -0.04282 -0.06128 -0.03935 -0.06632 -0.03217 L -0.08993 -2.96296E-6 " pathEditMode="relative" rAng="0" ptsTypes="AAAAA">
                                      <p:cBhvr>
                                        <p:cTn id="6" dur="750" fill="hold"/>
                                        <p:tgtEl>
                                          <p:spTgt spid="10"/>
                                        </p:tgtEl>
                                        <p:attrNameLst>
                                          <p:attrName>ppt_x</p:attrName>
                                          <p:attrName>ppt_y</p:attrName>
                                        </p:attrNameLst>
                                      </p:cBhvr>
                                      <p:rCtr x="-4497" y="-2153"/>
                                    </p:animMotion>
                                  </p:childTnLst>
                                </p:cTn>
                              </p:par>
                            </p:childTnLst>
                          </p:cTn>
                        </p:par>
                        <p:par>
                          <p:cTn id="7" fill="hold">
                            <p:stCondLst>
                              <p:cond delay="750"/>
                            </p:stCondLst>
                            <p:childTnLst>
                              <p:par>
                                <p:cTn id="8" presetID="44" presetClass="path" presetSubtype="0" accel="50000" decel="50000" fill="hold" grpId="2" nodeType="afterEffect">
                                  <p:stCondLst>
                                    <p:cond delay="0"/>
                                  </p:stCondLst>
                                  <p:childTnLst>
                                    <p:animMotion origin="layout" path="M -0.08993 -2.96296E-6 L -0.11927 -0.03518 C -0.12535 -0.04305 -0.13455 -0.04722 -0.14392 -0.04722 C -0.15486 -0.04722 -0.16337 -0.04305 -0.16944 -0.03518 L -0.19844 -2.96296E-6 " pathEditMode="relative" rAng="0" ptsTypes="AAAAA">
                                      <p:cBhvr>
                                        <p:cTn id="9" dur="750" fill="hold"/>
                                        <p:tgtEl>
                                          <p:spTgt spid="10"/>
                                        </p:tgtEl>
                                        <p:attrNameLst>
                                          <p:attrName>ppt_x</p:attrName>
                                          <p:attrName>ppt_y</p:attrName>
                                        </p:attrNameLst>
                                      </p:cBhvr>
                                      <p:rCtr x="-5434" y="-2361"/>
                                    </p:animMotion>
                                  </p:childTnLst>
                                </p:cTn>
                              </p:par>
                            </p:childTnLst>
                          </p:cTn>
                        </p:par>
                      </p:childTnLst>
                    </p:cTn>
                  </p:par>
                  <p:par>
                    <p:cTn id="10" fill="hold">
                      <p:stCondLst>
                        <p:cond delay="indefinite"/>
                      </p:stCondLst>
                      <p:childTnLst>
                        <p:par>
                          <p:cTn id="11" fill="hold">
                            <p:stCondLst>
                              <p:cond delay="0"/>
                            </p:stCondLst>
                            <p:childTnLst>
                              <p:par>
                                <p:cTn id="12" presetID="44" presetClass="path" presetSubtype="0" accel="50000" decel="50000" fill="hold" grpId="1" nodeType="clickEffect">
                                  <p:stCondLst>
                                    <p:cond delay="0"/>
                                  </p:stCondLst>
                                  <p:childTnLst>
                                    <p:animMotion origin="layout" path="M 2.77778E-7 -2.96296E-6 L -0.02465 -0.03217 C -0.02969 -0.03935 -0.03715 -0.04282 -0.04497 -0.04282 C -0.05417 -0.04282 -0.06128 -0.03935 -0.06632 -0.03217 L -0.08993 -2.96296E-6 " pathEditMode="relative" rAng="0" ptsTypes="AAAAA">
                                      <p:cBhvr>
                                        <p:cTn id="13" dur="750" fill="hold"/>
                                        <p:tgtEl>
                                          <p:spTgt spid="106"/>
                                        </p:tgtEl>
                                        <p:attrNameLst>
                                          <p:attrName>ppt_x</p:attrName>
                                          <p:attrName>ppt_y</p:attrName>
                                        </p:attrNameLst>
                                      </p:cBhvr>
                                      <p:rCtr x="-4497" y="-2153"/>
                                    </p:animMotion>
                                  </p:childTnLst>
                                </p:cTn>
                              </p:par>
                            </p:childTnLst>
                          </p:cTn>
                        </p:par>
                        <p:par>
                          <p:cTn id="14" fill="hold">
                            <p:stCondLst>
                              <p:cond delay="750"/>
                            </p:stCondLst>
                            <p:childTnLst>
                              <p:par>
                                <p:cTn id="15" presetID="44" presetClass="path" presetSubtype="0" accel="50000" decel="50000" fill="hold" grpId="2" nodeType="afterEffect">
                                  <p:stCondLst>
                                    <p:cond delay="0"/>
                                  </p:stCondLst>
                                  <p:childTnLst>
                                    <p:animMotion origin="layout" path="M -0.08993 -2.96296E-6 L -0.1158 -0.03518 C -0.12118 -0.04305 -0.12934 -0.04722 -0.1375 -0.04722 C -0.14722 -0.04722 -0.15451 -0.04305 -0.16007 -0.03518 L -0.18524 -2.96296E-6 " pathEditMode="relative" rAng="0" ptsTypes="AAAAA">
                                      <p:cBhvr>
                                        <p:cTn id="16" dur="750" fill="hold"/>
                                        <p:tgtEl>
                                          <p:spTgt spid="106"/>
                                        </p:tgtEl>
                                        <p:attrNameLst>
                                          <p:attrName>ppt_x</p:attrName>
                                          <p:attrName>ppt_y</p:attrName>
                                        </p:attrNameLst>
                                      </p:cBhvr>
                                      <p:rCtr x="-4774" y="-2361"/>
                                    </p:animMotion>
                                  </p:childTnLst>
                                </p:cTn>
                              </p:par>
                            </p:childTnLst>
                          </p:cTn>
                        </p:par>
                      </p:childTnLst>
                    </p:cTn>
                  </p:par>
                  <p:par>
                    <p:cTn id="17" fill="hold">
                      <p:stCondLst>
                        <p:cond delay="indefinite"/>
                      </p:stCondLst>
                      <p:childTnLst>
                        <p:par>
                          <p:cTn id="18" fill="hold">
                            <p:stCondLst>
                              <p:cond delay="0"/>
                            </p:stCondLst>
                            <p:childTnLst>
                              <p:par>
                                <p:cTn id="19" presetID="44" presetClass="path" presetSubtype="0" accel="50000" decel="50000" fill="hold" grpId="1" nodeType="clickEffect">
                                  <p:stCondLst>
                                    <p:cond delay="0"/>
                                  </p:stCondLst>
                                  <p:childTnLst>
                                    <p:animMotion origin="layout" path="M 4.16667E-6 -2.96296E-6 L -0.02448 -0.03217 C -0.02969 -0.03935 -0.03698 -0.04282 -0.0448 -0.04282 C -0.054 -0.04282 -0.06112 -0.03935 -0.06615 -0.03217 L -0.08959 -2.96296E-6 " pathEditMode="relative" rAng="0" ptsTypes="AAAAA">
                                      <p:cBhvr>
                                        <p:cTn id="20" dur="750" fill="hold"/>
                                        <p:tgtEl>
                                          <p:spTgt spid="107"/>
                                        </p:tgtEl>
                                        <p:attrNameLst>
                                          <p:attrName>ppt_x</p:attrName>
                                          <p:attrName>ppt_y</p:attrName>
                                        </p:attrNameLst>
                                      </p:cBhvr>
                                      <p:rCtr x="-4479" y="-2153"/>
                                    </p:animMotion>
                                  </p:childTnLst>
                                </p:cTn>
                              </p:par>
                            </p:childTnLst>
                          </p:cTn>
                        </p:par>
                        <p:par>
                          <p:cTn id="21" fill="hold">
                            <p:stCondLst>
                              <p:cond delay="750"/>
                            </p:stCondLst>
                            <p:childTnLst>
                              <p:par>
                                <p:cTn id="22" presetID="44" presetClass="path" presetSubtype="0" accel="50000" decel="50000" fill="hold" grpId="2" nodeType="afterEffect">
                                  <p:stCondLst>
                                    <p:cond delay="0"/>
                                  </p:stCondLst>
                                  <p:childTnLst>
                                    <p:animMotion origin="layout" path="M -0.08959 -2.96296E-6 L -0.11598 -0.03518 C -0.12153 -0.04305 -0.12969 -0.04722 -0.1382 -0.04722 C -0.14792 -0.04722 -0.15556 -0.04305 -0.16112 -0.03518 L -0.18698 -2.96296E-6 " pathEditMode="relative" rAng="0" ptsTypes="AAAAA">
                                      <p:cBhvr>
                                        <p:cTn id="23" dur="750" fill="hold"/>
                                        <p:tgtEl>
                                          <p:spTgt spid="107"/>
                                        </p:tgtEl>
                                        <p:attrNameLst>
                                          <p:attrName>ppt_x</p:attrName>
                                          <p:attrName>ppt_y</p:attrName>
                                        </p:attrNameLst>
                                      </p:cBhvr>
                                      <p:rCtr x="-4878" y="-2361"/>
                                    </p:animMotion>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8"/>
                                        </p:tgtEl>
                                        <p:attrNameLst>
                                          <p:attrName>style.visibility</p:attrName>
                                        </p:attrNameLst>
                                      </p:cBhvr>
                                      <p:to>
                                        <p:strVal val="visible"/>
                                      </p:to>
                                    </p:set>
                                    <p:animEffect transition="in" filter="fade">
                                      <p:cBhvr>
                                        <p:cTn id="28" dur="500"/>
                                        <p:tgtEl>
                                          <p:spTgt spid="128"/>
                                        </p:tgtEl>
                                      </p:cBhvr>
                                    </p:animEffect>
                                  </p:childTnLst>
                                </p:cTn>
                              </p:par>
                            </p:childTnLst>
                          </p:cTn>
                        </p:par>
                        <p:par>
                          <p:cTn id="29" fill="hold">
                            <p:stCondLst>
                              <p:cond delay="500"/>
                            </p:stCondLst>
                            <p:childTnLst>
                              <p:par>
                                <p:cTn id="30" presetID="21" presetClass="entr" presetSubtype="1" fill="hold" grpId="0" nodeType="afterEffect">
                                  <p:stCondLst>
                                    <p:cond delay="0"/>
                                  </p:stCondLst>
                                  <p:childTnLst>
                                    <p:set>
                                      <p:cBhvr>
                                        <p:cTn id="31" dur="1" fill="hold">
                                          <p:stCondLst>
                                            <p:cond delay="0"/>
                                          </p:stCondLst>
                                        </p:cTn>
                                        <p:tgtEl>
                                          <p:spTgt spid="115"/>
                                        </p:tgtEl>
                                        <p:attrNameLst>
                                          <p:attrName>style.visibility</p:attrName>
                                        </p:attrNameLst>
                                      </p:cBhvr>
                                      <p:to>
                                        <p:strVal val="visible"/>
                                      </p:to>
                                    </p:set>
                                    <p:animEffect transition="in" filter="wheel(1)">
                                      <p:cBhvr>
                                        <p:cTn id="32" dur="1000"/>
                                        <p:tgtEl>
                                          <p:spTgt spid="115"/>
                                        </p:tgtEl>
                                      </p:cBhvr>
                                    </p:animEffect>
                                  </p:childTnLst>
                                </p:cTn>
                              </p:par>
                              <p:par>
                                <p:cTn id="33" presetID="1" presetClass="path" presetSubtype="0" accel="50000" decel="50000" fill="hold" nodeType="withEffect">
                                  <p:stCondLst>
                                    <p:cond delay="0"/>
                                  </p:stCondLst>
                                  <p:childTnLst>
                                    <p:animMotion origin="layout" path="M -4.72222E-6 -2.96296E-6 C 0.06407 -2.96296E-6 0.11667 0.03195 0.11667 0.0713 C 0.11667 0.11065 0.06407 0.14306 -4.72222E-6 0.14306 C -0.0644 0.14306 -0.11666 0.11065 -0.11666 0.0713 C -0.11666 0.03195 -0.0644 -2.96296E-6 -4.72222E-6 -2.96296E-6 Z " pathEditMode="relative" rAng="0" ptsTypes="AAAAA">
                                      <p:cBhvr>
                                        <p:cTn id="34" dur="1000" fill="hold"/>
                                        <p:tgtEl>
                                          <p:spTgt spid="128"/>
                                        </p:tgtEl>
                                        <p:attrNameLst>
                                          <p:attrName>ppt_x</p:attrName>
                                          <p:attrName>ppt_y</p:attrName>
                                        </p:attrNameLst>
                                      </p:cBhvr>
                                      <p:rCtr x="0" y="7153"/>
                                    </p:animMotion>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par>
                          <p:cTn id="38" fill="hold">
                            <p:stCondLst>
                              <p:cond delay="1500"/>
                            </p:stCondLst>
                            <p:childTnLst>
                              <p:par>
                                <p:cTn id="39" presetID="10" presetClass="exit" presetSubtype="0" fill="hold" nodeType="afterEffect">
                                  <p:stCondLst>
                                    <p:cond delay="0"/>
                                  </p:stCondLst>
                                  <p:childTnLst>
                                    <p:animEffect transition="out" filter="fade">
                                      <p:cBhvr>
                                        <p:cTn id="40" dur="500"/>
                                        <p:tgtEl>
                                          <p:spTgt spid="128"/>
                                        </p:tgtEl>
                                      </p:cBhvr>
                                    </p:animEffect>
                                    <p:set>
                                      <p:cBhvr>
                                        <p:cTn id="41" dur="1" fill="hold">
                                          <p:stCondLst>
                                            <p:cond delay="499"/>
                                          </p:stCondLst>
                                        </p:cTn>
                                        <p:tgtEl>
                                          <p:spTgt spid="128"/>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08"/>
                                        </p:tgtEl>
                                        <p:attrNameLst>
                                          <p:attrName>style.visibility</p:attrName>
                                        </p:attrNameLst>
                                      </p:cBhvr>
                                      <p:to>
                                        <p:strVal val="visible"/>
                                      </p:to>
                                    </p:set>
                                    <p:animEffect transition="in" filter="fade">
                                      <p:cBhvr>
                                        <p:cTn id="46" dur="500"/>
                                        <p:tgtEl>
                                          <p:spTgt spid="108"/>
                                        </p:tgtEl>
                                      </p:cBhvr>
                                    </p:animEffect>
                                  </p:childTnLst>
                                </p:cTn>
                              </p:par>
                              <p:par>
                                <p:cTn id="47" presetID="1" presetClass="exit" presetSubtype="0" fill="hold" grpId="0" nodeType="withEffect">
                                  <p:stCondLst>
                                    <p:cond delay="0"/>
                                  </p:stCondLst>
                                  <p:childTnLst>
                                    <p:set>
                                      <p:cBhvr>
                                        <p:cTn id="48" dur="1" fill="hold">
                                          <p:stCondLst>
                                            <p:cond delay="0"/>
                                          </p:stCondLst>
                                        </p:cTn>
                                        <p:tgtEl>
                                          <p:spTgt spid="91"/>
                                        </p:tgtEl>
                                        <p:attrNameLst>
                                          <p:attrName>style.visibility</p:attrName>
                                        </p:attrNameLst>
                                      </p:cBhvr>
                                      <p:to>
                                        <p:strVal val="hidden"/>
                                      </p:to>
                                    </p:set>
                                  </p:childTnLst>
                                </p:cTn>
                              </p:par>
                              <p:par>
                                <p:cTn id="49" presetID="1" presetClass="path" presetSubtype="0" accel="50000" decel="50000" fill="hold" nodeType="withEffect">
                                  <p:stCondLst>
                                    <p:cond delay="0"/>
                                  </p:stCondLst>
                                  <p:childTnLst>
                                    <p:animMotion origin="layout" path="M -0.01215 2.77556E-17 C 0.00555 2.77556E-17 0.02049 0.01782 0.02049 0.04005 C 0.02049 0.0625 0.00555 0.08102 -0.01215 0.08102 C -0.03038 0.08102 -0.04479 0.0625 -0.04479 0.04005 C -0.04479 0.01782 -0.03038 2.77556E-17 -0.01215 2.77556E-17 Z " pathEditMode="relative" rAng="0" ptsTypes="AAAAA">
                                      <p:cBhvr>
                                        <p:cTn id="50" dur="500" fill="hold"/>
                                        <p:tgtEl>
                                          <p:spTgt spid="108"/>
                                        </p:tgtEl>
                                        <p:attrNameLst>
                                          <p:attrName>ppt_x</p:attrName>
                                          <p:attrName>ppt_y</p:attrName>
                                        </p:attrNameLst>
                                      </p:cBhvr>
                                      <p:rCtr x="0" y="4051"/>
                                    </p:animMotion>
                                  </p:childTnLst>
                                </p:cTn>
                              </p:par>
                              <p:par>
                                <p:cTn id="51" presetID="10" presetClass="exit" presetSubtype="0" fill="hold" grpId="3" nodeType="withEffect">
                                  <p:stCondLst>
                                    <p:cond delay="0"/>
                                  </p:stCondLst>
                                  <p:childTnLst>
                                    <p:animEffect transition="out" filter="fade">
                                      <p:cBhvr>
                                        <p:cTn id="52" dur="500"/>
                                        <p:tgtEl>
                                          <p:spTgt spid="10"/>
                                        </p:tgtEl>
                                      </p:cBhvr>
                                    </p:animEffect>
                                    <p:set>
                                      <p:cBhvr>
                                        <p:cTn id="53" dur="1" fill="hold">
                                          <p:stCondLst>
                                            <p:cond delay="499"/>
                                          </p:stCondLst>
                                        </p:cTn>
                                        <p:tgtEl>
                                          <p:spTgt spid="10"/>
                                        </p:tgtEl>
                                        <p:attrNameLst>
                                          <p:attrName>style.visibility</p:attrName>
                                        </p:attrNameLst>
                                      </p:cBhvr>
                                      <p:to>
                                        <p:strVal val="hidden"/>
                                      </p:to>
                                    </p:set>
                                  </p:childTnLst>
                                </p:cTn>
                              </p:par>
                            </p:childTnLst>
                          </p:cTn>
                        </p:par>
                        <p:par>
                          <p:cTn id="54" fill="hold">
                            <p:stCondLst>
                              <p:cond delay="500"/>
                            </p:stCondLst>
                            <p:childTnLst>
                              <p:par>
                                <p:cTn id="55" presetID="1" presetClass="exit" presetSubtype="0" fill="hold" nodeType="afterEffect">
                                  <p:stCondLst>
                                    <p:cond delay="0"/>
                                  </p:stCondLst>
                                  <p:childTnLst>
                                    <p:set>
                                      <p:cBhvr>
                                        <p:cTn id="56" dur="1" fill="hold">
                                          <p:stCondLst>
                                            <p:cond delay="9"/>
                                          </p:stCondLst>
                                        </p:cTn>
                                        <p:tgtEl>
                                          <p:spTgt spid="108"/>
                                        </p:tgtEl>
                                        <p:attrNameLst>
                                          <p:attrName>style.visibility</p:attrName>
                                        </p:attrNameLst>
                                      </p:cBhvr>
                                      <p:to>
                                        <p:strVal val="hidden"/>
                                      </p:to>
                                    </p:set>
                                  </p:childTnLst>
                                </p:cTn>
                              </p:par>
                            </p:childTnLst>
                          </p:cTn>
                        </p:par>
                        <p:par>
                          <p:cTn id="57" fill="hold">
                            <p:stCondLst>
                              <p:cond delay="510"/>
                            </p:stCondLst>
                            <p:childTnLst>
                              <p:par>
                                <p:cTn id="58" presetID="1" presetClass="entr" presetSubtype="0" fill="hold" nodeType="afterEffect">
                                  <p:stCondLst>
                                    <p:cond delay="0"/>
                                  </p:stCondLst>
                                  <p:childTnLst>
                                    <p:set>
                                      <p:cBhvr>
                                        <p:cTn id="59" dur="1" fill="hold">
                                          <p:stCondLst>
                                            <p:cond delay="0"/>
                                          </p:stCondLst>
                                        </p:cTn>
                                        <p:tgtEl>
                                          <p:spTgt spid="110"/>
                                        </p:tgtEl>
                                        <p:attrNameLst>
                                          <p:attrName>style.visibility</p:attrName>
                                        </p:attrNameLst>
                                      </p:cBhvr>
                                      <p:to>
                                        <p:strVal val="visible"/>
                                      </p:to>
                                    </p:set>
                                  </p:childTnLst>
                                </p:cTn>
                              </p:par>
                              <p:par>
                                <p:cTn id="60" presetID="1" presetClass="path" presetSubtype="0" accel="50000" decel="50000" fill="hold" nodeType="withEffect">
                                  <p:stCondLst>
                                    <p:cond delay="0"/>
                                  </p:stCondLst>
                                  <p:childTnLst>
                                    <p:animMotion origin="layout" path="M -0.01389 4.44444E-6 C 0.00295 4.44444E-6 0.01701 0.01689 0.01701 0.03796 C 0.01701 0.05925 0.00295 0.07685 -0.01389 0.07685 C -0.03108 0.07685 -0.04479 0.05925 -0.04479 0.03796 C -0.04479 0.01689 -0.03108 4.44444E-6 -0.01389 4.44444E-6 Z " pathEditMode="relative" rAng="0" ptsTypes="AAAAA">
                                      <p:cBhvr>
                                        <p:cTn id="61" dur="500" fill="hold"/>
                                        <p:tgtEl>
                                          <p:spTgt spid="110"/>
                                        </p:tgtEl>
                                        <p:attrNameLst>
                                          <p:attrName>ppt_x</p:attrName>
                                          <p:attrName>ppt_y</p:attrName>
                                        </p:attrNameLst>
                                      </p:cBhvr>
                                      <p:rCtr x="0" y="3843"/>
                                    </p:animMotion>
                                  </p:childTnLst>
                                </p:cTn>
                              </p:par>
                              <p:par>
                                <p:cTn id="62" presetID="10" presetClass="exit" presetSubtype="0" fill="hold" grpId="1" nodeType="withEffect">
                                  <p:stCondLst>
                                    <p:cond delay="0"/>
                                  </p:stCondLst>
                                  <p:childTnLst>
                                    <p:animEffect transition="out" filter="fade">
                                      <p:cBhvr>
                                        <p:cTn id="63" dur="500"/>
                                        <p:tgtEl>
                                          <p:spTgt spid="115"/>
                                        </p:tgtEl>
                                      </p:cBhvr>
                                    </p:animEffect>
                                    <p:set>
                                      <p:cBhvr>
                                        <p:cTn id="64" dur="1" fill="hold">
                                          <p:stCondLst>
                                            <p:cond delay="499"/>
                                          </p:stCondLst>
                                        </p:cTn>
                                        <p:tgtEl>
                                          <p:spTgt spid="115"/>
                                        </p:tgtEl>
                                        <p:attrNameLst>
                                          <p:attrName>style.visibility</p:attrName>
                                        </p:attrNameLst>
                                      </p:cBhvr>
                                      <p:to>
                                        <p:strVal val="hidden"/>
                                      </p:to>
                                    </p:set>
                                  </p:childTnLst>
                                </p:cTn>
                              </p:par>
                              <p:par>
                                <p:cTn id="65" presetID="10" presetClass="exit" presetSubtype="0" fill="hold" grpId="1" nodeType="withEffect">
                                  <p:stCondLst>
                                    <p:cond delay="0"/>
                                  </p:stCondLst>
                                  <p:childTnLst>
                                    <p:animEffect transition="out" filter="fade">
                                      <p:cBhvr>
                                        <p:cTn id="66" dur="500"/>
                                        <p:tgtEl>
                                          <p:spTgt spid="12"/>
                                        </p:tgtEl>
                                      </p:cBhvr>
                                    </p:animEffect>
                                    <p:set>
                                      <p:cBhvr>
                                        <p:cTn id="67" dur="1" fill="hold">
                                          <p:stCondLst>
                                            <p:cond delay="499"/>
                                          </p:stCondLst>
                                        </p:cTn>
                                        <p:tgtEl>
                                          <p:spTgt spid="12"/>
                                        </p:tgtEl>
                                        <p:attrNameLst>
                                          <p:attrName>style.visibility</p:attrName>
                                        </p:attrNameLst>
                                      </p:cBhvr>
                                      <p:to>
                                        <p:strVal val="hidden"/>
                                      </p:to>
                                    </p:set>
                                  </p:childTnLst>
                                </p:cTn>
                              </p:par>
                              <p:par>
                                <p:cTn id="68" presetID="10" presetClass="exit" presetSubtype="0" fill="hold" grpId="0" nodeType="withEffect">
                                  <p:stCondLst>
                                    <p:cond delay="0"/>
                                  </p:stCondLst>
                                  <p:childTnLst>
                                    <p:animEffect transition="out" filter="fade">
                                      <p:cBhvr>
                                        <p:cTn id="69" dur="500"/>
                                        <p:tgtEl>
                                          <p:spTgt spid="25"/>
                                        </p:tgtEl>
                                      </p:cBhvr>
                                    </p:animEffect>
                                    <p:set>
                                      <p:cBhvr>
                                        <p:cTn id="70" dur="1" fill="hold">
                                          <p:stCondLst>
                                            <p:cond delay="499"/>
                                          </p:stCondLst>
                                        </p:cTn>
                                        <p:tgtEl>
                                          <p:spTgt spid="25"/>
                                        </p:tgtEl>
                                        <p:attrNameLst>
                                          <p:attrName>style.visibility</p:attrName>
                                        </p:attrNameLst>
                                      </p:cBhvr>
                                      <p:to>
                                        <p:strVal val="hidden"/>
                                      </p:to>
                                    </p:set>
                                  </p:childTnLst>
                                </p:cTn>
                              </p:par>
                              <p:par>
                                <p:cTn id="71" presetID="10" presetClass="exit" presetSubtype="0" fill="hold" grpId="0" nodeType="withEffect">
                                  <p:stCondLst>
                                    <p:cond delay="0"/>
                                  </p:stCondLst>
                                  <p:childTnLst>
                                    <p:animEffect transition="out" filter="fade">
                                      <p:cBhvr>
                                        <p:cTn id="72" dur="500"/>
                                        <p:tgtEl>
                                          <p:spTgt spid="102"/>
                                        </p:tgtEl>
                                      </p:cBhvr>
                                    </p:animEffect>
                                    <p:set>
                                      <p:cBhvr>
                                        <p:cTn id="73" dur="1" fill="hold">
                                          <p:stCondLst>
                                            <p:cond delay="499"/>
                                          </p:stCondLst>
                                        </p:cTn>
                                        <p:tgtEl>
                                          <p:spTgt spid="102"/>
                                        </p:tgtEl>
                                        <p:attrNameLst>
                                          <p:attrName>style.visibility</p:attrName>
                                        </p:attrNameLst>
                                      </p:cBhvr>
                                      <p:to>
                                        <p:strVal val="hidden"/>
                                      </p:to>
                                    </p:set>
                                  </p:childTnLst>
                                </p:cTn>
                              </p:par>
                              <p:par>
                                <p:cTn id="74" presetID="10" presetClass="exit" presetSubtype="0" fill="hold" grpId="0" nodeType="withEffect">
                                  <p:stCondLst>
                                    <p:cond delay="0"/>
                                  </p:stCondLst>
                                  <p:childTnLst>
                                    <p:animEffect transition="out" filter="fade">
                                      <p:cBhvr>
                                        <p:cTn id="75" dur="500"/>
                                        <p:tgtEl>
                                          <p:spTgt spid="104"/>
                                        </p:tgtEl>
                                      </p:cBhvr>
                                    </p:animEffect>
                                    <p:set>
                                      <p:cBhvr>
                                        <p:cTn id="76" dur="1" fill="hold">
                                          <p:stCondLst>
                                            <p:cond delay="499"/>
                                          </p:stCondLst>
                                        </p:cTn>
                                        <p:tgtEl>
                                          <p:spTgt spid="104"/>
                                        </p:tgtEl>
                                        <p:attrNameLst>
                                          <p:attrName>style.visibility</p:attrName>
                                        </p:attrNameLst>
                                      </p:cBhvr>
                                      <p:to>
                                        <p:strVal val="hidden"/>
                                      </p:to>
                                    </p:set>
                                  </p:childTnLst>
                                </p:cTn>
                              </p:par>
                              <p:par>
                                <p:cTn id="77" presetID="10" presetClass="exit" presetSubtype="0" fill="hold" grpId="0" nodeType="withEffect">
                                  <p:stCondLst>
                                    <p:cond delay="0"/>
                                  </p:stCondLst>
                                  <p:childTnLst>
                                    <p:animEffect transition="out" filter="fade">
                                      <p:cBhvr>
                                        <p:cTn id="78" dur="500"/>
                                        <p:tgtEl>
                                          <p:spTgt spid="105"/>
                                        </p:tgtEl>
                                      </p:cBhvr>
                                    </p:animEffect>
                                    <p:set>
                                      <p:cBhvr>
                                        <p:cTn id="79" dur="1" fill="hold">
                                          <p:stCondLst>
                                            <p:cond delay="499"/>
                                          </p:stCondLst>
                                        </p:cTn>
                                        <p:tgtEl>
                                          <p:spTgt spid="105"/>
                                        </p:tgtEl>
                                        <p:attrNameLst>
                                          <p:attrName>style.visibility</p:attrName>
                                        </p:attrNameLst>
                                      </p:cBhvr>
                                      <p:to>
                                        <p:strVal val="hidden"/>
                                      </p:to>
                                    </p:set>
                                  </p:childTnLst>
                                </p:cTn>
                              </p:par>
                              <p:par>
                                <p:cTn id="80" presetID="10" presetClass="exit" presetSubtype="0" fill="hold" grpId="3" nodeType="withEffect">
                                  <p:stCondLst>
                                    <p:cond delay="0"/>
                                  </p:stCondLst>
                                  <p:childTnLst>
                                    <p:animEffect transition="out" filter="fade">
                                      <p:cBhvr>
                                        <p:cTn id="81" dur="500"/>
                                        <p:tgtEl>
                                          <p:spTgt spid="106"/>
                                        </p:tgtEl>
                                      </p:cBhvr>
                                    </p:animEffect>
                                    <p:set>
                                      <p:cBhvr>
                                        <p:cTn id="82" dur="1" fill="hold">
                                          <p:stCondLst>
                                            <p:cond delay="499"/>
                                          </p:stCondLst>
                                        </p:cTn>
                                        <p:tgtEl>
                                          <p:spTgt spid="106"/>
                                        </p:tgtEl>
                                        <p:attrNameLst>
                                          <p:attrName>style.visibility</p:attrName>
                                        </p:attrNameLst>
                                      </p:cBhvr>
                                      <p:to>
                                        <p:strVal val="hidden"/>
                                      </p:to>
                                    </p:set>
                                  </p:childTnLst>
                                </p:cTn>
                              </p:par>
                            </p:childTnLst>
                          </p:cTn>
                        </p:par>
                        <p:par>
                          <p:cTn id="83" fill="hold">
                            <p:stCondLst>
                              <p:cond delay="1010"/>
                            </p:stCondLst>
                            <p:childTnLst>
                              <p:par>
                                <p:cTn id="84" presetID="1" presetClass="exit" presetSubtype="0" fill="hold" nodeType="afterEffect">
                                  <p:stCondLst>
                                    <p:cond delay="0"/>
                                  </p:stCondLst>
                                  <p:childTnLst>
                                    <p:set>
                                      <p:cBhvr>
                                        <p:cTn id="85" dur="1" fill="hold">
                                          <p:stCondLst>
                                            <p:cond delay="9"/>
                                          </p:stCondLst>
                                        </p:cTn>
                                        <p:tgtEl>
                                          <p:spTgt spid="110"/>
                                        </p:tgtEl>
                                        <p:attrNameLst>
                                          <p:attrName>style.visibility</p:attrName>
                                        </p:attrNameLst>
                                      </p:cBhvr>
                                      <p:to>
                                        <p:strVal val="hidden"/>
                                      </p:to>
                                    </p:set>
                                  </p:childTnLst>
                                </p:cTn>
                              </p:par>
                            </p:childTnLst>
                          </p:cTn>
                        </p:par>
                        <p:par>
                          <p:cTn id="86" fill="hold">
                            <p:stCondLst>
                              <p:cond delay="1020"/>
                            </p:stCondLst>
                            <p:childTnLst>
                              <p:par>
                                <p:cTn id="87" presetID="1" presetClass="entr" presetSubtype="0" fill="hold" nodeType="afterEffect">
                                  <p:stCondLst>
                                    <p:cond delay="0"/>
                                  </p:stCondLst>
                                  <p:childTnLst>
                                    <p:set>
                                      <p:cBhvr>
                                        <p:cTn id="88" dur="1" fill="hold">
                                          <p:stCondLst>
                                            <p:cond delay="0"/>
                                          </p:stCondLst>
                                        </p:cTn>
                                        <p:tgtEl>
                                          <p:spTgt spid="111"/>
                                        </p:tgtEl>
                                        <p:attrNameLst>
                                          <p:attrName>style.visibility</p:attrName>
                                        </p:attrNameLst>
                                      </p:cBhvr>
                                      <p:to>
                                        <p:strVal val="visible"/>
                                      </p:to>
                                    </p:set>
                                  </p:childTnLst>
                                </p:cTn>
                              </p:par>
                              <p:par>
                                <p:cTn id="89" presetID="1" presetClass="path" presetSubtype="0" accel="50000" decel="50000" fill="hold" nodeType="withEffect">
                                  <p:stCondLst>
                                    <p:cond delay="0"/>
                                  </p:stCondLst>
                                  <p:childTnLst>
                                    <p:animMotion origin="layout" path="M -0.01441 -3.7037E-7 C 0.00209 -3.7037E-7 0.01598 0.01667 0.01598 0.03727 C 0.01598 0.05833 0.00209 0.07546 -0.01441 0.07546 C -0.03125 0.07546 -0.04479 0.05833 -0.04479 0.03727 C -0.04479 0.01667 -0.03125 -3.7037E-7 -0.01441 -3.7037E-7 Z " pathEditMode="relative" rAng="0" ptsTypes="AAAAA">
                                      <p:cBhvr>
                                        <p:cTn id="90" dur="500" fill="hold"/>
                                        <p:tgtEl>
                                          <p:spTgt spid="111"/>
                                        </p:tgtEl>
                                        <p:attrNameLst>
                                          <p:attrName>ppt_x</p:attrName>
                                          <p:attrName>ppt_y</p:attrName>
                                        </p:attrNameLst>
                                      </p:cBhvr>
                                      <p:rCtr x="0" y="3773"/>
                                    </p:animMotion>
                                  </p:childTnLst>
                                </p:cTn>
                              </p:par>
                              <p:par>
                                <p:cTn id="91" presetID="10" presetClass="exit" presetSubtype="0" fill="hold" grpId="3" nodeType="withEffect">
                                  <p:stCondLst>
                                    <p:cond delay="0"/>
                                  </p:stCondLst>
                                  <p:childTnLst>
                                    <p:animEffect transition="out" filter="fade">
                                      <p:cBhvr>
                                        <p:cTn id="92" dur="500"/>
                                        <p:tgtEl>
                                          <p:spTgt spid="107"/>
                                        </p:tgtEl>
                                      </p:cBhvr>
                                    </p:animEffect>
                                    <p:set>
                                      <p:cBhvr>
                                        <p:cTn id="93" dur="1" fill="hold">
                                          <p:stCondLst>
                                            <p:cond delay="499"/>
                                          </p:stCondLst>
                                        </p:cTn>
                                        <p:tgtEl>
                                          <p:spTgt spid="107"/>
                                        </p:tgtEl>
                                        <p:attrNameLst>
                                          <p:attrName>style.visibility</p:attrName>
                                        </p:attrNameLst>
                                      </p:cBhvr>
                                      <p:to>
                                        <p:strVal val="hidden"/>
                                      </p:to>
                                    </p:set>
                                  </p:childTnLst>
                                </p:cTn>
                              </p:par>
                            </p:childTnLst>
                          </p:cTn>
                        </p:par>
                        <p:par>
                          <p:cTn id="94" fill="hold">
                            <p:stCondLst>
                              <p:cond delay="1520"/>
                            </p:stCondLst>
                            <p:childTnLst>
                              <p:par>
                                <p:cTn id="95" presetID="10" presetClass="exit" presetSubtype="0" fill="hold" nodeType="afterEffect">
                                  <p:stCondLst>
                                    <p:cond delay="0"/>
                                  </p:stCondLst>
                                  <p:childTnLst>
                                    <p:animEffect transition="out" filter="fade">
                                      <p:cBhvr>
                                        <p:cTn id="96" dur="500"/>
                                        <p:tgtEl>
                                          <p:spTgt spid="111"/>
                                        </p:tgtEl>
                                      </p:cBhvr>
                                    </p:animEffect>
                                    <p:set>
                                      <p:cBhvr>
                                        <p:cTn id="97" dur="1" fill="hold">
                                          <p:stCondLst>
                                            <p:cond delay="499"/>
                                          </p:stCondLst>
                                        </p:cTn>
                                        <p:tgtEl>
                                          <p:spTgt spid="1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P spid="25" grpId="0" animBg="1"/>
      <p:bldP spid="102" grpId="0" animBg="1"/>
      <p:bldP spid="104" grpId="0" animBg="1"/>
      <p:bldP spid="105" grpId="0" animBg="1"/>
      <p:bldP spid="115" grpId="0" animBg="1"/>
      <p:bldP spid="115" grpId="1" animBg="1"/>
      <p:bldP spid="10" grpId="1"/>
      <p:bldP spid="10" grpId="2"/>
      <p:bldP spid="10" grpId="3"/>
      <p:bldP spid="106" grpId="1"/>
      <p:bldP spid="106" grpId="2"/>
      <p:bldP spid="106" grpId="3"/>
      <p:bldP spid="107" grpId="1"/>
      <p:bldP spid="107" grpId="2"/>
      <p:bldP spid="107" grpId="3"/>
      <p:bldP spid="12" grpId="0"/>
      <p:bldP spid="1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A89F8AF-9683-438A-8052-F5C41646AF9D}"/>
              </a:ext>
            </a:extLst>
          </p:cNvPr>
          <p:cNvSpPr/>
          <p:nvPr/>
        </p:nvSpPr>
        <p:spPr>
          <a:xfrm>
            <a:off x="539750" y="1337094"/>
            <a:ext cx="8064498" cy="4936706"/>
          </a:xfrm>
          <a:prstGeom prst="rect">
            <a:avLst/>
          </a:prstGeom>
          <a:solidFill>
            <a:srgbClr val="6E6D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32" name="Picture 131">
            <a:extLst>
              <a:ext uri="{FF2B5EF4-FFF2-40B4-BE49-F238E27FC236}">
                <a16:creationId xmlns:a16="http://schemas.microsoft.com/office/drawing/2014/main" id="{83B2E1DD-1BF6-4E89-92B3-29666AB2539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595" t="2024" r="1588" b="2024"/>
          <a:stretch/>
        </p:blipFill>
        <p:spPr>
          <a:xfrm>
            <a:off x="539751" y="1337094"/>
            <a:ext cx="8064500" cy="4936706"/>
          </a:xfrm>
          <a:prstGeom prst="rect">
            <a:avLst/>
          </a:prstGeom>
        </p:spPr>
      </p:pic>
      <p:pic>
        <p:nvPicPr>
          <p:cNvPr id="98" name="Picture 97">
            <a:extLst>
              <a:ext uri="{FF2B5EF4-FFF2-40B4-BE49-F238E27FC236}">
                <a16:creationId xmlns:a16="http://schemas.microsoft.com/office/drawing/2014/main" id="{6078A644-0840-4131-AA2B-29CA3E1F1B0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1495004" y="2377570"/>
            <a:ext cx="6153990" cy="3896230"/>
          </a:xfrm>
          <a:prstGeom prst="rect">
            <a:avLst/>
          </a:prstGeom>
          <a:effectLst>
            <a:outerShdw blurRad="50800" dist="38100" dir="18900000" algn="bl" rotWithShape="0">
              <a:prstClr val="black">
                <a:alpha val="40000"/>
              </a:prstClr>
            </a:outerShdw>
          </a:effectLst>
        </p:spPr>
      </p:pic>
      <p:pic>
        <p:nvPicPr>
          <p:cNvPr id="5" name="Picture 4">
            <a:extLst>
              <a:ext uri="{FF2B5EF4-FFF2-40B4-BE49-F238E27FC236}">
                <a16:creationId xmlns:a16="http://schemas.microsoft.com/office/drawing/2014/main" id="{2830866F-58AA-4213-AFD1-4A7F919ABC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04094" y="532799"/>
            <a:ext cx="700156" cy="700156"/>
          </a:xfrm>
          <a:prstGeom prst="rect">
            <a:avLst/>
          </a:prstGeom>
        </p:spPr>
      </p:pic>
      <p:sp>
        <p:nvSpPr>
          <p:cNvPr id="91" name="TextBox 90">
            <a:extLst>
              <a:ext uri="{FF2B5EF4-FFF2-40B4-BE49-F238E27FC236}">
                <a16:creationId xmlns:a16="http://schemas.microsoft.com/office/drawing/2014/main" id="{64F2C1FE-2A0C-4C40-941A-5F46145A93A0}"/>
              </a:ext>
            </a:extLst>
          </p:cNvPr>
          <p:cNvSpPr txBox="1"/>
          <p:nvPr/>
        </p:nvSpPr>
        <p:spPr>
          <a:xfrm>
            <a:off x="-448575" y="1499808"/>
            <a:ext cx="7125599" cy="710678"/>
          </a:xfrm>
          <a:prstGeom prst="rect">
            <a:avLst/>
          </a:prstGeom>
          <a:solidFill>
            <a:srgbClr val="90C8E5"/>
          </a:solidFill>
          <a:ln w="19050">
            <a:solidFill>
              <a:srgbClr val="01407D"/>
            </a:solidFill>
          </a:ln>
          <a:effectLst>
            <a:outerShdw blurRad="50800" dist="38100" dir="8100000" algn="tr" rotWithShape="0">
              <a:prstClr val="black">
                <a:alpha val="40000"/>
              </a:prstClr>
            </a:outerShdw>
          </a:effectLst>
        </p:spPr>
        <p:txBody>
          <a:bodyPr wrap="square" lIns="108000" tIns="108000" rIns="252000" bIns="108000" rtlCol="0" anchor="ctr">
            <a:noAutofit/>
          </a:bodyPr>
          <a:lstStyle/>
          <a:p>
            <a:pPr algn="r"/>
            <a:r>
              <a:rPr lang="en-GB" b="1" dirty="0"/>
              <a:t>What is the answer when 0.056 is multiplied by 10?</a:t>
            </a:r>
          </a:p>
        </p:txBody>
      </p:sp>
      <p:graphicFrame>
        <p:nvGraphicFramePr>
          <p:cNvPr id="87" name="Table 4">
            <a:extLst>
              <a:ext uri="{FF2B5EF4-FFF2-40B4-BE49-F238E27FC236}">
                <a16:creationId xmlns:a16="http://schemas.microsoft.com/office/drawing/2014/main" id="{2E08238F-C945-4939-8F65-4D62BB3CC0EF}"/>
              </a:ext>
            </a:extLst>
          </p:cNvPr>
          <p:cNvGraphicFramePr>
            <a:graphicFrameLocks noGrp="1"/>
          </p:cNvGraphicFramePr>
          <p:nvPr>
            <p:extLst>
              <p:ext uri="{D42A27DB-BD31-4B8C-83A1-F6EECF244321}">
                <p14:modId xmlns:p14="http://schemas.microsoft.com/office/powerpoint/2010/main" val="935872995"/>
              </p:ext>
            </p:extLst>
          </p:nvPr>
        </p:nvGraphicFramePr>
        <p:xfrm>
          <a:off x="1762127" y="2794686"/>
          <a:ext cx="5619748" cy="1043051"/>
        </p:xfrm>
        <a:graphic>
          <a:graphicData uri="http://schemas.openxmlformats.org/drawingml/2006/table">
            <a:tbl>
              <a:tblPr firstRow="1" bandRow="1">
                <a:tableStyleId>{5C22544A-7EE6-4342-B048-85BDC9FD1C3A}</a:tableStyleId>
              </a:tblPr>
              <a:tblGrid>
                <a:gridCol w="990808">
                  <a:extLst>
                    <a:ext uri="{9D8B030D-6E8A-4147-A177-3AD203B41FA5}">
                      <a16:colId xmlns:a16="http://schemas.microsoft.com/office/drawing/2014/main" val="849675884"/>
                    </a:ext>
                  </a:extLst>
                </a:gridCol>
                <a:gridCol w="885525">
                  <a:extLst>
                    <a:ext uri="{9D8B030D-6E8A-4147-A177-3AD203B41FA5}">
                      <a16:colId xmlns:a16="http://schemas.microsoft.com/office/drawing/2014/main" val="232478989"/>
                    </a:ext>
                  </a:extLst>
                </a:gridCol>
                <a:gridCol w="838875">
                  <a:extLst>
                    <a:ext uri="{9D8B030D-6E8A-4147-A177-3AD203B41FA5}">
                      <a16:colId xmlns:a16="http://schemas.microsoft.com/office/drawing/2014/main" val="2391122521"/>
                    </a:ext>
                  </a:extLst>
                </a:gridCol>
                <a:gridCol w="762614">
                  <a:extLst>
                    <a:ext uri="{9D8B030D-6E8A-4147-A177-3AD203B41FA5}">
                      <a16:colId xmlns:a16="http://schemas.microsoft.com/office/drawing/2014/main" val="2586586273"/>
                    </a:ext>
                  </a:extLst>
                </a:gridCol>
                <a:gridCol w="1042238">
                  <a:extLst>
                    <a:ext uri="{9D8B030D-6E8A-4147-A177-3AD203B41FA5}">
                      <a16:colId xmlns:a16="http://schemas.microsoft.com/office/drawing/2014/main" val="3919420830"/>
                    </a:ext>
                  </a:extLst>
                </a:gridCol>
                <a:gridCol w="1099688">
                  <a:extLst>
                    <a:ext uri="{9D8B030D-6E8A-4147-A177-3AD203B41FA5}">
                      <a16:colId xmlns:a16="http://schemas.microsoft.com/office/drawing/2014/main" val="1234579158"/>
                    </a:ext>
                  </a:extLst>
                </a:gridCol>
              </a:tblGrid>
              <a:tr h="331137">
                <a:tc>
                  <a:txBody>
                    <a:bodyPr/>
                    <a:lstStyle/>
                    <a:p>
                      <a:pPr algn="ctr"/>
                      <a:r>
                        <a:rPr lang="en-GB" sz="1300" b="1" dirty="0">
                          <a:solidFill>
                            <a:schemeClr val="tx1"/>
                          </a:solidFill>
                        </a:rPr>
                        <a:t>hundreds</a:t>
                      </a:r>
                    </a:p>
                  </a:txBody>
                  <a:tcPr marL="64719" marR="64719" marT="32360" marB="32360"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FB6D8"/>
                    </a:solidFill>
                  </a:tcPr>
                </a:tc>
                <a:tc>
                  <a:txBody>
                    <a:bodyPr/>
                    <a:lstStyle/>
                    <a:p>
                      <a:pPr algn="ctr"/>
                      <a:r>
                        <a:rPr lang="en-GB" sz="1300" b="1" dirty="0">
                          <a:solidFill>
                            <a:schemeClr val="tx1"/>
                          </a:solidFill>
                        </a:rPr>
                        <a:t>tens</a:t>
                      </a:r>
                    </a:p>
                  </a:txBody>
                  <a:tcPr marL="64719" marR="64719" marT="32360" marB="323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FB6D8"/>
                    </a:solidFill>
                  </a:tcPr>
                </a:tc>
                <a:tc>
                  <a:txBody>
                    <a:bodyPr/>
                    <a:lstStyle/>
                    <a:p>
                      <a:pPr algn="ctr"/>
                      <a:r>
                        <a:rPr lang="en-GB" sz="1300" b="1" dirty="0">
                          <a:solidFill>
                            <a:schemeClr val="tx1"/>
                          </a:solidFill>
                        </a:rPr>
                        <a:t>ones</a:t>
                      </a:r>
                    </a:p>
                  </a:txBody>
                  <a:tcPr marL="64719" marR="64719" marT="32360" marB="323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FB6D8"/>
                    </a:solidFill>
                  </a:tcPr>
                </a:tc>
                <a:tc>
                  <a:txBody>
                    <a:bodyPr/>
                    <a:lstStyle/>
                    <a:p>
                      <a:pPr algn="ctr"/>
                      <a:r>
                        <a:rPr lang="en-GB" sz="1300" b="1" dirty="0">
                          <a:solidFill>
                            <a:schemeClr val="tx1"/>
                          </a:solidFill>
                        </a:rPr>
                        <a:t>tenths</a:t>
                      </a:r>
                    </a:p>
                  </a:txBody>
                  <a:tcPr marL="64719" marR="64719" marT="32360" marB="323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FB6D8"/>
                    </a:solidFill>
                  </a:tcPr>
                </a:tc>
                <a:tc>
                  <a:txBody>
                    <a:bodyPr/>
                    <a:lstStyle/>
                    <a:p>
                      <a:pPr algn="ctr"/>
                      <a:r>
                        <a:rPr lang="en-GB" sz="1300" b="1" dirty="0">
                          <a:solidFill>
                            <a:schemeClr val="tx1"/>
                          </a:solidFill>
                        </a:rPr>
                        <a:t>hundredths</a:t>
                      </a:r>
                    </a:p>
                  </a:txBody>
                  <a:tcPr marL="64719" marR="64719" marT="32360" marB="323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FB6D8"/>
                    </a:solidFill>
                  </a:tcPr>
                </a:tc>
                <a:tc>
                  <a:txBody>
                    <a:bodyPr/>
                    <a:lstStyle/>
                    <a:p>
                      <a:pPr algn="ctr"/>
                      <a:r>
                        <a:rPr lang="en-GB" sz="1300" b="1" dirty="0">
                          <a:solidFill>
                            <a:schemeClr val="tx1"/>
                          </a:solidFill>
                        </a:rPr>
                        <a:t>thousandths</a:t>
                      </a:r>
                    </a:p>
                  </a:txBody>
                  <a:tcPr marL="64719" marR="64719" marT="32360" marB="3236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FB6D8"/>
                    </a:solidFill>
                  </a:tcPr>
                </a:tc>
                <a:extLst>
                  <a:ext uri="{0D108BD9-81ED-4DB2-BD59-A6C34878D82A}">
                    <a16:rowId xmlns:a16="http://schemas.microsoft.com/office/drawing/2014/main" val="4198052327"/>
                  </a:ext>
                </a:extLst>
              </a:tr>
              <a:tr h="711914">
                <a:tc>
                  <a:txBody>
                    <a:bodyPr/>
                    <a:lstStyle/>
                    <a:p>
                      <a:pPr algn="ctr"/>
                      <a:endParaRPr lang="en-GB" sz="4200" dirty="0"/>
                    </a:p>
                  </a:txBody>
                  <a:tcPr marL="64719" marR="64719" marT="32360" marB="32360">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endParaRPr lang="en-GB" sz="4200" dirty="0"/>
                    </a:p>
                  </a:txBody>
                  <a:tcPr marL="64719" marR="64719" marT="32360" marB="323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endParaRPr lang="en-GB" sz="4200" dirty="0"/>
                    </a:p>
                  </a:txBody>
                  <a:tcPr marL="64719" marR="64719" marT="32360" marB="323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endParaRPr lang="en-GB" sz="4200" dirty="0"/>
                    </a:p>
                  </a:txBody>
                  <a:tcPr marL="64719" marR="64719" marT="32360" marB="323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endParaRPr lang="en-GB" sz="4200" dirty="0"/>
                    </a:p>
                  </a:txBody>
                  <a:tcPr marL="64719" marR="64719" marT="32360" marB="323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endParaRPr lang="en-GB" sz="4200" dirty="0"/>
                    </a:p>
                  </a:txBody>
                  <a:tcPr marL="64719" marR="64719" marT="32360" marB="32360">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8949578"/>
                  </a:ext>
                </a:extLst>
              </a:tr>
            </a:tbl>
          </a:graphicData>
        </a:graphic>
      </p:graphicFrame>
      <p:sp>
        <p:nvSpPr>
          <p:cNvPr id="7" name="Oval 6">
            <a:extLst>
              <a:ext uri="{FF2B5EF4-FFF2-40B4-BE49-F238E27FC236}">
                <a16:creationId xmlns:a16="http://schemas.microsoft.com/office/drawing/2014/main" id="{3ACBF676-FE37-4E72-8696-03EB18B09285}"/>
              </a:ext>
            </a:extLst>
          </p:cNvPr>
          <p:cNvSpPr/>
          <p:nvPr/>
        </p:nvSpPr>
        <p:spPr>
          <a:xfrm>
            <a:off x="4429999" y="3437209"/>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a:extLst>
              <a:ext uri="{FF2B5EF4-FFF2-40B4-BE49-F238E27FC236}">
                <a16:creationId xmlns:a16="http://schemas.microsoft.com/office/drawing/2014/main" id="{A0DD5D37-03B8-41AB-989F-423AF0154582}"/>
              </a:ext>
            </a:extLst>
          </p:cNvPr>
          <p:cNvSpPr/>
          <p:nvPr/>
        </p:nvSpPr>
        <p:spPr>
          <a:xfrm>
            <a:off x="4429999" y="2931827"/>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Rounded Corners 24">
            <a:extLst>
              <a:ext uri="{FF2B5EF4-FFF2-40B4-BE49-F238E27FC236}">
                <a16:creationId xmlns:a16="http://schemas.microsoft.com/office/drawing/2014/main" id="{EFE13AC7-2CC7-47ED-8B09-CDF56CE1F92B}"/>
              </a:ext>
            </a:extLst>
          </p:cNvPr>
          <p:cNvSpPr/>
          <p:nvPr/>
        </p:nvSpPr>
        <p:spPr>
          <a:xfrm>
            <a:off x="1638292" y="4902089"/>
            <a:ext cx="1355286" cy="885696"/>
          </a:xfrm>
          <a:prstGeom prst="round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0.056</a:t>
            </a:r>
          </a:p>
        </p:txBody>
      </p:sp>
      <p:sp>
        <p:nvSpPr>
          <p:cNvPr id="102" name="Rectangle: Rounded Corners 101">
            <a:extLst>
              <a:ext uri="{FF2B5EF4-FFF2-40B4-BE49-F238E27FC236}">
                <a16:creationId xmlns:a16="http://schemas.microsoft.com/office/drawing/2014/main" id="{49C21CC8-258E-4641-A56B-CFF5C3F257ED}"/>
              </a:ext>
            </a:extLst>
          </p:cNvPr>
          <p:cNvSpPr/>
          <p:nvPr/>
        </p:nvSpPr>
        <p:spPr>
          <a:xfrm>
            <a:off x="3144717" y="4902089"/>
            <a:ext cx="1355286" cy="885696"/>
          </a:xfrm>
          <a:prstGeom prst="round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056</a:t>
            </a:r>
          </a:p>
        </p:txBody>
      </p:sp>
      <p:sp>
        <p:nvSpPr>
          <p:cNvPr id="104" name="Rectangle: Rounded Corners 103">
            <a:extLst>
              <a:ext uri="{FF2B5EF4-FFF2-40B4-BE49-F238E27FC236}">
                <a16:creationId xmlns:a16="http://schemas.microsoft.com/office/drawing/2014/main" id="{979EF5E8-EBC5-4B5B-A63F-9173E793DE1A}"/>
              </a:ext>
            </a:extLst>
          </p:cNvPr>
          <p:cNvSpPr/>
          <p:nvPr/>
        </p:nvSpPr>
        <p:spPr>
          <a:xfrm>
            <a:off x="4645668" y="4902089"/>
            <a:ext cx="1355286" cy="885696"/>
          </a:xfrm>
          <a:prstGeom prst="round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0.56</a:t>
            </a:r>
          </a:p>
        </p:txBody>
      </p:sp>
      <p:sp>
        <p:nvSpPr>
          <p:cNvPr id="105" name="Rectangle: Rounded Corners 104">
            <a:extLst>
              <a:ext uri="{FF2B5EF4-FFF2-40B4-BE49-F238E27FC236}">
                <a16:creationId xmlns:a16="http://schemas.microsoft.com/office/drawing/2014/main" id="{612977D7-6A9C-4AFC-B814-A87193A48EB3}"/>
              </a:ext>
            </a:extLst>
          </p:cNvPr>
          <p:cNvSpPr/>
          <p:nvPr/>
        </p:nvSpPr>
        <p:spPr>
          <a:xfrm>
            <a:off x="6150414" y="4902089"/>
            <a:ext cx="1355286" cy="885696"/>
          </a:xfrm>
          <a:prstGeom prst="round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56</a:t>
            </a:r>
          </a:p>
        </p:txBody>
      </p:sp>
      <p:sp>
        <p:nvSpPr>
          <p:cNvPr id="10" name="TextBox 9">
            <a:extLst>
              <a:ext uri="{FF2B5EF4-FFF2-40B4-BE49-F238E27FC236}">
                <a16:creationId xmlns:a16="http://schemas.microsoft.com/office/drawing/2014/main" id="{A4A8C899-5CD5-4C8F-A307-C3126F922AC3}"/>
              </a:ext>
            </a:extLst>
          </p:cNvPr>
          <p:cNvSpPr txBox="1"/>
          <p:nvPr/>
        </p:nvSpPr>
        <p:spPr>
          <a:xfrm>
            <a:off x="3844841" y="3182245"/>
            <a:ext cx="445956" cy="584775"/>
          </a:xfrm>
          <a:prstGeom prst="rect">
            <a:avLst/>
          </a:prstGeom>
          <a:noFill/>
        </p:spPr>
        <p:txBody>
          <a:bodyPr wrap="none" rtlCol="0">
            <a:spAutoFit/>
          </a:bodyPr>
          <a:lstStyle/>
          <a:p>
            <a:pPr algn="ctr"/>
            <a:r>
              <a:rPr lang="en-GB" sz="3200" b="1" dirty="0">
                <a:solidFill>
                  <a:srgbClr val="689429"/>
                </a:solidFill>
              </a:rPr>
              <a:t>0</a:t>
            </a:r>
          </a:p>
        </p:txBody>
      </p:sp>
      <p:sp>
        <p:nvSpPr>
          <p:cNvPr id="106" name="TextBox 105">
            <a:extLst>
              <a:ext uri="{FF2B5EF4-FFF2-40B4-BE49-F238E27FC236}">
                <a16:creationId xmlns:a16="http://schemas.microsoft.com/office/drawing/2014/main" id="{6927EB8B-ABD8-40BD-B9E0-9F2848008114}"/>
              </a:ext>
            </a:extLst>
          </p:cNvPr>
          <p:cNvSpPr txBox="1"/>
          <p:nvPr/>
        </p:nvSpPr>
        <p:spPr>
          <a:xfrm>
            <a:off x="4685875" y="3182245"/>
            <a:ext cx="377941" cy="584775"/>
          </a:xfrm>
          <a:prstGeom prst="rect">
            <a:avLst/>
          </a:prstGeom>
          <a:noFill/>
        </p:spPr>
        <p:txBody>
          <a:bodyPr wrap="square" rtlCol="0">
            <a:spAutoFit/>
          </a:bodyPr>
          <a:lstStyle/>
          <a:p>
            <a:pPr algn="ctr"/>
            <a:r>
              <a:rPr lang="en-GB" sz="3200" b="1" dirty="0">
                <a:solidFill>
                  <a:srgbClr val="689429"/>
                </a:solidFill>
              </a:rPr>
              <a:t>0</a:t>
            </a:r>
          </a:p>
        </p:txBody>
      </p:sp>
      <p:sp>
        <p:nvSpPr>
          <p:cNvPr id="107" name="TextBox 106">
            <a:extLst>
              <a:ext uri="{FF2B5EF4-FFF2-40B4-BE49-F238E27FC236}">
                <a16:creationId xmlns:a16="http://schemas.microsoft.com/office/drawing/2014/main" id="{C65D2CE6-BA16-43F9-8DAC-2D9CFD35CC66}"/>
              </a:ext>
            </a:extLst>
          </p:cNvPr>
          <p:cNvSpPr txBox="1"/>
          <p:nvPr/>
        </p:nvSpPr>
        <p:spPr>
          <a:xfrm>
            <a:off x="5563393" y="3182245"/>
            <a:ext cx="377941" cy="584775"/>
          </a:xfrm>
          <a:prstGeom prst="rect">
            <a:avLst/>
          </a:prstGeom>
          <a:noFill/>
        </p:spPr>
        <p:txBody>
          <a:bodyPr wrap="square" rtlCol="0">
            <a:spAutoFit/>
          </a:bodyPr>
          <a:lstStyle/>
          <a:p>
            <a:pPr algn="ctr"/>
            <a:r>
              <a:rPr lang="en-GB" sz="3200" b="1" dirty="0">
                <a:solidFill>
                  <a:srgbClr val="689429"/>
                </a:solidFill>
              </a:rPr>
              <a:t>5</a:t>
            </a:r>
          </a:p>
        </p:txBody>
      </p:sp>
      <p:sp>
        <p:nvSpPr>
          <p:cNvPr id="23" name="TextBox 22">
            <a:extLst>
              <a:ext uri="{FF2B5EF4-FFF2-40B4-BE49-F238E27FC236}">
                <a16:creationId xmlns:a16="http://schemas.microsoft.com/office/drawing/2014/main" id="{0601F622-6F72-4E02-9999-E0CBD85658F4}"/>
              </a:ext>
            </a:extLst>
          </p:cNvPr>
          <p:cNvSpPr txBox="1"/>
          <p:nvPr/>
        </p:nvSpPr>
        <p:spPr>
          <a:xfrm>
            <a:off x="6639086" y="3182245"/>
            <a:ext cx="377941" cy="584775"/>
          </a:xfrm>
          <a:prstGeom prst="rect">
            <a:avLst/>
          </a:prstGeom>
          <a:noFill/>
        </p:spPr>
        <p:txBody>
          <a:bodyPr wrap="square" rtlCol="0">
            <a:spAutoFit/>
          </a:bodyPr>
          <a:lstStyle/>
          <a:p>
            <a:pPr algn="ctr"/>
            <a:r>
              <a:rPr lang="en-GB" sz="3200" b="1" dirty="0">
                <a:solidFill>
                  <a:srgbClr val="689429"/>
                </a:solidFill>
              </a:rPr>
              <a:t>6</a:t>
            </a:r>
          </a:p>
        </p:txBody>
      </p:sp>
      <p:sp>
        <p:nvSpPr>
          <p:cNvPr id="27" name="Rectangle: Rounded Corners 26">
            <a:extLst>
              <a:ext uri="{FF2B5EF4-FFF2-40B4-BE49-F238E27FC236}">
                <a16:creationId xmlns:a16="http://schemas.microsoft.com/office/drawing/2014/main" id="{C77A1554-B70C-4A88-AE9E-06E7A4C82189}"/>
              </a:ext>
            </a:extLst>
          </p:cNvPr>
          <p:cNvSpPr/>
          <p:nvPr/>
        </p:nvSpPr>
        <p:spPr>
          <a:xfrm>
            <a:off x="4645668" y="4902089"/>
            <a:ext cx="1355286" cy="885696"/>
          </a:xfrm>
          <a:prstGeom prst="round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0.56</a:t>
            </a:r>
          </a:p>
        </p:txBody>
      </p:sp>
      <p:sp>
        <p:nvSpPr>
          <p:cNvPr id="115" name="Rectangle: Rounded Corners 114">
            <a:extLst>
              <a:ext uri="{FF2B5EF4-FFF2-40B4-BE49-F238E27FC236}">
                <a16:creationId xmlns:a16="http://schemas.microsoft.com/office/drawing/2014/main" id="{2D0E8A9A-37D6-4843-AB28-85064D254372}"/>
              </a:ext>
            </a:extLst>
          </p:cNvPr>
          <p:cNvSpPr/>
          <p:nvPr/>
        </p:nvSpPr>
        <p:spPr>
          <a:xfrm>
            <a:off x="4643297" y="4902089"/>
            <a:ext cx="1357657" cy="885696"/>
          </a:xfrm>
          <a:prstGeom prst="roundRect">
            <a:avLst/>
          </a:prstGeom>
          <a:solidFill>
            <a:schemeClr val="bg1"/>
          </a:solidFill>
          <a:ln w="38100">
            <a:solidFill>
              <a:srgbClr val="689429"/>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sz="2400" dirty="0"/>
          </a:p>
        </p:txBody>
      </p:sp>
      <p:sp>
        <p:nvSpPr>
          <p:cNvPr id="12" name="Rectangle 11">
            <a:extLst>
              <a:ext uri="{FF2B5EF4-FFF2-40B4-BE49-F238E27FC236}">
                <a16:creationId xmlns:a16="http://schemas.microsoft.com/office/drawing/2014/main" id="{41204D00-ED1B-4975-A7D4-CB4A139C8703}"/>
              </a:ext>
            </a:extLst>
          </p:cNvPr>
          <p:cNvSpPr/>
          <p:nvPr/>
        </p:nvSpPr>
        <p:spPr>
          <a:xfrm>
            <a:off x="4920413" y="5114105"/>
            <a:ext cx="803425" cy="461665"/>
          </a:xfrm>
          <a:prstGeom prst="rect">
            <a:avLst/>
          </a:prstGeom>
        </p:spPr>
        <p:txBody>
          <a:bodyPr wrap="none">
            <a:spAutoFit/>
          </a:bodyPr>
          <a:lstStyle/>
          <a:p>
            <a:pPr algn="ctr"/>
            <a:r>
              <a:rPr lang="en-GB" sz="2400" b="1" dirty="0"/>
              <a:t>0.56</a:t>
            </a:r>
          </a:p>
        </p:txBody>
      </p:sp>
      <p:pic>
        <p:nvPicPr>
          <p:cNvPr id="128" name="Picture 127">
            <a:extLst>
              <a:ext uri="{FF2B5EF4-FFF2-40B4-BE49-F238E27FC236}">
                <a16:creationId xmlns:a16="http://schemas.microsoft.com/office/drawing/2014/main" id="{33C91E66-9B43-4A5C-9385-408E323F720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6873" y="3694441"/>
            <a:ext cx="4514208" cy="3762657"/>
          </a:xfrm>
          <a:prstGeom prst="rect">
            <a:avLst/>
          </a:prstGeom>
        </p:spPr>
      </p:pic>
      <p:grpSp>
        <p:nvGrpSpPr>
          <p:cNvPr id="2" name="Group 1">
            <a:extLst>
              <a:ext uri="{FF2B5EF4-FFF2-40B4-BE49-F238E27FC236}">
                <a16:creationId xmlns:a16="http://schemas.microsoft.com/office/drawing/2014/main" id="{02A3EB62-BAF2-42E6-B497-65CCB2BC36E5}"/>
              </a:ext>
            </a:extLst>
          </p:cNvPr>
          <p:cNvGrpSpPr/>
          <p:nvPr/>
        </p:nvGrpSpPr>
        <p:grpSpPr>
          <a:xfrm>
            <a:off x="1495004" y="2377570"/>
            <a:ext cx="6153990" cy="3896230"/>
            <a:chOff x="1495004" y="2377570"/>
            <a:chExt cx="6153990" cy="3896230"/>
          </a:xfrm>
        </p:grpSpPr>
        <p:pic>
          <p:nvPicPr>
            <p:cNvPr id="31" name="Picture 30">
              <a:extLst>
                <a:ext uri="{FF2B5EF4-FFF2-40B4-BE49-F238E27FC236}">
                  <a16:creationId xmlns:a16="http://schemas.microsoft.com/office/drawing/2014/main" id="{8B7C4EA6-1FB7-4764-B837-ADF70F5E9A4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1495004" y="2377570"/>
              <a:ext cx="6153990" cy="3896230"/>
            </a:xfrm>
            <a:prstGeom prst="rect">
              <a:avLst/>
            </a:prstGeom>
            <a:effectLst>
              <a:outerShdw blurRad="50800" dist="38100" dir="18900000" algn="bl" rotWithShape="0">
                <a:prstClr val="black">
                  <a:alpha val="40000"/>
                </a:prstClr>
              </a:outerShdw>
            </a:effectLst>
          </p:spPr>
        </p:pic>
        <p:sp>
          <p:nvSpPr>
            <p:cNvPr id="32" name="Rectangle: Rounded Corners 31">
              <a:extLst>
                <a:ext uri="{FF2B5EF4-FFF2-40B4-BE49-F238E27FC236}">
                  <a16:creationId xmlns:a16="http://schemas.microsoft.com/office/drawing/2014/main" id="{35530E61-A692-43F1-8EE5-A58E483E388D}"/>
                </a:ext>
              </a:extLst>
            </p:cNvPr>
            <p:cNvSpPr/>
            <p:nvPr/>
          </p:nvSpPr>
          <p:spPr>
            <a:xfrm>
              <a:off x="5999381" y="3862673"/>
              <a:ext cx="1355286" cy="885696"/>
            </a:xfrm>
            <a:prstGeom prst="roundRect">
              <a:avLst/>
            </a:prstGeom>
            <a:solidFill>
              <a:schemeClr val="bg1"/>
            </a:solidFill>
            <a:ln w="19050">
              <a:solidFill>
                <a:srgbClr val="00938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1102</a:t>
              </a:r>
            </a:p>
          </p:txBody>
        </p:sp>
        <p:sp>
          <p:nvSpPr>
            <p:cNvPr id="33" name="Rectangle: Rounded Corners 32">
              <a:extLst>
                <a:ext uri="{FF2B5EF4-FFF2-40B4-BE49-F238E27FC236}">
                  <a16:creationId xmlns:a16="http://schemas.microsoft.com/office/drawing/2014/main" id="{C2B042A6-C675-4BC9-99C3-CB3B3DCC1A82}"/>
                </a:ext>
              </a:extLst>
            </p:cNvPr>
            <p:cNvSpPr/>
            <p:nvPr/>
          </p:nvSpPr>
          <p:spPr>
            <a:xfrm>
              <a:off x="5999381" y="5003198"/>
              <a:ext cx="1355286" cy="885696"/>
            </a:xfrm>
            <a:prstGeom prst="roundRect">
              <a:avLst/>
            </a:prstGeom>
            <a:solidFill>
              <a:schemeClr val="bg1"/>
            </a:solidFill>
            <a:ln w="19050">
              <a:solidFill>
                <a:srgbClr val="F08215"/>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110.2</a:t>
              </a:r>
            </a:p>
          </p:txBody>
        </p:sp>
        <p:sp>
          <p:nvSpPr>
            <p:cNvPr id="34" name="Rectangle: Rounded Corners 33">
              <a:extLst>
                <a:ext uri="{FF2B5EF4-FFF2-40B4-BE49-F238E27FC236}">
                  <a16:creationId xmlns:a16="http://schemas.microsoft.com/office/drawing/2014/main" id="{81450993-3542-4F90-8355-4BDC243B85EF}"/>
                </a:ext>
              </a:extLst>
            </p:cNvPr>
            <p:cNvSpPr/>
            <p:nvPr/>
          </p:nvSpPr>
          <p:spPr>
            <a:xfrm>
              <a:off x="5999381" y="2722149"/>
              <a:ext cx="1355286" cy="885696"/>
            </a:xfrm>
            <a:prstGeom prst="roundRect">
              <a:avLst/>
            </a:prstGeom>
            <a:solidFill>
              <a:schemeClr val="bg1"/>
            </a:solidFill>
            <a:ln w="19050">
              <a:solidFill>
                <a:srgbClr val="8C368C"/>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1201</a:t>
              </a:r>
            </a:p>
          </p:txBody>
        </p:sp>
        <p:sp>
          <p:nvSpPr>
            <p:cNvPr id="35" name="Rectangle 34">
              <a:extLst>
                <a:ext uri="{FF2B5EF4-FFF2-40B4-BE49-F238E27FC236}">
                  <a16:creationId xmlns:a16="http://schemas.microsoft.com/office/drawing/2014/main" id="{A51E02EE-784A-4791-90EC-C69239CB04B9}"/>
                </a:ext>
              </a:extLst>
            </p:cNvPr>
            <p:cNvSpPr/>
            <p:nvPr/>
          </p:nvSpPr>
          <p:spPr>
            <a:xfrm>
              <a:off x="1970484" y="3862673"/>
              <a:ext cx="2601515" cy="885696"/>
            </a:xfrm>
            <a:prstGeom prst="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lIns="108000" tIns="108000" rIns="108000" bIns="108000" rtlCol="0" anchor="ctr"/>
            <a:lstStyle/>
            <a:p>
              <a:pPr algn="ctr"/>
              <a:r>
                <a:rPr lang="en-GB" sz="2400" dirty="0"/>
                <a:t>110.2 × 10 = </a:t>
              </a:r>
            </a:p>
          </p:txBody>
        </p:sp>
        <p:sp>
          <p:nvSpPr>
            <p:cNvPr id="36" name="Rectangle 35">
              <a:extLst>
                <a:ext uri="{FF2B5EF4-FFF2-40B4-BE49-F238E27FC236}">
                  <a16:creationId xmlns:a16="http://schemas.microsoft.com/office/drawing/2014/main" id="{3673CF25-0F65-4959-A704-EE966961FBA8}"/>
                </a:ext>
              </a:extLst>
            </p:cNvPr>
            <p:cNvSpPr/>
            <p:nvPr/>
          </p:nvSpPr>
          <p:spPr>
            <a:xfrm>
              <a:off x="1970484" y="5003198"/>
              <a:ext cx="2601515" cy="885696"/>
            </a:xfrm>
            <a:prstGeom prst="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lIns="108000" tIns="108000" rIns="108000" bIns="108000" rtlCol="0" anchor="ctr"/>
            <a:lstStyle/>
            <a:p>
              <a:pPr algn="ctr"/>
              <a:r>
                <a:rPr lang="en-GB" sz="2400" dirty="0"/>
                <a:t>1.201 × 1000 = </a:t>
              </a:r>
            </a:p>
          </p:txBody>
        </p:sp>
        <p:sp>
          <p:nvSpPr>
            <p:cNvPr id="37" name="Rectangle 36">
              <a:extLst>
                <a:ext uri="{FF2B5EF4-FFF2-40B4-BE49-F238E27FC236}">
                  <a16:creationId xmlns:a16="http://schemas.microsoft.com/office/drawing/2014/main" id="{9057040B-8BD2-4651-83C9-6AB323C717EB}"/>
                </a:ext>
              </a:extLst>
            </p:cNvPr>
            <p:cNvSpPr/>
            <p:nvPr/>
          </p:nvSpPr>
          <p:spPr>
            <a:xfrm>
              <a:off x="1970484" y="2722149"/>
              <a:ext cx="2601516" cy="885696"/>
            </a:xfrm>
            <a:prstGeom prst="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lIns="108000" tIns="108000" rIns="108000" bIns="108000" rtlCol="0" anchor="ctr"/>
            <a:lstStyle/>
            <a:p>
              <a:pPr algn="ctr"/>
              <a:r>
                <a:rPr lang="en-GB" sz="2400" dirty="0"/>
                <a:t>1.102 × 100 = </a:t>
              </a:r>
            </a:p>
          </p:txBody>
        </p:sp>
        <p:sp>
          <p:nvSpPr>
            <p:cNvPr id="38" name="Oval 37">
              <a:extLst>
                <a:ext uri="{FF2B5EF4-FFF2-40B4-BE49-F238E27FC236}">
                  <a16:creationId xmlns:a16="http://schemas.microsoft.com/office/drawing/2014/main" id="{CF92C9EC-7CA3-438E-A470-B2D5DAAB3A4B}"/>
                </a:ext>
              </a:extLst>
            </p:cNvPr>
            <p:cNvSpPr/>
            <p:nvPr/>
          </p:nvSpPr>
          <p:spPr>
            <a:xfrm>
              <a:off x="4527628" y="3120625"/>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a:extLst>
                <a:ext uri="{FF2B5EF4-FFF2-40B4-BE49-F238E27FC236}">
                  <a16:creationId xmlns:a16="http://schemas.microsoft.com/office/drawing/2014/main" id="{E4B155FA-C6B9-4680-8B4F-90DFEFF60D89}"/>
                </a:ext>
              </a:extLst>
            </p:cNvPr>
            <p:cNvSpPr/>
            <p:nvPr/>
          </p:nvSpPr>
          <p:spPr>
            <a:xfrm>
              <a:off x="4527628" y="4262156"/>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472BA11B-29E8-4606-9FDC-790D9FC7D6BD}"/>
                </a:ext>
              </a:extLst>
            </p:cNvPr>
            <p:cNvSpPr/>
            <p:nvPr/>
          </p:nvSpPr>
          <p:spPr>
            <a:xfrm>
              <a:off x="4527628" y="5401674"/>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a:extLst>
                <a:ext uri="{FF2B5EF4-FFF2-40B4-BE49-F238E27FC236}">
                  <a16:creationId xmlns:a16="http://schemas.microsoft.com/office/drawing/2014/main" id="{D92851FA-463B-41FD-9897-806049323AD8}"/>
                </a:ext>
              </a:extLst>
            </p:cNvPr>
            <p:cNvSpPr/>
            <p:nvPr/>
          </p:nvSpPr>
          <p:spPr>
            <a:xfrm>
              <a:off x="5955009" y="3120625"/>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0EED92C0-578C-473B-82E6-58A2E9A09A63}"/>
                </a:ext>
              </a:extLst>
            </p:cNvPr>
            <p:cNvSpPr/>
            <p:nvPr/>
          </p:nvSpPr>
          <p:spPr>
            <a:xfrm>
              <a:off x="5955009" y="4262156"/>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a:extLst>
                <a:ext uri="{FF2B5EF4-FFF2-40B4-BE49-F238E27FC236}">
                  <a16:creationId xmlns:a16="http://schemas.microsoft.com/office/drawing/2014/main" id="{2DB33279-B5FF-447A-A8E8-065F09A5BB86}"/>
                </a:ext>
              </a:extLst>
            </p:cNvPr>
            <p:cNvSpPr/>
            <p:nvPr/>
          </p:nvSpPr>
          <p:spPr>
            <a:xfrm>
              <a:off x="5955009" y="5401674"/>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4" name="Rectangle 43">
            <a:extLst>
              <a:ext uri="{FF2B5EF4-FFF2-40B4-BE49-F238E27FC236}">
                <a16:creationId xmlns:a16="http://schemas.microsoft.com/office/drawing/2014/main" id="{8CDFCAEB-1F00-47BC-8811-4C157B90B442}"/>
              </a:ext>
            </a:extLst>
          </p:cNvPr>
          <p:cNvSpPr/>
          <p:nvPr/>
        </p:nvSpPr>
        <p:spPr>
          <a:xfrm>
            <a:off x="445574" y="702863"/>
            <a:ext cx="4374076" cy="355276"/>
          </a:xfrm>
          <a:prstGeom prst="rect">
            <a:avLst/>
          </a:prstGeom>
          <a:solidFill>
            <a:srgbClr val="072F54"/>
          </a:solidFill>
        </p:spPr>
        <p:txBody>
          <a:bodyPr wrap="square" lIns="180000" tIns="36000" rIns="180000" bIns="72000" anchor="ctr">
            <a:spAutoFit/>
          </a:bodyPr>
          <a:lstStyle/>
          <a:p>
            <a:r>
              <a:rPr lang="en-GB" sz="1600" b="1" dirty="0">
                <a:solidFill>
                  <a:schemeClr val="bg1"/>
                </a:solidFill>
              </a:rPr>
              <a:t>Multiplying Decimals by 10, 100 and 1000.</a:t>
            </a:r>
          </a:p>
        </p:txBody>
      </p:sp>
      <p:sp>
        <p:nvSpPr>
          <p:cNvPr id="45" name="Rectangle 44">
            <a:extLst>
              <a:ext uri="{FF2B5EF4-FFF2-40B4-BE49-F238E27FC236}">
                <a16:creationId xmlns:a16="http://schemas.microsoft.com/office/drawing/2014/main" id="{B8F10116-95DF-4F07-B595-5A7A43259945}"/>
              </a:ext>
            </a:extLst>
          </p:cNvPr>
          <p:cNvSpPr/>
          <p:nvPr/>
        </p:nvSpPr>
        <p:spPr>
          <a:xfrm>
            <a:off x="4819650" y="702863"/>
            <a:ext cx="976684" cy="355276"/>
          </a:xfrm>
          <a:prstGeom prst="rect">
            <a:avLst/>
          </a:prstGeom>
          <a:solidFill>
            <a:srgbClr val="4EB2E5"/>
          </a:solidFill>
        </p:spPr>
        <p:txBody>
          <a:bodyPr wrap="square" lIns="180000" tIns="36000" rIns="180000" bIns="72000" anchor="ctr">
            <a:spAutoFit/>
          </a:bodyPr>
          <a:lstStyle/>
          <a:p>
            <a:pPr algn="ctr"/>
            <a:r>
              <a:rPr lang="en-GB" altLang="en-US" sz="1600" b="1" dirty="0">
                <a:solidFill>
                  <a:schemeClr val="bg1"/>
                </a:solidFill>
              </a:rPr>
              <a:t>Diving</a:t>
            </a:r>
            <a:endParaRPr lang="en-GB" sz="1600" b="1" dirty="0">
              <a:solidFill>
                <a:schemeClr val="bg1"/>
              </a:solidFill>
            </a:endParaRPr>
          </a:p>
        </p:txBody>
      </p:sp>
      <p:cxnSp>
        <p:nvCxnSpPr>
          <p:cNvPr id="46" name="Straight Connector 45">
            <a:extLst>
              <a:ext uri="{FF2B5EF4-FFF2-40B4-BE49-F238E27FC236}">
                <a16:creationId xmlns:a16="http://schemas.microsoft.com/office/drawing/2014/main" id="{E822C98B-CC0D-45B2-9848-F68D652AA769}"/>
              </a:ext>
            </a:extLst>
          </p:cNvPr>
          <p:cNvCxnSpPr/>
          <p:nvPr/>
        </p:nvCxnSpPr>
        <p:spPr>
          <a:xfrm>
            <a:off x="4819650" y="701739"/>
            <a:ext cx="0" cy="3564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8998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500"/>
                                        <p:tgtEl>
                                          <p:spTgt spid="10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4"/>
                                        </p:tgtEl>
                                        <p:attrNameLst>
                                          <p:attrName>style.visibility</p:attrName>
                                        </p:attrNameLst>
                                      </p:cBhvr>
                                      <p:to>
                                        <p:strVal val="visible"/>
                                      </p:to>
                                    </p:set>
                                    <p:animEffect transition="in" filter="fade">
                                      <p:cBhvr>
                                        <p:cTn id="16" dur="500"/>
                                        <p:tgtEl>
                                          <p:spTgt spid="10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5"/>
                                        </p:tgtEl>
                                        <p:attrNameLst>
                                          <p:attrName>style.visibility</p:attrName>
                                        </p:attrNameLst>
                                      </p:cBhvr>
                                      <p:to>
                                        <p:strVal val="visible"/>
                                      </p:to>
                                    </p:set>
                                    <p:animEffect transition="in" filter="fade">
                                      <p:cBhvr>
                                        <p:cTn id="19" dur="500"/>
                                        <p:tgtEl>
                                          <p:spTgt spid="10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6"/>
                                        </p:tgtEl>
                                        <p:attrNameLst>
                                          <p:attrName>style.visibility</p:attrName>
                                        </p:attrNameLst>
                                      </p:cBhvr>
                                      <p:to>
                                        <p:strVal val="visible"/>
                                      </p:to>
                                    </p:set>
                                    <p:animEffect transition="in" filter="fade">
                                      <p:cBhvr>
                                        <p:cTn id="28" dur="500"/>
                                        <p:tgtEl>
                                          <p:spTgt spid="10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7"/>
                                        </p:tgtEl>
                                        <p:attrNameLst>
                                          <p:attrName>style.visibility</p:attrName>
                                        </p:attrNameLst>
                                      </p:cBhvr>
                                      <p:to>
                                        <p:strVal val="visible"/>
                                      </p:to>
                                    </p:set>
                                    <p:animEffect transition="in" filter="fade">
                                      <p:cBhvr>
                                        <p:cTn id="31" dur="500"/>
                                        <p:tgtEl>
                                          <p:spTgt spid="10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44" presetClass="path" presetSubtype="0" accel="50000" decel="50000" fill="hold" grpId="1" nodeType="clickEffect">
                                  <p:stCondLst>
                                    <p:cond delay="0"/>
                                  </p:stCondLst>
                                  <p:childTnLst>
                                    <p:animMotion origin="layout" path="M -1.11111E-6 -2.96296E-6 L -0.02569 -0.03217 C -0.0309 -0.03935 -0.03871 -0.04282 -0.04653 -0.04282 C -0.05625 -0.04282 -0.06354 -0.03935 -0.06875 -0.03217 L -0.09305 -2.96296E-6 " pathEditMode="relative" rAng="0" ptsTypes="AAAAA">
                                      <p:cBhvr>
                                        <p:cTn id="38" dur="750" fill="hold"/>
                                        <p:tgtEl>
                                          <p:spTgt spid="10"/>
                                        </p:tgtEl>
                                        <p:attrNameLst>
                                          <p:attrName>ppt_x</p:attrName>
                                          <p:attrName>ppt_y</p:attrName>
                                        </p:attrNameLst>
                                      </p:cBhvr>
                                      <p:rCtr x="-4653" y="-2153"/>
                                    </p:animMotion>
                                  </p:childTnLst>
                                </p:cTn>
                              </p:par>
                            </p:childTnLst>
                          </p:cTn>
                        </p:par>
                      </p:childTnLst>
                    </p:cTn>
                  </p:par>
                  <p:par>
                    <p:cTn id="39" fill="hold">
                      <p:stCondLst>
                        <p:cond delay="indefinite"/>
                      </p:stCondLst>
                      <p:childTnLst>
                        <p:par>
                          <p:cTn id="40" fill="hold">
                            <p:stCondLst>
                              <p:cond delay="0"/>
                            </p:stCondLst>
                            <p:childTnLst>
                              <p:par>
                                <p:cTn id="41" presetID="44" presetClass="path" presetSubtype="0" accel="50000" decel="50000" fill="hold" grpId="1" nodeType="clickEffect">
                                  <p:stCondLst>
                                    <p:cond delay="0"/>
                                  </p:stCondLst>
                                  <p:childTnLst>
                                    <p:animMotion origin="layout" path="M -0.00104 -2.96296E-6 L -0.02569 -0.03217 C -0.03073 -0.03935 -0.03819 -0.04282 -0.04601 -0.04282 C -0.05521 -0.04282 -0.06232 -0.03935 -0.06736 -0.03217 L -0.0908 -2.96296E-6 " pathEditMode="relative" rAng="0" ptsTypes="AAAAA">
                                      <p:cBhvr>
                                        <p:cTn id="42" dur="750" fill="hold"/>
                                        <p:tgtEl>
                                          <p:spTgt spid="106"/>
                                        </p:tgtEl>
                                        <p:attrNameLst>
                                          <p:attrName>ppt_x</p:attrName>
                                          <p:attrName>ppt_y</p:attrName>
                                        </p:attrNameLst>
                                      </p:cBhvr>
                                      <p:rCtr x="-4497" y="-2153"/>
                                    </p:animMotion>
                                  </p:childTnLst>
                                </p:cTn>
                              </p:par>
                            </p:childTnLst>
                          </p:cTn>
                        </p:par>
                      </p:childTnLst>
                    </p:cTn>
                  </p:par>
                  <p:par>
                    <p:cTn id="43" fill="hold">
                      <p:stCondLst>
                        <p:cond delay="indefinite"/>
                      </p:stCondLst>
                      <p:childTnLst>
                        <p:par>
                          <p:cTn id="44" fill="hold">
                            <p:stCondLst>
                              <p:cond delay="0"/>
                            </p:stCondLst>
                            <p:childTnLst>
                              <p:par>
                                <p:cTn id="45" presetID="44" presetClass="path" presetSubtype="0" accel="50000" decel="50000" fill="hold" grpId="1" nodeType="clickEffect">
                                  <p:stCondLst>
                                    <p:cond delay="0"/>
                                  </p:stCondLst>
                                  <p:childTnLst>
                                    <p:animMotion origin="layout" path="M -3.05556E-6 -2.96296E-6 L -0.02656 -0.03217 C -0.03211 -0.03935 -0.0401 -0.04282 -0.04843 -0.04282 C -0.0585 -0.04282 -0.06614 -0.03935 -0.0717 -0.03217 L -0.09687 -2.96296E-6 " pathEditMode="relative" rAng="0" ptsTypes="AAAAA">
                                      <p:cBhvr>
                                        <p:cTn id="46" dur="750" fill="hold"/>
                                        <p:tgtEl>
                                          <p:spTgt spid="107"/>
                                        </p:tgtEl>
                                        <p:attrNameLst>
                                          <p:attrName>ppt_x</p:attrName>
                                          <p:attrName>ppt_y</p:attrName>
                                        </p:attrNameLst>
                                      </p:cBhvr>
                                      <p:rCtr x="-4844" y="-2153"/>
                                    </p:animMotion>
                                  </p:childTnLst>
                                </p:cTn>
                              </p:par>
                            </p:childTnLst>
                          </p:cTn>
                        </p:par>
                      </p:childTnLst>
                    </p:cTn>
                  </p:par>
                  <p:par>
                    <p:cTn id="47" fill="hold">
                      <p:stCondLst>
                        <p:cond delay="indefinite"/>
                      </p:stCondLst>
                      <p:childTnLst>
                        <p:par>
                          <p:cTn id="48" fill="hold">
                            <p:stCondLst>
                              <p:cond delay="0"/>
                            </p:stCondLst>
                            <p:childTnLst>
                              <p:par>
                                <p:cTn id="49" presetID="44" presetClass="path" presetSubtype="0" accel="50000" decel="50000" fill="hold" grpId="1" nodeType="clickEffect">
                                  <p:stCondLst>
                                    <p:cond delay="0"/>
                                  </p:stCondLst>
                                  <p:childTnLst>
                                    <p:animMotion origin="layout" path="M 0.00035 -2.96296E-6 L -0.03194 -0.03217 C -0.03888 -0.03935 -0.04843 -0.04282 -0.05868 -0.04282 C -0.07083 -0.04282 -0.0802 -0.03935 -0.08697 -0.03217 L -0.1177 -2.96296E-6 " pathEditMode="relative" rAng="0" ptsTypes="AAAAA">
                                      <p:cBhvr>
                                        <p:cTn id="50" dur="750" fill="hold"/>
                                        <p:tgtEl>
                                          <p:spTgt spid="23"/>
                                        </p:tgtEl>
                                        <p:attrNameLst>
                                          <p:attrName>ppt_x</p:attrName>
                                          <p:attrName>ppt_y</p:attrName>
                                        </p:attrNameLst>
                                      </p:cBhvr>
                                      <p:rCtr x="-5903" y="-2153"/>
                                    </p:animMotion>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28"/>
                                        </p:tgtEl>
                                        <p:attrNameLst>
                                          <p:attrName>style.visibility</p:attrName>
                                        </p:attrNameLst>
                                      </p:cBhvr>
                                      <p:to>
                                        <p:strVal val="visible"/>
                                      </p:to>
                                    </p:set>
                                    <p:animEffect transition="in" filter="fade">
                                      <p:cBhvr>
                                        <p:cTn id="55" dur="500"/>
                                        <p:tgtEl>
                                          <p:spTgt spid="128"/>
                                        </p:tgtEl>
                                      </p:cBhvr>
                                    </p:animEffect>
                                  </p:childTnLst>
                                </p:cTn>
                              </p:par>
                            </p:childTnLst>
                          </p:cTn>
                        </p:par>
                        <p:par>
                          <p:cTn id="56" fill="hold">
                            <p:stCondLst>
                              <p:cond delay="500"/>
                            </p:stCondLst>
                            <p:childTnLst>
                              <p:par>
                                <p:cTn id="57" presetID="21" presetClass="entr" presetSubtype="1" fill="hold" grpId="0" nodeType="afterEffect">
                                  <p:stCondLst>
                                    <p:cond delay="0"/>
                                  </p:stCondLst>
                                  <p:childTnLst>
                                    <p:set>
                                      <p:cBhvr>
                                        <p:cTn id="58" dur="1" fill="hold">
                                          <p:stCondLst>
                                            <p:cond delay="0"/>
                                          </p:stCondLst>
                                        </p:cTn>
                                        <p:tgtEl>
                                          <p:spTgt spid="115"/>
                                        </p:tgtEl>
                                        <p:attrNameLst>
                                          <p:attrName>style.visibility</p:attrName>
                                        </p:attrNameLst>
                                      </p:cBhvr>
                                      <p:to>
                                        <p:strVal val="visible"/>
                                      </p:to>
                                    </p:set>
                                    <p:animEffect transition="in" filter="wheel(1)">
                                      <p:cBhvr>
                                        <p:cTn id="59" dur="1000"/>
                                        <p:tgtEl>
                                          <p:spTgt spid="115"/>
                                        </p:tgtEl>
                                      </p:cBhvr>
                                    </p:animEffect>
                                  </p:childTnLst>
                                </p:cTn>
                              </p:par>
                              <p:par>
                                <p:cTn id="60" presetID="1" presetClass="path" presetSubtype="0" accel="50000" decel="50000" fill="hold" nodeType="withEffect">
                                  <p:stCondLst>
                                    <p:cond delay="0"/>
                                  </p:stCondLst>
                                  <p:childTnLst>
                                    <p:animMotion origin="layout" path="M 5.55556E-7 -2.96296E-6 C 0.06406 -2.96296E-6 0.11667 0.03195 0.11667 0.0713 C 0.11667 0.11065 0.06406 0.14306 5.55556E-7 0.14306 C -0.06441 0.14306 -0.11667 0.11065 -0.11667 0.0713 C -0.11667 0.03195 -0.06441 -2.96296E-6 5.55556E-7 -2.96296E-6 Z " pathEditMode="relative" rAng="0" ptsTypes="AAAAA">
                                      <p:cBhvr>
                                        <p:cTn id="61" dur="1000" fill="hold"/>
                                        <p:tgtEl>
                                          <p:spTgt spid="128"/>
                                        </p:tgtEl>
                                        <p:attrNameLst>
                                          <p:attrName>ppt_x</p:attrName>
                                          <p:attrName>ppt_y</p:attrName>
                                        </p:attrNameLst>
                                      </p:cBhvr>
                                      <p:rCtr x="0" y="7153"/>
                                    </p:animMotion>
                                  </p:childTnLst>
                                </p:cTn>
                              </p:par>
                              <p:par>
                                <p:cTn id="62" presetID="10" presetClass="entr" presetSubtype="0" fill="hold" grpId="0" nodeType="with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500"/>
                                        <p:tgtEl>
                                          <p:spTgt spid="12"/>
                                        </p:tgtEl>
                                      </p:cBhvr>
                                    </p:animEffect>
                                  </p:childTnLst>
                                </p:cTn>
                              </p:par>
                            </p:childTnLst>
                          </p:cTn>
                        </p:par>
                        <p:par>
                          <p:cTn id="65" fill="hold">
                            <p:stCondLst>
                              <p:cond delay="1500"/>
                            </p:stCondLst>
                            <p:childTnLst>
                              <p:par>
                                <p:cTn id="66" presetID="10" presetClass="exit" presetSubtype="0" fill="hold" nodeType="afterEffect">
                                  <p:stCondLst>
                                    <p:cond delay="0"/>
                                  </p:stCondLst>
                                  <p:childTnLst>
                                    <p:animEffect transition="out" filter="fade">
                                      <p:cBhvr>
                                        <p:cTn id="67" dur="500"/>
                                        <p:tgtEl>
                                          <p:spTgt spid="128"/>
                                        </p:tgtEl>
                                      </p:cBhvr>
                                    </p:animEffect>
                                    <p:set>
                                      <p:cBhvr>
                                        <p:cTn id="68" dur="1" fill="hold">
                                          <p:stCondLst>
                                            <p:cond delay="499"/>
                                          </p:stCondLst>
                                        </p:cTn>
                                        <p:tgtEl>
                                          <p:spTgt spid="128"/>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grpId="1" nodeType="clickEffect">
                                  <p:stCondLst>
                                    <p:cond delay="0"/>
                                  </p:stCondLst>
                                  <p:childTnLst>
                                    <p:animEffect transition="out" filter="fade">
                                      <p:cBhvr>
                                        <p:cTn id="72" dur="500"/>
                                        <p:tgtEl>
                                          <p:spTgt spid="91"/>
                                        </p:tgtEl>
                                      </p:cBhvr>
                                    </p:animEffect>
                                    <p:set>
                                      <p:cBhvr>
                                        <p:cTn id="73" dur="1" fill="hold">
                                          <p:stCondLst>
                                            <p:cond delay="499"/>
                                          </p:stCondLst>
                                        </p:cTn>
                                        <p:tgtEl>
                                          <p:spTgt spid="91"/>
                                        </p:tgtEl>
                                        <p:attrNameLst>
                                          <p:attrName>style.visibility</p:attrName>
                                        </p:attrNameLst>
                                      </p:cBhvr>
                                      <p:to>
                                        <p:strVal val="hidden"/>
                                      </p:to>
                                    </p:set>
                                  </p:childTnLst>
                                </p:cTn>
                              </p:par>
                            </p:childTnLst>
                          </p:cTn>
                        </p:par>
                        <p:par>
                          <p:cTn id="74" fill="hold">
                            <p:stCondLst>
                              <p:cond delay="500"/>
                            </p:stCondLst>
                            <p:childTnLst>
                              <p:par>
                                <p:cTn id="75" presetID="10" presetClass="entr" presetSubtype="0" fill="hold" nodeType="after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fade">
                                      <p:cBhvr>
                                        <p:cTn id="77" dur="500"/>
                                        <p:tgtEl>
                                          <p:spTgt spid="2"/>
                                        </p:tgtEl>
                                      </p:cBhvr>
                                    </p:animEffect>
                                  </p:childTnLst>
                                </p:cTn>
                              </p:par>
                              <p:par>
                                <p:cTn id="78" presetID="42" presetClass="path" presetSubtype="0" accel="50000" decel="50000" fill="hold" nodeType="withEffect">
                                  <p:stCondLst>
                                    <p:cond delay="0"/>
                                  </p:stCondLst>
                                  <p:childTnLst>
                                    <p:animMotion origin="layout" path="M 0 2.96296E-6 L 0 0.25 " pathEditMode="relative" rAng="0" ptsTypes="AA">
                                      <p:cBhvr>
                                        <p:cTn id="79" dur="1000" spd="-100000" fill="hold"/>
                                        <p:tgtEl>
                                          <p:spTgt spid="2"/>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P spid="91" grpId="1" animBg="1"/>
      <p:bldP spid="25" grpId="0" animBg="1"/>
      <p:bldP spid="102" grpId="0" animBg="1"/>
      <p:bldP spid="104" grpId="0" animBg="1"/>
      <p:bldP spid="105" grpId="0" animBg="1"/>
      <p:bldP spid="10" grpId="0"/>
      <p:bldP spid="10" grpId="1"/>
      <p:bldP spid="106" grpId="0"/>
      <p:bldP spid="106" grpId="1"/>
      <p:bldP spid="107" grpId="0"/>
      <p:bldP spid="107" grpId="1"/>
      <p:bldP spid="23" grpId="0"/>
      <p:bldP spid="23" grpId="1"/>
      <p:bldP spid="27" grpId="0" animBg="1"/>
      <p:bldP spid="115" grpId="0" animBg="1"/>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A89F8AF-9683-438A-8052-F5C41646AF9D}"/>
              </a:ext>
            </a:extLst>
          </p:cNvPr>
          <p:cNvSpPr/>
          <p:nvPr/>
        </p:nvSpPr>
        <p:spPr>
          <a:xfrm>
            <a:off x="539750" y="1337094"/>
            <a:ext cx="8064498" cy="4936706"/>
          </a:xfrm>
          <a:prstGeom prst="rect">
            <a:avLst/>
          </a:prstGeom>
          <a:solidFill>
            <a:srgbClr val="6E6D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32" name="Picture 131">
            <a:extLst>
              <a:ext uri="{FF2B5EF4-FFF2-40B4-BE49-F238E27FC236}">
                <a16:creationId xmlns:a16="http://schemas.microsoft.com/office/drawing/2014/main" id="{83B2E1DD-1BF6-4E89-92B3-29666AB2539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595" t="2024" r="1588" b="2024"/>
          <a:stretch/>
        </p:blipFill>
        <p:spPr>
          <a:xfrm>
            <a:off x="539751" y="1337094"/>
            <a:ext cx="8064500" cy="4936706"/>
          </a:xfrm>
          <a:prstGeom prst="rect">
            <a:avLst/>
          </a:prstGeom>
        </p:spPr>
      </p:pic>
      <p:pic>
        <p:nvPicPr>
          <p:cNvPr id="98" name="Picture 97">
            <a:extLst>
              <a:ext uri="{FF2B5EF4-FFF2-40B4-BE49-F238E27FC236}">
                <a16:creationId xmlns:a16="http://schemas.microsoft.com/office/drawing/2014/main" id="{6078A644-0840-4131-AA2B-29CA3E1F1B0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1495004" y="2377570"/>
            <a:ext cx="6153990" cy="3896230"/>
          </a:xfrm>
          <a:prstGeom prst="rect">
            <a:avLst/>
          </a:prstGeom>
          <a:effectLst>
            <a:outerShdw blurRad="50800" dist="38100" dir="18900000" algn="bl" rotWithShape="0">
              <a:prstClr val="black">
                <a:alpha val="40000"/>
              </a:prstClr>
            </a:outerShdw>
          </a:effectLst>
        </p:spPr>
      </p:pic>
      <p:pic>
        <p:nvPicPr>
          <p:cNvPr id="5" name="Picture 4">
            <a:extLst>
              <a:ext uri="{FF2B5EF4-FFF2-40B4-BE49-F238E27FC236}">
                <a16:creationId xmlns:a16="http://schemas.microsoft.com/office/drawing/2014/main" id="{2830866F-58AA-4213-AFD1-4A7F919ABC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04094" y="532799"/>
            <a:ext cx="700156" cy="700156"/>
          </a:xfrm>
          <a:prstGeom prst="rect">
            <a:avLst/>
          </a:prstGeom>
        </p:spPr>
      </p:pic>
      <p:sp>
        <p:nvSpPr>
          <p:cNvPr id="91" name="TextBox 90">
            <a:extLst>
              <a:ext uri="{FF2B5EF4-FFF2-40B4-BE49-F238E27FC236}">
                <a16:creationId xmlns:a16="http://schemas.microsoft.com/office/drawing/2014/main" id="{64F2C1FE-2A0C-4C40-941A-5F46145A93A0}"/>
              </a:ext>
            </a:extLst>
          </p:cNvPr>
          <p:cNvSpPr txBox="1"/>
          <p:nvPr/>
        </p:nvSpPr>
        <p:spPr>
          <a:xfrm>
            <a:off x="-448574" y="1499808"/>
            <a:ext cx="6403584" cy="710678"/>
          </a:xfrm>
          <a:prstGeom prst="rect">
            <a:avLst/>
          </a:prstGeom>
          <a:solidFill>
            <a:srgbClr val="90C8E5"/>
          </a:solidFill>
          <a:ln w="19050">
            <a:solidFill>
              <a:srgbClr val="01407D"/>
            </a:solidFill>
          </a:ln>
          <a:effectLst>
            <a:outerShdw blurRad="50800" dist="38100" dir="8100000" algn="tr" rotWithShape="0">
              <a:prstClr val="black">
                <a:alpha val="40000"/>
              </a:prstClr>
            </a:outerShdw>
          </a:effectLst>
        </p:spPr>
        <p:txBody>
          <a:bodyPr wrap="square" lIns="108000" tIns="108000" rIns="252000" bIns="108000" rtlCol="0" anchor="ctr">
            <a:noAutofit/>
          </a:bodyPr>
          <a:lstStyle/>
          <a:p>
            <a:pPr algn="r"/>
            <a:r>
              <a:rPr lang="en-GB" b="1" dirty="0"/>
              <a:t>Match each calculation to the correct answer.</a:t>
            </a:r>
          </a:p>
        </p:txBody>
      </p:sp>
      <p:sp>
        <p:nvSpPr>
          <p:cNvPr id="25" name="Rectangle: Rounded Corners 24">
            <a:extLst>
              <a:ext uri="{FF2B5EF4-FFF2-40B4-BE49-F238E27FC236}">
                <a16:creationId xmlns:a16="http://schemas.microsoft.com/office/drawing/2014/main" id="{EFE13AC7-2CC7-47ED-8B09-CDF56CE1F92B}"/>
              </a:ext>
            </a:extLst>
          </p:cNvPr>
          <p:cNvSpPr/>
          <p:nvPr/>
        </p:nvSpPr>
        <p:spPr>
          <a:xfrm>
            <a:off x="5999381" y="3862673"/>
            <a:ext cx="1355286" cy="885696"/>
          </a:xfrm>
          <a:prstGeom prst="roundRect">
            <a:avLst/>
          </a:prstGeom>
          <a:solidFill>
            <a:schemeClr val="bg1"/>
          </a:solidFill>
          <a:ln w="19050">
            <a:solidFill>
              <a:srgbClr val="00938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1102</a:t>
            </a:r>
          </a:p>
        </p:txBody>
      </p:sp>
      <p:sp>
        <p:nvSpPr>
          <p:cNvPr id="102" name="Rectangle: Rounded Corners 101">
            <a:extLst>
              <a:ext uri="{FF2B5EF4-FFF2-40B4-BE49-F238E27FC236}">
                <a16:creationId xmlns:a16="http://schemas.microsoft.com/office/drawing/2014/main" id="{49C21CC8-258E-4641-A56B-CFF5C3F257ED}"/>
              </a:ext>
            </a:extLst>
          </p:cNvPr>
          <p:cNvSpPr/>
          <p:nvPr/>
        </p:nvSpPr>
        <p:spPr>
          <a:xfrm>
            <a:off x="5999381" y="5003198"/>
            <a:ext cx="1355286" cy="885696"/>
          </a:xfrm>
          <a:prstGeom prst="roundRect">
            <a:avLst/>
          </a:prstGeom>
          <a:solidFill>
            <a:schemeClr val="bg1"/>
          </a:solidFill>
          <a:ln w="19050">
            <a:solidFill>
              <a:srgbClr val="F08215"/>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110.2</a:t>
            </a:r>
          </a:p>
        </p:txBody>
      </p:sp>
      <p:sp>
        <p:nvSpPr>
          <p:cNvPr id="104" name="Rectangle: Rounded Corners 103">
            <a:extLst>
              <a:ext uri="{FF2B5EF4-FFF2-40B4-BE49-F238E27FC236}">
                <a16:creationId xmlns:a16="http://schemas.microsoft.com/office/drawing/2014/main" id="{979EF5E8-EBC5-4B5B-A63F-9173E793DE1A}"/>
              </a:ext>
            </a:extLst>
          </p:cNvPr>
          <p:cNvSpPr/>
          <p:nvPr/>
        </p:nvSpPr>
        <p:spPr>
          <a:xfrm>
            <a:off x="5999381" y="2722149"/>
            <a:ext cx="1355286" cy="885696"/>
          </a:xfrm>
          <a:prstGeom prst="roundRect">
            <a:avLst/>
          </a:prstGeom>
          <a:solidFill>
            <a:schemeClr val="bg1"/>
          </a:solidFill>
          <a:ln w="19050">
            <a:solidFill>
              <a:srgbClr val="8C368C"/>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400" dirty="0"/>
              <a:t>1201</a:t>
            </a:r>
          </a:p>
        </p:txBody>
      </p:sp>
      <p:sp>
        <p:nvSpPr>
          <p:cNvPr id="30" name="Rectangle 29">
            <a:extLst>
              <a:ext uri="{FF2B5EF4-FFF2-40B4-BE49-F238E27FC236}">
                <a16:creationId xmlns:a16="http://schemas.microsoft.com/office/drawing/2014/main" id="{3DEB3FB9-EAE0-48D3-8458-70C6FA5007FF}"/>
              </a:ext>
            </a:extLst>
          </p:cNvPr>
          <p:cNvSpPr/>
          <p:nvPr/>
        </p:nvSpPr>
        <p:spPr>
          <a:xfrm>
            <a:off x="1970484" y="3862673"/>
            <a:ext cx="2601515" cy="885696"/>
          </a:xfrm>
          <a:prstGeom prst="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lIns="108000" tIns="108000" rIns="108000" bIns="108000" rtlCol="0" anchor="ctr"/>
          <a:lstStyle/>
          <a:p>
            <a:pPr algn="ctr"/>
            <a:r>
              <a:rPr lang="en-GB" sz="2400" dirty="0"/>
              <a:t>110.2 × 10 = </a:t>
            </a:r>
          </a:p>
        </p:txBody>
      </p:sp>
      <p:sp>
        <p:nvSpPr>
          <p:cNvPr id="31" name="Rectangle 30">
            <a:extLst>
              <a:ext uri="{FF2B5EF4-FFF2-40B4-BE49-F238E27FC236}">
                <a16:creationId xmlns:a16="http://schemas.microsoft.com/office/drawing/2014/main" id="{6A871284-F69F-4755-A13E-BCE4AD5E69FC}"/>
              </a:ext>
            </a:extLst>
          </p:cNvPr>
          <p:cNvSpPr/>
          <p:nvPr/>
        </p:nvSpPr>
        <p:spPr>
          <a:xfrm>
            <a:off x="1970484" y="5003198"/>
            <a:ext cx="2601515" cy="885696"/>
          </a:xfrm>
          <a:prstGeom prst="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lIns="108000" tIns="108000" rIns="108000" bIns="108000" rtlCol="0" anchor="ctr"/>
          <a:lstStyle/>
          <a:p>
            <a:pPr algn="ctr"/>
            <a:r>
              <a:rPr lang="en-GB" sz="2400" dirty="0"/>
              <a:t>1.201 × 1000 = </a:t>
            </a:r>
          </a:p>
        </p:txBody>
      </p:sp>
      <p:sp>
        <p:nvSpPr>
          <p:cNvPr id="32" name="Rectangle 31">
            <a:extLst>
              <a:ext uri="{FF2B5EF4-FFF2-40B4-BE49-F238E27FC236}">
                <a16:creationId xmlns:a16="http://schemas.microsoft.com/office/drawing/2014/main" id="{45BD93B0-4A04-47B9-9D2A-1BEA4A3ED2EA}"/>
              </a:ext>
            </a:extLst>
          </p:cNvPr>
          <p:cNvSpPr/>
          <p:nvPr/>
        </p:nvSpPr>
        <p:spPr>
          <a:xfrm>
            <a:off x="1970484" y="2722149"/>
            <a:ext cx="2601516" cy="885696"/>
          </a:xfrm>
          <a:prstGeom prst="rect">
            <a:avLst/>
          </a:prstGeom>
          <a:solidFill>
            <a:schemeClr val="bg1"/>
          </a:solidFill>
          <a:ln w="19050">
            <a:solidFill>
              <a:schemeClr val="tx1"/>
            </a:solidFill>
          </a:ln>
        </p:spPr>
        <p:style>
          <a:lnRef idx="2">
            <a:schemeClr val="accent6"/>
          </a:lnRef>
          <a:fillRef idx="1">
            <a:schemeClr val="lt1"/>
          </a:fillRef>
          <a:effectRef idx="0">
            <a:schemeClr val="accent6"/>
          </a:effectRef>
          <a:fontRef idx="minor">
            <a:schemeClr val="dk1"/>
          </a:fontRef>
        </p:style>
        <p:txBody>
          <a:bodyPr lIns="108000" tIns="108000" rIns="108000" bIns="108000" rtlCol="0" anchor="ctr"/>
          <a:lstStyle/>
          <a:p>
            <a:pPr algn="ctr"/>
            <a:r>
              <a:rPr lang="en-GB" sz="2400" dirty="0"/>
              <a:t>1.102 × 100 = </a:t>
            </a:r>
          </a:p>
        </p:txBody>
      </p:sp>
      <p:sp>
        <p:nvSpPr>
          <p:cNvPr id="33" name="Oval 32">
            <a:extLst>
              <a:ext uri="{FF2B5EF4-FFF2-40B4-BE49-F238E27FC236}">
                <a16:creationId xmlns:a16="http://schemas.microsoft.com/office/drawing/2014/main" id="{FCD8C96B-D056-4991-8252-A38B05DE2EE7}"/>
              </a:ext>
            </a:extLst>
          </p:cNvPr>
          <p:cNvSpPr/>
          <p:nvPr/>
        </p:nvSpPr>
        <p:spPr>
          <a:xfrm>
            <a:off x="4527628" y="3120625"/>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1251C5BD-D953-450A-AAC8-24CC77D1AC63}"/>
              </a:ext>
            </a:extLst>
          </p:cNvPr>
          <p:cNvSpPr/>
          <p:nvPr/>
        </p:nvSpPr>
        <p:spPr>
          <a:xfrm>
            <a:off x="4527628" y="4262156"/>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5C6F272D-D25C-4A76-8644-F1C89EBBAA78}"/>
              </a:ext>
            </a:extLst>
          </p:cNvPr>
          <p:cNvSpPr/>
          <p:nvPr/>
        </p:nvSpPr>
        <p:spPr>
          <a:xfrm>
            <a:off x="4527628" y="5401674"/>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a:extLst>
              <a:ext uri="{FF2B5EF4-FFF2-40B4-BE49-F238E27FC236}">
                <a16:creationId xmlns:a16="http://schemas.microsoft.com/office/drawing/2014/main" id="{7C6ED52B-EADC-48A1-BB9E-92073E88E500}"/>
              </a:ext>
            </a:extLst>
          </p:cNvPr>
          <p:cNvSpPr/>
          <p:nvPr/>
        </p:nvSpPr>
        <p:spPr>
          <a:xfrm>
            <a:off x="5955009" y="3120625"/>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3333C2FC-8A65-43B3-BF01-492630AA4FC7}"/>
              </a:ext>
            </a:extLst>
          </p:cNvPr>
          <p:cNvSpPr/>
          <p:nvPr/>
        </p:nvSpPr>
        <p:spPr>
          <a:xfrm>
            <a:off x="5955009" y="4262156"/>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a:extLst>
              <a:ext uri="{FF2B5EF4-FFF2-40B4-BE49-F238E27FC236}">
                <a16:creationId xmlns:a16="http://schemas.microsoft.com/office/drawing/2014/main" id="{C3F91A26-259D-4E9F-9F24-36C92E6D4D8E}"/>
              </a:ext>
            </a:extLst>
          </p:cNvPr>
          <p:cNvSpPr/>
          <p:nvPr/>
        </p:nvSpPr>
        <p:spPr>
          <a:xfrm>
            <a:off x="5955009" y="5401674"/>
            <a:ext cx="88746" cy="8874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BFB9E29D-536C-4DD6-935F-619B8967F8BB}"/>
              </a:ext>
            </a:extLst>
          </p:cNvPr>
          <p:cNvCxnSpPr>
            <a:cxnSpLocks/>
            <a:stCxn id="33" idx="5"/>
            <a:endCxn id="41" idx="1"/>
          </p:cNvCxnSpPr>
          <p:nvPr/>
        </p:nvCxnSpPr>
        <p:spPr>
          <a:xfrm>
            <a:off x="4603377" y="3196373"/>
            <a:ext cx="1364629" cy="2218297"/>
          </a:xfrm>
          <a:prstGeom prst="line">
            <a:avLst/>
          </a:prstGeom>
          <a:ln w="38100">
            <a:solidFill>
              <a:srgbClr val="689429"/>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52E7558-7865-47F3-BA15-7F1158B24D32}"/>
              </a:ext>
            </a:extLst>
          </p:cNvPr>
          <p:cNvCxnSpPr>
            <a:cxnSpLocks/>
            <a:stCxn id="38" idx="7"/>
            <a:endCxn id="39" idx="3"/>
          </p:cNvCxnSpPr>
          <p:nvPr/>
        </p:nvCxnSpPr>
        <p:spPr>
          <a:xfrm flipV="1">
            <a:off x="4603377" y="3196373"/>
            <a:ext cx="1364629" cy="2218297"/>
          </a:xfrm>
          <a:prstGeom prst="line">
            <a:avLst/>
          </a:prstGeom>
          <a:ln w="38100">
            <a:solidFill>
              <a:srgbClr val="68942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ECDA54A-B781-4F77-8D3F-4D536DFA0A3F}"/>
              </a:ext>
            </a:extLst>
          </p:cNvPr>
          <p:cNvCxnSpPr>
            <a:cxnSpLocks/>
            <a:stCxn id="34" idx="6"/>
            <a:endCxn id="40" idx="2"/>
          </p:cNvCxnSpPr>
          <p:nvPr/>
        </p:nvCxnSpPr>
        <p:spPr>
          <a:xfrm>
            <a:off x="4616374" y="4306528"/>
            <a:ext cx="1338635" cy="0"/>
          </a:xfrm>
          <a:prstGeom prst="line">
            <a:avLst/>
          </a:prstGeom>
          <a:ln w="38100">
            <a:solidFill>
              <a:srgbClr val="689429"/>
            </a:solidFill>
          </a:ln>
        </p:spPr>
        <p:style>
          <a:lnRef idx="1">
            <a:schemeClr val="accent1"/>
          </a:lnRef>
          <a:fillRef idx="0">
            <a:schemeClr val="accent1"/>
          </a:fillRef>
          <a:effectRef idx="0">
            <a:schemeClr val="accent1"/>
          </a:effectRef>
          <a:fontRef idx="minor">
            <a:schemeClr val="tx1"/>
          </a:fontRef>
        </p:style>
      </p:cxnSp>
      <p:pic>
        <p:nvPicPr>
          <p:cNvPr id="59" name="Picture 58">
            <a:extLst>
              <a:ext uri="{FF2B5EF4-FFF2-40B4-BE49-F238E27FC236}">
                <a16:creationId xmlns:a16="http://schemas.microsoft.com/office/drawing/2014/main" id="{7A73C8BC-9DE6-4359-9915-D2362B68D2A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81182" y="-72256"/>
            <a:ext cx="5550337" cy="3252609"/>
          </a:xfrm>
          <a:prstGeom prst="rect">
            <a:avLst/>
          </a:prstGeom>
        </p:spPr>
      </p:pic>
      <p:pic>
        <p:nvPicPr>
          <p:cNvPr id="60" name="Picture 59">
            <a:extLst>
              <a:ext uri="{FF2B5EF4-FFF2-40B4-BE49-F238E27FC236}">
                <a16:creationId xmlns:a16="http://schemas.microsoft.com/office/drawing/2014/main" id="{F9AC01A3-0163-4455-A4BD-4652705CEB6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46678" y="2236368"/>
            <a:ext cx="5550337" cy="3252609"/>
          </a:xfrm>
          <a:prstGeom prst="rect">
            <a:avLst/>
          </a:prstGeom>
        </p:spPr>
      </p:pic>
      <p:pic>
        <p:nvPicPr>
          <p:cNvPr id="61" name="Picture 60">
            <a:extLst>
              <a:ext uri="{FF2B5EF4-FFF2-40B4-BE49-F238E27FC236}">
                <a16:creationId xmlns:a16="http://schemas.microsoft.com/office/drawing/2014/main" id="{5E98F64D-23CE-4501-A639-DDA2D0029F1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46678" y="1082056"/>
            <a:ext cx="5550337" cy="3252609"/>
          </a:xfrm>
          <a:prstGeom prst="rect">
            <a:avLst/>
          </a:prstGeom>
        </p:spPr>
      </p:pic>
      <p:sp>
        <p:nvSpPr>
          <p:cNvPr id="28" name="Rectangle 27">
            <a:extLst>
              <a:ext uri="{FF2B5EF4-FFF2-40B4-BE49-F238E27FC236}">
                <a16:creationId xmlns:a16="http://schemas.microsoft.com/office/drawing/2014/main" id="{9D4D9D01-2F58-419C-A162-C72DDBC7E628}"/>
              </a:ext>
            </a:extLst>
          </p:cNvPr>
          <p:cNvSpPr/>
          <p:nvPr/>
        </p:nvSpPr>
        <p:spPr>
          <a:xfrm>
            <a:off x="445574" y="702863"/>
            <a:ext cx="4374076" cy="355276"/>
          </a:xfrm>
          <a:prstGeom prst="rect">
            <a:avLst/>
          </a:prstGeom>
          <a:solidFill>
            <a:srgbClr val="072F54"/>
          </a:solidFill>
        </p:spPr>
        <p:txBody>
          <a:bodyPr wrap="square" lIns="180000" tIns="36000" rIns="180000" bIns="72000" anchor="ctr">
            <a:spAutoFit/>
          </a:bodyPr>
          <a:lstStyle/>
          <a:p>
            <a:r>
              <a:rPr lang="en-GB" sz="1600" b="1" dirty="0">
                <a:solidFill>
                  <a:schemeClr val="bg1"/>
                </a:solidFill>
              </a:rPr>
              <a:t>Multiplying Decimals by 10, 100 and 1000.</a:t>
            </a:r>
          </a:p>
        </p:txBody>
      </p:sp>
      <p:sp>
        <p:nvSpPr>
          <p:cNvPr id="83" name="Rectangle 82">
            <a:extLst>
              <a:ext uri="{FF2B5EF4-FFF2-40B4-BE49-F238E27FC236}">
                <a16:creationId xmlns:a16="http://schemas.microsoft.com/office/drawing/2014/main" id="{CF358C69-AB4C-42BE-B387-1F9D96F6AD68}"/>
              </a:ext>
            </a:extLst>
          </p:cNvPr>
          <p:cNvSpPr/>
          <p:nvPr/>
        </p:nvSpPr>
        <p:spPr>
          <a:xfrm>
            <a:off x="4819650" y="702863"/>
            <a:ext cx="976684" cy="355276"/>
          </a:xfrm>
          <a:prstGeom prst="rect">
            <a:avLst/>
          </a:prstGeom>
          <a:solidFill>
            <a:srgbClr val="4EB2E5"/>
          </a:solidFill>
        </p:spPr>
        <p:txBody>
          <a:bodyPr wrap="square" lIns="180000" tIns="36000" rIns="180000" bIns="72000" anchor="ctr">
            <a:spAutoFit/>
          </a:bodyPr>
          <a:lstStyle/>
          <a:p>
            <a:pPr algn="ctr"/>
            <a:r>
              <a:rPr lang="en-GB" altLang="en-US" sz="1600" b="1" dirty="0">
                <a:solidFill>
                  <a:schemeClr val="bg1"/>
                </a:solidFill>
              </a:rPr>
              <a:t>Diving</a:t>
            </a:r>
            <a:endParaRPr lang="en-GB" sz="1600" b="1" dirty="0">
              <a:solidFill>
                <a:schemeClr val="bg1"/>
              </a:solidFill>
            </a:endParaRPr>
          </a:p>
        </p:txBody>
      </p:sp>
      <p:cxnSp>
        <p:nvCxnSpPr>
          <p:cNvPr id="85" name="Straight Connector 84">
            <a:extLst>
              <a:ext uri="{FF2B5EF4-FFF2-40B4-BE49-F238E27FC236}">
                <a16:creationId xmlns:a16="http://schemas.microsoft.com/office/drawing/2014/main" id="{46F9028E-75FB-41CF-9B57-BC94BFD9AB92}"/>
              </a:ext>
            </a:extLst>
          </p:cNvPr>
          <p:cNvCxnSpPr/>
          <p:nvPr/>
        </p:nvCxnSpPr>
        <p:spPr>
          <a:xfrm>
            <a:off x="4819650" y="701739"/>
            <a:ext cx="0" cy="3564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205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fade">
                                      <p:cBhvr>
                                        <p:cTn id="12" dur="500"/>
                                        <p:tgtEl>
                                          <p:spTgt spid="59"/>
                                        </p:tgtEl>
                                      </p:cBhvr>
                                    </p:animEffect>
                                  </p:childTnLst>
                                </p:cTn>
                              </p:par>
                            </p:childTnLst>
                          </p:cTn>
                        </p:par>
                        <p:par>
                          <p:cTn id="13" fill="hold">
                            <p:stCondLst>
                              <p:cond delay="500"/>
                            </p:stCondLst>
                            <p:childTnLst>
                              <p:par>
                                <p:cTn id="14" presetID="63" presetClass="path" presetSubtype="0" accel="50000" decel="50000" fill="hold" nodeType="afterEffect">
                                  <p:stCondLst>
                                    <p:cond delay="0"/>
                                  </p:stCondLst>
                                  <p:childTnLst>
                                    <p:animMotion origin="layout" path="M -1.11111E-6 1.11111E-6 L 0.15695 0.3368 " pathEditMode="relative" rAng="0" ptsTypes="AA">
                                      <p:cBhvr>
                                        <p:cTn id="15" dur="1250" fill="hold"/>
                                        <p:tgtEl>
                                          <p:spTgt spid="59"/>
                                        </p:tgtEl>
                                        <p:attrNameLst>
                                          <p:attrName>ppt_x</p:attrName>
                                          <p:attrName>ppt_y</p:attrName>
                                        </p:attrNameLst>
                                      </p:cBhvr>
                                      <p:rCtr x="7847" y="16829"/>
                                    </p:animMotion>
                                  </p:childTnLst>
                                </p:cTn>
                              </p:par>
                              <p:par>
                                <p:cTn id="16" presetID="22" presetClass="entr" presetSubtype="8"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750"/>
                                        <p:tgtEl>
                                          <p:spTgt spid="6"/>
                                        </p:tgtEl>
                                      </p:cBhvr>
                                    </p:animEffect>
                                  </p:childTnLst>
                                </p:cTn>
                              </p:par>
                            </p:childTnLst>
                          </p:cTn>
                        </p:par>
                        <p:par>
                          <p:cTn id="19" fill="hold">
                            <p:stCondLst>
                              <p:cond delay="1750"/>
                            </p:stCondLst>
                            <p:childTnLst>
                              <p:par>
                                <p:cTn id="20" presetID="10" presetClass="exit" presetSubtype="0" fill="hold" nodeType="afterEffect">
                                  <p:stCondLst>
                                    <p:cond delay="250"/>
                                  </p:stCondLst>
                                  <p:childTnLst>
                                    <p:animEffect transition="out" filter="fade">
                                      <p:cBhvr>
                                        <p:cTn id="21" dur="250"/>
                                        <p:tgtEl>
                                          <p:spTgt spid="59"/>
                                        </p:tgtEl>
                                      </p:cBhvr>
                                    </p:animEffect>
                                    <p:set>
                                      <p:cBhvr>
                                        <p:cTn id="22" dur="1" fill="hold">
                                          <p:stCondLst>
                                            <p:cond delay="249"/>
                                          </p:stCondLst>
                                        </p:cTn>
                                        <p:tgtEl>
                                          <p:spTgt spid="5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500"/>
                                        <p:tgtEl>
                                          <p:spTgt spid="61"/>
                                        </p:tgtEl>
                                      </p:cBhvr>
                                    </p:animEffect>
                                  </p:childTnLst>
                                </p:cTn>
                              </p:par>
                            </p:childTnLst>
                          </p:cTn>
                        </p:par>
                        <p:par>
                          <p:cTn id="28" fill="hold">
                            <p:stCondLst>
                              <p:cond delay="500"/>
                            </p:stCondLst>
                            <p:childTnLst>
                              <p:par>
                                <p:cTn id="29" presetID="63" presetClass="path" presetSubtype="0" accel="50000" decel="50000" fill="hold" nodeType="afterEffect">
                                  <p:stCondLst>
                                    <p:cond delay="0"/>
                                  </p:stCondLst>
                                  <p:childTnLst>
                                    <p:animMotion origin="layout" path="M -1.11111E-6 2.59259E-6 L 0.15695 -0.00023 " pathEditMode="relative" rAng="0" ptsTypes="AA">
                                      <p:cBhvr>
                                        <p:cTn id="30" dur="1250" fill="hold"/>
                                        <p:tgtEl>
                                          <p:spTgt spid="61"/>
                                        </p:tgtEl>
                                        <p:attrNameLst>
                                          <p:attrName>ppt_x</p:attrName>
                                          <p:attrName>ppt_y</p:attrName>
                                        </p:attrNameLst>
                                      </p:cBhvr>
                                      <p:rCtr x="7847" y="-23"/>
                                    </p:animMotion>
                                  </p:childTnLst>
                                </p:cTn>
                              </p:par>
                              <p:par>
                                <p:cTn id="31" presetID="22" presetClass="entr" presetSubtype="8" fill="hold" nodeType="withEffect">
                                  <p:stCondLst>
                                    <p:cond delay="250"/>
                                  </p:stCondLst>
                                  <p:childTnLst>
                                    <p:set>
                                      <p:cBhvr>
                                        <p:cTn id="32" dur="1" fill="hold">
                                          <p:stCondLst>
                                            <p:cond delay="0"/>
                                          </p:stCondLst>
                                        </p:cTn>
                                        <p:tgtEl>
                                          <p:spTgt spid="52"/>
                                        </p:tgtEl>
                                        <p:attrNameLst>
                                          <p:attrName>style.visibility</p:attrName>
                                        </p:attrNameLst>
                                      </p:cBhvr>
                                      <p:to>
                                        <p:strVal val="visible"/>
                                      </p:to>
                                    </p:set>
                                    <p:animEffect transition="in" filter="wipe(left)">
                                      <p:cBhvr>
                                        <p:cTn id="33" dur="750"/>
                                        <p:tgtEl>
                                          <p:spTgt spid="52"/>
                                        </p:tgtEl>
                                      </p:cBhvr>
                                    </p:animEffect>
                                  </p:childTnLst>
                                </p:cTn>
                              </p:par>
                            </p:childTnLst>
                          </p:cTn>
                        </p:par>
                        <p:par>
                          <p:cTn id="34" fill="hold">
                            <p:stCondLst>
                              <p:cond delay="1750"/>
                            </p:stCondLst>
                            <p:childTnLst>
                              <p:par>
                                <p:cTn id="35" presetID="10" presetClass="exit" presetSubtype="0" fill="hold" nodeType="afterEffect">
                                  <p:stCondLst>
                                    <p:cond delay="250"/>
                                  </p:stCondLst>
                                  <p:childTnLst>
                                    <p:animEffect transition="out" filter="fade">
                                      <p:cBhvr>
                                        <p:cTn id="36" dur="250"/>
                                        <p:tgtEl>
                                          <p:spTgt spid="61"/>
                                        </p:tgtEl>
                                      </p:cBhvr>
                                    </p:animEffect>
                                    <p:set>
                                      <p:cBhvr>
                                        <p:cTn id="37" dur="1" fill="hold">
                                          <p:stCondLst>
                                            <p:cond delay="249"/>
                                          </p:stCondLst>
                                        </p:cTn>
                                        <p:tgtEl>
                                          <p:spTgt spid="61"/>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fade">
                                      <p:cBhvr>
                                        <p:cTn id="42" dur="500"/>
                                        <p:tgtEl>
                                          <p:spTgt spid="60"/>
                                        </p:tgtEl>
                                      </p:cBhvr>
                                    </p:animEffect>
                                  </p:childTnLst>
                                </p:cTn>
                              </p:par>
                            </p:childTnLst>
                          </p:cTn>
                        </p:par>
                        <p:par>
                          <p:cTn id="43" fill="hold">
                            <p:stCondLst>
                              <p:cond delay="500"/>
                            </p:stCondLst>
                            <p:childTnLst>
                              <p:par>
                                <p:cTn id="44" presetID="63" presetClass="path" presetSubtype="0" accel="50000" decel="50000" fill="hold" nodeType="afterEffect">
                                  <p:stCondLst>
                                    <p:cond delay="0"/>
                                  </p:stCondLst>
                                  <p:childTnLst>
                                    <p:animMotion origin="layout" path="M -1.11111E-6 -4.44444E-6 L 0.15695 -0.33449 " pathEditMode="relative" rAng="0" ptsTypes="AA">
                                      <p:cBhvr>
                                        <p:cTn id="45" dur="1250" fill="hold"/>
                                        <p:tgtEl>
                                          <p:spTgt spid="60"/>
                                        </p:tgtEl>
                                        <p:attrNameLst>
                                          <p:attrName>ppt_x</p:attrName>
                                          <p:attrName>ppt_y</p:attrName>
                                        </p:attrNameLst>
                                      </p:cBhvr>
                                      <p:rCtr x="7847" y="-16736"/>
                                    </p:animMotion>
                                  </p:childTnLst>
                                </p:cTn>
                              </p:par>
                              <p:par>
                                <p:cTn id="46" presetID="22" presetClass="entr" presetSubtype="8" fill="hold" nodeType="withEffect">
                                  <p:stCondLst>
                                    <p:cond delay="250"/>
                                  </p:stCondLst>
                                  <p:childTnLst>
                                    <p:set>
                                      <p:cBhvr>
                                        <p:cTn id="47" dur="1" fill="hold">
                                          <p:stCondLst>
                                            <p:cond delay="0"/>
                                          </p:stCondLst>
                                        </p:cTn>
                                        <p:tgtEl>
                                          <p:spTgt spid="47"/>
                                        </p:tgtEl>
                                        <p:attrNameLst>
                                          <p:attrName>style.visibility</p:attrName>
                                        </p:attrNameLst>
                                      </p:cBhvr>
                                      <p:to>
                                        <p:strVal val="visible"/>
                                      </p:to>
                                    </p:set>
                                    <p:animEffect transition="in" filter="wipe(left)">
                                      <p:cBhvr>
                                        <p:cTn id="48" dur="750"/>
                                        <p:tgtEl>
                                          <p:spTgt spid="47"/>
                                        </p:tgtEl>
                                      </p:cBhvr>
                                    </p:animEffect>
                                  </p:childTnLst>
                                </p:cTn>
                              </p:par>
                            </p:childTnLst>
                          </p:cTn>
                        </p:par>
                        <p:par>
                          <p:cTn id="49" fill="hold">
                            <p:stCondLst>
                              <p:cond delay="1750"/>
                            </p:stCondLst>
                            <p:childTnLst>
                              <p:par>
                                <p:cTn id="50" presetID="10" presetClass="exit" presetSubtype="0" fill="hold" nodeType="afterEffect">
                                  <p:stCondLst>
                                    <p:cond delay="250"/>
                                  </p:stCondLst>
                                  <p:childTnLst>
                                    <p:animEffect transition="out" filter="fade">
                                      <p:cBhvr>
                                        <p:cTn id="51" dur="250"/>
                                        <p:tgtEl>
                                          <p:spTgt spid="60"/>
                                        </p:tgtEl>
                                      </p:cBhvr>
                                    </p:animEffect>
                                    <p:set>
                                      <p:cBhvr>
                                        <p:cTn id="52" dur="1" fill="hold">
                                          <p:stCondLst>
                                            <p:cond delay="249"/>
                                          </p:stCondLst>
                                        </p:cTn>
                                        <p:tgtEl>
                                          <p:spTgt spid="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E2E2C22-D11F-4D31-A838-74576BD3131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10" r="1159" b="15392"/>
          <a:stretch/>
        </p:blipFill>
        <p:spPr>
          <a:xfrm>
            <a:off x="539749" y="1337094"/>
            <a:ext cx="8064493" cy="4936706"/>
          </a:xfrm>
          <a:prstGeom prst="rect">
            <a:avLst/>
          </a:prstGeom>
        </p:spPr>
      </p:pic>
      <p:sp>
        <p:nvSpPr>
          <p:cNvPr id="22" name="Rectangle 21">
            <a:extLst>
              <a:ext uri="{FF2B5EF4-FFF2-40B4-BE49-F238E27FC236}">
                <a16:creationId xmlns:a16="http://schemas.microsoft.com/office/drawing/2014/main" id="{07A7BFF3-F111-4C8E-9D17-67104795DC47}"/>
              </a:ext>
            </a:extLst>
          </p:cNvPr>
          <p:cNvSpPr/>
          <p:nvPr/>
        </p:nvSpPr>
        <p:spPr>
          <a:xfrm>
            <a:off x="539750" y="1337094"/>
            <a:ext cx="3850856" cy="4936706"/>
          </a:xfrm>
          <a:custGeom>
            <a:avLst/>
            <a:gdLst>
              <a:gd name="connsiteX0" fmla="*/ 0 w 3359150"/>
              <a:gd name="connsiteY0" fmla="*/ 0 h 4936706"/>
              <a:gd name="connsiteX1" fmla="*/ 3359150 w 3359150"/>
              <a:gd name="connsiteY1" fmla="*/ 0 h 4936706"/>
              <a:gd name="connsiteX2" fmla="*/ 3359150 w 3359150"/>
              <a:gd name="connsiteY2" fmla="*/ 4936706 h 4936706"/>
              <a:gd name="connsiteX3" fmla="*/ 0 w 3359150"/>
              <a:gd name="connsiteY3" fmla="*/ 4936706 h 4936706"/>
              <a:gd name="connsiteX4" fmla="*/ 0 w 3359150"/>
              <a:gd name="connsiteY4" fmla="*/ 0 h 4936706"/>
              <a:gd name="connsiteX0" fmla="*/ 0 w 3850856"/>
              <a:gd name="connsiteY0" fmla="*/ 0 h 4936706"/>
              <a:gd name="connsiteX1" fmla="*/ 3359150 w 3850856"/>
              <a:gd name="connsiteY1" fmla="*/ 0 h 4936706"/>
              <a:gd name="connsiteX2" fmla="*/ 3850856 w 3850856"/>
              <a:gd name="connsiteY2" fmla="*/ 4928079 h 4936706"/>
              <a:gd name="connsiteX3" fmla="*/ 0 w 3850856"/>
              <a:gd name="connsiteY3" fmla="*/ 4936706 h 4936706"/>
              <a:gd name="connsiteX4" fmla="*/ 0 w 3850856"/>
              <a:gd name="connsiteY4" fmla="*/ 0 h 4936706"/>
              <a:gd name="connsiteX0" fmla="*/ 0 w 3850856"/>
              <a:gd name="connsiteY0" fmla="*/ 0 h 4936706"/>
              <a:gd name="connsiteX1" fmla="*/ 3272885 w 3850856"/>
              <a:gd name="connsiteY1" fmla="*/ 8626 h 4936706"/>
              <a:gd name="connsiteX2" fmla="*/ 3850856 w 3850856"/>
              <a:gd name="connsiteY2" fmla="*/ 4928079 h 4936706"/>
              <a:gd name="connsiteX3" fmla="*/ 0 w 3850856"/>
              <a:gd name="connsiteY3" fmla="*/ 4936706 h 4936706"/>
              <a:gd name="connsiteX4" fmla="*/ 0 w 3850856"/>
              <a:gd name="connsiteY4" fmla="*/ 0 h 49367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856" h="4936706">
                <a:moveTo>
                  <a:pt x="0" y="0"/>
                </a:moveTo>
                <a:lnTo>
                  <a:pt x="3272885" y="8626"/>
                </a:lnTo>
                <a:lnTo>
                  <a:pt x="3850856" y="4928079"/>
                </a:lnTo>
                <a:lnTo>
                  <a:pt x="0" y="4936706"/>
                </a:lnTo>
                <a:lnTo>
                  <a:pt x="0" y="0"/>
                </a:lnTo>
                <a:close/>
              </a:path>
            </a:pathLst>
          </a:custGeom>
          <a:solidFill>
            <a:srgbClr val="F8BD95"/>
          </a:solidFill>
          <a:ln w="28575">
            <a:solidFill>
              <a:srgbClr val="E94E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6" name="Picture 6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2250" y="532799"/>
            <a:ext cx="702000" cy="702000"/>
          </a:xfrm>
          <a:prstGeom prst="rect">
            <a:avLst/>
          </a:prstGeom>
        </p:spPr>
      </p:pic>
      <p:sp>
        <p:nvSpPr>
          <p:cNvPr id="12" name="Speech Bubble: Rectangle 11">
            <a:extLst>
              <a:ext uri="{FF2B5EF4-FFF2-40B4-BE49-F238E27FC236}">
                <a16:creationId xmlns:a16="http://schemas.microsoft.com/office/drawing/2014/main" id="{25656732-9BFA-4A1B-BDF7-62CAF573FB4A}"/>
              </a:ext>
            </a:extLst>
          </p:cNvPr>
          <p:cNvSpPr/>
          <p:nvPr/>
        </p:nvSpPr>
        <p:spPr>
          <a:xfrm>
            <a:off x="4070089" y="1647916"/>
            <a:ext cx="2350025" cy="1051053"/>
          </a:xfrm>
          <a:prstGeom prst="wedgeRectCallout">
            <a:avLst>
              <a:gd name="adj1" fmla="val 44534"/>
              <a:gd name="adj2" fmla="val 69931"/>
            </a:avLst>
          </a:prstGeom>
          <a:solidFill>
            <a:schemeClr val="bg1"/>
          </a:solidFill>
          <a:ln w="12700">
            <a:solidFill>
              <a:schemeClr val="tx1"/>
            </a:solidFill>
          </a:ln>
        </p:spPr>
        <p:txBody>
          <a:bodyPr lIns="108000" tIns="108000" rIns="108000" bIns="108000">
            <a:spAutoFit/>
          </a:bodyPr>
          <a:lstStyle/>
          <a:p>
            <a:r>
              <a:rPr lang="en-GB" dirty="0"/>
              <a:t>You only ever need to add a zero when multiplying by 10.</a:t>
            </a:r>
          </a:p>
        </p:txBody>
      </p:sp>
      <p:sp>
        <p:nvSpPr>
          <p:cNvPr id="16" name="TextBox 15">
            <a:extLst>
              <a:ext uri="{FF2B5EF4-FFF2-40B4-BE49-F238E27FC236}">
                <a16:creationId xmlns:a16="http://schemas.microsoft.com/office/drawing/2014/main" id="{69A19E88-FCEB-4042-AD24-30BF3FF39D4E}"/>
              </a:ext>
            </a:extLst>
          </p:cNvPr>
          <p:cNvSpPr txBox="1"/>
          <p:nvPr/>
        </p:nvSpPr>
        <p:spPr>
          <a:xfrm>
            <a:off x="-362310" y="1975596"/>
            <a:ext cx="3933645" cy="890738"/>
          </a:xfrm>
          <a:prstGeom prst="rect">
            <a:avLst/>
          </a:prstGeom>
          <a:solidFill>
            <a:srgbClr val="90C8E5"/>
          </a:solidFill>
          <a:ln w="19050">
            <a:solidFill>
              <a:srgbClr val="01407D"/>
            </a:solidFill>
          </a:ln>
          <a:effectLst>
            <a:outerShdw blurRad="50800" dist="38100" dir="8100000" algn="tr" rotWithShape="0">
              <a:prstClr val="black">
                <a:alpha val="40000"/>
              </a:prstClr>
            </a:outerShdw>
          </a:effectLst>
        </p:spPr>
        <p:txBody>
          <a:bodyPr wrap="square" lIns="108000" tIns="108000" rIns="108000" bIns="108000" rtlCol="0" anchor="ctr">
            <a:noAutofit/>
          </a:bodyPr>
          <a:lstStyle/>
          <a:p>
            <a:pPr algn="r"/>
            <a:r>
              <a:rPr lang="en-GB" b="1" dirty="0"/>
              <a:t>Do you agree with Ben?</a:t>
            </a:r>
            <a:br>
              <a:rPr lang="en-GB" b="1" dirty="0"/>
            </a:br>
            <a:r>
              <a:rPr lang="en-GB" b="1" dirty="0"/>
              <a:t>Explain your answer.</a:t>
            </a:r>
          </a:p>
        </p:txBody>
      </p:sp>
      <p:pic>
        <p:nvPicPr>
          <p:cNvPr id="21" name="Picture 20">
            <a:extLst>
              <a:ext uri="{FF2B5EF4-FFF2-40B4-BE49-F238E27FC236}">
                <a16:creationId xmlns:a16="http://schemas.microsoft.com/office/drawing/2014/main" id="{286BC718-C806-4B4A-8332-C4C2EA23685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11524" b="52901"/>
          <a:stretch/>
        </p:blipFill>
        <p:spPr>
          <a:xfrm>
            <a:off x="5835327" y="1475865"/>
            <a:ext cx="2768924" cy="4797935"/>
          </a:xfrm>
          <a:prstGeom prst="rect">
            <a:avLst/>
          </a:prstGeom>
        </p:spPr>
      </p:pic>
      <p:sp>
        <p:nvSpPr>
          <p:cNvPr id="17" name="TextBox 16">
            <a:extLst>
              <a:ext uri="{FF2B5EF4-FFF2-40B4-BE49-F238E27FC236}">
                <a16:creationId xmlns:a16="http://schemas.microsoft.com/office/drawing/2014/main" id="{90C5FF94-C41A-4773-BDA4-8DE9B2674602}"/>
              </a:ext>
            </a:extLst>
          </p:cNvPr>
          <p:cNvSpPr txBox="1"/>
          <p:nvPr/>
        </p:nvSpPr>
        <p:spPr>
          <a:xfrm>
            <a:off x="539750" y="3885866"/>
            <a:ext cx="3862238" cy="2387934"/>
          </a:xfrm>
          <a:custGeom>
            <a:avLst/>
            <a:gdLst>
              <a:gd name="connsiteX0" fmla="*/ 0 w 3307871"/>
              <a:gd name="connsiteY0" fmla="*/ 0 h 2587989"/>
              <a:gd name="connsiteX1" fmla="*/ 3307871 w 3307871"/>
              <a:gd name="connsiteY1" fmla="*/ 0 h 2587989"/>
              <a:gd name="connsiteX2" fmla="*/ 3307871 w 3307871"/>
              <a:gd name="connsiteY2" fmla="*/ 2587989 h 2587989"/>
              <a:gd name="connsiteX3" fmla="*/ 0 w 3307871"/>
              <a:gd name="connsiteY3" fmla="*/ 2587989 h 2587989"/>
              <a:gd name="connsiteX4" fmla="*/ 0 w 3307871"/>
              <a:gd name="connsiteY4" fmla="*/ 0 h 2587989"/>
              <a:gd name="connsiteX0" fmla="*/ 0 w 3868588"/>
              <a:gd name="connsiteY0" fmla="*/ 0 h 2587989"/>
              <a:gd name="connsiteX1" fmla="*/ 3307871 w 3868588"/>
              <a:gd name="connsiteY1" fmla="*/ 0 h 2587989"/>
              <a:gd name="connsiteX2" fmla="*/ 3868588 w 3868588"/>
              <a:gd name="connsiteY2" fmla="*/ 2570736 h 2587989"/>
              <a:gd name="connsiteX3" fmla="*/ 0 w 3868588"/>
              <a:gd name="connsiteY3" fmla="*/ 2587989 h 2587989"/>
              <a:gd name="connsiteX4" fmla="*/ 0 w 3868588"/>
              <a:gd name="connsiteY4" fmla="*/ 0 h 2587989"/>
              <a:gd name="connsiteX0" fmla="*/ 0 w 3868588"/>
              <a:gd name="connsiteY0" fmla="*/ 0 h 2587989"/>
              <a:gd name="connsiteX1" fmla="*/ 3566664 w 3868588"/>
              <a:gd name="connsiteY1" fmla="*/ 8626 h 2587989"/>
              <a:gd name="connsiteX2" fmla="*/ 3868588 w 3868588"/>
              <a:gd name="connsiteY2" fmla="*/ 2570736 h 2587989"/>
              <a:gd name="connsiteX3" fmla="*/ 0 w 3868588"/>
              <a:gd name="connsiteY3" fmla="*/ 2587989 h 2587989"/>
              <a:gd name="connsiteX4" fmla="*/ 0 w 3868588"/>
              <a:gd name="connsiteY4" fmla="*/ 0 h 2587989"/>
              <a:gd name="connsiteX0" fmla="*/ 0 w 3868588"/>
              <a:gd name="connsiteY0" fmla="*/ 0 h 2587989"/>
              <a:gd name="connsiteX1" fmla="*/ 3579364 w 3868588"/>
              <a:gd name="connsiteY1" fmla="*/ 8626 h 2587989"/>
              <a:gd name="connsiteX2" fmla="*/ 3868588 w 3868588"/>
              <a:gd name="connsiteY2" fmla="*/ 2570736 h 2587989"/>
              <a:gd name="connsiteX3" fmla="*/ 0 w 3868588"/>
              <a:gd name="connsiteY3" fmla="*/ 2587989 h 2587989"/>
              <a:gd name="connsiteX4" fmla="*/ 0 w 3868588"/>
              <a:gd name="connsiteY4" fmla="*/ 0 h 2587989"/>
              <a:gd name="connsiteX0" fmla="*/ 0 w 3751113"/>
              <a:gd name="connsiteY0" fmla="*/ 0 h 2587989"/>
              <a:gd name="connsiteX1" fmla="*/ 3579364 w 3751113"/>
              <a:gd name="connsiteY1" fmla="*/ 8626 h 2587989"/>
              <a:gd name="connsiteX2" fmla="*/ 3751113 w 3751113"/>
              <a:gd name="connsiteY2" fmla="*/ 2526003 h 2587989"/>
              <a:gd name="connsiteX3" fmla="*/ 0 w 3751113"/>
              <a:gd name="connsiteY3" fmla="*/ 2587989 h 2587989"/>
              <a:gd name="connsiteX4" fmla="*/ 0 w 3751113"/>
              <a:gd name="connsiteY4" fmla="*/ 0 h 2587989"/>
              <a:gd name="connsiteX0" fmla="*/ 0 w 3579364"/>
              <a:gd name="connsiteY0" fmla="*/ 0 h 2587989"/>
              <a:gd name="connsiteX1" fmla="*/ 3579364 w 3579364"/>
              <a:gd name="connsiteY1" fmla="*/ 8626 h 2587989"/>
              <a:gd name="connsiteX2" fmla="*/ 3535213 w 3579364"/>
              <a:gd name="connsiteY2" fmla="*/ 2343631 h 2587989"/>
              <a:gd name="connsiteX3" fmla="*/ 0 w 3579364"/>
              <a:gd name="connsiteY3" fmla="*/ 2587989 h 2587989"/>
              <a:gd name="connsiteX4" fmla="*/ 0 w 3579364"/>
              <a:gd name="connsiteY4" fmla="*/ 0 h 2587989"/>
              <a:gd name="connsiteX0" fmla="*/ 0 w 3862238"/>
              <a:gd name="connsiteY0" fmla="*/ 0 h 2587989"/>
              <a:gd name="connsiteX1" fmla="*/ 3579364 w 3862238"/>
              <a:gd name="connsiteY1" fmla="*/ 8626 h 2587989"/>
              <a:gd name="connsiteX2" fmla="*/ 3862238 w 3862238"/>
              <a:gd name="connsiteY2" fmla="*/ 2581059 h 2587989"/>
              <a:gd name="connsiteX3" fmla="*/ 0 w 3862238"/>
              <a:gd name="connsiteY3" fmla="*/ 2587989 h 2587989"/>
              <a:gd name="connsiteX4" fmla="*/ 0 w 3862238"/>
              <a:gd name="connsiteY4" fmla="*/ 0 h 25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238" h="2587989">
                <a:moveTo>
                  <a:pt x="0" y="0"/>
                </a:moveTo>
                <a:lnTo>
                  <a:pt x="3579364" y="8626"/>
                </a:lnTo>
                <a:lnTo>
                  <a:pt x="3862238" y="2581059"/>
                </a:lnTo>
                <a:lnTo>
                  <a:pt x="0" y="2587989"/>
                </a:lnTo>
                <a:lnTo>
                  <a:pt x="0" y="0"/>
                </a:lnTo>
                <a:close/>
              </a:path>
            </a:pathLst>
          </a:custGeom>
          <a:solidFill>
            <a:schemeClr val="bg1"/>
          </a:solidFill>
          <a:ln w="28575">
            <a:solidFill>
              <a:srgbClr val="689429"/>
            </a:solidFill>
          </a:ln>
        </p:spPr>
        <p:txBody>
          <a:bodyPr wrap="square" lIns="108000" tIns="108000" rIns="108000" bIns="108000" rtlCol="0">
            <a:spAutoFit/>
          </a:bodyPr>
          <a:lstStyle/>
          <a:p>
            <a:pPr>
              <a:spcAft>
                <a:spcPts val="600"/>
              </a:spcAft>
            </a:pPr>
            <a:r>
              <a:rPr lang="en-GB" b="1" dirty="0"/>
              <a:t>Ben is </a:t>
            </a:r>
            <a:r>
              <a:rPr lang="en-GB" b="1"/>
              <a:t>incorrect.</a:t>
            </a:r>
          </a:p>
          <a:p>
            <a:pPr>
              <a:spcAft>
                <a:spcPts val="600"/>
              </a:spcAft>
            </a:pPr>
            <a:r>
              <a:rPr lang="en-GB" b="1" dirty="0"/>
              <a:t>Although 235 × 10 requires ‘adding’ a zero to the end</a:t>
            </a:r>
            <a:br>
              <a:rPr lang="en-GB" b="1" dirty="0"/>
            </a:br>
            <a:r>
              <a:rPr lang="en-GB" b="1" dirty="0"/>
              <a:t>to give you 2350, this does not necessarily work with decimals:</a:t>
            </a:r>
          </a:p>
          <a:p>
            <a:pPr>
              <a:spcAft>
                <a:spcPts val="600"/>
              </a:spcAft>
            </a:pPr>
            <a:r>
              <a:rPr lang="en-GB" b="1" dirty="0"/>
              <a:t>1.34 × 10 = 13.4</a:t>
            </a:r>
          </a:p>
          <a:p>
            <a:pPr>
              <a:spcAft>
                <a:spcPts val="600"/>
              </a:spcAft>
            </a:pPr>
            <a:r>
              <a:rPr lang="en-GB" b="1" dirty="0"/>
              <a:t>1.34 × 10 ≠ 1.340</a:t>
            </a:r>
          </a:p>
        </p:txBody>
      </p:sp>
      <p:sp>
        <p:nvSpPr>
          <p:cNvPr id="13" name="Rectangle 12">
            <a:extLst>
              <a:ext uri="{FF2B5EF4-FFF2-40B4-BE49-F238E27FC236}">
                <a16:creationId xmlns:a16="http://schemas.microsoft.com/office/drawing/2014/main" id="{CB7CA856-7F20-4A57-9A97-B5BCAB331EE8}"/>
              </a:ext>
            </a:extLst>
          </p:cNvPr>
          <p:cNvSpPr/>
          <p:nvPr/>
        </p:nvSpPr>
        <p:spPr>
          <a:xfrm>
            <a:off x="445574" y="702863"/>
            <a:ext cx="4374076" cy="355276"/>
          </a:xfrm>
          <a:prstGeom prst="rect">
            <a:avLst/>
          </a:prstGeom>
          <a:solidFill>
            <a:srgbClr val="072F54"/>
          </a:solidFill>
        </p:spPr>
        <p:txBody>
          <a:bodyPr wrap="square" lIns="180000" tIns="36000" rIns="180000" bIns="72000" anchor="ctr">
            <a:spAutoFit/>
          </a:bodyPr>
          <a:lstStyle/>
          <a:p>
            <a:r>
              <a:rPr lang="en-GB" sz="1600" b="1" dirty="0">
                <a:solidFill>
                  <a:schemeClr val="bg1"/>
                </a:solidFill>
              </a:rPr>
              <a:t>Multiplying Decimals by 10, 100 and 1000.</a:t>
            </a:r>
          </a:p>
        </p:txBody>
      </p:sp>
      <p:sp>
        <p:nvSpPr>
          <p:cNvPr id="10" name="Rectangle 9"/>
          <p:cNvSpPr/>
          <p:nvPr/>
        </p:nvSpPr>
        <p:spPr>
          <a:xfrm>
            <a:off x="4819650" y="702863"/>
            <a:ext cx="1063301" cy="355276"/>
          </a:xfrm>
          <a:prstGeom prst="rect">
            <a:avLst/>
          </a:prstGeom>
          <a:solidFill>
            <a:srgbClr val="007AC3"/>
          </a:solidFill>
        </p:spPr>
        <p:txBody>
          <a:bodyPr wrap="square" lIns="180000" tIns="36000" rIns="180000" bIns="72000" anchor="ctr">
            <a:spAutoFit/>
          </a:bodyPr>
          <a:lstStyle/>
          <a:p>
            <a:pPr algn="ctr"/>
            <a:r>
              <a:rPr lang="en-GB" altLang="en-US" sz="1600" b="1" dirty="0">
                <a:solidFill>
                  <a:schemeClr val="bg1"/>
                </a:solidFill>
              </a:rPr>
              <a:t>Deeper</a:t>
            </a:r>
            <a:endParaRPr lang="en-GB" sz="1600" b="1" dirty="0">
              <a:solidFill>
                <a:schemeClr val="bg1"/>
              </a:solidFill>
            </a:endParaRPr>
          </a:p>
        </p:txBody>
      </p:sp>
      <p:cxnSp>
        <p:nvCxnSpPr>
          <p:cNvPr id="11" name="Straight Connector 10"/>
          <p:cNvCxnSpPr/>
          <p:nvPr/>
        </p:nvCxnSpPr>
        <p:spPr>
          <a:xfrm>
            <a:off x="4819650" y="701739"/>
            <a:ext cx="0" cy="3564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723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E2E2C22-D11F-4D31-A838-74576BD3131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10" r="1159" b="15392"/>
          <a:stretch/>
        </p:blipFill>
        <p:spPr>
          <a:xfrm>
            <a:off x="539749" y="1337094"/>
            <a:ext cx="8064493" cy="4936706"/>
          </a:xfrm>
          <a:prstGeom prst="rect">
            <a:avLst/>
          </a:prstGeom>
        </p:spPr>
      </p:pic>
      <p:sp>
        <p:nvSpPr>
          <p:cNvPr id="14" name="Rectangle 21">
            <a:extLst>
              <a:ext uri="{FF2B5EF4-FFF2-40B4-BE49-F238E27FC236}">
                <a16:creationId xmlns:a16="http://schemas.microsoft.com/office/drawing/2014/main" id="{C75C8EEC-89F6-4241-8AD6-A5285A0A6B39}"/>
              </a:ext>
            </a:extLst>
          </p:cNvPr>
          <p:cNvSpPr/>
          <p:nvPr/>
        </p:nvSpPr>
        <p:spPr>
          <a:xfrm>
            <a:off x="539750" y="1337094"/>
            <a:ext cx="3850856" cy="4936706"/>
          </a:xfrm>
          <a:custGeom>
            <a:avLst/>
            <a:gdLst>
              <a:gd name="connsiteX0" fmla="*/ 0 w 3359150"/>
              <a:gd name="connsiteY0" fmla="*/ 0 h 4936706"/>
              <a:gd name="connsiteX1" fmla="*/ 3359150 w 3359150"/>
              <a:gd name="connsiteY1" fmla="*/ 0 h 4936706"/>
              <a:gd name="connsiteX2" fmla="*/ 3359150 w 3359150"/>
              <a:gd name="connsiteY2" fmla="*/ 4936706 h 4936706"/>
              <a:gd name="connsiteX3" fmla="*/ 0 w 3359150"/>
              <a:gd name="connsiteY3" fmla="*/ 4936706 h 4936706"/>
              <a:gd name="connsiteX4" fmla="*/ 0 w 3359150"/>
              <a:gd name="connsiteY4" fmla="*/ 0 h 4936706"/>
              <a:gd name="connsiteX0" fmla="*/ 0 w 3850856"/>
              <a:gd name="connsiteY0" fmla="*/ 0 h 4936706"/>
              <a:gd name="connsiteX1" fmla="*/ 3359150 w 3850856"/>
              <a:gd name="connsiteY1" fmla="*/ 0 h 4936706"/>
              <a:gd name="connsiteX2" fmla="*/ 3850856 w 3850856"/>
              <a:gd name="connsiteY2" fmla="*/ 4928079 h 4936706"/>
              <a:gd name="connsiteX3" fmla="*/ 0 w 3850856"/>
              <a:gd name="connsiteY3" fmla="*/ 4936706 h 4936706"/>
              <a:gd name="connsiteX4" fmla="*/ 0 w 3850856"/>
              <a:gd name="connsiteY4" fmla="*/ 0 h 4936706"/>
              <a:gd name="connsiteX0" fmla="*/ 0 w 3850856"/>
              <a:gd name="connsiteY0" fmla="*/ 0 h 4936706"/>
              <a:gd name="connsiteX1" fmla="*/ 3272885 w 3850856"/>
              <a:gd name="connsiteY1" fmla="*/ 8626 h 4936706"/>
              <a:gd name="connsiteX2" fmla="*/ 3850856 w 3850856"/>
              <a:gd name="connsiteY2" fmla="*/ 4928079 h 4936706"/>
              <a:gd name="connsiteX3" fmla="*/ 0 w 3850856"/>
              <a:gd name="connsiteY3" fmla="*/ 4936706 h 4936706"/>
              <a:gd name="connsiteX4" fmla="*/ 0 w 3850856"/>
              <a:gd name="connsiteY4" fmla="*/ 0 h 49367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856" h="4936706">
                <a:moveTo>
                  <a:pt x="0" y="0"/>
                </a:moveTo>
                <a:lnTo>
                  <a:pt x="3272885" y="8626"/>
                </a:lnTo>
                <a:lnTo>
                  <a:pt x="3850856" y="4928079"/>
                </a:lnTo>
                <a:lnTo>
                  <a:pt x="0" y="4936706"/>
                </a:lnTo>
                <a:lnTo>
                  <a:pt x="0" y="0"/>
                </a:lnTo>
                <a:close/>
              </a:path>
            </a:pathLst>
          </a:custGeom>
          <a:solidFill>
            <a:srgbClr val="F8BD95"/>
          </a:solidFill>
          <a:ln w="28575">
            <a:solidFill>
              <a:srgbClr val="E94E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211DDE20-D90E-4F3E-8225-B87332E92042}"/>
              </a:ext>
            </a:extLst>
          </p:cNvPr>
          <p:cNvSpPr/>
          <p:nvPr/>
        </p:nvSpPr>
        <p:spPr>
          <a:xfrm>
            <a:off x="539748" y="4543424"/>
            <a:ext cx="3850858" cy="1730376"/>
          </a:xfrm>
          <a:custGeom>
            <a:avLst/>
            <a:gdLst>
              <a:gd name="connsiteX0" fmla="*/ 0 w 3850858"/>
              <a:gd name="connsiteY0" fmla="*/ 0 h 1730375"/>
              <a:gd name="connsiteX1" fmla="*/ 3850858 w 3850858"/>
              <a:gd name="connsiteY1" fmla="*/ 0 h 1730375"/>
              <a:gd name="connsiteX2" fmla="*/ 3850858 w 3850858"/>
              <a:gd name="connsiteY2" fmla="*/ 1730375 h 1730375"/>
              <a:gd name="connsiteX3" fmla="*/ 0 w 3850858"/>
              <a:gd name="connsiteY3" fmla="*/ 1730375 h 1730375"/>
              <a:gd name="connsiteX4" fmla="*/ 0 w 3850858"/>
              <a:gd name="connsiteY4" fmla="*/ 0 h 1730375"/>
              <a:gd name="connsiteX0" fmla="*/ 0 w 3850858"/>
              <a:gd name="connsiteY0" fmla="*/ 0 h 1730375"/>
              <a:gd name="connsiteX1" fmla="*/ 3660358 w 3850858"/>
              <a:gd name="connsiteY1" fmla="*/ 4762 h 1730375"/>
              <a:gd name="connsiteX2" fmla="*/ 3850858 w 3850858"/>
              <a:gd name="connsiteY2" fmla="*/ 1730375 h 1730375"/>
              <a:gd name="connsiteX3" fmla="*/ 0 w 3850858"/>
              <a:gd name="connsiteY3" fmla="*/ 1730375 h 1730375"/>
              <a:gd name="connsiteX4" fmla="*/ 0 w 3850858"/>
              <a:gd name="connsiteY4" fmla="*/ 0 h 1730375"/>
              <a:gd name="connsiteX0" fmla="*/ 0 w 3850858"/>
              <a:gd name="connsiteY0" fmla="*/ 0 h 1730375"/>
              <a:gd name="connsiteX1" fmla="*/ 3527008 w 3850858"/>
              <a:gd name="connsiteY1" fmla="*/ 4762 h 1730375"/>
              <a:gd name="connsiteX2" fmla="*/ 3850858 w 3850858"/>
              <a:gd name="connsiteY2" fmla="*/ 1730375 h 1730375"/>
              <a:gd name="connsiteX3" fmla="*/ 0 w 3850858"/>
              <a:gd name="connsiteY3" fmla="*/ 1730375 h 1730375"/>
              <a:gd name="connsiteX4" fmla="*/ 0 w 3850858"/>
              <a:gd name="connsiteY4" fmla="*/ 0 h 1730375"/>
              <a:gd name="connsiteX0" fmla="*/ 0 w 3850858"/>
              <a:gd name="connsiteY0" fmla="*/ 1 h 1730376"/>
              <a:gd name="connsiteX1" fmla="*/ 3650833 w 3850858"/>
              <a:gd name="connsiteY1" fmla="*/ 0 h 1730376"/>
              <a:gd name="connsiteX2" fmla="*/ 3850858 w 3850858"/>
              <a:gd name="connsiteY2" fmla="*/ 1730376 h 1730376"/>
              <a:gd name="connsiteX3" fmla="*/ 0 w 3850858"/>
              <a:gd name="connsiteY3" fmla="*/ 1730376 h 1730376"/>
              <a:gd name="connsiteX4" fmla="*/ 0 w 3850858"/>
              <a:gd name="connsiteY4" fmla="*/ 1 h 1730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858" h="1730376">
                <a:moveTo>
                  <a:pt x="0" y="1"/>
                </a:moveTo>
                <a:lnTo>
                  <a:pt x="3650833" y="0"/>
                </a:lnTo>
                <a:lnTo>
                  <a:pt x="3850858" y="1730376"/>
                </a:lnTo>
                <a:lnTo>
                  <a:pt x="0" y="1730376"/>
                </a:lnTo>
                <a:lnTo>
                  <a:pt x="0" y="1"/>
                </a:lnTo>
                <a:close/>
              </a:path>
            </a:pathLst>
          </a:custGeom>
          <a:solidFill>
            <a:schemeClr val="bg1"/>
          </a:solidFill>
          <a:ln w="28575">
            <a:solidFill>
              <a:srgbClr val="6894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r>
              <a:rPr lang="en-GB" b="1" dirty="0">
                <a:solidFill>
                  <a:schemeClr val="tx1"/>
                </a:solidFill>
              </a:rPr>
              <a:t>Simran is correct.</a:t>
            </a:r>
          </a:p>
          <a:p>
            <a:pPr>
              <a:spcAft>
                <a:spcPts val="600"/>
              </a:spcAft>
            </a:pPr>
            <a:r>
              <a:rPr lang="en-GB" b="1" dirty="0">
                <a:solidFill>
                  <a:schemeClr val="tx1"/>
                </a:solidFill>
              </a:rPr>
              <a:t>10 × 10 is 100 so multiplying</a:t>
            </a:r>
            <a:br>
              <a:rPr lang="en-GB" b="1" dirty="0">
                <a:solidFill>
                  <a:schemeClr val="tx1"/>
                </a:solidFill>
              </a:rPr>
            </a:br>
            <a:r>
              <a:rPr lang="en-GB" b="1" dirty="0">
                <a:solidFill>
                  <a:schemeClr val="tx1"/>
                </a:solidFill>
              </a:rPr>
              <a:t>by 100 is the same as</a:t>
            </a:r>
            <a:br>
              <a:rPr lang="en-GB" b="1" dirty="0">
                <a:solidFill>
                  <a:schemeClr val="tx1"/>
                </a:solidFill>
              </a:rPr>
            </a:br>
            <a:r>
              <a:rPr lang="en-GB" b="1" dirty="0">
                <a:solidFill>
                  <a:schemeClr val="tx1"/>
                </a:solidFill>
              </a:rPr>
              <a:t>multiplying by 10 twice.</a:t>
            </a:r>
          </a:p>
        </p:txBody>
      </p:sp>
      <p:pic>
        <p:nvPicPr>
          <p:cNvPr id="66" name="Picture 6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2250" y="532799"/>
            <a:ext cx="702000" cy="702000"/>
          </a:xfrm>
          <a:prstGeom prst="rect">
            <a:avLst/>
          </a:prstGeom>
        </p:spPr>
      </p:pic>
      <p:sp>
        <p:nvSpPr>
          <p:cNvPr id="12" name="Speech Bubble: Rectangle 11">
            <a:extLst>
              <a:ext uri="{FF2B5EF4-FFF2-40B4-BE49-F238E27FC236}">
                <a16:creationId xmlns:a16="http://schemas.microsoft.com/office/drawing/2014/main" id="{25656732-9BFA-4A1B-BDF7-62CAF573FB4A}"/>
              </a:ext>
            </a:extLst>
          </p:cNvPr>
          <p:cNvSpPr/>
          <p:nvPr/>
        </p:nvSpPr>
        <p:spPr>
          <a:xfrm>
            <a:off x="4114252" y="1475865"/>
            <a:ext cx="2261700" cy="1603104"/>
          </a:xfrm>
          <a:prstGeom prst="wedgeRectCallout">
            <a:avLst>
              <a:gd name="adj1" fmla="val 47585"/>
              <a:gd name="adj2" fmla="val 64012"/>
            </a:avLst>
          </a:prstGeom>
          <a:solidFill>
            <a:schemeClr val="bg1"/>
          </a:solidFill>
          <a:ln w="12700">
            <a:solidFill>
              <a:schemeClr val="tx1"/>
            </a:solidFill>
          </a:ln>
        </p:spPr>
        <p:txBody>
          <a:bodyPr wrap="square" lIns="108000" tIns="108000" rIns="108000" bIns="108000">
            <a:spAutoFit/>
          </a:bodyPr>
          <a:lstStyle/>
          <a:p>
            <a:r>
              <a:rPr lang="en-GB" dirty="0"/>
              <a:t>Multiplying by 100 is the same as multiplying by 10 and then by another 10.</a:t>
            </a:r>
          </a:p>
        </p:txBody>
      </p:sp>
      <p:pic>
        <p:nvPicPr>
          <p:cNvPr id="3" name="Picture 2">
            <a:extLst>
              <a:ext uri="{FF2B5EF4-FFF2-40B4-BE49-F238E27FC236}">
                <a16:creationId xmlns:a16="http://schemas.microsoft.com/office/drawing/2014/main" id="{4915A99A-F24D-4091-BA15-FCF28F5BB2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46835"/>
          <a:stretch/>
        </p:blipFill>
        <p:spPr>
          <a:xfrm>
            <a:off x="5952331" y="1799601"/>
            <a:ext cx="2603500" cy="4474198"/>
          </a:xfrm>
          <a:prstGeom prst="rect">
            <a:avLst/>
          </a:prstGeom>
        </p:spPr>
      </p:pic>
      <p:sp>
        <p:nvSpPr>
          <p:cNvPr id="4" name="Rectangle 3">
            <a:extLst>
              <a:ext uri="{FF2B5EF4-FFF2-40B4-BE49-F238E27FC236}">
                <a16:creationId xmlns:a16="http://schemas.microsoft.com/office/drawing/2014/main" id="{2D96FFD5-8FF8-4BE4-BAAA-97AE03E7D449}"/>
              </a:ext>
            </a:extLst>
          </p:cNvPr>
          <p:cNvSpPr/>
          <p:nvPr/>
        </p:nvSpPr>
        <p:spPr>
          <a:xfrm>
            <a:off x="811279" y="3482281"/>
            <a:ext cx="4572000" cy="369332"/>
          </a:xfrm>
          <a:prstGeom prst="rect">
            <a:avLst/>
          </a:prstGeom>
        </p:spPr>
        <p:txBody>
          <a:bodyPr>
            <a:spAutoFit/>
          </a:bodyPr>
          <a:lstStyle/>
          <a:p>
            <a:endParaRPr lang="en-GB" b="1" dirty="0"/>
          </a:p>
        </p:txBody>
      </p:sp>
      <p:sp>
        <p:nvSpPr>
          <p:cNvPr id="18" name="TextBox 17">
            <a:extLst>
              <a:ext uri="{FF2B5EF4-FFF2-40B4-BE49-F238E27FC236}">
                <a16:creationId xmlns:a16="http://schemas.microsoft.com/office/drawing/2014/main" id="{F30DBAFC-05E4-4A83-8098-1EEA4B321BBB}"/>
              </a:ext>
            </a:extLst>
          </p:cNvPr>
          <p:cNvSpPr txBox="1"/>
          <p:nvPr/>
        </p:nvSpPr>
        <p:spPr>
          <a:xfrm>
            <a:off x="-362310" y="1975596"/>
            <a:ext cx="4088921" cy="890738"/>
          </a:xfrm>
          <a:prstGeom prst="rect">
            <a:avLst/>
          </a:prstGeom>
          <a:solidFill>
            <a:srgbClr val="90C8E5"/>
          </a:solidFill>
          <a:ln w="19050">
            <a:solidFill>
              <a:srgbClr val="01407D"/>
            </a:solidFill>
          </a:ln>
          <a:effectLst>
            <a:outerShdw blurRad="50800" dist="38100" dir="8100000" algn="tr" rotWithShape="0">
              <a:prstClr val="black">
                <a:alpha val="40000"/>
              </a:prstClr>
            </a:outerShdw>
          </a:effectLst>
        </p:spPr>
        <p:txBody>
          <a:bodyPr wrap="square" lIns="108000" tIns="108000" rIns="108000" bIns="108000" rtlCol="0" anchor="ctr">
            <a:noAutofit/>
          </a:bodyPr>
          <a:lstStyle/>
          <a:p>
            <a:pPr algn="r"/>
            <a:r>
              <a:rPr lang="en-GB" b="1" dirty="0"/>
              <a:t>Do you agree with Simran?</a:t>
            </a:r>
            <a:br>
              <a:rPr lang="en-GB" b="1" dirty="0"/>
            </a:br>
            <a:r>
              <a:rPr lang="en-GB" b="1" dirty="0"/>
              <a:t>Explain your answer.</a:t>
            </a:r>
          </a:p>
        </p:txBody>
      </p:sp>
      <p:sp>
        <p:nvSpPr>
          <p:cNvPr id="15" name="Rectangle 14">
            <a:extLst>
              <a:ext uri="{FF2B5EF4-FFF2-40B4-BE49-F238E27FC236}">
                <a16:creationId xmlns:a16="http://schemas.microsoft.com/office/drawing/2014/main" id="{C038514E-3FDB-4DF9-B342-7474BABA5AEB}"/>
              </a:ext>
            </a:extLst>
          </p:cNvPr>
          <p:cNvSpPr/>
          <p:nvPr/>
        </p:nvSpPr>
        <p:spPr>
          <a:xfrm>
            <a:off x="445574" y="702863"/>
            <a:ext cx="4374076" cy="355276"/>
          </a:xfrm>
          <a:prstGeom prst="rect">
            <a:avLst/>
          </a:prstGeom>
          <a:solidFill>
            <a:srgbClr val="072F54"/>
          </a:solidFill>
        </p:spPr>
        <p:txBody>
          <a:bodyPr wrap="square" lIns="180000" tIns="36000" rIns="180000" bIns="72000" anchor="ctr">
            <a:spAutoFit/>
          </a:bodyPr>
          <a:lstStyle/>
          <a:p>
            <a:r>
              <a:rPr lang="en-GB" sz="1600" b="1" dirty="0">
                <a:solidFill>
                  <a:schemeClr val="bg1"/>
                </a:solidFill>
              </a:rPr>
              <a:t>Multiplying Decimals by 10, 100 and 1000.</a:t>
            </a:r>
          </a:p>
        </p:txBody>
      </p:sp>
      <p:sp>
        <p:nvSpPr>
          <p:cNvPr id="10" name="Rectangle 9"/>
          <p:cNvSpPr/>
          <p:nvPr/>
        </p:nvSpPr>
        <p:spPr>
          <a:xfrm>
            <a:off x="4819650" y="702863"/>
            <a:ext cx="1063301" cy="355276"/>
          </a:xfrm>
          <a:prstGeom prst="rect">
            <a:avLst/>
          </a:prstGeom>
          <a:solidFill>
            <a:srgbClr val="007AC3"/>
          </a:solidFill>
        </p:spPr>
        <p:txBody>
          <a:bodyPr wrap="square" lIns="180000" tIns="36000" rIns="180000" bIns="72000" anchor="ctr">
            <a:spAutoFit/>
          </a:bodyPr>
          <a:lstStyle/>
          <a:p>
            <a:pPr algn="ctr"/>
            <a:r>
              <a:rPr lang="en-GB" altLang="en-US" sz="1600" b="1" dirty="0">
                <a:solidFill>
                  <a:schemeClr val="bg1"/>
                </a:solidFill>
              </a:rPr>
              <a:t>Deeper</a:t>
            </a:r>
            <a:endParaRPr lang="en-GB" sz="1600" b="1" dirty="0">
              <a:solidFill>
                <a:schemeClr val="bg1"/>
              </a:solidFill>
            </a:endParaRPr>
          </a:p>
        </p:txBody>
      </p:sp>
      <p:cxnSp>
        <p:nvCxnSpPr>
          <p:cNvPr id="11" name="Straight Connector 10"/>
          <p:cNvCxnSpPr/>
          <p:nvPr/>
        </p:nvCxnSpPr>
        <p:spPr>
          <a:xfrm>
            <a:off x="4819650" y="701739"/>
            <a:ext cx="0" cy="3564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7733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980541-67BD-4B0C-B984-CD5F91EC526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1724" b="44989"/>
          <a:stretch/>
        </p:blipFill>
        <p:spPr>
          <a:xfrm>
            <a:off x="539759" y="1337094"/>
            <a:ext cx="8064491" cy="4936706"/>
          </a:xfrm>
          <a:prstGeom prst="rect">
            <a:avLst/>
          </a:prstGeom>
        </p:spPr>
      </p:pic>
      <p:sp>
        <p:nvSpPr>
          <p:cNvPr id="15" name="TextBox 14">
            <a:extLst>
              <a:ext uri="{FF2B5EF4-FFF2-40B4-BE49-F238E27FC236}">
                <a16:creationId xmlns:a16="http://schemas.microsoft.com/office/drawing/2014/main" id="{F0DCA42E-A899-42AC-9622-3BD8F5103D3B}"/>
              </a:ext>
            </a:extLst>
          </p:cNvPr>
          <p:cNvSpPr txBox="1"/>
          <p:nvPr/>
        </p:nvSpPr>
        <p:spPr>
          <a:xfrm>
            <a:off x="2801356" y="3041798"/>
            <a:ext cx="5451894" cy="523220"/>
          </a:xfrm>
          <a:prstGeom prst="rect">
            <a:avLst/>
          </a:prstGeom>
          <a:noFill/>
        </p:spPr>
        <p:txBody>
          <a:bodyPr wrap="square" rtlCol="0">
            <a:spAutoFit/>
          </a:bodyPr>
          <a:lstStyle/>
          <a:p>
            <a:pPr algn="ctr"/>
            <a:r>
              <a:rPr lang="en-GB" sz="2800" dirty="0"/>
              <a:t>5.06 × 100 ×             = 5060</a:t>
            </a:r>
          </a:p>
        </p:txBody>
      </p:sp>
      <p:sp>
        <p:nvSpPr>
          <p:cNvPr id="16" name="Rectangle: Rounded Corners 15">
            <a:extLst>
              <a:ext uri="{FF2B5EF4-FFF2-40B4-BE49-F238E27FC236}">
                <a16:creationId xmlns:a16="http://schemas.microsoft.com/office/drawing/2014/main" id="{39BCF7CB-63C7-4553-9025-E7B87967158B}"/>
              </a:ext>
            </a:extLst>
          </p:cNvPr>
          <p:cNvSpPr/>
          <p:nvPr/>
        </p:nvSpPr>
        <p:spPr>
          <a:xfrm>
            <a:off x="5378394" y="2980009"/>
            <a:ext cx="1108698" cy="646798"/>
          </a:xfrm>
          <a:prstGeom prst="roundRect">
            <a:avLst/>
          </a:prstGeom>
          <a:ln w="28575">
            <a:solidFill>
              <a:srgbClr val="E94E13"/>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3" name="Rectangle 12">
            <a:extLst>
              <a:ext uri="{FF2B5EF4-FFF2-40B4-BE49-F238E27FC236}">
                <a16:creationId xmlns:a16="http://schemas.microsoft.com/office/drawing/2014/main" id="{211DDE20-D90E-4F3E-8225-B87332E92042}"/>
              </a:ext>
            </a:extLst>
          </p:cNvPr>
          <p:cNvSpPr/>
          <p:nvPr/>
        </p:nvSpPr>
        <p:spPr>
          <a:xfrm>
            <a:off x="5128793" y="4317912"/>
            <a:ext cx="2825750" cy="1202994"/>
          </a:xfrm>
          <a:prstGeom prst="rect">
            <a:avLst/>
          </a:prstGeom>
          <a:solidFill>
            <a:schemeClr val="bg1"/>
          </a:solidFill>
          <a:ln w="28575">
            <a:solidFill>
              <a:srgbClr val="689429"/>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spAutoFit/>
          </a:bodyPr>
          <a:lstStyle/>
          <a:p>
            <a:pPr>
              <a:spcAft>
                <a:spcPts val="1200"/>
              </a:spcAft>
            </a:pPr>
            <a:r>
              <a:rPr lang="en-GB" b="1" dirty="0">
                <a:solidFill>
                  <a:schemeClr val="tx1"/>
                </a:solidFill>
              </a:rPr>
              <a:t>5.06 × 100 = 506</a:t>
            </a:r>
            <a:br>
              <a:rPr lang="en-GB" b="1" dirty="0">
                <a:solidFill>
                  <a:schemeClr val="tx1"/>
                </a:solidFill>
              </a:rPr>
            </a:br>
            <a:r>
              <a:rPr lang="en-GB" b="1" dirty="0">
                <a:solidFill>
                  <a:schemeClr val="tx1"/>
                </a:solidFill>
              </a:rPr>
              <a:t>506 × 10 = 5060</a:t>
            </a:r>
          </a:p>
          <a:p>
            <a:pPr>
              <a:spcAft>
                <a:spcPts val="1200"/>
              </a:spcAft>
            </a:pPr>
            <a:r>
              <a:rPr lang="en-GB" b="1" dirty="0">
                <a:solidFill>
                  <a:schemeClr val="tx1"/>
                </a:solidFill>
              </a:rPr>
              <a:t>5.06 × 100 × 10 = 5060</a:t>
            </a:r>
          </a:p>
        </p:txBody>
      </p:sp>
      <p:pic>
        <p:nvPicPr>
          <p:cNvPr id="66" name="Picture 6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2250" y="532799"/>
            <a:ext cx="702000" cy="702000"/>
          </a:xfrm>
          <a:prstGeom prst="rect">
            <a:avLst/>
          </a:prstGeom>
        </p:spPr>
      </p:pic>
      <p:sp>
        <p:nvSpPr>
          <p:cNvPr id="4" name="Rectangle 3">
            <a:extLst>
              <a:ext uri="{FF2B5EF4-FFF2-40B4-BE49-F238E27FC236}">
                <a16:creationId xmlns:a16="http://schemas.microsoft.com/office/drawing/2014/main" id="{2D96FFD5-8FF8-4BE4-BAAA-97AE03E7D449}"/>
              </a:ext>
            </a:extLst>
          </p:cNvPr>
          <p:cNvSpPr/>
          <p:nvPr/>
        </p:nvSpPr>
        <p:spPr>
          <a:xfrm>
            <a:off x="811279" y="3482281"/>
            <a:ext cx="4572000" cy="369332"/>
          </a:xfrm>
          <a:prstGeom prst="rect">
            <a:avLst/>
          </a:prstGeom>
        </p:spPr>
        <p:txBody>
          <a:bodyPr>
            <a:spAutoFit/>
          </a:bodyPr>
          <a:lstStyle/>
          <a:p>
            <a:endParaRPr lang="en-GB" b="1" dirty="0"/>
          </a:p>
        </p:txBody>
      </p:sp>
      <p:pic>
        <p:nvPicPr>
          <p:cNvPr id="21" name="Picture 20">
            <a:extLst>
              <a:ext uri="{FF2B5EF4-FFF2-40B4-BE49-F238E27FC236}">
                <a16:creationId xmlns:a16="http://schemas.microsoft.com/office/drawing/2014/main" id="{B1916774-E17E-499C-9DDB-B2E1B22938F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65233"/>
          <a:stretch/>
        </p:blipFill>
        <p:spPr>
          <a:xfrm>
            <a:off x="634839" y="2905780"/>
            <a:ext cx="3865010" cy="3368020"/>
          </a:xfrm>
          <a:prstGeom prst="rect">
            <a:avLst/>
          </a:prstGeom>
        </p:spPr>
      </p:pic>
      <p:sp>
        <p:nvSpPr>
          <p:cNvPr id="22" name="Rectangle 21">
            <a:extLst>
              <a:ext uri="{FF2B5EF4-FFF2-40B4-BE49-F238E27FC236}">
                <a16:creationId xmlns:a16="http://schemas.microsoft.com/office/drawing/2014/main" id="{2AFDD05B-B3F3-44D0-8946-C6EF710DE790}"/>
              </a:ext>
            </a:extLst>
          </p:cNvPr>
          <p:cNvSpPr/>
          <p:nvPr/>
        </p:nvSpPr>
        <p:spPr>
          <a:xfrm>
            <a:off x="5652057" y="3040659"/>
            <a:ext cx="561372" cy="523220"/>
          </a:xfrm>
          <a:prstGeom prst="rect">
            <a:avLst/>
          </a:prstGeom>
        </p:spPr>
        <p:txBody>
          <a:bodyPr wrap="none">
            <a:spAutoFit/>
          </a:bodyPr>
          <a:lstStyle/>
          <a:p>
            <a:r>
              <a:rPr lang="en-GB" sz="2800" b="1" dirty="0"/>
              <a:t>10</a:t>
            </a:r>
            <a:endParaRPr lang="en-GB" sz="2800" dirty="0"/>
          </a:p>
        </p:txBody>
      </p:sp>
      <p:sp>
        <p:nvSpPr>
          <p:cNvPr id="14" name="TextBox 13">
            <a:extLst>
              <a:ext uri="{FF2B5EF4-FFF2-40B4-BE49-F238E27FC236}">
                <a16:creationId xmlns:a16="http://schemas.microsoft.com/office/drawing/2014/main" id="{816292FE-51A6-4A68-A9D0-624A3D58D45A}"/>
              </a:ext>
            </a:extLst>
          </p:cNvPr>
          <p:cNvSpPr txBox="1"/>
          <p:nvPr/>
        </p:nvSpPr>
        <p:spPr>
          <a:xfrm>
            <a:off x="-286110" y="1881013"/>
            <a:ext cx="7296510" cy="675388"/>
          </a:xfrm>
          <a:prstGeom prst="rect">
            <a:avLst/>
          </a:prstGeom>
          <a:solidFill>
            <a:srgbClr val="90C8E5"/>
          </a:solidFill>
          <a:ln w="19050">
            <a:solidFill>
              <a:srgbClr val="01407D"/>
            </a:solidFill>
          </a:ln>
          <a:effectLst>
            <a:outerShdw blurRad="50800" dist="38100" dir="8100000" algn="tr" rotWithShape="0">
              <a:prstClr val="black">
                <a:alpha val="40000"/>
              </a:prstClr>
            </a:outerShdw>
          </a:effectLst>
        </p:spPr>
        <p:txBody>
          <a:bodyPr wrap="square" lIns="108000" tIns="108000" rIns="108000" bIns="108000" rtlCol="0" anchor="ctr">
            <a:noAutofit/>
          </a:bodyPr>
          <a:lstStyle/>
          <a:p>
            <a:pPr algn="r"/>
            <a:r>
              <a:rPr lang="en-GB" b="1" dirty="0"/>
              <a:t>Complete the calculation. Explain your answer.</a:t>
            </a:r>
          </a:p>
        </p:txBody>
      </p:sp>
      <p:pic>
        <p:nvPicPr>
          <p:cNvPr id="19" name="Picture 18">
            <a:extLst>
              <a:ext uri="{FF2B5EF4-FFF2-40B4-BE49-F238E27FC236}">
                <a16:creationId xmlns:a16="http://schemas.microsoft.com/office/drawing/2014/main" id="{06378957-F123-4E60-AE1E-1FC1BBA3AF1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9921" t="24772" r="8056" b="67261"/>
          <a:stretch/>
        </p:blipFill>
        <p:spPr>
          <a:xfrm>
            <a:off x="2952750" y="2836885"/>
            <a:ext cx="5001794" cy="908622"/>
          </a:xfrm>
          <a:prstGeom prst="rect">
            <a:avLst/>
          </a:prstGeom>
        </p:spPr>
      </p:pic>
      <p:pic>
        <p:nvPicPr>
          <p:cNvPr id="17" name="Picture 16">
            <a:extLst>
              <a:ext uri="{FF2B5EF4-FFF2-40B4-BE49-F238E27FC236}">
                <a16:creationId xmlns:a16="http://schemas.microsoft.com/office/drawing/2014/main" id="{D0F4A8DC-0CE9-4034-BDA9-27AD29DBC9F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45800" y="2825179"/>
            <a:ext cx="1415436" cy="1065768"/>
          </a:xfrm>
          <a:prstGeom prst="rect">
            <a:avLst/>
          </a:prstGeom>
        </p:spPr>
      </p:pic>
      <p:sp>
        <p:nvSpPr>
          <p:cNvPr id="25" name="TextBox 24">
            <a:extLst>
              <a:ext uri="{FF2B5EF4-FFF2-40B4-BE49-F238E27FC236}">
                <a16:creationId xmlns:a16="http://schemas.microsoft.com/office/drawing/2014/main" id="{08111A72-2D10-41AD-946F-ED40C9523461}"/>
              </a:ext>
            </a:extLst>
          </p:cNvPr>
          <p:cNvSpPr txBox="1"/>
          <p:nvPr/>
        </p:nvSpPr>
        <p:spPr>
          <a:xfrm>
            <a:off x="3450068" y="3076111"/>
            <a:ext cx="4239338" cy="523220"/>
          </a:xfrm>
          <a:prstGeom prst="rect">
            <a:avLst/>
          </a:prstGeom>
          <a:noFill/>
        </p:spPr>
        <p:txBody>
          <a:bodyPr wrap="square" rtlCol="0">
            <a:spAutoFit/>
          </a:bodyPr>
          <a:lstStyle/>
          <a:p>
            <a:pPr algn="r"/>
            <a:r>
              <a:rPr lang="en-GB" sz="2800" dirty="0"/>
              <a:t> ÷ 10 ÷ 10  = 3.412</a:t>
            </a:r>
          </a:p>
        </p:txBody>
      </p:sp>
      <p:sp>
        <p:nvSpPr>
          <p:cNvPr id="26" name="Rectangle: Rounded Corners 25">
            <a:extLst>
              <a:ext uri="{FF2B5EF4-FFF2-40B4-BE49-F238E27FC236}">
                <a16:creationId xmlns:a16="http://schemas.microsoft.com/office/drawing/2014/main" id="{4B3F0E26-55B6-4B38-BA61-637EEE119393}"/>
              </a:ext>
            </a:extLst>
          </p:cNvPr>
          <p:cNvSpPr/>
          <p:nvPr/>
        </p:nvSpPr>
        <p:spPr>
          <a:xfrm>
            <a:off x="3535455" y="2974374"/>
            <a:ext cx="1108698" cy="646798"/>
          </a:xfrm>
          <a:prstGeom prst="roundRect">
            <a:avLst/>
          </a:prstGeom>
          <a:ln w="28575">
            <a:solidFill>
              <a:srgbClr val="E94E13"/>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pic>
        <p:nvPicPr>
          <p:cNvPr id="28" name="Picture 27">
            <a:extLst>
              <a:ext uri="{FF2B5EF4-FFF2-40B4-BE49-F238E27FC236}">
                <a16:creationId xmlns:a16="http://schemas.microsoft.com/office/drawing/2014/main" id="{10922D71-807E-4602-BF69-2846AE01BA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65233"/>
          <a:stretch/>
        </p:blipFill>
        <p:spPr>
          <a:xfrm>
            <a:off x="634839" y="2905780"/>
            <a:ext cx="3865010" cy="3368020"/>
          </a:xfrm>
          <a:prstGeom prst="rect">
            <a:avLst/>
          </a:prstGeom>
        </p:spPr>
      </p:pic>
      <p:sp>
        <p:nvSpPr>
          <p:cNvPr id="20" name="Rectangle 19">
            <a:extLst>
              <a:ext uri="{FF2B5EF4-FFF2-40B4-BE49-F238E27FC236}">
                <a16:creationId xmlns:a16="http://schemas.microsoft.com/office/drawing/2014/main" id="{90074F20-2B0F-4038-BD5A-1DBE87C9E19C}"/>
              </a:ext>
            </a:extLst>
          </p:cNvPr>
          <p:cNvSpPr/>
          <p:nvPr/>
        </p:nvSpPr>
        <p:spPr>
          <a:xfrm>
            <a:off x="445574" y="702863"/>
            <a:ext cx="4374076" cy="355276"/>
          </a:xfrm>
          <a:prstGeom prst="rect">
            <a:avLst/>
          </a:prstGeom>
          <a:solidFill>
            <a:srgbClr val="072F54"/>
          </a:solidFill>
        </p:spPr>
        <p:txBody>
          <a:bodyPr wrap="square" lIns="180000" tIns="36000" rIns="180000" bIns="72000" anchor="ctr">
            <a:spAutoFit/>
          </a:bodyPr>
          <a:lstStyle/>
          <a:p>
            <a:r>
              <a:rPr lang="en-GB" sz="1600" b="1" dirty="0">
                <a:solidFill>
                  <a:schemeClr val="bg1"/>
                </a:solidFill>
              </a:rPr>
              <a:t>Multiplying Decimals by 10, 100 and 1000.</a:t>
            </a:r>
          </a:p>
        </p:txBody>
      </p:sp>
      <p:sp>
        <p:nvSpPr>
          <p:cNvPr id="10" name="Rectangle 9"/>
          <p:cNvSpPr/>
          <p:nvPr/>
        </p:nvSpPr>
        <p:spPr>
          <a:xfrm>
            <a:off x="4819650" y="702863"/>
            <a:ext cx="1063301" cy="355276"/>
          </a:xfrm>
          <a:prstGeom prst="rect">
            <a:avLst/>
          </a:prstGeom>
          <a:solidFill>
            <a:srgbClr val="007AC3"/>
          </a:solidFill>
        </p:spPr>
        <p:txBody>
          <a:bodyPr wrap="square" lIns="180000" tIns="36000" rIns="180000" bIns="72000" anchor="ctr">
            <a:spAutoFit/>
          </a:bodyPr>
          <a:lstStyle/>
          <a:p>
            <a:pPr algn="ctr"/>
            <a:r>
              <a:rPr lang="en-GB" altLang="en-US" sz="1600" b="1" dirty="0">
                <a:solidFill>
                  <a:schemeClr val="bg1"/>
                </a:solidFill>
              </a:rPr>
              <a:t>Deeper</a:t>
            </a:r>
            <a:endParaRPr lang="en-GB" sz="1600" b="1" dirty="0">
              <a:solidFill>
                <a:schemeClr val="bg1"/>
              </a:solidFill>
            </a:endParaRPr>
          </a:p>
        </p:txBody>
      </p:sp>
      <p:cxnSp>
        <p:nvCxnSpPr>
          <p:cNvPr id="11" name="Straight Connector 10"/>
          <p:cNvCxnSpPr/>
          <p:nvPr/>
        </p:nvCxnSpPr>
        <p:spPr>
          <a:xfrm>
            <a:off x="4819650" y="701739"/>
            <a:ext cx="0" cy="3564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3545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3"/>
                                        </p:tgtEl>
                                      </p:cBhvr>
                                    </p:animEffect>
                                    <p:set>
                                      <p:cBhvr>
                                        <p:cTn id="15" dur="1" fill="hold">
                                          <p:stCondLst>
                                            <p:cond delay="499"/>
                                          </p:stCondLst>
                                        </p:cTn>
                                        <p:tgtEl>
                                          <p:spTgt spid="13"/>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500"/>
                                        <p:tgtEl>
                                          <p:spTgt spid="21"/>
                                        </p:tgtEl>
                                      </p:cBhvr>
                                    </p:animEffect>
                                    <p:set>
                                      <p:cBhvr>
                                        <p:cTn id="18" dur="1" fill="hold">
                                          <p:stCondLst>
                                            <p:cond delay="499"/>
                                          </p:stCondLst>
                                        </p:cTn>
                                        <p:tgtEl>
                                          <p:spTgt spid="21"/>
                                        </p:tgtEl>
                                        <p:attrNameLst>
                                          <p:attrName>style.visibility</p:attrName>
                                        </p:attrNameLst>
                                      </p:cBhvr>
                                      <p:to>
                                        <p:strVal val="hidden"/>
                                      </p:to>
                                    </p:se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250"/>
                                        <p:tgtEl>
                                          <p:spTgt spid="17"/>
                                        </p:tgtEl>
                                      </p:cBhvr>
                                    </p:animEffect>
                                  </p:childTnLst>
                                </p:cTn>
                              </p:par>
                            </p:childTnLst>
                          </p:cTn>
                        </p:par>
                        <p:par>
                          <p:cTn id="23" fill="hold">
                            <p:stCondLst>
                              <p:cond delay="750"/>
                            </p:stCondLst>
                            <p:childTnLst>
                              <p:par>
                                <p:cTn id="24" presetID="63" presetClass="path" presetSubtype="0" accel="50000" decel="50000" fill="hold" nodeType="afterEffect">
                                  <p:stCondLst>
                                    <p:cond delay="0"/>
                                  </p:stCondLst>
                                  <p:childTnLst>
                                    <p:animMotion origin="layout" path="M 3.33333E-6 -3.33333E-6 L 0.5908 -3.33333E-6 " pathEditMode="relative" rAng="0" ptsTypes="AA">
                                      <p:cBhvr>
                                        <p:cTn id="25" dur="2000" fill="hold"/>
                                        <p:tgtEl>
                                          <p:spTgt spid="17"/>
                                        </p:tgtEl>
                                        <p:attrNameLst>
                                          <p:attrName>ppt_x</p:attrName>
                                          <p:attrName>ppt_y</p:attrName>
                                        </p:attrNameLst>
                                      </p:cBhvr>
                                      <p:rCtr x="29531" y="0"/>
                                    </p:animMotion>
                                  </p:childTnLst>
                                </p:cTn>
                              </p:par>
                              <p:par>
                                <p:cTn id="26" presetID="32" presetClass="emph" presetSubtype="0" repeatCount="3000" fill="hold" nodeType="withEffect">
                                  <p:stCondLst>
                                    <p:cond delay="250"/>
                                  </p:stCondLst>
                                  <p:childTnLst>
                                    <p:animRot by="120000">
                                      <p:cBhvr>
                                        <p:cTn id="27" dur="50" fill="hold">
                                          <p:stCondLst>
                                            <p:cond delay="0"/>
                                          </p:stCondLst>
                                        </p:cTn>
                                        <p:tgtEl>
                                          <p:spTgt spid="17"/>
                                        </p:tgtEl>
                                        <p:attrNameLst>
                                          <p:attrName>r</p:attrName>
                                        </p:attrNameLst>
                                      </p:cBhvr>
                                    </p:animRot>
                                    <p:animRot by="-240000">
                                      <p:cBhvr>
                                        <p:cTn id="28" dur="100" fill="hold">
                                          <p:stCondLst>
                                            <p:cond delay="100"/>
                                          </p:stCondLst>
                                        </p:cTn>
                                        <p:tgtEl>
                                          <p:spTgt spid="17"/>
                                        </p:tgtEl>
                                        <p:attrNameLst>
                                          <p:attrName>r</p:attrName>
                                        </p:attrNameLst>
                                      </p:cBhvr>
                                    </p:animRot>
                                    <p:animRot by="240000">
                                      <p:cBhvr>
                                        <p:cTn id="29" dur="100" fill="hold">
                                          <p:stCondLst>
                                            <p:cond delay="200"/>
                                          </p:stCondLst>
                                        </p:cTn>
                                        <p:tgtEl>
                                          <p:spTgt spid="17"/>
                                        </p:tgtEl>
                                        <p:attrNameLst>
                                          <p:attrName>r</p:attrName>
                                        </p:attrNameLst>
                                      </p:cBhvr>
                                    </p:animRot>
                                    <p:animRot by="-240000">
                                      <p:cBhvr>
                                        <p:cTn id="30" dur="100" fill="hold">
                                          <p:stCondLst>
                                            <p:cond delay="300"/>
                                          </p:stCondLst>
                                        </p:cTn>
                                        <p:tgtEl>
                                          <p:spTgt spid="17"/>
                                        </p:tgtEl>
                                        <p:attrNameLst>
                                          <p:attrName>r</p:attrName>
                                        </p:attrNameLst>
                                      </p:cBhvr>
                                    </p:animRot>
                                    <p:animRot by="120000">
                                      <p:cBhvr>
                                        <p:cTn id="31" dur="100" fill="hold">
                                          <p:stCondLst>
                                            <p:cond delay="400"/>
                                          </p:stCondLst>
                                        </p:cTn>
                                        <p:tgtEl>
                                          <p:spTgt spid="17"/>
                                        </p:tgtEl>
                                        <p:attrNameLst>
                                          <p:attrName>r</p:attrName>
                                        </p:attrNameLst>
                                      </p:cBhvr>
                                    </p:animRot>
                                  </p:childTnLst>
                                </p:cTn>
                              </p:par>
                              <p:par>
                                <p:cTn id="32" presetID="22" presetClass="entr" presetSubtype="8" fill="hold" nodeType="withEffect">
                                  <p:stCondLst>
                                    <p:cond delay="250"/>
                                  </p:stCondLst>
                                  <p:childTnLst>
                                    <p:set>
                                      <p:cBhvr>
                                        <p:cTn id="33" dur="1" fill="hold">
                                          <p:stCondLst>
                                            <p:cond delay="0"/>
                                          </p:stCondLst>
                                        </p:cTn>
                                        <p:tgtEl>
                                          <p:spTgt spid="19"/>
                                        </p:tgtEl>
                                        <p:attrNameLst>
                                          <p:attrName>style.visibility</p:attrName>
                                        </p:attrNameLst>
                                      </p:cBhvr>
                                      <p:to>
                                        <p:strVal val="visible"/>
                                      </p:to>
                                    </p:set>
                                    <p:animEffect transition="in" filter="wipe(left)">
                                      <p:cBhvr>
                                        <p:cTn id="34" dur="1500"/>
                                        <p:tgtEl>
                                          <p:spTgt spid="19"/>
                                        </p:tgtEl>
                                      </p:cBhvr>
                                    </p:animEffect>
                                  </p:childTnLst>
                                </p:cTn>
                              </p:par>
                            </p:childTnLst>
                          </p:cTn>
                        </p:par>
                        <p:par>
                          <p:cTn id="35" fill="hold">
                            <p:stCondLst>
                              <p:cond delay="2750"/>
                            </p:stCondLst>
                            <p:childTnLst>
                              <p:par>
                                <p:cTn id="36" presetID="10" presetClass="exit" presetSubtype="0" fill="hold" nodeType="afterEffect">
                                  <p:stCondLst>
                                    <p:cond delay="0"/>
                                  </p:stCondLst>
                                  <p:childTnLst>
                                    <p:animEffect transition="out" filter="fade">
                                      <p:cBhvr>
                                        <p:cTn id="37" dur="500"/>
                                        <p:tgtEl>
                                          <p:spTgt spid="17"/>
                                        </p:tgtEl>
                                      </p:cBhvr>
                                    </p:animEffect>
                                    <p:set>
                                      <p:cBhvr>
                                        <p:cTn id="38" dur="1" fill="hold">
                                          <p:stCondLst>
                                            <p:cond delay="499"/>
                                          </p:stCondLst>
                                        </p:cTn>
                                        <p:tgtEl>
                                          <p:spTgt spid="17"/>
                                        </p:tgtEl>
                                        <p:attrNameLst>
                                          <p:attrName>style.visibility</p:attrName>
                                        </p:attrNameLst>
                                      </p:cBhvr>
                                      <p:to>
                                        <p:strVal val="hidden"/>
                                      </p:to>
                                    </p:set>
                                  </p:childTnLst>
                                </p:cTn>
                              </p:par>
                            </p:childTnLst>
                          </p:cTn>
                        </p:par>
                        <p:par>
                          <p:cTn id="39" fill="hold">
                            <p:stCondLst>
                              <p:cond delay="3250"/>
                            </p:stCondLst>
                            <p:childTnLst>
                              <p:par>
                                <p:cTn id="40" presetID="10" presetClass="entr" presetSubtype="0" fill="hold" nodeType="after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22" grpId="0"/>
      <p:bldP spid="25" grpId="0"/>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980541-67BD-4B0C-B984-CD5F91EC526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1724" b="44989"/>
          <a:stretch/>
        </p:blipFill>
        <p:spPr>
          <a:xfrm>
            <a:off x="539759" y="1337094"/>
            <a:ext cx="8064491" cy="4936706"/>
          </a:xfrm>
          <a:prstGeom prst="rect">
            <a:avLst/>
          </a:prstGeom>
        </p:spPr>
      </p:pic>
      <p:sp>
        <p:nvSpPr>
          <p:cNvPr id="15" name="TextBox 14">
            <a:extLst>
              <a:ext uri="{FF2B5EF4-FFF2-40B4-BE49-F238E27FC236}">
                <a16:creationId xmlns:a16="http://schemas.microsoft.com/office/drawing/2014/main" id="{F0DCA42E-A899-42AC-9622-3BD8F5103D3B}"/>
              </a:ext>
            </a:extLst>
          </p:cNvPr>
          <p:cNvSpPr txBox="1"/>
          <p:nvPr/>
        </p:nvSpPr>
        <p:spPr>
          <a:xfrm>
            <a:off x="3450068" y="3036163"/>
            <a:ext cx="4239338" cy="523220"/>
          </a:xfrm>
          <a:prstGeom prst="rect">
            <a:avLst/>
          </a:prstGeom>
          <a:noFill/>
        </p:spPr>
        <p:txBody>
          <a:bodyPr wrap="square" rtlCol="0">
            <a:spAutoFit/>
          </a:bodyPr>
          <a:lstStyle/>
          <a:p>
            <a:pPr algn="r"/>
            <a:r>
              <a:rPr lang="en-GB" sz="2800" dirty="0"/>
              <a:t> ÷ 10 ÷ 10  = 3.412</a:t>
            </a:r>
          </a:p>
        </p:txBody>
      </p:sp>
      <p:sp>
        <p:nvSpPr>
          <p:cNvPr id="16" name="Rectangle: Rounded Corners 15">
            <a:extLst>
              <a:ext uri="{FF2B5EF4-FFF2-40B4-BE49-F238E27FC236}">
                <a16:creationId xmlns:a16="http://schemas.microsoft.com/office/drawing/2014/main" id="{39BCF7CB-63C7-4553-9025-E7B87967158B}"/>
              </a:ext>
            </a:extLst>
          </p:cNvPr>
          <p:cNvSpPr/>
          <p:nvPr/>
        </p:nvSpPr>
        <p:spPr>
          <a:xfrm>
            <a:off x="3535455" y="2974374"/>
            <a:ext cx="1108698" cy="646798"/>
          </a:xfrm>
          <a:prstGeom prst="roundRect">
            <a:avLst/>
          </a:prstGeom>
          <a:ln w="28575">
            <a:solidFill>
              <a:srgbClr val="E94E13"/>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3" name="Rectangle 12">
            <a:extLst>
              <a:ext uri="{FF2B5EF4-FFF2-40B4-BE49-F238E27FC236}">
                <a16:creationId xmlns:a16="http://schemas.microsoft.com/office/drawing/2014/main" id="{211DDE20-D90E-4F3E-8225-B87332E92042}"/>
              </a:ext>
            </a:extLst>
          </p:cNvPr>
          <p:cNvSpPr/>
          <p:nvPr/>
        </p:nvSpPr>
        <p:spPr>
          <a:xfrm>
            <a:off x="4802489" y="3748027"/>
            <a:ext cx="3593407" cy="2341768"/>
          </a:xfrm>
          <a:prstGeom prst="rect">
            <a:avLst/>
          </a:prstGeom>
          <a:solidFill>
            <a:schemeClr val="bg1"/>
          </a:solidFill>
          <a:ln w="28575">
            <a:solidFill>
              <a:srgbClr val="689429"/>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spcAft>
                <a:spcPts val="1200"/>
              </a:spcAft>
            </a:pPr>
            <a:r>
              <a:rPr lang="en-GB" b="1" dirty="0">
                <a:solidFill>
                  <a:schemeClr val="tx1"/>
                </a:solidFill>
              </a:rPr>
              <a:t>We can find the answer using the inverse of division which is multiplication.</a:t>
            </a:r>
          </a:p>
          <a:p>
            <a:pPr>
              <a:spcAft>
                <a:spcPts val="1200"/>
              </a:spcAft>
            </a:pPr>
            <a:r>
              <a:rPr lang="en-GB" b="1" dirty="0">
                <a:solidFill>
                  <a:schemeClr val="tx1"/>
                </a:solidFill>
              </a:rPr>
              <a:t>3.412 × 10 × 10 = 341.2 </a:t>
            </a:r>
          </a:p>
          <a:p>
            <a:pPr>
              <a:spcAft>
                <a:spcPts val="1200"/>
              </a:spcAft>
            </a:pPr>
            <a:r>
              <a:rPr lang="en-GB" b="1" dirty="0">
                <a:solidFill>
                  <a:schemeClr val="tx1"/>
                </a:solidFill>
              </a:rPr>
              <a:t>Therefore: </a:t>
            </a:r>
          </a:p>
          <a:p>
            <a:pPr>
              <a:spcAft>
                <a:spcPts val="1200"/>
              </a:spcAft>
            </a:pPr>
            <a:r>
              <a:rPr lang="en-GB" b="1" dirty="0">
                <a:solidFill>
                  <a:schemeClr val="tx1"/>
                </a:solidFill>
              </a:rPr>
              <a:t>341.2 ÷ 10 ÷ 10  = 3.412 </a:t>
            </a:r>
          </a:p>
        </p:txBody>
      </p:sp>
      <p:pic>
        <p:nvPicPr>
          <p:cNvPr id="66" name="Picture 6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2250" y="532799"/>
            <a:ext cx="702000" cy="702000"/>
          </a:xfrm>
          <a:prstGeom prst="rect">
            <a:avLst/>
          </a:prstGeom>
        </p:spPr>
      </p:pic>
      <p:sp>
        <p:nvSpPr>
          <p:cNvPr id="4" name="Rectangle 3">
            <a:extLst>
              <a:ext uri="{FF2B5EF4-FFF2-40B4-BE49-F238E27FC236}">
                <a16:creationId xmlns:a16="http://schemas.microsoft.com/office/drawing/2014/main" id="{2D96FFD5-8FF8-4BE4-BAAA-97AE03E7D449}"/>
              </a:ext>
            </a:extLst>
          </p:cNvPr>
          <p:cNvSpPr/>
          <p:nvPr/>
        </p:nvSpPr>
        <p:spPr>
          <a:xfrm>
            <a:off x="811279" y="3482281"/>
            <a:ext cx="4572000" cy="369332"/>
          </a:xfrm>
          <a:prstGeom prst="rect">
            <a:avLst/>
          </a:prstGeom>
        </p:spPr>
        <p:txBody>
          <a:bodyPr>
            <a:spAutoFit/>
          </a:bodyPr>
          <a:lstStyle/>
          <a:p>
            <a:endParaRPr lang="en-GB" b="1" dirty="0"/>
          </a:p>
        </p:txBody>
      </p:sp>
      <p:sp>
        <p:nvSpPr>
          <p:cNvPr id="18" name="TextBox 17">
            <a:extLst>
              <a:ext uri="{FF2B5EF4-FFF2-40B4-BE49-F238E27FC236}">
                <a16:creationId xmlns:a16="http://schemas.microsoft.com/office/drawing/2014/main" id="{F30DBAFC-05E4-4A83-8098-1EEA4B321BBB}"/>
              </a:ext>
            </a:extLst>
          </p:cNvPr>
          <p:cNvSpPr txBox="1"/>
          <p:nvPr/>
        </p:nvSpPr>
        <p:spPr>
          <a:xfrm>
            <a:off x="-286110" y="1881013"/>
            <a:ext cx="7296510" cy="675388"/>
          </a:xfrm>
          <a:prstGeom prst="rect">
            <a:avLst/>
          </a:prstGeom>
          <a:solidFill>
            <a:srgbClr val="90C8E5"/>
          </a:solidFill>
          <a:ln w="19050">
            <a:solidFill>
              <a:srgbClr val="01407D"/>
            </a:solidFill>
          </a:ln>
          <a:effectLst>
            <a:outerShdw blurRad="50800" dist="38100" dir="8100000" algn="tr" rotWithShape="0">
              <a:prstClr val="black">
                <a:alpha val="40000"/>
              </a:prstClr>
            </a:outerShdw>
          </a:effectLst>
        </p:spPr>
        <p:txBody>
          <a:bodyPr wrap="square" lIns="108000" tIns="108000" rIns="108000" bIns="108000" rtlCol="0" anchor="ctr">
            <a:noAutofit/>
          </a:bodyPr>
          <a:lstStyle/>
          <a:p>
            <a:pPr algn="r"/>
            <a:r>
              <a:rPr lang="en-GB" b="1" dirty="0"/>
              <a:t>Complete the calculation. Explain your answer.</a:t>
            </a:r>
          </a:p>
        </p:txBody>
      </p:sp>
      <p:sp>
        <p:nvSpPr>
          <p:cNvPr id="22" name="Rectangle 21">
            <a:extLst>
              <a:ext uri="{FF2B5EF4-FFF2-40B4-BE49-F238E27FC236}">
                <a16:creationId xmlns:a16="http://schemas.microsoft.com/office/drawing/2014/main" id="{2AFDD05B-B3F3-44D0-8946-C6EF710DE790}"/>
              </a:ext>
            </a:extLst>
          </p:cNvPr>
          <p:cNvSpPr/>
          <p:nvPr/>
        </p:nvSpPr>
        <p:spPr>
          <a:xfrm>
            <a:off x="3579087" y="3035024"/>
            <a:ext cx="1021433" cy="523220"/>
          </a:xfrm>
          <a:prstGeom prst="rect">
            <a:avLst/>
          </a:prstGeom>
        </p:spPr>
        <p:txBody>
          <a:bodyPr wrap="none">
            <a:spAutoFit/>
          </a:bodyPr>
          <a:lstStyle/>
          <a:p>
            <a:r>
              <a:rPr lang="en-GB" sz="2800" b="1" dirty="0"/>
              <a:t>3.412</a:t>
            </a:r>
            <a:endParaRPr lang="en-GB" sz="2800" dirty="0"/>
          </a:p>
        </p:txBody>
      </p:sp>
      <p:pic>
        <p:nvPicPr>
          <p:cNvPr id="25" name="Picture 24">
            <a:extLst>
              <a:ext uri="{FF2B5EF4-FFF2-40B4-BE49-F238E27FC236}">
                <a16:creationId xmlns:a16="http://schemas.microsoft.com/office/drawing/2014/main" id="{D58D77C0-2FE2-4C83-B272-277FECBA995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65233"/>
          <a:stretch/>
        </p:blipFill>
        <p:spPr>
          <a:xfrm>
            <a:off x="634839" y="2905780"/>
            <a:ext cx="3865010" cy="3368020"/>
          </a:xfrm>
          <a:prstGeom prst="rect">
            <a:avLst/>
          </a:prstGeom>
        </p:spPr>
      </p:pic>
      <p:sp>
        <p:nvSpPr>
          <p:cNvPr id="14" name="Rectangle 13">
            <a:extLst>
              <a:ext uri="{FF2B5EF4-FFF2-40B4-BE49-F238E27FC236}">
                <a16:creationId xmlns:a16="http://schemas.microsoft.com/office/drawing/2014/main" id="{6FC81C51-F638-436C-9D16-58418A57933D}"/>
              </a:ext>
            </a:extLst>
          </p:cNvPr>
          <p:cNvSpPr/>
          <p:nvPr/>
        </p:nvSpPr>
        <p:spPr>
          <a:xfrm>
            <a:off x="445574" y="702863"/>
            <a:ext cx="4374076" cy="355276"/>
          </a:xfrm>
          <a:prstGeom prst="rect">
            <a:avLst/>
          </a:prstGeom>
          <a:solidFill>
            <a:srgbClr val="072F54"/>
          </a:solidFill>
        </p:spPr>
        <p:txBody>
          <a:bodyPr wrap="square" lIns="180000" tIns="36000" rIns="180000" bIns="72000" anchor="ctr">
            <a:spAutoFit/>
          </a:bodyPr>
          <a:lstStyle/>
          <a:p>
            <a:r>
              <a:rPr lang="en-GB" sz="1600" b="1" dirty="0">
                <a:solidFill>
                  <a:schemeClr val="bg1"/>
                </a:solidFill>
              </a:rPr>
              <a:t>Multiplying Decimals by 10, 100 and 1000.</a:t>
            </a:r>
          </a:p>
        </p:txBody>
      </p:sp>
      <p:sp>
        <p:nvSpPr>
          <p:cNvPr id="10" name="Rectangle 9"/>
          <p:cNvSpPr/>
          <p:nvPr/>
        </p:nvSpPr>
        <p:spPr>
          <a:xfrm>
            <a:off x="4819650" y="702863"/>
            <a:ext cx="1063301" cy="355276"/>
          </a:xfrm>
          <a:prstGeom prst="rect">
            <a:avLst/>
          </a:prstGeom>
          <a:solidFill>
            <a:srgbClr val="007AC3"/>
          </a:solidFill>
        </p:spPr>
        <p:txBody>
          <a:bodyPr wrap="square" lIns="180000" tIns="36000" rIns="180000" bIns="72000" anchor="ctr">
            <a:spAutoFit/>
          </a:bodyPr>
          <a:lstStyle/>
          <a:p>
            <a:pPr algn="ctr"/>
            <a:r>
              <a:rPr lang="en-GB" altLang="en-US" sz="1600" b="1" dirty="0">
                <a:solidFill>
                  <a:schemeClr val="bg1"/>
                </a:solidFill>
              </a:rPr>
              <a:t>Deeper</a:t>
            </a:r>
            <a:endParaRPr lang="en-GB" sz="1600" b="1" dirty="0">
              <a:solidFill>
                <a:schemeClr val="bg1"/>
              </a:solidFill>
            </a:endParaRPr>
          </a:p>
        </p:txBody>
      </p:sp>
      <p:cxnSp>
        <p:nvCxnSpPr>
          <p:cNvPr id="11" name="Straight Connector 10"/>
          <p:cNvCxnSpPr/>
          <p:nvPr/>
        </p:nvCxnSpPr>
        <p:spPr>
          <a:xfrm>
            <a:off x="4819650" y="701739"/>
            <a:ext cx="0" cy="3564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080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15FAA09-6793-4B71-B8D0-0F14EB69A16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39" b="14673"/>
          <a:stretch/>
        </p:blipFill>
        <p:spPr>
          <a:xfrm>
            <a:off x="539748" y="1337094"/>
            <a:ext cx="8064506" cy="3413260"/>
          </a:xfrm>
          <a:prstGeom prst="rect">
            <a:avLst/>
          </a:prstGeom>
          <a:solidFill>
            <a:schemeClr val="accent5">
              <a:lumMod val="20000"/>
              <a:lumOff val="80000"/>
            </a:schemeClr>
          </a:solidFill>
        </p:spPr>
      </p:pic>
      <p:pic>
        <p:nvPicPr>
          <p:cNvPr id="74" name="Picture 7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2250" y="532799"/>
            <a:ext cx="702000" cy="702000"/>
          </a:xfrm>
          <a:prstGeom prst="rect">
            <a:avLst/>
          </a:prstGeom>
        </p:spPr>
      </p:pic>
      <p:sp>
        <p:nvSpPr>
          <p:cNvPr id="9" name="TextBox 8">
            <a:extLst>
              <a:ext uri="{FF2B5EF4-FFF2-40B4-BE49-F238E27FC236}">
                <a16:creationId xmlns:a16="http://schemas.microsoft.com/office/drawing/2014/main" id="{8A7EC753-E623-49AE-B44C-D37289F5A4BD}"/>
              </a:ext>
            </a:extLst>
          </p:cNvPr>
          <p:cNvSpPr txBox="1"/>
          <p:nvPr/>
        </p:nvSpPr>
        <p:spPr>
          <a:xfrm>
            <a:off x="539748" y="4074966"/>
            <a:ext cx="8064501" cy="675388"/>
          </a:xfrm>
          <a:prstGeom prst="rect">
            <a:avLst/>
          </a:prstGeom>
          <a:solidFill>
            <a:srgbClr val="90C8E5"/>
          </a:solidFill>
          <a:ln w="19050">
            <a:solidFill>
              <a:srgbClr val="01407D"/>
            </a:solidFill>
          </a:ln>
          <a:effectLst>
            <a:outerShdw blurRad="50800" dist="38100" dir="8100000" algn="tr" rotWithShape="0">
              <a:prstClr val="black">
                <a:alpha val="40000"/>
              </a:prstClr>
            </a:outerShdw>
          </a:effectLst>
        </p:spPr>
        <p:txBody>
          <a:bodyPr wrap="square" lIns="108000" tIns="108000" rIns="108000" bIns="108000" rtlCol="0" anchor="ctr">
            <a:noAutofit/>
          </a:bodyPr>
          <a:lstStyle/>
          <a:p>
            <a:pPr algn="ctr"/>
            <a:r>
              <a:rPr lang="en-GB" b="1" dirty="0"/>
              <a:t>Do you agree with Raz? Explain fully.</a:t>
            </a:r>
          </a:p>
        </p:txBody>
      </p:sp>
      <p:sp>
        <p:nvSpPr>
          <p:cNvPr id="10" name="Rectangle 9">
            <a:extLst>
              <a:ext uri="{FF2B5EF4-FFF2-40B4-BE49-F238E27FC236}">
                <a16:creationId xmlns:a16="http://schemas.microsoft.com/office/drawing/2014/main" id="{66B008CE-6D19-407F-A84B-97450C3C6D00}"/>
              </a:ext>
            </a:extLst>
          </p:cNvPr>
          <p:cNvSpPr/>
          <p:nvPr/>
        </p:nvSpPr>
        <p:spPr>
          <a:xfrm>
            <a:off x="661465" y="4889831"/>
            <a:ext cx="7726886" cy="1202994"/>
          </a:xfrm>
          <a:prstGeom prst="rect">
            <a:avLst/>
          </a:prstGeom>
          <a:solidFill>
            <a:schemeClr val="bg1"/>
          </a:solidFill>
          <a:ln w="28575">
            <a:solidFill>
              <a:srgbClr val="689429"/>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spcAft>
                <a:spcPts val="1200"/>
              </a:spcAft>
            </a:pPr>
            <a:r>
              <a:rPr lang="en-GB" b="1" dirty="0">
                <a:solidFill>
                  <a:schemeClr val="tx1"/>
                </a:solidFill>
              </a:rPr>
              <a:t>394.569 × </a:t>
            </a:r>
            <a:r>
              <a:rPr lang="en-GB" b="1">
                <a:solidFill>
                  <a:schemeClr val="tx1"/>
                </a:solidFill>
              </a:rPr>
              <a:t>100 × </a:t>
            </a:r>
            <a:r>
              <a:rPr lang="en-GB" b="1" dirty="0">
                <a:solidFill>
                  <a:schemeClr val="tx1"/>
                </a:solidFill>
              </a:rPr>
              <a:t>10 </a:t>
            </a:r>
            <a:r>
              <a:rPr lang="en-GB" b="1">
                <a:solidFill>
                  <a:schemeClr val="tx1"/>
                </a:solidFill>
              </a:rPr>
              <a:t>= 394 569</a:t>
            </a:r>
            <a:endParaRPr lang="en-GB" b="1" dirty="0">
              <a:solidFill>
                <a:schemeClr val="tx1"/>
              </a:solidFill>
            </a:endParaRPr>
          </a:p>
          <a:p>
            <a:pPr>
              <a:spcAft>
                <a:spcPts val="1200"/>
              </a:spcAft>
            </a:pPr>
            <a:r>
              <a:rPr lang="en-GB" b="1" dirty="0">
                <a:solidFill>
                  <a:schemeClr val="tx1"/>
                </a:solidFill>
              </a:rPr>
              <a:t>Raz is incorrect. One 9 is in the ten thousands column and the other nine is in the ones column.</a:t>
            </a:r>
          </a:p>
        </p:txBody>
      </p:sp>
      <p:sp>
        <p:nvSpPr>
          <p:cNvPr id="13" name="Rectangle 12">
            <a:extLst>
              <a:ext uri="{FF2B5EF4-FFF2-40B4-BE49-F238E27FC236}">
                <a16:creationId xmlns:a16="http://schemas.microsoft.com/office/drawing/2014/main" id="{76322B0B-DC58-4242-A06F-FE49548C5C63}"/>
              </a:ext>
            </a:extLst>
          </p:cNvPr>
          <p:cNvSpPr/>
          <p:nvPr/>
        </p:nvSpPr>
        <p:spPr>
          <a:xfrm>
            <a:off x="4787899" y="1517446"/>
            <a:ext cx="3600452" cy="2455225"/>
          </a:xfrm>
          <a:prstGeom prst="rect">
            <a:avLst/>
          </a:prstGeom>
          <a:solidFill>
            <a:srgbClr val="F8BD95"/>
          </a:solidFill>
          <a:ln w="28575">
            <a:solidFill>
              <a:srgbClr val="E94E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peech Bubble: Rectangle 10">
            <a:extLst>
              <a:ext uri="{FF2B5EF4-FFF2-40B4-BE49-F238E27FC236}">
                <a16:creationId xmlns:a16="http://schemas.microsoft.com/office/drawing/2014/main" id="{2DDD4FAE-9256-41F4-B6C5-CF915B74F34A}"/>
              </a:ext>
            </a:extLst>
          </p:cNvPr>
          <p:cNvSpPr/>
          <p:nvPr/>
        </p:nvSpPr>
        <p:spPr>
          <a:xfrm>
            <a:off x="765960" y="2690230"/>
            <a:ext cx="3579826" cy="1049106"/>
          </a:xfrm>
          <a:prstGeom prst="wedgeRectCallout">
            <a:avLst>
              <a:gd name="adj1" fmla="val 87695"/>
              <a:gd name="adj2" fmla="val 887"/>
            </a:avLst>
          </a:prstGeom>
          <a:solidFill>
            <a:schemeClr val="bg1"/>
          </a:solidFill>
          <a:ln w="12700">
            <a:solidFill>
              <a:schemeClr val="tx1"/>
            </a:solidFill>
          </a:ln>
        </p:spPr>
        <p:txBody>
          <a:bodyPr wrap="square" lIns="108000" tIns="108000" rIns="108000" bIns="108000">
            <a:spAutoFit/>
          </a:bodyPr>
          <a:lstStyle/>
          <a:p>
            <a:r>
              <a:rPr lang="en-GB" dirty="0"/>
              <a:t>One 9 will now be in the ten thousands column and the other 9 will be in the tenths column.</a:t>
            </a:r>
          </a:p>
        </p:txBody>
      </p:sp>
      <p:pic>
        <p:nvPicPr>
          <p:cNvPr id="5" name="Picture 4">
            <a:extLst>
              <a:ext uri="{FF2B5EF4-FFF2-40B4-BE49-F238E27FC236}">
                <a16:creationId xmlns:a16="http://schemas.microsoft.com/office/drawing/2014/main" id="{D77C054A-2FF6-40E5-B5F4-77098196B2D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49997"/>
          <a:stretch/>
        </p:blipFill>
        <p:spPr>
          <a:xfrm>
            <a:off x="4787899" y="1619328"/>
            <a:ext cx="3492500" cy="2347683"/>
          </a:xfrm>
          <a:prstGeom prst="rect">
            <a:avLst/>
          </a:prstGeom>
        </p:spPr>
      </p:pic>
      <p:sp>
        <p:nvSpPr>
          <p:cNvPr id="14" name="Rectangle 13">
            <a:extLst>
              <a:ext uri="{FF2B5EF4-FFF2-40B4-BE49-F238E27FC236}">
                <a16:creationId xmlns:a16="http://schemas.microsoft.com/office/drawing/2014/main" id="{F7BA3F6A-86F1-49AD-B567-87A209BE5CDB}"/>
              </a:ext>
            </a:extLst>
          </p:cNvPr>
          <p:cNvSpPr/>
          <p:nvPr/>
        </p:nvSpPr>
        <p:spPr>
          <a:xfrm>
            <a:off x="445574" y="702863"/>
            <a:ext cx="4374076" cy="355276"/>
          </a:xfrm>
          <a:prstGeom prst="rect">
            <a:avLst/>
          </a:prstGeom>
          <a:solidFill>
            <a:srgbClr val="072F54"/>
          </a:solidFill>
        </p:spPr>
        <p:txBody>
          <a:bodyPr wrap="square" lIns="180000" tIns="36000" rIns="180000" bIns="72000" anchor="ctr">
            <a:spAutoFit/>
          </a:bodyPr>
          <a:lstStyle/>
          <a:p>
            <a:r>
              <a:rPr lang="en-GB" sz="1600" b="1" dirty="0">
                <a:solidFill>
                  <a:schemeClr val="bg1"/>
                </a:solidFill>
              </a:rPr>
              <a:t>Multiplying Decimals by 10, 100 and 1000.</a:t>
            </a:r>
          </a:p>
        </p:txBody>
      </p:sp>
      <p:sp>
        <p:nvSpPr>
          <p:cNvPr id="75" name="Rectangle 74"/>
          <p:cNvSpPr/>
          <p:nvPr/>
        </p:nvSpPr>
        <p:spPr>
          <a:xfrm>
            <a:off x="4819650" y="702863"/>
            <a:ext cx="1141417" cy="355276"/>
          </a:xfrm>
          <a:prstGeom prst="rect">
            <a:avLst/>
          </a:prstGeom>
          <a:solidFill>
            <a:srgbClr val="00529C"/>
          </a:solidFill>
        </p:spPr>
        <p:txBody>
          <a:bodyPr wrap="square" lIns="180000" tIns="36000" rIns="180000" bIns="72000" anchor="ctr">
            <a:spAutoFit/>
          </a:bodyPr>
          <a:lstStyle/>
          <a:p>
            <a:pPr algn="ctr"/>
            <a:r>
              <a:rPr lang="en-GB" altLang="en-US" sz="1600" b="1" dirty="0">
                <a:solidFill>
                  <a:schemeClr val="bg1"/>
                </a:solidFill>
              </a:rPr>
              <a:t>Deepest</a:t>
            </a:r>
            <a:endParaRPr lang="en-GB" sz="1600" b="1" dirty="0">
              <a:solidFill>
                <a:schemeClr val="bg1"/>
              </a:solidFill>
            </a:endParaRPr>
          </a:p>
        </p:txBody>
      </p:sp>
      <p:cxnSp>
        <p:nvCxnSpPr>
          <p:cNvPr id="8" name="Straight Connector 7"/>
          <p:cNvCxnSpPr>
            <a:cxnSpLocks/>
          </p:cNvCxnSpPr>
          <p:nvPr/>
        </p:nvCxnSpPr>
        <p:spPr>
          <a:xfrm>
            <a:off x="4819650" y="701739"/>
            <a:ext cx="0" cy="3564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45A2664-1362-44C3-ADE3-377835444C53}"/>
              </a:ext>
            </a:extLst>
          </p:cNvPr>
          <p:cNvSpPr txBox="1"/>
          <p:nvPr/>
        </p:nvSpPr>
        <p:spPr>
          <a:xfrm>
            <a:off x="958846" y="1517447"/>
            <a:ext cx="3194054" cy="893828"/>
          </a:xfrm>
          <a:prstGeom prst="rect">
            <a:avLst/>
          </a:prstGeom>
          <a:solidFill>
            <a:srgbClr val="FFEDAA"/>
          </a:solidFill>
          <a:ln w="19050">
            <a:solidFill>
              <a:srgbClr val="F9B000"/>
            </a:solidFill>
          </a:ln>
          <a:effectLst>
            <a:outerShdw blurRad="50800" dist="38100" dir="8100000" algn="tr" rotWithShape="0">
              <a:prstClr val="black">
                <a:alpha val="40000"/>
              </a:prstClr>
            </a:outerShdw>
          </a:effectLst>
        </p:spPr>
        <p:txBody>
          <a:bodyPr wrap="square" lIns="108000" tIns="108000" rIns="108000" bIns="108000" rtlCol="0" anchor="ctr">
            <a:noAutofit/>
          </a:bodyPr>
          <a:lstStyle/>
          <a:p>
            <a:r>
              <a:rPr lang="en-GB" dirty="0"/>
              <a:t>394.569 is multiplied by 100</a:t>
            </a:r>
            <a:br>
              <a:rPr lang="en-GB" dirty="0"/>
            </a:br>
            <a:r>
              <a:rPr lang="en-GB" dirty="0"/>
              <a:t>and then by 10.</a:t>
            </a:r>
            <a:endParaRPr lang="en-GB" b="1" dirty="0"/>
          </a:p>
        </p:txBody>
      </p:sp>
    </p:spTree>
    <p:extLst>
      <p:ext uri="{BB962C8B-B14F-4D97-AF65-F5344CB8AC3E}">
        <p14:creationId xmlns:p14="http://schemas.microsoft.com/office/powerpoint/2010/main" val="419513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C3F129B-2D47-483A-A90C-799D2C477CF6}"/>
              </a:ext>
            </a:extLst>
          </p:cNvPr>
          <p:cNvSpPr/>
          <p:nvPr/>
        </p:nvSpPr>
        <p:spPr>
          <a:xfrm>
            <a:off x="4563663" y="1819414"/>
            <a:ext cx="3824688" cy="4273409"/>
          </a:xfrm>
          <a:prstGeom prst="rect">
            <a:avLst/>
          </a:prstGeom>
          <a:solidFill>
            <a:srgbClr val="4EB2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p:cNvSpPr/>
          <p:nvPr/>
        </p:nvSpPr>
        <p:spPr>
          <a:xfrm>
            <a:off x="755650" y="1822827"/>
            <a:ext cx="3816349" cy="4269997"/>
          </a:xfrm>
          <a:prstGeom prst="rect">
            <a:avLst/>
          </a:prstGeom>
          <a:solidFill>
            <a:srgbClr val="007A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755649" y="1364071"/>
            <a:ext cx="7632701" cy="458757"/>
          </a:xfrm>
          <a:prstGeom prst="rect">
            <a:avLst/>
          </a:prstGeom>
          <a:solidFill>
            <a:srgbClr val="C7E8FD"/>
          </a:solidFill>
        </p:spPr>
        <p:txBody>
          <a:bodyPr wrap="square" lIns="72000" tIns="72000" rIns="72000" bIns="108000">
            <a:spAutoFit/>
          </a:bodyPr>
          <a:lstStyle/>
          <a:p>
            <a:pPr algn="ctr"/>
            <a:r>
              <a:rPr lang="en-GB" dirty="0"/>
              <a:t>Dive in by completing your own activity!</a:t>
            </a:r>
          </a:p>
        </p:txBody>
      </p:sp>
      <p:pic>
        <p:nvPicPr>
          <p:cNvPr id="6" name="Picture 5">
            <a:extLst>
              <a:ext uri="{FF2B5EF4-FFF2-40B4-BE49-F238E27FC236}">
                <a16:creationId xmlns:a16="http://schemas.microsoft.com/office/drawing/2014/main" id="{61B74EBF-AD1B-4DC1-AB71-6B21B868FC7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5355" t="500" r="27421" b="1"/>
          <a:stretch/>
        </p:blipFill>
        <p:spPr>
          <a:xfrm>
            <a:off x="755650" y="1819415"/>
            <a:ext cx="3818059" cy="4273409"/>
          </a:xfrm>
          <a:prstGeom prst="rect">
            <a:avLst/>
          </a:prstGeom>
        </p:spPr>
      </p:pic>
      <p:pic>
        <p:nvPicPr>
          <p:cNvPr id="21" name="Picture 20">
            <a:extLst>
              <a:ext uri="{FF2B5EF4-FFF2-40B4-BE49-F238E27FC236}">
                <a16:creationId xmlns:a16="http://schemas.microsoft.com/office/drawing/2014/main" id="{23B3C386-037D-47BC-B81B-E45DB0C5678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682123" y="2030899"/>
            <a:ext cx="2722089" cy="3850438"/>
          </a:xfrm>
          <a:prstGeom prst="rect">
            <a:avLst/>
          </a:prstGeom>
          <a:effectLst>
            <a:outerShdw blurRad="63500" sx="102000" sy="102000" algn="ctr" rotWithShape="0">
              <a:prstClr val="black">
                <a:alpha val="20000"/>
              </a:prstClr>
            </a:outerShdw>
          </a:effectLst>
        </p:spPr>
      </p:pic>
      <p:pic>
        <p:nvPicPr>
          <p:cNvPr id="19" name="Picture 18">
            <a:extLst>
              <a:ext uri="{FF2B5EF4-FFF2-40B4-BE49-F238E27FC236}">
                <a16:creationId xmlns:a16="http://schemas.microsoft.com/office/drawing/2014/main" id="{23B3C386-037D-47BC-B81B-E45DB0C5678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49688"/>
          <a:stretch/>
        </p:blipFill>
        <p:spPr>
          <a:xfrm rot="1560000">
            <a:off x="2541559" y="2837319"/>
            <a:ext cx="804621" cy="2262193"/>
          </a:xfrm>
          <a:prstGeom prst="rect">
            <a:avLst/>
          </a:prstGeom>
          <a:effectLst/>
        </p:spPr>
      </p:pic>
      <p:pic>
        <p:nvPicPr>
          <p:cNvPr id="13" name="Picture 12"/>
          <p:cNvPicPr>
            <a:picLocks noChangeAspect="1"/>
          </p:cNvPicPr>
          <p:nvPr/>
        </p:nvPicPr>
        <p:blipFill rotWithShape="1">
          <a:blip r:embed="rId5" cstate="print">
            <a:extLst>
              <a:ext uri="{28A0092B-C50C-407E-A947-70E740481C1C}">
                <a14:useLocalDpi xmlns:a14="http://schemas.microsoft.com/office/drawing/2010/main" val="0"/>
              </a:ext>
            </a:extLst>
          </a:blip>
          <a:srcRect b="43065"/>
          <a:stretch/>
        </p:blipFill>
        <p:spPr>
          <a:xfrm rot="1649095">
            <a:off x="996676" y="2279977"/>
            <a:ext cx="1707616" cy="1375241"/>
          </a:xfrm>
          <a:prstGeom prst="rect">
            <a:avLst/>
          </a:prstGeom>
        </p:spPr>
      </p:pic>
      <p:pic>
        <p:nvPicPr>
          <p:cNvPr id="22" name="Boy Writing">
            <a:extLst>
              <a:ext uri="{FF2B5EF4-FFF2-40B4-BE49-F238E27FC236}">
                <a16:creationId xmlns:a16="http://schemas.microsoft.com/office/drawing/2014/main" id="{59E92074-8F0A-4A38-87B2-6E07FF3C8646}"/>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6" t="622" r="32362"/>
          <a:stretch/>
        </p:blipFill>
        <p:spPr>
          <a:xfrm>
            <a:off x="755650" y="1928693"/>
            <a:ext cx="4038155" cy="4164130"/>
          </a:xfrm>
          <a:prstGeom prst="rect">
            <a:avLst/>
          </a:prstGeom>
        </p:spPr>
      </p:pic>
      <p:pic>
        <p:nvPicPr>
          <p:cNvPr id="16" name="Picture 15">
            <a:extLst>
              <a:ext uri="{FF2B5EF4-FFF2-40B4-BE49-F238E27FC236}">
                <a16:creationId xmlns:a16="http://schemas.microsoft.com/office/drawing/2014/main" id="{A410F3B9-A120-4B78-B8FC-DBBE2542D027}"/>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5118275" y="2030899"/>
            <a:ext cx="2722089" cy="3850438"/>
          </a:xfrm>
          <a:prstGeom prst="rect">
            <a:avLst/>
          </a:prstGeom>
          <a:effectLst>
            <a:outerShdw blurRad="63500" sx="102000" sy="102000" algn="ctr" rotWithShape="0">
              <a:prstClr val="black">
                <a:alpha val="20000"/>
              </a:prstClr>
            </a:outerShdw>
          </a:effectLst>
        </p:spPr>
      </p:pic>
      <p:pic>
        <p:nvPicPr>
          <p:cNvPr id="23" name="Picture 22">
            <a:extLst>
              <a:ext uri="{FF2B5EF4-FFF2-40B4-BE49-F238E27FC236}">
                <a16:creationId xmlns:a16="http://schemas.microsoft.com/office/drawing/2014/main" id="{A410F3B9-A120-4B78-B8FC-DBBE2542D027}"/>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554426" y="2030899"/>
            <a:ext cx="2722088" cy="3850438"/>
          </a:xfrm>
          <a:prstGeom prst="rect">
            <a:avLst/>
          </a:prstGeom>
          <a:effectLst>
            <a:outerShdw blurRad="63500" sx="102000" sy="102000" algn="ctr" rotWithShape="0">
              <a:prstClr val="black">
                <a:alpha val="20000"/>
              </a:prstClr>
            </a:outerShdw>
          </a:effectLst>
        </p:spPr>
      </p:pic>
      <p:sp>
        <p:nvSpPr>
          <p:cNvPr id="18" name="Rectangle 17">
            <a:extLst>
              <a:ext uri="{FF2B5EF4-FFF2-40B4-BE49-F238E27FC236}">
                <a16:creationId xmlns:a16="http://schemas.microsoft.com/office/drawing/2014/main" id="{26701CCD-10AF-452D-BB01-73C4B6658BE9}"/>
              </a:ext>
            </a:extLst>
          </p:cNvPr>
          <p:cNvSpPr/>
          <p:nvPr/>
        </p:nvSpPr>
        <p:spPr>
          <a:xfrm>
            <a:off x="445574" y="702863"/>
            <a:ext cx="4374076" cy="355276"/>
          </a:xfrm>
          <a:prstGeom prst="rect">
            <a:avLst/>
          </a:prstGeom>
          <a:solidFill>
            <a:srgbClr val="072F54"/>
          </a:solidFill>
        </p:spPr>
        <p:txBody>
          <a:bodyPr wrap="square" lIns="180000" tIns="36000" rIns="180000" bIns="72000" anchor="ctr">
            <a:spAutoFit/>
          </a:bodyPr>
          <a:lstStyle/>
          <a:p>
            <a:r>
              <a:rPr lang="en-GB" sz="1600" b="1" dirty="0">
                <a:solidFill>
                  <a:schemeClr val="bg1"/>
                </a:solidFill>
              </a:rPr>
              <a:t>Multiplying Decimals by 10, 100 and 1000.</a:t>
            </a:r>
          </a:p>
        </p:txBody>
      </p:sp>
    </p:spTree>
    <p:extLst>
      <p:ext uri="{BB962C8B-B14F-4D97-AF65-F5344CB8AC3E}">
        <p14:creationId xmlns:p14="http://schemas.microsoft.com/office/powerpoint/2010/main" val="177127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ounded Rectangle 14"/>
          <p:cNvSpPr/>
          <p:nvPr/>
        </p:nvSpPr>
        <p:spPr bwMode="auto">
          <a:xfrm>
            <a:off x="457198" y="438151"/>
            <a:ext cx="8220075" cy="5957887"/>
          </a:xfrm>
          <a:prstGeom prst="roundRect">
            <a:avLst>
              <a:gd name="adj" fmla="val 2649"/>
            </a:avLst>
          </a:prstGeom>
          <a:solidFill>
            <a:srgbClr val="002060">
              <a:alpha val="90000"/>
            </a:srgbClr>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600" b="1" dirty="0">
                <a:latin typeface="Twinkl" pitchFamily="50" charset="0"/>
              </a:rPr>
              <a:t> </a:t>
            </a:r>
          </a:p>
        </p:txBody>
      </p:sp>
      <p:sp>
        <p:nvSpPr>
          <p:cNvPr id="16" name="Rectangle 15"/>
          <p:cNvSpPr/>
          <p:nvPr/>
        </p:nvSpPr>
        <p:spPr>
          <a:xfrm>
            <a:off x="755650" y="2696325"/>
            <a:ext cx="7632700" cy="400110"/>
          </a:xfrm>
          <a:prstGeom prst="rect">
            <a:avLst/>
          </a:prstGeom>
        </p:spPr>
        <p:txBody>
          <a:bodyPr wrap="square">
            <a:spAutoFit/>
          </a:bodyPr>
          <a:lstStyle/>
          <a:p>
            <a:pPr algn="ctr"/>
            <a:r>
              <a:rPr lang="en-GB" sz="2000" dirty="0">
                <a:solidFill>
                  <a:schemeClr val="bg1"/>
                </a:solidFill>
                <a:latin typeface="Roboto" panose="02000000000000000000" pitchFamily="2" charset="0"/>
                <a:ea typeface="Roboto" panose="02000000000000000000" pitchFamily="2" charset="0"/>
              </a:rPr>
              <a:t>For more planning resources to support this aim, </a:t>
            </a:r>
            <a:r>
              <a:rPr lang="en-GB" sz="2000" b="1" dirty="0">
                <a:solidFill>
                  <a:srgbClr val="18A0DB"/>
                </a:solidFill>
                <a:latin typeface="Roboto" panose="02000000000000000000" pitchFamily="2" charset="0"/>
                <a:ea typeface="Roboto" panose="02000000000000000000" pitchFamily="2" charset="0"/>
                <a:hlinkClick r:id="rId2"/>
              </a:rPr>
              <a:t>click here</a:t>
            </a:r>
            <a:r>
              <a:rPr lang="en-GB" sz="2000" dirty="0">
                <a:solidFill>
                  <a:schemeClr val="bg1"/>
                </a:solidFill>
                <a:latin typeface="Roboto" panose="02000000000000000000" pitchFamily="2" charset="0"/>
                <a:ea typeface="Roboto" panose="02000000000000000000" pitchFamily="2" charset="0"/>
              </a:rPr>
              <a:t>.</a:t>
            </a:r>
          </a:p>
        </p:txBody>
      </p:sp>
      <p:sp>
        <p:nvSpPr>
          <p:cNvPr id="17" name="Rectangle 16"/>
          <p:cNvSpPr/>
          <p:nvPr/>
        </p:nvSpPr>
        <p:spPr>
          <a:xfrm>
            <a:off x="766722" y="5385322"/>
            <a:ext cx="6103310" cy="615553"/>
          </a:xfrm>
          <a:prstGeom prst="rect">
            <a:avLst/>
          </a:prstGeom>
        </p:spPr>
        <p:txBody>
          <a:bodyPr wrap="square" lIns="0" tIns="0" rIns="0" bIns="0">
            <a:spAutoFit/>
          </a:bodyPr>
          <a:lstStyle/>
          <a:p>
            <a:r>
              <a:rPr lang="en-GB" sz="2000" dirty="0" err="1">
                <a:solidFill>
                  <a:schemeClr val="bg1"/>
                </a:solidFill>
                <a:latin typeface="Roboto" panose="02000000000000000000" pitchFamily="2" charset="0"/>
                <a:ea typeface="Roboto" panose="02000000000000000000" pitchFamily="2" charset="0"/>
              </a:rPr>
              <a:t>Twinkl</a:t>
            </a:r>
            <a:r>
              <a:rPr lang="en-GB" sz="2000" dirty="0">
                <a:solidFill>
                  <a:schemeClr val="bg1"/>
                </a:solidFill>
                <a:latin typeface="Roboto" panose="02000000000000000000" pitchFamily="2" charset="0"/>
                <a:ea typeface="Roboto" panose="02000000000000000000" pitchFamily="2" charset="0"/>
              </a:rPr>
              <a:t> </a:t>
            </a:r>
            <a:r>
              <a:rPr lang="en-GB" sz="2000" dirty="0" err="1">
                <a:solidFill>
                  <a:schemeClr val="bg1"/>
                </a:solidFill>
                <a:latin typeface="Roboto" panose="02000000000000000000" pitchFamily="2" charset="0"/>
                <a:ea typeface="Roboto" panose="02000000000000000000" pitchFamily="2" charset="0"/>
              </a:rPr>
              <a:t>PlanIt</a:t>
            </a:r>
            <a:r>
              <a:rPr lang="en-GB" sz="2000" dirty="0">
                <a:solidFill>
                  <a:schemeClr val="bg1"/>
                </a:solidFill>
                <a:latin typeface="Roboto" panose="02000000000000000000" pitchFamily="2" charset="0"/>
                <a:ea typeface="Roboto" panose="02000000000000000000" pitchFamily="2" charset="0"/>
              </a:rPr>
              <a:t> is our award-winning scheme of work </a:t>
            </a:r>
            <a:br>
              <a:rPr lang="en-GB" sz="2000" dirty="0">
                <a:solidFill>
                  <a:schemeClr val="bg1"/>
                </a:solidFill>
                <a:latin typeface="Roboto" panose="02000000000000000000" pitchFamily="2" charset="0"/>
                <a:ea typeface="Roboto" panose="02000000000000000000" pitchFamily="2" charset="0"/>
              </a:rPr>
            </a:br>
            <a:r>
              <a:rPr lang="en-GB" sz="2000" dirty="0">
                <a:solidFill>
                  <a:schemeClr val="bg1"/>
                </a:solidFill>
                <a:latin typeface="Roboto" panose="02000000000000000000" pitchFamily="2" charset="0"/>
                <a:ea typeface="Roboto" panose="02000000000000000000" pitchFamily="2" charset="0"/>
              </a:rPr>
              <a:t>with over 4000 resources.</a:t>
            </a:r>
          </a:p>
        </p:txBody>
      </p:sp>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24745" y="5223878"/>
            <a:ext cx="1406637" cy="933495"/>
          </a:xfrm>
          <a:prstGeom prst="rect">
            <a:avLst/>
          </a:prstGeom>
        </p:spPr>
      </p:pic>
      <p:sp>
        <p:nvSpPr>
          <p:cNvPr id="22" name="Rectangle 21"/>
          <p:cNvSpPr/>
          <p:nvPr/>
        </p:nvSpPr>
        <p:spPr>
          <a:xfrm>
            <a:off x="594362" y="765175"/>
            <a:ext cx="7952222" cy="553998"/>
          </a:xfrm>
          <a:prstGeom prst="rect">
            <a:avLst/>
          </a:prstGeom>
        </p:spPr>
        <p:txBody>
          <a:bodyPr wrap="square">
            <a:spAutoFit/>
          </a:bodyPr>
          <a:lstStyle/>
          <a:p>
            <a:pPr algn="ctr"/>
            <a:r>
              <a:rPr lang="en-GB" sz="2900" b="1" dirty="0">
                <a:solidFill>
                  <a:schemeClr val="bg1"/>
                </a:solidFill>
                <a:latin typeface="Roboto" panose="02000000000000000000" pitchFamily="2" charset="0"/>
                <a:ea typeface="Roboto" panose="02000000000000000000" pitchFamily="2" charset="0"/>
              </a:rPr>
              <a:t>Need Planning to Complement this Resource?</a:t>
            </a:r>
          </a:p>
        </p:txBody>
      </p:sp>
      <p:sp>
        <p:nvSpPr>
          <p:cNvPr id="23" name="Rectangle 22"/>
          <p:cNvSpPr/>
          <p:nvPr/>
        </p:nvSpPr>
        <p:spPr>
          <a:xfrm>
            <a:off x="755650" y="1789800"/>
            <a:ext cx="7564566" cy="748923"/>
          </a:xfrm>
          <a:prstGeom prst="rect">
            <a:avLst/>
          </a:prstGeom>
          <a:solidFill>
            <a:schemeClr val="bg1"/>
          </a:solidFill>
        </p:spPr>
        <p:txBody>
          <a:bodyPr wrap="square">
            <a:spAutoFit/>
          </a:bodyPr>
          <a:lstStyle/>
          <a:p>
            <a:pPr lvl="0" algn="ctr">
              <a:lnSpc>
                <a:spcPct val="110000"/>
              </a:lnSpc>
            </a:pPr>
            <a:r>
              <a:rPr lang="en-GB" sz="2000" b="1" dirty="0">
                <a:solidFill>
                  <a:srgbClr val="014482"/>
                </a:solidFill>
                <a:latin typeface="Roboto" panose="02000000000000000000" pitchFamily="2" charset="0"/>
                <a:ea typeface="Roboto" panose="02000000000000000000" pitchFamily="2" charset="0"/>
              </a:rPr>
              <a:t>Multiply and divide whole numbers</a:t>
            </a:r>
            <a:br>
              <a:rPr lang="en-GB" sz="2000" b="1" dirty="0">
                <a:solidFill>
                  <a:srgbClr val="014482"/>
                </a:solidFill>
                <a:latin typeface="Roboto" panose="02000000000000000000" pitchFamily="2" charset="0"/>
                <a:ea typeface="Roboto" panose="02000000000000000000" pitchFamily="2" charset="0"/>
              </a:rPr>
            </a:br>
            <a:r>
              <a:rPr lang="en-GB" sz="2000" b="1" dirty="0">
                <a:solidFill>
                  <a:srgbClr val="014482"/>
                </a:solidFill>
                <a:latin typeface="Roboto" panose="02000000000000000000" pitchFamily="2" charset="0"/>
                <a:ea typeface="Roboto" panose="02000000000000000000" pitchFamily="2" charset="0"/>
              </a:rPr>
              <a:t>and those involving decimals by 10, 100 and 1000.</a:t>
            </a:r>
          </a:p>
        </p:txBody>
      </p:sp>
      <p:sp>
        <p:nvSpPr>
          <p:cNvPr id="24" name="Rectangle 23"/>
          <p:cNvSpPr/>
          <p:nvPr/>
        </p:nvSpPr>
        <p:spPr>
          <a:xfrm>
            <a:off x="3169113" y="1376229"/>
            <a:ext cx="2997937" cy="400110"/>
          </a:xfrm>
          <a:prstGeom prst="rect">
            <a:avLst/>
          </a:prstGeom>
        </p:spPr>
        <p:txBody>
          <a:bodyPr wrap="none">
            <a:spAutoFit/>
          </a:bodyPr>
          <a:lstStyle/>
          <a:p>
            <a:r>
              <a:rPr lang="en-GB" sz="2000" b="1" dirty="0">
                <a:solidFill>
                  <a:schemeClr val="bg1"/>
                </a:solidFill>
                <a:latin typeface="Roboto" panose="02000000000000000000" pitchFamily="2" charset="0"/>
                <a:ea typeface="Roboto" panose="02000000000000000000" pitchFamily="2" charset="0"/>
              </a:rPr>
              <a:t>National Curriculum Aim</a:t>
            </a:r>
          </a:p>
        </p:txBody>
      </p:sp>
      <p:pic>
        <p:nvPicPr>
          <p:cNvPr id="2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778104" y="3226660"/>
            <a:ext cx="3706766" cy="1853383"/>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4666416" y="3225825"/>
            <a:ext cx="3721934" cy="1860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02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hlinkClick r:id="rId2"/>
            <a:extLst>
              <a:ext uri="{FF2B5EF4-FFF2-40B4-BE49-F238E27FC236}">
                <a16:creationId xmlns:a16="http://schemas.microsoft.com/office/drawing/2014/main" id="{6DD1906B-3E43-4EF5-A875-1FE636C63857}"/>
              </a:ext>
            </a:extLst>
          </p:cNvPr>
          <p:cNvSpPr/>
          <p:nvPr/>
        </p:nvSpPr>
        <p:spPr>
          <a:xfrm>
            <a:off x="4067355" y="3072742"/>
            <a:ext cx="1009290" cy="712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55628886"/>
      </p:ext>
    </p:extLst>
  </p:cSld>
  <p:clrMapOvr>
    <a:masterClrMapping/>
  </p:clrMapOvr>
</p:sld>
</file>

<file path=ppt/theme/theme1.xml><?xml version="1.0" encoding="utf-8"?>
<a:theme xmlns:a="http://schemas.openxmlformats.org/drawingml/2006/main" name="Office Theme">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Sb"/>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astery PowerPoint Template.pptx" id="{3BD20C4A-250B-4648-9FC8-9A06643C064F}" vid="{8A1EB70A-12F0-4EA0-89BA-7AF8BF1D2E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239</TotalTime>
  <Words>657</Words>
  <Application>Microsoft Office PowerPoint</Application>
  <PresentationFormat>On-screen Show (4:3)</PresentationFormat>
  <Paragraphs>108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Roboto</vt:lpstr>
      <vt:lpstr>Arial</vt:lpstr>
      <vt:lpstr>Calibri</vt:lpstr>
      <vt:lpstr>Twinkl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Tarjinder Momi</dc:creator>
  <cp:lastModifiedBy>Tarjinder Momi</cp:lastModifiedBy>
  <cp:revision>192</cp:revision>
  <dcterms:created xsi:type="dcterms:W3CDTF">2020-05-15T07:22:24Z</dcterms:created>
  <dcterms:modified xsi:type="dcterms:W3CDTF">2020-05-27T13:51:55Z</dcterms:modified>
</cp:coreProperties>
</file>