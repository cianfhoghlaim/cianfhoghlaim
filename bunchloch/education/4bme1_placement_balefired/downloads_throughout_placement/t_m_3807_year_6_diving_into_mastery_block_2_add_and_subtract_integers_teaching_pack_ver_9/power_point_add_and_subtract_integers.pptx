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1"/>
  </p:sldMasterIdLst>
  <p:notesMasterIdLst>
    <p:notesMasterId r:id="rId14"/>
  </p:notesMasterIdLst>
  <p:handoutMasterIdLst>
    <p:handoutMasterId r:id="rId15"/>
  </p:handoutMasterIdLst>
  <p:sldIdLst>
    <p:sldId id="275" r:id="rId2"/>
    <p:sldId id="276" r:id="rId3"/>
    <p:sldId id="278" r:id="rId4"/>
    <p:sldId id="279" r:id="rId5"/>
    <p:sldId id="289" r:id="rId6"/>
    <p:sldId id="282" r:id="rId7"/>
    <p:sldId id="290" r:id="rId8"/>
    <p:sldId id="284" r:id="rId9"/>
    <p:sldId id="291" r:id="rId10"/>
    <p:sldId id="288" r:id="rId11"/>
    <p:sldId id="277" r:id="rId12"/>
    <p:sldId id="286" r:id="rId13"/>
  </p:sldIdLst>
  <p:sldSz cx="9144000" cy="6858000" type="screen4x3"/>
  <p:notesSz cx="6858000" cy="9144000"/>
  <p:embeddedFontLst>
    <p:embeddedFont>
      <p:font typeface="Tuffy" panose="020B0603060100000000" pitchFamily="34" charset="0"/>
      <p:regular r:id="rId16"/>
      <p:bold r:id="rId17"/>
      <p:italic r:id="rId18"/>
      <p:boldItalic r:id="rId19"/>
    </p:embeddedFont>
    <p:embeddedFont>
      <p:font typeface="Calibri" panose="020F0502020204030204" pitchFamily="34" charset="0"/>
      <p:regular r:id="rId20"/>
      <p:bold r:id="rId21"/>
      <p:italic r:id="rId22"/>
      <p:boldItalic r:id="rId23"/>
    </p:embeddedFont>
    <p:embeddedFont>
      <p:font typeface="Twinkl" pitchFamily="2" charset="0"/>
      <p:regular r:id="rId24"/>
      <p:bold r:id="rId25"/>
    </p:embeddedFont>
    <p:embeddedFont>
      <p:font typeface="Tuffy-TTF" panose="020B0603060100000000" pitchFamily="34" charset="0"/>
      <p:regular r:id="rId26"/>
      <p:bold r:id="rId27"/>
      <p:italic r:id="rId28"/>
      <p:boldItalic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4" pos="340" userDrawn="1">
          <p15:clr>
            <a:srgbClr val="A4A3A4"/>
          </p15:clr>
        </p15:guide>
        <p15:guide id="5" orient="horz" pos="3997" userDrawn="1">
          <p15:clr>
            <a:srgbClr val="A4A3A4"/>
          </p15:clr>
        </p15:guide>
        <p15:guide id="6" pos="5397" userDrawn="1">
          <p15:clr>
            <a:srgbClr val="A4A3A4"/>
          </p15:clr>
        </p15:guide>
        <p15:guide id="7" orient="horz" pos="323" userDrawn="1">
          <p15:clr>
            <a:srgbClr val="A4A3A4"/>
          </p15:clr>
        </p15:guide>
        <p15:guide id="8" pos="476" userDrawn="1">
          <p15:clr>
            <a:srgbClr val="A4A3A4"/>
          </p15:clr>
        </p15:guide>
        <p15:guide id="9" orient="horz" pos="482" userDrawn="1">
          <p15:clr>
            <a:srgbClr val="A4A3A4"/>
          </p15:clr>
        </p15:guide>
        <p15:guide id="10" orient="horz" pos="3838" userDrawn="1">
          <p15:clr>
            <a:srgbClr val="A4A3A4"/>
          </p15:clr>
        </p15:guide>
        <p15:guide id="11" pos="528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7BD31"/>
    <a:srgbClr val="E3C101"/>
    <a:srgbClr val="2BB7BD"/>
    <a:srgbClr val="BDDF85"/>
    <a:srgbClr val="FFEE89"/>
    <a:srgbClr val="88CCC1"/>
    <a:srgbClr val="009284"/>
    <a:srgbClr val="0079C3"/>
    <a:srgbClr val="FFE76D"/>
    <a:srgbClr val="072F5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1446" y="108"/>
      </p:cViewPr>
      <p:guideLst>
        <p:guide orient="horz" pos="2160"/>
        <p:guide pos="2880"/>
        <p:guide pos="340"/>
        <p:guide orient="horz" pos="3997"/>
        <p:guide pos="5397"/>
        <p:guide orient="horz" pos="323"/>
        <p:guide pos="476"/>
        <p:guide orient="horz" pos="482"/>
        <p:guide orient="horz" pos="3838"/>
        <p:guide pos="5284"/>
      </p:guideLst>
    </p:cSldViewPr>
  </p:slideViewPr>
  <p:notesTextViewPr>
    <p:cViewPr>
      <p:scale>
        <a:sx n="3" d="2"/>
        <a:sy n="3" d="2"/>
      </p:scale>
      <p:origin x="0" y="0"/>
    </p:cViewPr>
  </p:notesTextViewPr>
  <p:notesViewPr>
    <p:cSldViewPr snapToGrid="0" showGuides="1">
      <p:cViewPr varScale="1">
        <p:scale>
          <a:sx n="77" d="100"/>
          <a:sy n="77" d="100"/>
        </p:scale>
        <p:origin x="2646"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handoutMaster" Target="handoutMasters/handoutMaster1.xml"/><Relationship Id="rId23" Type="http://schemas.openxmlformats.org/officeDocument/2006/relationships/font" Target="fonts/font8.fntdata"/><Relationship Id="rId28"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B34F151-63AC-41CE-96F5-7702E930870C}" type="datetimeFigureOut">
              <a:rPr lang="en-GB" smtClean="0"/>
              <a:t>13/09/2019</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676B846-B279-40AC-BFF5-DBC4013370C2}" type="slidenum">
              <a:rPr lang="en-GB" smtClean="0"/>
              <a:t>‹#›</a:t>
            </a:fld>
            <a:endParaRPr lang="en-GB"/>
          </a:p>
        </p:txBody>
      </p:sp>
    </p:spTree>
    <p:extLst>
      <p:ext uri="{BB962C8B-B14F-4D97-AF65-F5344CB8AC3E}">
        <p14:creationId xmlns:p14="http://schemas.microsoft.com/office/powerpoint/2010/main" val="26453970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02C5D1-7818-41B5-ABAD-5E4B38A5388F}" type="datetimeFigureOut">
              <a:rPr lang="en-GB" smtClean="0"/>
              <a:t>13/09/2019</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521341-850D-40E1-BB3D-87946DC9B06D}" type="slidenum">
              <a:rPr lang="en-GB" smtClean="0"/>
              <a:t>‹#›</a:t>
            </a:fld>
            <a:endParaRPr lang="en-GB"/>
          </a:p>
        </p:txBody>
      </p:sp>
    </p:spTree>
    <p:extLst>
      <p:ext uri="{BB962C8B-B14F-4D97-AF65-F5344CB8AC3E}">
        <p14:creationId xmlns:p14="http://schemas.microsoft.com/office/powerpoint/2010/main" val="847048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hyperlink" Target="https://www.twinkl.co.uk/resources/white-rose-maths-resources/year-6-white-rose-maths-resources-key-stage-1-year-1-year-2/autumn-block-2-addition-subtraction-multiplication-and-division-year-6-white-rose-maths-resources-key-stage-1-year-1-year-2" TargetMode="Externa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hyperlink" Target="https://www.twinkl.co.uk/resources/white-rose-maths-resources/year-6-white-rose-maths-resources-key-stage-1-year-1-year-2/autumn-block-2-addition-subtraction-multiplication-and-division-year-6-white-rose-maths-resources-key-stage-1-year-1-year-2"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522767" y="6196125"/>
            <a:ext cx="576495" cy="580719"/>
          </a:xfrm>
          <a:prstGeom prst="rect">
            <a:avLst/>
          </a:prstGeom>
        </p:spPr>
      </p:pic>
      <p:sp>
        <p:nvSpPr>
          <p:cNvPr id="4" name="Rectangle 3">
            <a:hlinkClick r:id="rId4"/>
          </p:cNvPr>
          <p:cNvSpPr/>
          <p:nvPr userDrawn="1"/>
        </p:nvSpPr>
        <p:spPr>
          <a:xfrm>
            <a:off x="369651" y="5700409"/>
            <a:ext cx="1040860" cy="797668"/>
          </a:xfrm>
          <a:prstGeom prst="rect">
            <a:avLst/>
          </a:prstGeom>
          <a:solidFill>
            <a:srgbClr val="18A0DB">
              <a:alpha val="117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3704075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th Box">
    <p:spTree>
      <p:nvGrpSpPr>
        <p:cNvPr id="1" name=""/>
        <p:cNvGrpSpPr/>
        <p:nvPr/>
      </p:nvGrpSpPr>
      <p:grpSpPr>
        <a:xfrm>
          <a:off x="0" y="0"/>
          <a:ext cx="0" cy="0"/>
          <a:chOff x="0" y="0"/>
          <a:chExt cx="0" cy="0"/>
        </a:xfrm>
      </p:grpSpPr>
      <p:sp>
        <p:nvSpPr>
          <p:cNvPr id="4" name="Rounded Rectangle 3"/>
          <p:cNvSpPr/>
          <p:nvPr userDrawn="1"/>
        </p:nvSpPr>
        <p:spPr bwMode="auto">
          <a:xfrm>
            <a:off x="457198" y="438151"/>
            <a:ext cx="8220075" cy="5957887"/>
          </a:xfrm>
          <a:prstGeom prst="roundRect">
            <a:avLst>
              <a:gd name="adj" fmla="val 2649"/>
            </a:avLst>
          </a:prstGeom>
          <a:solidFill>
            <a:schemeClr val="bg1">
              <a:alpha val="90000"/>
            </a:schemeClr>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72497" y="5734211"/>
            <a:ext cx="576495" cy="580719"/>
          </a:xfrm>
          <a:prstGeom prst="rect">
            <a:avLst/>
          </a:prstGeom>
        </p:spPr>
      </p:pic>
    </p:spTree>
    <p:extLst>
      <p:ext uri="{BB962C8B-B14F-4D97-AF65-F5344CB8AC3E}">
        <p14:creationId xmlns:p14="http://schemas.microsoft.com/office/powerpoint/2010/main" val="3429871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alpha val="90000"/>
            </a:schemeClr>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8" name="Title 5"/>
          <p:cNvSpPr>
            <a:spLocks noGrp="1"/>
          </p:cNvSpPr>
          <p:nvPr>
            <p:ph type="title"/>
          </p:nvPr>
        </p:nvSpPr>
        <p:spPr>
          <a:xfrm>
            <a:off x="457198" y="478895"/>
            <a:ext cx="8220075" cy="994306"/>
          </a:xfrm>
          <a:prstGeom prst="roundRect">
            <a:avLst>
              <a:gd name="adj" fmla="val 9641"/>
            </a:avLst>
          </a:prstGeom>
        </p:spPr>
        <p:txBody>
          <a:bodyPr>
            <a:noAutofit/>
          </a:bodyPr>
          <a:lstStyle>
            <a:lvl1pPr>
              <a:defRPr>
                <a:latin typeface="Twinkl" pitchFamily="2" charset="0"/>
              </a:defRPr>
            </a:lvl1pPr>
          </a:lstStyle>
          <a:p>
            <a:r>
              <a:rPr lang="en-US" smtClean="0"/>
              <a:t>Click to edit Master title style</a:t>
            </a:r>
            <a:endParaRPr lang="en-GB" dirty="0"/>
          </a:p>
        </p:txBody>
      </p:sp>
    </p:spTree>
    <p:extLst>
      <p:ext uri="{BB962C8B-B14F-4D97-AF65-F5344CB8AC3E}">
        <p14:creationId xmlns:p14="http://schemas.microsoft.com/office/powerpoint/2010/main" val="261079486"/>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ims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75232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nd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522767" y="6196125"/>
            <a:ext cx="576495" cy="580719"/>
          </a:xfrm>
          <a:prstGeom prst="rect">
            <a:avLst/>
          </a:prstGeom>
        </p:spPr>
      </p:pic>
      <p:sp>
        <p:nvSpPr>
          <p:cNvPr id="4" name="Rectangle 3">
            <a:hlinkClick r:id="rId4"/>
          </p:cNvPr>
          <p:cNvSpPr/>
          <p:nvPr userDrawn="1"/>
        </p:nvSpPr>
        <p:spPr>
          <a:xfrm>
            <a:off x="4051745" y="3028948"/>
            <a:ext cx="1040860" cy="797668"/>
          </a:xfrm>
          <a:prstGeom prst="rect">
            <a:avLst/>
          </a:prstGeom>
          <a:solidFill>
            <a:srgbClr val="18A0DB">
              <a:alpha val="117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8197377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89201"/>
      </p:ext>
    </p:extLst>
  </p:cSld>
  <p:clrMap bg1="lt1" tx1="dk1" bg2="lt2" tx2="dk2" accent1="accent1" accent2="accent2" accent3="accent3" accent4="accent4" accent5="accent5" accent6="accent6" hlink="hlink" folHlink="folHlink"/>
  <p:sldLayoutIdLst>
    <p:sldLayoutId id="2147483661" r:id="rId1"/>
    <p:sldLayoutId id="2147483667" r:id="rId2"/>
    <p:sldLayoutId id="2147483662" r:id="rId3"/>
    <p:sldLayoutId id="2147483663" r:id="rId4"/>
    <p:sldLayoutId id="2147483666" r:id="rId5"/>
  </p:sldLayoutIdLst>
  <p:txStyles>
    <p:titleStyle>
      <a:lvl1pPr algn="l" defTabSz="914400" rtl="0" eaLnBrk="1" latinLnBrk="0" hangingPunct="1">
        <a:lnSpc>
          <a:spcPct val="90000"/>
        </a:lnSpc>
        <a:spcBef>
          <a:spcPct val="0"/>
        </a:spcBef>
        <a:buNone/>
        <a:defRPr sz="4000" b="1" kern="1200">
          <a:solidFill>
            <a:srgbClr val="1C1C1C"/>
          </a:solidFill>
          <a:latin typeface="Twinkl" pitchFamily="50"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rgbClr val="1C1C1C"/>
          </a:solidFill>
          <a:latin typeface="Twinkl" pitchFamily="50" charset="0"/>
          <a:ea typeface="Twinkl"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rgbClr val="1C1C1C"/>
          </a:solidFill>
          <a:latin typeface="Twinkl" pitchFamily="50" charset="0"/>
          <a:ea typeface="Twinkl"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jpg"/></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jpeg"/><Relationship Id="rId7" Type="http://schemas.openxmlformats.org/officeDocument/2006/relationships/image" Target="../media/image27.jpeg"/><Relationship Id="rId2"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5.jpeg"/><Relationship Id="rId4" Type="http://schemas.openxmlformats.org/officeDocument/2006/relationships/image" Target="../media/image24.jpeg"/></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s://www.twinkl.co.uk/resources/planit-maths-primary-teaching-resources-year-6/planit-maths-primary-teaching-resources-year-6-number---addition-subtraction-multiplication-and-division/planit-maths-primary-teaching-resources-year-6-number---addition-subtraction-multiplication-and-division-solve-addition-and-subtraction-multi-step-problems-in-contexts-deciding-which-operations-and-methods-to-use-and-why" TargetMode="External"/><Relationship Id="rId1" Type="http://schemas.openxmlformats.org/officeDocument/2006/relationships/slideLayout" Target="../slideLayouts/slideLayout4.xml"/><Relationship Id="rId5" Type="http://schemas.openxmlformats.org/officeDocument/2006/relationships/image" Target="../media/image31.jpeg"/><Relationship Id="rId4" Type="http://schemas.openxmlformats.org/officeDocument/2006/relationships/image" Target="../media/image30.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96228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txBox="1">
            <a:spLocks/>
          </p:cNvSpPr>
          <p:nvPr/>
        </p:nvSpPr>
        <p:spPr>
          <a:xfrm>
            <a:off x="461962" y="762000"/>
            <a:ext cx="8220075" cy="652318"/>
          </a:xfrm>
          <a:prstGeom prst="roundRect">
            <a:avLst>
              <a:gd name="adj" fmla="val 9641"/>
            </a:avLst>
          </a:prstGeom>
          <a:noFill/>
          <a:ln w="25400">
            <a:noFill/>
          </a:ln>
        </p:spPr>
        <p:txBody>
          <a:bodyPr vert="horz" lIns="252000" tIns="252000" rIns="252000" bIns="252000" rtlCol="0" anchor="ctr" anchorCtr="1">
            <a:noAutofit/>
          </a:bodyPr>
          <a:lstStyle>
            <a:lvl1pPr algn="l" defTabSz="914400" rtl="0" eaLnBrk="1" latinLnBrk="0" hangingPunct="1">
              <a:lnSpc>
                <a:spcPct val="90000"/>
              </a:lnSpc>
              <a:spcBef>
                <a:spcPct val="0"/>
              </a:spcBef>
              <a:buNone/>
              <a:defRPr sz="4000" b="1" kern="1200">
                <a:solidFill>
                  <a:srgbClr val="1C1C1C"/>
                </a:solidFill>
                <a:latin typeface="Twinkl SemiBold" pitchFamily="2" charset="0"/>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GB" altLang="en-US" sz="2800" b="1" i="0" u="none" strike="noStrike" kern="1200" cap="none" spc="0" normalizeH="0" baseline="0" noProof="0" dirty="0">
                <a:ln>
                  <a:noFill/>
                </a:ln>
                <a:solidFill>
                  <a:srgbClr val="014482"/>
                </a:solidFill>
                <a:effectLst/>
                <a:uLnTx/>
                <a:uFillTx/>
                <a:latin typeface="Tuffy-TTF" panose="020B0603060100000000" pitchFamily="34" charset="0"/>
                <a:ea typeface="Tuffy" panose="020B0603060100000000" pitchFamily="34" charset="0"/>
                <a:cs typeface="Arial" panose="020B0604020202020204" pitchFamily="34" charset="0"/>
              </a:rPr>
              <a:t>Diving into Mastery Guidance for Educators</a:t>
            </a:r>
          </a:p>
        </p:txBody>
      </p:sp>
      <p:sp>
        <p:nvSpPr>
          <p:cNvPr id="4" name="Rectangle 3">
            <a:extLst>
              <a:ext uri="{FF2B5EF4-FFF2-40B4-BE49-F238E27FC236}">
                <a16:creationId xmlns:a16="http://schemas.microsoft.com/office/drawing/2014/main" xmlns="" id="{FA04B34F-55C5-40A6-8A7E-881778633952}"/>
              </a:ext>
            </a:extLst>
          </p:cNvPr>
          <p:cNvSpPr/>
          <p:nvPr/>
        </p:nvSpPr>
        <p:spPr>
          <a:xfrm>
            <a:off x="761153" y="1994284"/>
            <a:ext cx="3196589" cy="3795053"/>
          </a:xfrm>
          <a:prstGeom prst="rect">
            <a:avLst/>
          </a:prstGeom>
          <a:solidFill>
            <a:srgbClr val="ACDD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ysClr val="windowText" lastClr="000000"/>
              </a:solidFill>
              <a:effectLst/>
              <a:uLnTx/>
              <a:uFillTx/>
              <a:latin typeface="Twinkl" pitchFamily="50" charset="0"/>
            </a:endParaRPr>
          </a:p>
        </p:txBody>
      </p:sp>
      <p:sp>
        <p:nvSpPr>
          <p:cNvPr id="5" name="Rectangle 4"/>
          <p:cNvSpPr/>
          <p:nvPr/>
        </p:nvSpPr>
        <p:spPr>
          <a:xfrm>
            <a:off x="769943" y="1341966"/>
            <a:ext cx="7623169" cy="584775"/>
          </a:xfrm>
          <a:prstGeom prst="rect">
            <a:avLst/>
          </a:prstGeom>
        </p:spPr>
        <p:txBody>
          <a:bodyPr wrap="square">
            <a:spAutoFit/>
          </a:bodyPr>
          <a:lstStyle/>
          <a:p>
            <a:pPr algn="just"/>
            <a:r>
              <a:rPr lang="en-GB" sz="1600" dirty="0">
                <a:latin typeface="Tuffy" panose="020B0603060100000000" pitchFamily="34" charset="0"/>
                <a:ea typeface="Tuffy" panose="020B0603060100000000" pitchFamily="34" charset="0"/>
              </a:rPr>
              <a:t>Each activity sheet is split into three sections, </a:t>
            </a:r>
            <a:r>
              <a:rPr lang="en-GB" sz="1600" dirty="0" smtClean="0">
                <a:latin typeface="Tuffy" panose="020B0603060100000000" pitchFamily="34" charset="0"/>
                <a:ea typeface="Tuffy" panose="020B0603060100000000" pitchFamily="34" charset="0"/>
              </a:rPr>
              <a:t>diving, </a:t>
            </a:r>
            <a:r>
              <a:rPr lang="en-GB" sz="1600" dirty="0">
                <a:latin typeface="Tuffy" panose="020B0603060100000000" pitchFamily="34" charset="0"/>
                <a:ea typeface="Tuffy" panose="020B0603060100000000" pitchFamily="34" charset="0"/>
              </a:rPr>
              <a:t>deeper and deepest, which are represented by the following icons:</a:t>
            </a:r>
          </a:p>
        </p:txBody>
      </p:sp>
      <p:sp>
        <p:nvSpPr>
          <p:cNvPr id="6" name="Rectangle 5">
            <a:extLst>
              <a:ext uri="{FF2B5EF4-FFF2-40B4-BE49-F238E27FC236}">
                <a16:creationId xmlns:a16="http://schemas.microsoft.com/office/drawing/2014/main" xmlns="" id="{D7C4EA92-F36C-4499-A738-0B1DDBF02EE5}"/>
              </a:ext>
            </a:extLst>
          </p:cNvPr>
          <p:cNvSpPr/>
          <p:nvPr/>
        </p:nvSpPr>
        <p:spPr>
          <a:xfrm>
            <a:off x="4184822" y="1936618"/>
            <a:ext cx="4208289" cy="3046988"/>
          </a:xfrm>
          <a:prstGeom prst="rect">
            <a:avLst/>
          </a:prstGeom>
        </p:spPr>
        <p:txBody>
          <a:bodyPr wrap="square" lIns="0" tIns="0" rIns="0" bIns="0">
            <a:spAutoFit/>
          </a:bodyPr>
          <a:lstStyle/>
          <a:p>
            <a:pPr algn="just"/>
            <a:r>
              <a:rPr lang="en-GB" sz="1600" dirty="0">
                <a:latin typeface="Tuffy" panose="020B0603060100000000" pitchFamily="34" charset="0"/>
                <a:ea typeface="Tuffy" panose="020B0603060100000000" pitchFamily="34" charset="0"/>
              </a:rPr>
              <a:t>These carefully designed activities take your children through a learning journey, initially ensuring they are fluent with the key concept being taught; then applying this to a range of reasoning and problem-solving activities. </a:t>
            </a:r>
            <a:endParaRPr lang="en-GB" sz="1600" dirty="0" smtClean="0">
              <a:latin typeface="Tuffy" panose="020B0603060100000000" pitchFamily="34" charset="0"/>
              <a:ea typeface="Tuffy" panose="020B0603060100000000" pitchFamily="34" charset="0"/>
            </a:endParaRPr>
          </a:p>
          <a:p>
            <a:pPr algn="just"/>
            <a:endParaRPr lang="en-GB" sz="1600" dirty="0">
              <a:latin typeface="Tuffy" panose="020B0603060100000000" pitchFamily="34" charset="0"/>
              <a:ea typeface="Tuffy" panose="020B0603060100000000" pitchFamily="34" charset="0"/>
            </a:endParaRPr>
          </a:p>
          <a:p>
            <a:pPr algn="just"/>
            <a:r>
              <a:rPr lang="en-GB" sz="1600" dirty="0">
                <a:latin typeface="Tuffy" panose="020B0603060100000000" pitchFamily="34" charset="0"/>
                <a:ea typeface="Tuffy" panose="020B0603060100000000" pitchFamily="34" charset="0"/>
              </a:rPr>
              <a:t>These sheets might not necessarily be used in a linear way. Some children might begin at the ‘Deeper’ section and in fact, others may ‘dive straight in’ to the ‘Deepest’ section if they have already mastered the skill and are applying this to show their depth of understanding. </a:t>
            </a:r>
          </a:p>
        </p:txBody>
      </p:sp>
      <p:grpSp>
        <p:nvGrpSpPr>
          <p:cNvPr id="7" name="Group 6"/>
          <p:cNvGrpSpPr/>
          <p:nvPr/>
        </p:nvGrpSpPr>
        <p:grpSpPr>
          <a:xfrm>
            <a:off x="1213030" y="2423057"/>
            <a:ext cx="2292835" cy="2937506"/>
            <a:chOff x="1213030" y="2423057"/>
            <a:chExt cx="2292835" cy="2937506"/>
          </a:xfrm>
        </p:grpSpPr>
        <p:pic>
          <p:nvPicPr>
            <p:cNvPr id="8" name="Picture 7">
              <a:extLst>
                <a:ext uri="{FF2B5EF4-FFF2-40B4-BE49-F238E27FC236}">
                  <a16:creationId xmlns:a16="http://schemas.microsoft.com/office/drawing/2014/main" xmlns="" id="{82F8BBE3-D3F3-4DE6-A818-2D773F20B11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13030" y="2423057"/>
              <a:ext cx="868680" cy="868680"/>
            </a:xfrm>
            <a:prstGeom prst="rect">
              <a:avLst/>
            </a:prstGeom>
          </p:spPr>
        </p:pic>
        <p:pic>
          <p:nvPicPr>
            <p:cNvPr id="9" name="Picture 8">
              <a:extLst>
                <a:ext uri="{FF2B5EF4-FFF2-40B4-BE49-F238E27FC236}">
                  <a16:creationId xmlns:a16="http://schemas.microsoft.com/office/drawing/2014/main" xmlns="" id="{164A8FE3-B06C-4E40-977F-4F3E0ACC2AD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13030" y="3457470"/>
              <a:ext cx="868680" cy="868680"/>
            </a:xfrm>
            <a:prstGeom prst="rect">
              <a:avLst/>
            </a:prstGeom>
          </p:spPr>
        </p:pic>
        <p:pic>
          <p:nvPicPr>
            <p:cNvPr id="10" name="Picture 9">
              <a:extLst>
                <a:ext uri="{FF2B5EF4-FFF2-40B4-BE49-F238E27FC236}">
                  <a16:creationId xmlns:a16="http://schemas.microsoft.com/office/drawing/2014/main" xmlns="" id="{788CE03C-10B4-46B1-849A-0D1B9CBCCE9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13030" y="4491883"/>
              <a:ext cx="868680" cy="868680"/>
            </a:xfrm>
            <a:prstGeom prst="rect">
              <a:avLst/>
            </a:prstGeom>
          </p:spPr>
        </p:pic>
        <p:sp>
          <p:nvSpPr>
            <p:cNvPr id="11" name="Arrow: Pentagon 11">
              <a:extLst>
                <a:ext uri="{FF2B5EF4-FFF2-40B4-BE49-F238E27FC236}">
                  <a16:creationId xmlns:a16="http://schemas.microsoft.com/office/drawing/2014/main" xmlns="" id="{602133B5-7961-4F75-A2BE-B73C6DB63E21}"/>
                </a:ext>
              </a:extLst>
            </p:cNvPr>
            <p:cNvSpPr/>
            <p:nvPr/>
          </p:nvSpPr>
          <p:spPr>
            <a:xfrm flipH="1">
              <a:off x="2180298" y="2674517"/>
              <a:ext cx="1325567" cy="365760"/>
            </a:xfrm>
            <a:prstGeom prst="homePlate">
              <a:avLst/>
            </a:prstGeom>
            <a:solidFill>
              <a:srgbClr val="4EB2E5"/>
            </a:solidFill>
            <a:ln>
              <a:no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lstStyle/>
            <a:p>
              <a:pPr algn="ctr"/>
              <a:r>
                <a:rPr lang="en-GB" b="1" kern="0" dirty="0" smtClean="0">
                  <a:solidFill>
                    <a:schemeClr val="bg1"/>
                  </a:solidFill>
                  <a:latin typeface="Tuffy-TTF" panose="020B0603060100000000" pitchFamily="34" charset="0"/>
                  <a:ea typeface="Tuffy" panose="020B0603060100000000" pitchFamily="34" charset="0"/>
                  <a:cs typeface="Arial" panose="020B0604020202020204" pitchFamily="34" charset="0"/>
                </a:rPr>
                <a:t>Diving</a:t>
              </a:r>
              <a:endParaRPr lang="en-US" b="1" dirty="0">
                <a:solidFill>
                  <a:schemeClr val="bg1"/>
                </a:solidFill>
              </a:endParaRPr>
            </a:p>
          </p:txBody>
        </p:sp>
        <p:sp>
          <p:nvSpPr>
            <p:cNvPr id="12" name="Arrow: Pentagon 12">
              <a:extLst>
                <a:ext uri="{FF2B5EF4-FFF2-40B4-BE49-F238E27FC236}">
                  <a16:creationId xmlns:a16="http://schemas.microsoft.com/office/drawing/2014/main" xmlns="" id="{D99180F2-5FC9-4895-9C62-0CB9474D9C82}"/>
                </a:ext>
              </a:extLst>
            </p:cNvPr>
            <p:cNvSpPr/>
            <p:nvPr/>
          </p:nvSpPr>
          <p:spPr>
            <a:xfrm flipH="1">
              <a:off x="2180298" y="3708930"/>
              <a:ext cx="1325567" cy="365760"/>
            </a:xfrm>
            <a:prstGeom prst="homePlate">
              <a:avLst/>
            </a:prstGeom>
            <a:solidFill>
              <a:srgbClr val="007AC3"/>
            </a:solidFill>
            <a:ln>
              <a:no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lstStyle/>
            <a:p>
              <a:pPr algn="ctr"/>
              <a:r>
                <a:rPr lang="en-GB" b="1" kern="0" dirty="0">
                  <a:solidFill>
                    <a:schemeClr val="bg1"/>
                  </a:solidFill>
                  <a:latin typeface="Tuffy-TTF" panose="020B0603060100000000" pitchFamily="34" charset="0"/>
                  <a:ea typeface="Tuffy" panose="020B0603060100000000" pitchFamily="34" charset="0"/>
                  <a:cs typeface="Arial" panose="020B0604020202020204" pitchFamily="34" charset="0"/>
                </a:rPr>
                <a:t>Deeper</a:t>
              </a:r>
              <a:endParaRPr lang="en-US" b="1" dirty="0">
                <a:solidFill>
                  <a:schemeClr val="bg1"/>
                </a:solidFill>
              </a:endParaRPr>
            </a:p>
          </p:txBody>
        </p:sp>
        <p:sp>
          <p:nvSpPr>
            <p:cNvPr id="13" name="Arrow: Pentagon 13">
              <a:extLst>
                <a:ext uri="{FF2B5EF4-FFF2-40B4-BE49-F238E27FC236}">
                  <a16:creationId xmlns:a16="http://schemas.microsoft.com/office/drawing/2014/main" xmlns="" id="{6997B7B1-BA29-4830-B759-33B615380048}"/>
                </a:ext>
              </a:extLst>
            </p:cNvPr>
            <p:cNvSpPr/>
            <p:nvPr/>
          </p:nvSpPr>
          <p:spPr>
            <a:xfrm flipH="1">
              <a:off x="2180298" y="4743343"/>
              <a:ext cx="1325567" cy="365760"/>
            </a:xfrm>
            <a:prstGeom prst="homePlate">
              <a:avLst/>
            </a:prstGeom>
            <a:solidFill>
              <a:srgbClr val="00529C"/>
            </a:solidFill>
            <a:ln>
              <a:no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lstStyle/>
            <a:p>
              <a:pPr algn="ctr"/>
              <a:r>
                <a:rPr lang="en-GB" b="1" kern="0" dirty="0">
                  <a:solidFill>
                    <a:schemeClr val="bg1"/>
                  </a:solidFill>
                  <a:latin typeface="Tuffy-TTF" panose="020B0603060100000000" pitchFamily="34" charset="0"/>
                  <a:ea typeface="Tuffy" panose="020B0603060100000000" pitchFamily="34" charset="0"/>
                  <a:cs typeface="Arial" panose="020B0604020202020204" pitchFamily="34" charset="0"/>
                </a:rPr>
                <a:t>Deepest</a:t>
              </a:r>
              <a:endParaRPr lang="en-US" b="1" dirty="0">
                <a:solidFill>
                  <a:schemeClr val="bg1"/>
                </a:solidFill>
              </a:endParaRPr>
            </a:p>
          </p:txBody>
        </p:sp>
      </p:grpSp>
    </p:spTree>
    <p:extLst>
      <p:ext uri="{BB962C8B-B14F-4D97-AF65-F5344CB8AC3E}">
        <p14:creationId xmlns:p14="http://schemas.microsoft.com/office/powerpoint/2010/main" val="132485078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ounded Rectangle 11"/>
          <p:cNvSpPr/>
          <p:nvPr/>
        </p:nvSpPr>
        <p:spPr bwMode="auto">
          <a:xfrm>
            <a:off x="503239" y="512763"/>
            <a:ext cx="8137524" cy="2193019"/>
          </a:xfrm>
          <a:prstGeom prst="roundRect">
            <a:avLst>
              <a:gd name="adj" fmla="val 6409"/>
            </a:avLst>
          </a:prstGeom>
          <a:solidFill>
            <a:srgbClr val="FFF9E7"/>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3" name="Title 1"/>
          <p:cNvSpPr txBox="1">
            <a:spLocks/>
          </p:cNvSpPr>
          <p:nvPr/>
        </p:nvSpPr>
        <p:spPr>
          <a:xfrm>
            <a:off x="628648" y="734785"/>
            <a:ext cx="7886700" cy="540000"/>
          </a:xfrm>
          <a:prstGeom prst="rect">
            <a:avLst/>
          </a:prstGeom>
        </p:spPr>
        <p:txBody>
          <a:bodyPr lIns="0" tIns="0" rIns="0" bIns="0" anchor="ctr" anchorCtr="1">
            <a:noAutofit/>
          </a:bodyPr>
          <a:lstStyle>
            <a:lvl1pPr algn="l" defTabSz="914400" rtl="0" eaLnBrk="1" latinLnBrk="0" hangingPunct="1">
              <a:lnSpc>
                <a:spcPct val="90000"/>
              </a:lnSpc>
              <a:spcBef>
                <a:spcPct val="0"/>
              </a:spcBef>
              <a:buNone/>
              <a:defRPr sz="4000" b="1" kern="1200">
                <a:solidFill>
                  <a:schemeClr val="tx1"/>
                </a:solidFill>
                <a:latin typeface="Sassoon Infant Md" panose="02000603050000020003" pitchFamily="50" charset="0"/>
                <a:ea typeface="+mj-ea"/>
                <a:cs typeface="+mj-cs"/>
              </a:defRPr>
            </a:lvl1pPr>
          </a:lstStyle>
          <a:p>
            <a:r>
              <a:rPr lang="en-US" sz="3600" dirty="0" smtClean="0">
                <a:latin typeface="+mn-lt"/>
              </a:rPr>
              <a:t>Aim</a:t>
            </a:r>
            <a:endParaRPr lang="en-US" sz="3600" dirty="0">
              <a:latin typeface="+mn-lt"/>
            </a:endParaRPr>
          </a:p>
        </p:txBody>
      </p:sp>
      <p:sp>
        <p:nvSpPr>
          <p:cNvPr id="14" name="Content Placeholder 15"/>
          <p:cNvSpPr txBox="1">
            <a:spLocks/>
          </p:cNvSpPr>
          <p:nvPr/>
        </p:nvSpPr>
        <p:spPr>
          <a:xfrm>
            <a:off x="628650" y="1127760"/>
            <a:ext cx="7886700" cy="1409700"/>
          </a:xfrm>
          <a:prstGeom prst="roundRect">
            <a:avLst>
              <a:gd name="adj" fmla="val 2585"/>
            </a:avLst>
          </a:prstGeom>
          <a:noFill/>
          <a:ln w="25400">
            <a:noFill/>
          </a:ln>
        </p:spPr>
        <p:txBody>
          <a:bodyPr vert="horz" lIns="252000" tIns="252000" rIns="252000" bIns="252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rgbClr val="1C1C1C"/>
                </a:solidFill>
                <a:latin typeface="Twinkl" pitchFamily="50" charset="0"/>
                <a:ea typeface="Twinkl"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rgbClr val="1C1C1C"/>
                </a:solidFill>
                <a:latin typeface="Twinkl" pitchFamily="50" charset="0"/>
                <a:ea typeface="Twinkl"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en-GB" dirty="0">
                <a:solidFill>
                  <a:srgbClr val="000000"/>
                </a:solidFill>
              </a:rPr>
              <a:t>Solve addition and subtraction multi-step problems in contexts, deciding which operations and methods to use and </a:t>
            </a:r>
            <a:r>
              <a:rPr lang="en-GB" dirty="0" smtClean="0">
                <a:solidFill>
                  <a:srgbClr val="000000"/>
                </a:solidFill>
              </a:rPr>
              <a:t>why.</a:t>
            </a:r>
            <a:endParaRPr lang="en-GB" dirty="0">
              <a:solidFill>
                <a:srgbClr val="000000"/>
              </a:solidFill>
            </a:endParaRPr>
          </a:p>
        </p:txBody>
      </p:sp>
    </p:spTree>
    <p:extLst>
      <p:ext uri="{BB962C8B-B14F-4D97-AF65-F5344CB8AC3E}">
        <p14:creationId xmlns:p14="http://schemas.microsoft.com/office/powerpoint/2010/main" val="364393518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66120" y="2274658"/>
            <a:ext cx="3805880" cy="2502503"/>
          </a:xfrm>
          <a:prstGeom prst="rect">
            <a:avLst/>
          </a:prstGeom>
          <a:solidFill>
            <a:schemeClr val="bg1"/>
          </a:solidFill>
          <a:ln w="28575">
            <a:solidFill>
              <a:srgbClr val="0092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p:cNvSpPr/>
          <p:nvPr/>
        </p:nvSpPr>
        <p:spPr>
          <a:xfrm>
            <a:off x="4572000" y="2274658"/>
            <a:ext cx="3797643" cy="2502502"/>
          </a:xfrm>
          <a:prstGeom prst="rect">
            <a:avLst/>
          </a:prstGeom>
          <a:solidFill>
            <a:schemeClr val="bg1"/>
          </a:solidFill>
          <a:ln w="28575">
            <a:solidFill>
              <a:srgbClr val="0092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   </a:t>
            </a:r>
            <a:endParaRPr lang="en-GB" dirty="0"/>
          </a:p>
        </p:txBody>
      </p:sp>
      <p:pic>
        <p:nvPicPr>
          <p:cNvPr id="5" name="Picture 4">
            <a:extLst>
              <a:ext uri="{FF2B5EF4-FFF2-40B4-BE49-F238E27FC236}">
                <a16:creationId xmlns:a16="http://schemas.microsoft.com/office/drawing/2014/main" xmlns="" id="{2830866F-58AA-4213-AFD1-4A7F919ABC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04094" y="532799"/>
            <a:ext cx="700156" cy="700156"/>
          </a:xfrm>
          <a:prstGeom prst="rect">
            <a:avLst/>
          </a:prstGeom>
        </p:spPr>
      </p:pic>
      <p:sp>
        <p:nvSpPr>
          <p:cNvPr id="96" name="Rectangle 95"/>
          <p:cNvSpPr/>
          <p:nvPr/>
        </p:nvSpPr>
        <p:spPr>
          <a:xfrm>
            <a:off x="445574" y="702863"/>
            <a:ext cx="2833085" cy="355276"/>
          </a:xfrm>
          <a:prstGeom prst="rect">
            <a:avLst/>
          </a:prstGeom>
          <a:solidFill>
            <a:srgbClr val="072F54"/>
          </a:solidFill>
        </p:spPr>
        <p:txBody>
          <a:bodyPr wrap="square" lIns="180000" tIns="36000" rIns="180000" bIns="72000" anchor="ctr">
            <a:spAutoFit/>
          </a:bodyPr>
          <a:lstStyle/>
          <a:p>
            <a:r>
              <a:rPr lang="en-GB" altLang="en-US" sz="1600" b="1" dirty="0" smtClean="0">
                <a:solidFill>
                  <a:schemeClr val="bg1"/>
                </a:solidFill>
              </a:rPr>
              <a:t>Add and Subtract Integers</a:t>
            </a:r>
            <a:endParaRPr lang="en-GB" sz="1600" b="1" dirty="0">
              <a:solidFill>
                <a:schemeClr val="bg1"/>
              </a:solidFill>
            </a:endParaRPr>
          </a:p>
        </p:txBody>
      </p:sp>
      <p:sp>
        <p:nvSpPr>
          <p:cNvPr id="2" name="TextBox 1"/>
          <p:cNvSpPr txBox="1"/>
          <p:nvPr/>
        </p:nvSpPr>
        <p:spPr>
          <a:xfrm>
            <a:off x="755650" y="1852253"/>
            <a:ext cx="7632700" cy="422405"/>
          </a:xfrm>
          <a:prstGeom prst="rect">
            <a:avLst/>
          </a:prstGeom>
          <a:solidFill>
            <a:srgbClr val="009284"/>
          </a:solidFill>
        </p:spPr>
        <p:txBody>
          <a:bodyPr wrap="square" lIns="72000" tIns="72000" rIns="72000" bIns="72000" rtlCol="0">
            <a:spAutoFit/>
          </a:bodyPr>
          <a:lstStyle/>
          <a:p>
            <a:pPr algn="ctr"/>
            <a:r>
              <a:rPr lang="en-GB" dirty="0">
                <a:solidFill>
                  <a:schemeClr val="bg1"/>
                </a:solidFill>
              </a:rPr>
              <a:t>Give the missing digits in these addition and subtraction calculations.</a:t>
            </a:r>
          </a:p>
        </p:txBody>
      </p:sp>
      <p:sp>
        <p:nvSpPr>
          <p:cNvPr id="97" name="Rectangle 96"/>
          <p:cNvSpPr/>
          <p:nvPr/>
        </p:nvSpPr>
        <p:spPr>
          <a:xfrm>
            <a:off x="3278659" y="702863"/>
            <a:ext cx="976684" cy="355276"/>
          </a:xfrm>
          <a:prstGeom prst="rect">
            <a:avLst/>
          </a:prstGeom>
          <a:solidFill>
            <a:srgbClr val="4EB2E5"/>
          </a:solidFill>
        </p:spPr>
        <p:txBody>
          <a:bodyPr wrap="square" lIns="180000" tIns="36000" rIns="180000" bIns="72000" anchor="ctr">
            <a:spAutoFit/>
          </a:bodyPr>
          <a:lstStyle/>
          <a:p>
            <a:pPr algn="ctr"/>
            <a:r>
              <a:rPr lang="en-GB" altLang="en-US" sz="1600" b="1" dirty="0" smtClean="0">
                <a:solidFill>
                  <a:schemeClr val="bg1"/>
                </a:solidFill>
              </a:rPr>
              <a:t>Diving</a:t>
            </a:r>
            <a:endParaRPr lang="en-GB" sz="1600" b="1" dirty="0">
              <a:solidFill>
                <a:schemeClr val="bg1"/>
              </a:solidFill>
            </a:endParaRPr>
          </a:p>
        </p:txBody>
      </p:sp>
      <p:cxnSp>
        <p:nvCxnSpPr>
          <p:cNvPr id="103" name="Straight Connector 102"/>
          <p:cNvCxnSpPr/>
          <p:nvPr/>
        </p:nvCxnSpPr>
        <p:spPr>
          <a:xfrm>
            <a:off x="3278659" y="698268"/>
            <a:ext cx="0" cy="3960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aphicFrame>
        <p:nvGraphicFramePr>
          <p:cNvPr id="12" name="Table 11">
            <a:extLst>
              <a:ext uri="{FF2B5EF4-FFF2-40B4-BE49-F238E27FC236}">
                <a16:creationId xmlns:a16="http://schemas.microsoft.com/office/drawing/2014/main" xmlns="" id="{A533AC8F-E509-429A-94BD-91F3DD37440E}"/>
              </a:ext>
            </a:extLst>
          </p:cNvPr>
          <p:cNvGraphicFramePr>
            <a:graphicFrameLocks noGrp="1"/>
          </p:cNvGraphicFramePr>
          <p:nvPr>
            <p:extLst>
              <p:ext uri="{D42A27DB-BD31-4B8C-83A1-F6EECF244321}">
                <p14:modId xmlns:p14="http://schemas.microsoft.com/office/powerpoint/2010/main" val="2893351355"/>
              </p:ext>
            </p:extLst>
          </p:nvPr>
        </p:nvGraphicFramePr>
        <p:xfrm>
          <a:off x="1079825" y="2829649"/>
          <a:ext cx="3168000" cy="1834807"/>
        </p:xfrm>
        <a:graphic>
          <a:graphicData uri="http://schemas.openxmlformats.org/drawingml/2006/table">
            <a:tbl>
              <a:tblPr firstRow="1" firstCol="1" bandRow="1"/>
              <a:tblGrid>
                <a:gridCol w="396000">
                  <a:extLst>
                    <a:ext uri="{9D8B030D-6E8A-4147-A177-3AD203B41FA5}">
                      <a16:colId xmlns:a16="http://schemas.microsoft.com/office/drawing/2014/main" xmlns="" val="1536321958"/>
                    </a:ext>
                  </a:extLst>
                </a:gridCol>
                <a:gridCol w="396000">
                  <a:extLst>
                    <a:ext uri="{9D8B030D-6E8A-4147-A177-3AD203B41FA5}">
                      <a16:colId xmlns:a16="http://schemas.microsoft.com/office/drawing/2014/main" xmlns="" val="1477369677"/>
                    </a:ext>
                  </a:extLst>
                </a:gridCol>
                <a:gridCol w="396000">
                  <a:extLst>
                    <a:ext uri="{9D8B030D-6E8A-4147-A177-3AD203B41FA5}">
                      <a16:colId xmlns:a16="http://schemas.microsoft.com/office/drawing/2014/main" xmlns="" val="3495381372"/>
                    </a:ext>
                  </a:extLst>
                </a:gridCol>
                <a:gridCol w="396000">
                  <a:extLst>
                    <a:ext uri="{9D8B030D-6E8A-4147-A177-3AD203B41FA5}">
                      <a16:colId xmlns:a16="http://schemas.microsoft.com/office/drawing/2014/main" xmlns="" val="2633357235"/>
                    </a:ext>
                  </a:extLst>
                </a:gridCol>
                <a:gridCol w="396000">
                  <a:extLst>
                    <a:ext uri="{9D8B030D-6E8A-4147-A177-3AD203B41FA5}">
                      <a16:colId xmlns:a16="http://schemas.microsoft.com/office/drawing/2014/main" xmlns="" val="3326555490"/>
                    </a:ext>
                  </a:extLst>
                </a:gridCol>
                <a:gridCol w="396000">
                  <a:extLst>
                    <a:ext uri="{9D8B030D-6E8A-4147-A177-3AD203B41FA5}">
                      <a16:colId xmlns:a16="http://schemas.microsoft.com/office/drawing/2014/main" xmlns="" val="1338941930"/>
                    </a:ext>
                  </a:extLst>
                </a:gridCol>
                <a:gridCol w="396000">
                  <a:extLst>
                    <a:ext uri="{9D8B030D-6E8A-4147-A177-3AD203B41FA5}">
                      <a16:colId xmlns:a16="http://schemas.microsoft.com/office/drawing/2014/main" xmlns="" val="3169146331"/>
                    </a:ext>
                  </a:extLst>
                </a:gridCol>
                <a:gridCol w="396000">
                  <a:extLst>
                    <a:ext uri="{9D8B030D-6E8A-4147-A177-3AD203B41FA5}">
                      <a16:colId xmlns:a16="http://schemas.microsoft.com/office/drawing/2014/main" xmlns="" val="1734172578"/>
                    </a:ext>
                  </a:extLst>
                </a:gridCol>
              </a:tblGrid>
              <a:tr h="396000">
                <a:tc>
                  <a:txBody>
                    <a:bodyPr/>
                    <a:lstStyle/>
                    <a:p>
                      <a:pPr algn="ctr">
                        <a:lnSpc>
                          <a:spcPct val="106000"/>
                        </a:lnSpc>
                        <a:spcAft>
                          <a:spcPts val="0"/>
                        </a:spcAft>
                      </a:pPr>
                      <a:r>
                        <a:rPr lang="en-GB" sz="2400" kern="1200" dirty="0">
                          <a:solidFill>
                            <a:srgbClr val="00B050"/>
                          </a:solidFill>
                          <a:effectLst/>
                          <a:latin typeface="+mn-lt"/>
                          <a:ea typeface="Calibri" panose="020F0502020204030204" pitchFamily="34" charset="0"/>
                          <a:cs typeface="Calibri" panose="020F0502020204030204" pitchFamily="34" charset="0"/>
                        </a:rPr>
                        <a:t> </a:t>
                      </a:r>
                      <a:endParaRPr lang="en-GB" sz="2400" dirty="0">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7000"/>
                        </a:lnSpc>
                      </a:pPr>
                      <a:endParaRPr lang="en-GB" sz="2800" dirty="0">
                        <a:effectLst/>
                        <a:latin typeface="+mn-lt"/>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kern="1200">
                          <a:solidFill>
                            <a:srgbClr val="000000"/>
                          </a:solidFill>
                          <a:effectLst/>
                          <a:latin typeface="+mn-lt"/>
                          <a:ea typeface="Calibri" panose="020F0502020204030204" pitchFamily="34" charset="0"/>
                          <a:cs typeface="Calibri" panose="020F0502020204030204" pitchFamily="34" charset="0"/>
                        </a:rPr>
                        <a:t>6</a:t>
                      </a:r>
                      <a:endParaRPr lang="en-GB" sz="2800">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kern="1200">
                          <a:solidFill>
                            <a:srgbClr val="000000"/>
                          </a:solidFill>
                          <a:effectLst/>
                          <a:latin typeface="+mn-lt"/>
                          <a:ea typeface="Calibri" panose="020F0502020204030204" pitchFamily="34" charset="0"/>
                          <a:cs typeface="Calibri" panose="020F0502020204030204" pitchFamily="34" charset="0"/>
                        </a:rPr>
                        <a:t>2</a:t>
                      </a:r>
                      <a:endParaRPr lang="en-GB" sz="2800">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kern="1200">
                          <a:solidFill>
                            <a:srgbClr val="000000"/>
                          </a:solidFill>
                          <a:effectLst/>
                          <a:latin typeface="+mn-lt"/>
                          <a:ea typeface="Calibri" panose="020F0502020204030204" pitchFamily="34" charset="0"/>
                          <a:cs typeface="Calibri" panose="020F0502020204030204" pitchFamily="34" charset="0"/>
                        </a:rPr>
                        <a:t>4</a:t>
                      </a:r>
                      <a:endParaRPr lang="en-GB" sz="2800">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kern="1200">
                          <a:solidFill>
                            <a:srgbClr val="000000"/>
                          </a:solidFill>
                          <a:effectLst/>
                          <a:latin typeface="+mn-lt"/>
                          <a:ea typeface="Calibri" panose="020F0502020204030204" pitchFamily="34" charset="0"/>
                          <a:cs typeface="Calibri" panose="020F0502020204030204" pitchFamily="34" charset="0"/>
                        </a:rPr>
                        <a:t>7</a:t>
                      </a:r>
                      <a:endParaRPr lang="en-GB" sz="2800">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endParaRPr lang="en-GB" sz="2800" b="1" dirty="0">
                        <a:solidFill>
                          <a:srgbClr val="87BD3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kern="1200" dirty="0">
                          <a:solidFill>
                            <a:srgbClr val="000000"/>
                          </a:solidFill>
                          <a:effectLst/>
                          <a:latin typeface="+mn-lt"/>
                          <a:ea typeface="Calibri" panose="020F0502020204030204" pitchFamily="34" charset="0"/>
                          <a:cs typeface="Calibri" panose="020F0502020204030204" pitchFamily="34" charset="0"/>
                        </a:rPr>
                        <a:t>4</a:t>
                      </a:r>
                      <a:endParaRPr lang="en-GB" sz="2800" dirty="0">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432000585"/>
                  </a:ext>
                </a:extLst>
              </a:tr>
              <a:tr h="396000">
                <a:tc>
                  <a:txBody>
                    <a:bodyPr/>
                    <a:lstStyle/>
                    <a:p>
                      <a:pPr algn="ctr">
                        <a:lnSpc>
                          <a:spcPct val="106000"/>
                        </a:lnSpc>
                        <a:spcAft>
                          <a:spcPts val="0"/>
                        </a:spcAft>
                      </a:pPr>
                      <a:r>
                        <a:rPr lang="en-GB" sz="2400" kern="1200" dirty="0" smtClean="0">
                          <a:solidFill>
                            <a:srgbClr val="000000"/>
                          </a:solidFill>
                          <a:effectLst/>
                          <a:latin typeface="+mn-lt"/>
                          <a:ea typeface="Calibri" panose="020F0502020204030204" pitchFamily="34" charset="0"/>
                          <a:cs typeface="Calibri" panose="020F0502020204030204" pitchFamily="34" charset="0"/>
                        </a:rPr>
                        <a:t>+</a:t>
                      </a:r>
                      <a:endParaRPr lang="en-GB" sz="2400" dirty="0">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7000"/>
                        </a:lnSpc>
                      </a:pPr>
                      <a:endParaRPr lang="en-GB" sz="2800" dirty="0">
                        <a:effectLst/>
                        <a:latin typeface="+mn-lt"/>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endParaRPr lang="en-GB" sz="2800" b="1" dirty="0">
                        <a:solidFill>
                          <a:srgbClr val="87BD3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kern="1200" dirty="0">
                          <a:solidFill>
                            <a:srgbClr val="000000"/>
                          </a:solidFill>
                          <a:effectLst/>
                          <a:latin typeface="+mn-lt"/>
                          <a:ea typeface="Calibri" panose="020F0502020204030204" pitchFamily="34" charset="0"/>
                          <a:cs typeface="Calibri" panose="020F0502020204030204" pitchFamily="34" charset="0"/>
                        </a:rPr>
                        <a:t>9</a:t>
                      </a:r>
                      <a:endParaRPr lang="en-GB" sz="2800" dirty="0">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endParaRPr lang="en-GB" sz="2800" b="1" dirty="0">
                        <a:solidFill>
                          <a:srgbClr val="87BD3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kern="1200" dirty="0">
                          <a:solidFill>
                            <a:srgbClr val="000000"/>
                          </a:solidFill>
                          <a:effectLst/>
                          <a:latin typeface="+mn-lt"/>
                          <a:ea typeface="Calibri" panose="020F0502020204030204" pitchFamily="34" charset="0"/>
                          <a:cs typeface="Calibri" panose="020F0502020204030204" pitchFamily="34" charset="0"/>
                        </a:rPr>
                        <a:t>5</a:t>
                      </a:r>
                      <a:endParaRPr lang="en-GB" sz="2800" dirty="0">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kern="1200" dirty="0">
                          <a:solidFill>
                            <a:srgbClr val="000000"/>
                          </a:solidFill>
                          <a:effectLst/>
                          <a:latin typeface="+mn-lt"/>
                          <a:ea typeface="Calibri" panose="020F0502020204030204" pitchFamily="34" charset="0"/>
                          <a:cs typeface="Calibri" panose="020F0502020204030204" pitchFamily="34" charset="0"/>
                        </a:rPr>
                        <a:t>4</a:t>
                      </a:r>
                      <a:endParaRPr lang="en-GB" sz="2800" dirty="0">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endParaRPr lang="en-GB" sz="2800" b="1" dirty="0">
                        <a:solidFill>
                          <a:srgbClr val="87BD3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908131349"/>
                  </a:ext>
                </a:extLst>
              </a:tr>
              <a:tr h="505371">
                <a:tc>
                  <a:txBody>
                    <a:bodyPr/>
                    <a:lstStyle/>
                    <a:p>
                      <a:pPr algn="ctr">
                        <a:lnSpc>
                          <a:spcPct val="106000"/>
                        </a:lnSpc>
                        <a:spcAft>
                          <a:spcPts val="0"/>
                        </a:spcAft>
                      </a:pPr>
                      <a:endParaRPr lang="en-GB" sz="2400" u="none" dirty="0">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6000"/>
                        </a:lnSpc>
                        <a:spcAft>
                          <a:spcPts val="0"/>
                        </a:spcAft>
                      </a:pPr>
                      <a:r>
                        <a:rPr lang="en-GB" sz="2800" u="none" kern="1200" dirty="0">
                          <a:solidFill>
                            <a:srgbClr val="000000"/>
                          </a:solidFill>
                          <a:effectLst/>
                          <a:latin typeface="+mn-lt"/>
                          <a:ea typeface="Calibri" panose="020F0502020204030204" pitchFamily="34" charset="0"/>
                          <a:cs typeface="Calibri" panose="020F0502020204030204" pitchFamily="34" charset="0"/>
                        </a:rPr>
                        <a:t>1</a:t>
                      </a:r>
                      <a:endParaRPr lang="en-GB" sz="2800" u="none" dirty="0">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6000"/>
                        </a:lnSpc>
                        <a:spcAft>
                          <a:spcPts val="0"/>
                        </a:spcAft>
                      </a:pPr>
                      <a:r>
                        <a:rPr lang="en-GB" sz="2800" u="none" kern="1200" dirty="0">
                          <a:solidFill>
                            <a:srgbClr val="000000"/>
                          </a:solidFill>
                          <a:effectLst/>
                          <a:latin typeface="+mn-lt"/>
                          <a:ea typeface="Calibri" panose="020F0502020204030204" pitchFamily="34" charset="0"/>
                          <a:cs typeface="Calibri" panose="020F0502020204030204" pitchFamily="34" charset="0"/>
                        </a:rPr>
                        <a:t>1</a:t>
                      </a:r>
                      <a:endParaRPr lang="en-GB" sz="2800" u="none" dirty="0">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6000"/>
                        </a:lnSpc>
                        <a:spcAft>
                          <a:spcPts val="0"/>
                        </a:spcAft>
                      </a:pPr>
                      <a:r>
                        <a:rPr lang="en-GB" sz="2800" u="none" kern="1200" dirty="0">
                          <a:solidFill>
                            <a:srgbClr val="000000"/>
                          </a:solidFill>
                          <a:effectLst/>
                          <a:latin typeface="+mn-lt"/>
                          <a:ea typeface="Calibri" panose="020F0502020204030204" pitchFamily="34" charset="0"/>
                          <a:cs typeface="Calibri" panose="020F0502020204030204" pitchFamily="34" charset="0"/>
                        </a:rPr>
                        <a:t>1</a:t>
                      </a:r>
                      <a:endParaRPr lang="en-GB" sz="2800" u="none" dirty="0">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6000"/>
                        </a:lnSpc>
                        <a:spcAft>
                          <a:spcPts val="0"/>
                        </a:spcAft>
                      </a:pPr>
                      <a:r>
                        <a:rPr lang="en-GB" sz="2800" u="none" kern="1200" dirty="0">
                          <a:solidFill>
                            <a:srgbClr val="000000"/>
                          </a:solidFill>
                          <a:effectLst/>
                          <a:latin typeface="+mn-lt"/>
                          <a:ea typeface="Calibri" panose="020F0502020204030204" pitchFamily="34" charset="0"/>
                          <a:cs typeface="Calibri" panose="020F0502020204030204" pitchFamily="34" charset="0"/>
                        </a:rPr>
                        <a:t>7</a:t>
                      </a:r>
                      <a:endParaRPr lang="en-GB" sz="2800" u="none" dirty="0">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6000"/>
                        </a:lnSpc>
                        <a:spcAft>
                          <a:spcPts val="0"/>
                        </a:spcAft>
                      </a:pPr>
                      <a:r>
                        <a:rPr lang="en-GB" sz="2800" u="none" kern="1200" dirty="0" smtClean="0">
                          <a:solidFill>
                            <a:srgbClr val="000000"/>
                          </a:solidFill>
                          <a:effectLst/>
                          <a:latin typeface="+mn-lt"/>
                          <a:ea typeface="Calibri" panose="020F0502020204030204" pitchFamily="34" charset="0"/>
                          <a:cs typeface="Calibri" panose="020F0502020204030204" pitchFamily="34" charset="0"/>
                        </a:rPr>
                        <a:t>3</a:t>
                      </a:r>
                      <a:endParaRPr lang="en-GB" sz="2800" u="none" dirty="0">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6000"/>
                        </a:lnSpc>
                        <a:spcAft>
                          <a:spcPts val="0"/>
                        </a:spcAft>
                      </a:pPr>
                      <a:r>
                        <a:rPr lang="en-GB" sz="2800" u="none" kern="1200" dirty="0">
                          <a:solidFill>
                            <a:srgbClr val="000000"/>
                          </a:solidFill>
                          <a:effectLst/>
                          <a:latin typeface="+mn-lt"/>
                          <a:ea typeface="Calibri" panose="020F0502020204030204" pitchFamily="34" charset="0"/>
                          <a:cs typeface="Calibri" panose="020F0502020204030204" pitchFamily="34" charset="0"/>
                        </a:rPr>
                        <a:t>0</a:t>
                      </a:r>
                      <a:endParaRPr lang="en-GB" sz="2800" u="none" dirty="0">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6000"/>
                        </a:lnSpc>
                        <a:spcAft>
                          <a:spcPts val="0"/>
                        </a:spcAft>
                      </a:pPr>
                      <a:r>
                        <a:rPr lang="en-GB" sz="2800" u="none" kern="1200" dirty="0">
                          <a:solidFill>
                            <a:srgbClr val="000000"/>
                          </a:solidFill>
                          <a:effectLst/>
                          <a:latin typeface="+mn-lt"/>
                          <a:ea typeface="Calibri" panose="020F0502020204030204" pitchFamily="34" charset="0"/>
                          <a:cs typeface="Calibri" panose="020F0502020204030204" pitchFamily="34" charset="0"/>
                        </a:rPr>
                        <a:t>7</a:t>
                      </a:r>
                      <a:endParaRPr lang="en-GB" sz="2800" u="none" dirty="0">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824819332"/>
                  </a:ext>
                </a:extLst>
              </a:tr>
              <a:tr h="360000">
                <a:tc>
                  <a:txBody>
                    <a:bodyPr/>
                    <a:lstStyle/>
                    <a:p>
                      <a:pPr algn="ctr">
                        <a:lnSpc>
                          <a:spcPct val="106000"/>
                        </a:lnSpc>
                        <a:spcAft>
                          <a:spcPts val="0"/>
                        </a:spcAft>
                      </a:pPr>
                      <a:r>
                        <a:rPr lang="en-GB" sz="2400" kern="1200" dirty="0">
                          <a:solidFill>
                            <a:srgbClr val="000000"/>
                          </a:solidFill>
                          <a:effectLst/>
                          <a:latin typeface="+mn-lt"/>
                          <a:ea typeface="Calibri" panose="020F0502020204030204" pitchFamily="34" charset="0"/>
                          <a:cs typeface="Calibri" panose="020F0502020204030204" pitchFamily="34" charset="0"/>
                        </a:rPr>
                        <a:t> </a:t>
                      </a:r>
                      <a:endParaRPr lang="en-GB" sz="2400" dirty="0">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400" kern="1200">
                          <a:solidFill>
                            <a:srgbClr val="000000"/>
                          </a:solidFill>
                          <a:effectLst/>
                          <a:latin typeface="+mn-lt"/>
                          <a:ea typeface="Calibri" panose="020F0502020204030204" pitchFamily="34" charset="0"/>
                          <a:cs typeface="Calibri" panose="020F0502020204030204" pitchFamily="34" charset="0"/>
                        </a:rPr>
                        <a:t> </a:t>
                      </a:r>
                      <a:endParaRPr lang="en-GB" sz="2400">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1400" b="1" kern="1200" dirty="0">
                          <a:solidFill>
                            <a:srgbClr val="87BD31"/>
                          </a:solidFill>
                          <a:effectLst/>
                          <a:latin typeface="+mn-lt"/>
                          <a:ea typeface="Calibri" panose="020F0502020204030204" pitchFamily="34" charset="0"/>
                          <a:cs typeface="Calibri" panose="020F0502020204030204" pitchFamily="34" charset="0"/>
                        </a:rPr>
                        <a:t> </a:t>
                      </a:r>
                      <a:endParaRPr lang="en-GB" sz="1400" b="1" dirty="0">
                        <a:solidFill>
                          <a:srgbClr val="87BD3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1400" b="1" kern="1200" dirty="0">
                          <a:solidFill>
                            <a:srgbClr val="87BD31"/>
                          </a:solidFill>
                          <a:effectLst/>
                          <a:latin typeface="+mn-lt"/>
                          <a:ea typeface="Calibri" panose="020F0502020204030204" pitchFamily="34" charset="0"/>
                          <a:cs typeface="Calibri" panose="020F0502020204030204" pitchFamily="34" charset="0"/>
                        </a:rPr>
                        <a:t> </a:t>
                      </a:r>
                      <a:endParaRPr lang="en-GB" sz="1400" b="1" dirty="0">
                        <a:solidFill>
                          <a:srgbClr val="87BD3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endParaRPr lang="en-GB" sz="1400" b="1" dirty="0">
                        <a:solidFill>
                          <a:srgbClr val="87BD3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endParaRPr lang="en-GB" sz="1400" b="1" dirty="0">
                        <a:solidFill>
                          <a:srgbClr val="87BD3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400" kern="1200" dirty="0">
                          <a:solidFill>
                            <a:srgbClr val="000000"/>
                          </a:solidFill>
                          <a:effectLst/>
                          <a:latin typeface="+mn-lt"/>
                          <a:ea typeface="Calibri" panose="020F0502020204030204" pitchFamily="34" charset="0"/>
                          <a:cs typeface="Calibri" panose="020F0502020204030204" pitchFamily="34" charset="0"/>
                        </a:rPr>
                        <a:t> </a:t>
                      </a:r>
                      <a:endParaRPr lang="en-GB" sz="2400" dirty="0">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400" kern="1200" dirty="0">
                          <a:solidFill>
                            <a:srgbClr val="000000"/>
                          </a:solidFill>
                          <a:effectLst/>
                          <a:latin typeface="+mn-lt"/>
                          <a:ea typeface="Calibri" panose="020F0502020204030204" pitchFamily="34" charset="0"/>
                          <a:cs typeface="Calibri" panose="020F0502020204030204" pitchFamily="34" charset="0"/>
                        </a:rPr>
                        <a:t> </a:t>
                      </a:r>
                      <a:endParaRPr lang="en-GB" sz="2400" dirty="0">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3343874059"/>
                  </a:ext>
                </a:extLst>
              </a:tr>
            </a:tbl>
          </a:graphicData>
        </a:graphic>
      </p:graphicFrame>
      <p:graphicFrame>
        <p:nvGraphicFramePr>
          <p:cNvPr id="13" name="Table 12">
            <a:extLst>
              <a:ext uri="{FF2B5EF4-FFF2-40B4-BE49-F238E27FC236}">
                <a16:creationId xmlns:a16="http://schemas.microsoft.com/office/drawing/2014/main" xmlns="" id="{A533AC8F-E509-429A-94BD-91F3DD37440E}"/>
              </a:ext>
            </a:extLst>
          </p:cNvPr>
          <p:cNvGraphicFramePr>
            <a:graphicFrameLocks noGrp="1"/>
          </p:cNvGraphicFramePr>
          <p:nvPr>
            <p:extLst>
              <p:ext uri="{D42A27DB-BD31-4B8C-83A1-F6EECF244321}">
                <p14:modId xmlns:p14="http://schemas.microsoft.com/office/powerpoint/2010/main" val="1251640459"/>
              </p:ext>
            </p:extLst>
          </p:nvPr>
        </p:nvGraphicFramePr>
        <p:xfrm>
          <a:off x="4897606" y="2456385"/>
          <a:ext cx="3168000" cy="1835770"/>
        </p:xfrm>
        <a:graphic>
          <a:graphicData uri="http://schemas.openxmlformats.org/drawingml/2006/table">
            <a:tbl>
              <a:tblPr firstRow="1" firstCol="1" bandRow="1"/>
              <a:tblGrid>
                <a:gridCol w="396000">
                  <a:extLst>
                    <a:ext uri="{9D8B030D-6E8A-4147-A177-3AD203B41FA5}">
                      <a16:colId xmlns:a16="http://schemas.microsoft.com/office/drawing/2014/main" xmlns="" val="1536321958"/>
                    </a:ext>
                  </a:extLst>
                </a:gridCol>
                <a:gridCol w="396000">
                  <a:extLst>
                    <a:ext uri="{9D8B030D-6E8A-4147-A177-3AD203B41FA5}">
                      <a16:colId xmlns:a16="http://schemas.microsoft.com/office/drawing/2014/main" xmlns="" val="1477369677"/>
                    </a:ext>
                  </a:extLst>
                </a:gridCol>
                <a:gridCol w="396000">
                  <a:extLst>
                    <a:ext uri="{9D8B030D-6E8A-4147-A177-3AD203B41FA5}">
                      <a16:colId xmlns:a16="http://schemas.microsoft.com/office/drawing/2014/main" xmlns="" val="3495381372"/>
                    </a:ext>
                  </a:extLst>
                </a:gridCol>
                <a:gridCol w="396000">
                  <a:extLst>
                    <a:ext uri="{9D8B030D-6E8A-4147-A177-3AD203B41FA5}">
                      <a16:colId xmlns:a16="http://schemas.microsoft.com/office/drawing/2014/main" xmlns="" val="2633357235"/>
                    </a:ext>
                  </a:extLst>
                </a:gridCol>
                <a:gridCol w="396000">
                  <a:extLst>
                    <a:ext uri="{9D8B030D-6E8A-4147-A177-3AD203B41FA5}">
                      <a16:colId xmlns:a16="http://schemas.microsoft.com/office/drawing/2014/main" xmlns="" val="3326555490"/>
                    </a:ext>
                  </a:extLst>
                </a:gridCol>
                <a:gridCol w="396000">
                  <a:extLst>
                    <a:ext uri="{9D8B030D-6E8A-4147-A177-3AD203B41FA5}">
                      <a16:colId xmlns:a16="http://schemas.microsoft.com/office/drawing/2014/main" xmlns="" val="1338941930"/>
                    </a:ext>
                  </a:extLst>
                </a:gridCol>
                <a:gridCol w="396000">
                  <a:extLst>
                    <a:ext uri="{9D8B030D-6E8A-4147-A177-3AD203B41FA5}">
                      <a16:colId xmlns:a16="http://schemas.microsoft.com/office/drawing/2014/main" xmlns="" val="3169146331"/>
                    </a:ext>
                  </a:extLst>
                </a:gridCol>
                <a:gridCol w="396000">
                  <a:extLst>
                    <a:ext uri="{9D8B030D-6E8A-4147-A177-3AD203B41FA5}">
                      <a16:colId xmlns:a16="http://schemas.microsoft.com/office/drawing/2014/main" xmlns="" val="1734172578"/>
                    </a:ext>
                  </a:extLst>
                </a:gridCol>
              </a:tblGrid>
              <a:tr h="360000">
                <a:tc>
                  <a:txBody>
                    <a:bodyPr/>
                    <a:lstStyle/>
                    <a:p>
                      <a:pPr algn="ctr">
                        <a:lnSpc>
                          <a:spcPct val="106000"/>
                        </a:lnSpc>
                        <a:spcAft>
                          <a:spcPts val="0"/>
                        </a:spcAft>
                      </a:pPr>
                      <a:r>
                        <a:rPr lang="en-GB" sz="2400" kern="1200" dirty="0">
                          <a:solidFill>
                            <a:schemeClr val="tx1"/>
                          </a:solidFill>
                          <a:effectLst/>
                          <a:latin typeface="+mn-lt"/>
                          <a:ea typeface="Calibri" panose="020F0502020204030204" pitchFamily="34" charset="0"/>
                          <a:cs typeface="Calibri" panose="020F0502020204030204" pitchFamily="34" charset="0"/>
                        </a:rPr>
                        <a:t> </a:t>
                      </a:r>
                      <a:endParaRPr lang="en-GB" sz="240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endParaRPr lang="en-GB" sz="1400" b="1" dirty="0">
                        <a:solidFill>
                          <a:srgbClr val="87BD31"/>
                        </a:solidFill>
                        <a:effectLst/>
                        <a:latin typeface="+mn-lt"/>
                        <a:ea typeface="Calibri" panose="020F0502020204030204" pitchFamily="34" charset="0"/>
                        <a:cs typeface="Times New Roman" panose="02020603050405020304" pitchFamily="18" charset="0"/>
                      </a:endParaRPr>
                    </a:p>
                  </a:txBody>
                  <a:tcPr marL="68580" marR="68580"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1400" b="1" kern="1200" dirty="0">
                          <a:solidFill>
                            <a:srgbClr val="87BD31"/>
                          </a:solidFill>
                          <a:effectLst/>
                          <a:latin typeface="+mn-lt"/>
                          <a:ea typeface="Calibri" panose="020F0502020204030204" pitchFamily="34" charset="0"/>
                          <a:cs typeface="Calibri" panose="020F0502020204030204" pitchFamily="34" charset="0"/>
                        </a:rPr>
                        <a:t> </a:t>
                      </a:r>
                      <a:endParaRPr lang="en-GB" sz="1400" b="1" dirty="0">
                        <a:solidFill>
                          <a:srgbClr val="87BD31"/>
                        </a:solidFill>
                        <a:effectLst/>
                        <a:latin typeface="+mn-lt"/>
                        <a:ea typeface="Calibri" panose="020F0502020204030204" pitchFamily="34" charset="0"/>
                        <a:cs typeface="Times New Roman" panose="02020603050405020304" pitchFamily="18" charset="0"/>
                      </a:endParaRPr>
                    </a:p>
                  </a:txBody>
                  <a:tcPr marL="68580" marR="68580"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1400" b="1" kern="1200" dirty="0">
                          <a:solidFill>
                            <a:srgbClr val="87BD31"/>
                          </a:solidFill>
                          <a:effectLst/>
                          <a:latin typeface="+mn-lt"/>
                          <a:ea typeface="Calibri" panose="020F0502020204030204" pitchFamily="34" charset="0"/>
                          <a:cs typeface="Calibri" panose="020F0502020204030204" pitchFamily="34" charset="0"/>
                        </a:rPr>
                        <a:t> </a:t>
                      </a:r>
                      <a:endParaRPr lang="en-GB" sz="1400" b="1" dirty="0">
                        <a:solidFill>
                          <a:srgbClr val="87BD31"/>
                        </a:solidFill>
                        <a:effectLst/>
                        <a:latin typeface="+mn-lt"/>
                        <a:ea typeface="Calibri" panose="020F0502020204030204" pitchFamily="34" charset="0"/>
                        <a:cs typeface="Times New Roman" panose="02020603050405020304" pitchFamily="18" charset="0"/>
                      </a:endParaRPr>
                    </a:p>
                  </a:txBody>
                  <a:tcPr marL="68580" marR="68580"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endParaRPr lang="en-GB" sz="1400" b="1" dirty="0">
                        <a:solidFill>
                          <a:srgbClr val="87BD31"/>
                        </a:solidFill>
                        <a:effectLst/>
                        <a:latin typeface="+mn-lt"/>
                        <a:ea typeface="Calibri" panose="020F0502020204030204" pitchFamily="34" charset="0"/>
                        <a:cs typeface="Times New Roman" panose="02020603050405020304" pitchFamily="18" charset="0"/>
                      </a:endParaRPr>
                    </a:p>
                  </a:txBody>
                  <a:tcPr marL="68580" marR="68580"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endParaRPr lang="en-GB" sz="1400" b="1" dirty="0">
                        <a:solidFill>
                          <a:srgbClr val="87BD31"/>
                        </a:solidFill>
                        <a:effectLst/>
                        <a:latin typeface="+mn-lt"/>
                        <a:ea typeface="Calibri" panose="020F0502020204030204" pitchFamily="34" charset="0"/>
                        <a:cs typeface="Times New Roman" panose="02020603050405020304" pitchFamily="18" charset="0"/>
                      </a:endParaRPr>
                    </a:p>
                  </a:txBody>
                  <a:tcPr marL="68580" marR="68580"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1400" b="1" kern="1200" dirty="0">
                          <a:solidFill>
                            <a:srgbClr val="87BD31"/>
                          </a:solidFill>
                          <a:effectLst/>
                          <a:latin typeface="+mn-lt"/>
                          <a:ea typeface="Calibri" panose="020F0502020204030204" pitchFamily="34" charset="0"/>
                          <a:cs typeface="Calibri" panose="020F0502020204030204" pitchFamily="34" charset="0"/>
                        </a:rPr>
                        <a:t> </a:t>
                      </a:r>
                      <a:endParaRPr lang="en-GB" sz="1400" b="1" dirty="0">
                        <a:solidFill>
                          <a:srgbClr val="87BD31"/>
                        </a:solidFill>
                        <a:effectLst/>
                        <a:latin typeface="+mn-lt"/>
                        <a:ea typeface="Calibri" panose="020F0502020204030204" pitchFamily="34" charset="0"/>
                        <a:cs typeface="Times New Roman" panose="02020603050405020304" pitchFamily="18" charset="0"/>
                      </a:endParaRPr>
                    </a:p>
                  </a:txBody>
                  <a:tcPr marL="68580" marR="68580"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1400" b="0" kern="1200" dirty="0">
                          <a:solidFill>
                            <a:srgbClr val="87BD31"/>
                          </a:solidFill>
                          <a:effectLst/>
                          <a:latin typeface="+mn-lt"/>
                          <a:ea typeface="Calibri" panose="020F0502020204030204" pitchFamily="34" charset="0"/>
                          <a:cs typeface="Calibri" panose="020F0502020204030204" pitchFamily="34" charset="0"/>
                        </a:rPr>
                        <a:t> </a:t>
                      </a:r>
                      <a:endParaRPr lang="en-GB" sz="1400" b="0" dirty="0">
                        <a:solidFill>
                          <a:srgbClr val="87BD31"/>
                        </a:solidFill>
                        <a:effectLst/>
                        <a:latin typeface="+mn-lt"/>
                        <a:ea typeface="Calibri" panose="020F0502020204030204" pitchFamily="34" charset="0"/>
                        <a:cs typeface="Times New Roman" panose="02020603050405020304" pitchFamily="18" charset="0"/>
                      </a:endParaRPr>
                    </a:p>
                  </a:txBody>
                  <a:tcPr marL="68580" marR="68580"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396000">
                <a:tc>
                  <a:txBody>
                    <a:bodyPr/>
                    <a:lstStyle/>
                    <a:p>
                      <a:pPr algn="ctr">
                        <a:lnSpc>
                          <a:spcPct val="106000"/>
                        </a:lnSpc>
                        <a:spcAft>
                          <a:spcPts val="0"/>
                        </a:spcAft>
                      </a:pPr>
                      <a:r>
                        <a:rPr lang="en-GB" sz="2400" kern="1200" dirty="0">
                          <a:solidFill>
                            <a:srgbClr val="00B050"/>
                          </a:solidFill>
                          <a:effectLst/>
                          <a:latin typeface="+mn-lt"/>
                          <a:ea typeface="Calibri" panose="020F0502020204030204" pitchFamily="34" charset="0"/>
                          <a:cs typeface="Calibri" panose="020F0502020204030204" pitchFamily="34" charset="0"/>
                        </a:rPr>
                        <a:t> </a:t>
                      </a:r>
                      <a:endParaRPr lang="en-GB" sz="2400" dirty="0">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b="0" kern="1200" dirty="0" smtClean="0">
                          <a:solidFill>
                            <a:schemeClr val="tx1"/>
                          </a:solidFill>
                          <a:effectLst/>
                          <a:latin typeface="+mn-lt"/>
                          <a:ea typeface="Calibri" panose="020F0502020204030204" pitchFamily="34" charset="0"/>
                          <a:cs typeface="Calibri" panose="020F0502020204030204" pitchFamily="34" charset="0"/>
                        </a:rPr>
                        <a:t>8</a:t>
                      </a:r>
                      <a:endParaRPr lang="en-GB" sz="28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b="0" kern="1200" dirty="0">
                          <a:solidFill>
                            <a:schemeClr val="tx1"/>
                          </a:solidFill>
                          <a:effectLst/>
                          <a:latin typeface="+mn-lt"/>
                          <a:ea typeface="Calibri" panose="020F0502020204030204" pitchFamily="34" charset="0"/>
                          <a:cs typeface="Calibri" panose="020F0502020204030204" pitchFamily="34" charset="0"/>
                        </a:rPr>
                        <a:t>4</a:t>
                      </a:r>
                      <a:endParaRPr lang="en-GB" sz="28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b="0" kern="1200" dirty="0">
                          <a:solidFill>
                            <a:schemeClr val="tx1"/>
                          </a:solidFill>
                          <a:effectLst/>
                          <a:latin typeface="+mn-lt"/>
                          <a:ea typeface="Calibri" panose="020F0502020204030204" pitchFamily="34" charset="0"/>
                          <a:cs typeface="Calibri" panose="020F0502020204030204" pitchFamily="34" charset="0"/>
                        </a:rPr>
                        <a:t>3</a:t>
                      </a:r>
                      <a:endParaRPr lang="en-GB" sz="28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b="0" kern="1200" dirty="0" smtClean="0">
                          <a:solidFill>
                            <a:schemeClr val="tx1"/>
                          </a:solidFill>
                          <a:effectLst/>
                          <a:latin typeface="+mn-lt"/>
                          <a:ea typeface="Calibri" panose="020F0502020204030204" pitchFamily="34" charset="0"/>
                          <a:cs typeface="Calibri" panose="020F0502020204030204" pitchFamily="34" charset="0"/>
                        </a:rPr>
                        <a:t>8</a:t>
                      </a:r>
                      <a:endParaRPr lang="en-GB" sz="28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b="0" kern="1200" dirty="0" smtClean="0">
                          <a:solidFill>
                            <a:schemeClr val="tx1"/>
                          </a:solidFill>
                          <a:effectLst/>
                          <a:latin typeface="+mn-lt"/>
                          <a:ea typeface="Calibri" panose="020F0502020204030204" pitchFamily="34" charset="0"/>
                          <a:cs typeface="Calibri" panose="020F0502020204030204" pitchFamily="34" charset="0"/>
                        </a:rPr>
                        <a:t>7</a:t>
                      </a:r>
                      <a:endParaRPr lang="en-GB" sz="28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kern="1200" dirty="0">
                          <a:solidFill>
                            <a:schemeClr val="tx1"/>
                          </a:solidFill>
                          <a:effectLst/>
                          <a:latin typeface="+mn-lt"/>
                          <a:ea typeface="Calibri" panose="020F0502020204030204" pitchFamily="34" charset="0"/>
                          <a:cs typeface="Calibri" panose="020F0502020204030204" pitchFamily="34" charset="0"/>
                        </a:rPr>
                        <a:t>4</a:t>
                      </a:r>
                      <a:endParaRPr lang="en-GB" sz="280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endParaRPr lang="en-GB" sz="2800" b="1" dirty="0">
                        <a:solidFill>
                          <a:srgbClr val="87BD3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432000585"/>
                  </a:ext>
                </a:extLst>
              </a:tr>
              <a:tr h="396000">
                <a:tc>
                  <a:txBody>
                    <a:bodyPr/>
                    <a:lstStyle/>
                    <a:p>
                      <a:pPr algn="ctr">
                        <a:lnSpc>
                          <a:spcPct val="106000"/>
                        </a:lnSpc>
                        <a:spcAft>
                          <a:spcPts val="0"/>
                        </a:spcAft>
                      </a:pPr>
                      <a:r>
                        <a:rPr lang="en-GB" sz="2400" kern="1200" dirty="0" smtClean="0">
                          <a:solidFill>
                            <a:srgbClr val="000000"/>
                          </a:solidFill>
                          <a:effectLst/>
                          <a:latin typeface="+mn-lt"/>
                          <a:ea typeface="Calibri" panose="020F0502020204030204" pitchFamily="34" charset="0"/>
                          <a:cs typeface="Calibri" panose="020F0502020204030204" pitchFamily="34" charset="0"/>
                        </a:rPr>
                        <a:t>−</a:t>
                      </a:r>
                      <a:endParaRPr lang="en-GB" sz="2400" dirty="0">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7000"/>
                        </a:lnSpc>
                      </a:pPr>
                      <a:r>
                        <a:rPr lang="en-GB" sz="2800" dirty="0" smtClean="0">
                          <a:solidFill>
                            <a:schemeClr val="tx1"/>
                          </a:solidFill>
                          <a:effectLst/>
                          <a:latin typeface="+mn-lt"/>
                          <a:cs typeface="Times New Roman" panose="02020603050405020304" pitchFamily="18" charset="0"/>
                        </a:rPr>
                        <a:t>3</a:t>
                      </a:r>
                      <a:endParaRPr lang="en-GB" sz="2800" dirty="0">
                        <a:solidFill>
                          <a:schemeClr val="tx1"/>
                        </a:solidFill>
                        <a:effectLst/>
                        <a:latin typeface="+mn-lt"/>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endParaRPr lang="en-GB" sz="2800" b="1" dirty="0">
                        <a:solidFill>
                          <a:srgbClr val="87BD3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b="0" kern="1200" dirty="0">
                          <a:solidFill>
                            <a:schemeClr val="tx1"/>
                          </a:solidFill>
                          <a:effectLst/>
                          <a:latin typeface="+mn-lt"/>
                          <a:ea typeface="Calibri" panose="020F0502020204030204" pitchFamily="34" charset="0"/>
                          <a:cs typeface="Calibri" panose="020F0502020204030204" pitchFamily="34" charset="0"/>
                        </a:rPr>
                        <a:t>1</a:t>
                      </a:r>
                      <a:endParaRPr lang="en-GB" sz="28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b="0" kern="1200" dirty="0">
                          <a:solidFill>
                            <a:schemeClr val="tx1"/>
                          </a:solidFill>
                          <a:effectLst/>
                          <a:latin typeface="+mn-lt"/>
                          <a:ea typeface="Calibri" panose="020F0502020204030204" pitchFamily="34" charset="0"/>
                          <a:cs typeface="Calibri" panose="020F0502020204030204" pitchFamily="34" charset="0"/>
                        </a:rPr>
                        <a:t>9</a:t>
                      </a:r>
                      <a:endParaRPr lang="en-GB" sz="28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b="0" kern="1200" dirty="0">
                          <a:solidFill>
                            <a:schemeClr val="tx1"/>
                          </a:solidFill>
                          <a:effectLst/>
                          <a:latin typeface="+mn-lt"/>
                          <a:ea typeface="Calibri" panose="020F0502020204030204" pitchFamily="34" charset="0"/>
                          <a:cs typeface="Calibri" panose="020F0502020204030204" pitchFamily="34" charset="0"/>
                        </a:rPr>
                        <a:t>4</a:t>
                      </a:r>
                      <a:endParaRPr lang="en-GB" sz="28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b="0" kern="1200" dirty="0">
                          <a:solidFill>
                            <a:schemeClr val="tx1"/>
                          </a:solidFill>
                          <a:effectLst/>
                          <a:latin typeface="+mn-lt"/>
                          <a:ea typeface="Calibri" panose="020F0502020204030204" pitchFamily="34" charset="0"/>
                          <a:cs typeface="Calibri" panose="020F0502020204030204" pitchFamily="34" charset="0"/>
                        </a:rPr>
                        <a:t>5</a:t>
                      </a:r>
                      <a:endParaRPr lang="en-GB" sz="28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b="0" kern="1200" dirty="0">
                          <a:solidFill>
                            <a:schemeClr val="tx1"/>
                          </a:solidFill>
                          <a:effectLst/>
                          <a:latin typeface="+mn-lt"/>
                          <a:ea typeface="Calibri" panose="020F0502020204030204" pitchFamily="34" charset="0"/>
                          <a:cs typeface="Calibri" panose="020F0502020204030204" pitchFamily="34" charset="0"/>
                        </a:rPr>
                        <a:t>8</a:t>
                      </a:r>
                      <a:endParaRPr lang="en-GB" sz="28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908131349"/>
                  </a:ext>
                </a:extLst>
              </a:tr>
              <a:tr h="510588">
                <a:tc>
                  <a:txBody>
                    <a:bodyPr/>
                    <a:lstStyle/>
                    <a:p>
                      <a:pPr algn="ctr">
                        <a:lnSpc>
                          <a:spcPct val="106000"/>
                        </a:lnSpc>
                        <a:spcAft>
                          <a:spcPts val="0"/>
                        </a:spcAft>
                      </a:pPr>
                      <a:endParaRPr lang="en-GB" sz="2400" u="none" dirty="0">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2800" b="1" dirty="0">
                        <a:solidFill>
                          <a:srgbClr val="87BD31"/>
                        </a:solidFill>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800" dirty="0" smtClean="0"/>
                        <a:t>7</a:t>
                      </a:r>
                      <a:endParaRPr lang="en-GB" sz="2800" dirty="0"/>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800" dirty="0" smtClean="0"/>
                        <a:t>1</a:t>
                      </a:r>
                      <a:endParaRPr lang="en-GB" sz="2800" dirty="0"/>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2800" b="1" dirty="0">
                        <a:solidFill>
                          <a:srgbClr val="87BD31"/>
                        </a:solidFill>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800" dirty="0" smtClean="0"/>
                        <a:t>2</a:t>
                      </a:r>
                      <a:endParaRPr lang="en-GB" sz="2800" dirty="0"/>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2800" b="1" dirty="0">
                        <a:solidFill>
                          <a:srgbClr val="87BD31"/>
                        </a:solidFill>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800" dirty="0" smtClean="0"/>
                        <a:t>1</a:t>
                      </a:r>
                      <a:endParaRPr lang="en-GB" sz="2800" dirty="0"/>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824819332"/>
                  </a:ext>
                </a:extLst>
              </a:tr>
            </a:tbl>
          </a:graphicData>
        </a:graphic>
      </p:graphicFrame>
      <p:sp>
        <p:nvSpPr>
          <p:cNvPr id="14" name="Rectangle 13"/>
          <p:cNvSpPr/>
          <p:nvPr/>
        </p:nvSpPr>
        <p:spPr>
          <a:xfrm>
            <a:off x="3867370" y="3251378"/>
            <a:ext cx="372217" cy="549061"/>
          </a:xfrm>
          <a:prstGeom prst="rect">
            <a:avLst/>
          </a:prstGeom>
        </p:spPr>
        <p:txBody>
          <a:bodyPr wrap="none">
            <a:spAutoFit/>
          </a:bodyPr>
          <a:lstStyle/>
          <a:p>
            <a:pPr lvl="0" algn="ctr">
              <a:lnSpc>
                <a:spcPct val="106000"/>
              </a:lnSpc>
            </a:pPr>
            <a:r>
              <a:rPr lang="en-GB" sz="2800" b="1" dirty="0">
                <a:solidFill>
                  <a:srgbClr val="87BD31"/>
                </a:solidFill>
                <a:ea typeface="Calibri" panose="020F0502020204030204" pitchFamily="34" charset="0"/>
                <a:cs typeface="Calibri" panose="020F0502020204030204" pitchFamily="34" charset="0"/>
              </a:rPr>
              <a:t>3</a:t>
            </a:r>
            <a:endParaRPr lang="en-GB" sz="2800" b="1" dirty="0">
              <a:solidFill>
                <a:srgbClr val="87BD31"/>
              </a:solidFill>
              <a:ea typeface="Calibri" panose="020F0502020204030204" pitchFamily="34" charset="0"/>
              <a:cs typeface="Times New Roman" panose="02020603050405020304" pitchFamily="18" charset="0"/>
            </a:endParaRPr>
          </a:p>
        </p:txBody>
      </p:sp>
      <p:sp>
        <p:nvSpPr>
          <p:cNvPr id="21" name="Rectangle 20"/>
          <p:cNvSpPr/>
          <p:nvPr/>
        </p:nvSpPr>
        <p:spPr>
          <a:xfrm>
            <a:off x="3464690" y="2794241"/>
            <a:ext cx="385042" cy="549061"/>
          </a:xfrm>
          <a:prstGeom prst="rect">
            <a:avLst/>
          </a:prstGeom>
        </p:spPr>
        <p:txBody>
          <a:bodyPr wrap="none">
            <a:spAutoFit/>
          </a:bodyPr>
          <a:lstStyle/>
          <a:p>
            <a:pPr lvl="0" algn="ctr">
              <a:lnSpc>
                <a:spcPct val="106000"/>
              </a:lnSpc>
            </a:pPr>
            <a:r>
              <a:rPr lang="en-GB" sz="2800" b="1" dirty="0" smtClean="0">
                <a:solidFill>
                  <a:srgbClr val="87BD31"/>
                </a:solidFill>
                <a:ea typeface="Calibri" panose="020F0502020204030204" pitchFamily="34" charset="0"/>
                <a:cs typeface="Calibri" panose="020F0502020204030204" pitchFamily="34" charset="0"/>
              </a:rPr>
              <a:t>6</a:t>
            </a:r>
            <a:endParaRPr lang="en-GB" sz="2800" b="1" dirty="0">
              <a:solidFill>
                <a:srgbClr val="87BD31"/>
              </a:solidFill>
              <a:ea typeface="Calibri" panose="020F0502020204030204" pitchFamily="34" charset="0"/>
              <a:cs typeface="Times New Roman" panose="02020603050405020304" pitchFamily="18" charset="0"/>
            </a:endParaRPr>
          </a:p>
        </p:txBody>
      </p:sp>
      <p:sp>
        <p:nvSpPr>
          <p:cNvPr id="22" name="Rectangle 21"/>
          <p:cNvSpPr/>
          <p:nvPr/>
        </p:nvSpPr>
        <p:spPr>
          <a:xfrm>
            <a:off x="2676892" y="3255322"/>
            <a:ext cx="375424" cy="524695"/>
          </a:xfrm>
          <a:prstGeom prst="rect">
            <a:avLst/>
          </a:prstGeom>
        </p:spPr>
        <p:txBody>
          <a:bodyPr wrap="none">
            <a:spAutoFit/>
          </a:bodyPr>
          <a:lstStyle/>
          <a:p>
            <a:pPr lvl="0" algn="ctr">
              <a:lnSpc>
                <a:spcPct val="106000"/>
              </a:lnSpc>
            </a:pPr>
            <a:r>
              <a:rPr lang="en-GB" sz="2800" b="1" dirty="0" smtClean="0">
                <a:solidFill>
                  <a:srgbClr val="87BD31"/>
                </a:solidFill>
                <a:ea typeface="Calibri" panose="020F0502020204030204" pitchFamily="34" charset="0"/>
                <a:cs typeface="Calibri" panose="020F0502020204030204" pitchFamily="34" charset="0"/>
              </a:rPr>
              <a:t>2</a:t>
            </a:r>
            <a:endParaRPr lang="en-GB" sz="2800" b="1" dirty="0">
              <a:solidFill>
                <a:srgbClr val="87BD31"/>
              </a:solidFill>
              <a:ea typeface="Calibri" panose="020F0502020204030204" pitchFamily="34" charset="0"/>
              <a:cs typeface="Times New Roman" panose="02020603050405020304" pitchFamily="18" charset="0"/>
            </a:endParaRPr>
          </a:p>
        </p:txBody>
      </p:sp>
      <p:sp>
        <p:nvSpPr>
          <p:cNvPr id="16" name="Rectangle 15"/>
          <p:cNvSpPr/>
          <p:nvPr/>
        </p:nvSpPr>
        <p:spPr>
          <a:xfrm>
            <a:off x="3129540" y="4244095"/>
            <a:ext cx="258404" cy="320729"/>
          </a:xfrm>
          <a:prstGeom prst="rect">
            <a:avLst/>
          </a:prstGeom>
        </p:spPr>
        <p:txBody>
          <a:bodyPr wrap="none">
            <a:spAutoFit/>
          </a:bodyPr>
          <a:lstStyle/>
          <a:p>
            <a:pPr algn="ctr">
              <a:lnSpc>
                <a:spcPct val="106000"/>
              </a:lnSpc>
              <a:spcAft>
                <a:spcPts val="0"/>
              </a:spcAft>
            </a:pPr>
            <a:r>
              <a:rPr lang="en-GB" sz="1400" b="1" dirty="0">
                <a:solidFill>
                  <a:srgbClr val="87BD31"/>
                </a:solidFill>
                <a:ea typeface="Calibri" panose="020F0502020204030204" pitchFamily="34" charset="0"/>
                <a:cs typeface="Calibri" panose="020F0502020204030204" pitchFamily="34" charset="0"/>
              </a:rPr>
              <a:t>1</a:t>
            </a:r>
            <a:endParaRPr lang="en-GB" sz="1400" b="1" dirty="0">
              <a:solidFill>
                <a:srgbClr val="87BD31"/>
              </a:solidFill>
              <a:ea typeface="Calibri" panose="020F0502020204030204" pitchFamily="34" charset="0"/>
              <a:cs typeface="Times New Roman" panose="02020603050405020304" pitchFamily="18" charset="0"/>
            </a:endParaRPr>
          </a:p>
        </p:txBody>
      </p:sp>
      <p:sp>
        <p:nvSpPr>
          <p:cNvPr id="24" name="Rectangle 23"/>
          <p:cNvSpPr/>
          <p:nvPr/>
        </p:nvSpPr>
        <p:spPr>
          <a:xfrm>
            <a:off x="2735402" y="4240634"/>
            <a:ext cx="258404" cy="320729"/>
          </a:xfrm>
          <a:prstGeom prst="rect">
            <a:avLst/>
          </a:prstGeom>
        </p:spPr>
        <p:txBody>
          <a:bodyPr wrap="none">
            <a:spAutoFit/>
          </a:bodyPr>
          <a:lstStyle/>
          <a:p>
            <a:pPr algn="ctr">
              <a:lnSpc>
                <a:spcPct val="106000"/>
              </a:lnSpc>
              <a:spcAft>
                <a:spcPts val="0"/>
              </a:spcAft>
            </a:pPr>
            <a:r>
              <a:rPr lang="en-GB" sz="1400" b="1" dirty="0">
                <a:solidFill>
                  <a:srgbClr val="87BD31"/>
                </a:solidFill>
                <a:ea typeface="Calibri" panose="020F0502020204030204" pitchFamily="34" charset="0"/>
                <a:cs typeface="Calibri" panose="020F0502020204030204" pitchFamily="34" charset="0"/>
              </a:rPr>
              <a:t>1</a:t>
            </a:r>
            <a:endParaRPr lang="en-GB" sz="1400" b="1" dirty="0">
              <a:solidFill>
                <a:srgbClr val="87BD31"/>
              </a:solidFill>
              <a:ea typeface="Calibri" panose="020F0502020204030204" pitchFamily="34" charset="0"/>
              <a:cs typeface="Times New Roman" panose="02020603050405020304" pitchFamily="18" charset="0"/>
            </a:endParaRPr>
          </a:p>
        </p:txBody>
      </p:sp>
      <p:sp>
        <p:nvSpPr>
          <p:cNvPr id="25" name="Rectangle 24"/>
          <p:cNvSpPr/>
          <p:nvPr/>
        </p:nvSpPr>
        <p:spPr>
          <a:xfrm>
            <a:off x="1873869" y="3259192"/>
            <a:ext cx="394660" cy="524695"/>
          </a:xfrm>
          <a:prstGeom prst="rect">
            <a:avLst/>
          </a:prstGeom>
        </p:spPr>
        <p:txBody>
          <a:bodyPr wrap="none">
            <a:spAutoFit/>
          </a:bodyPr>
          <a:lstStyle/>
          <a:p>
            <a:pPr lvl="0" algn="ctr">
              <a:lnSpc>
                <a:spcPct val="106000"/>
              </a:lnSpc>
            </a:pPr>
            <a:r>
              <a:rPr lang="en-GB" sz="2800" b="1" dirty="0" smtClean="0">
                <a:solidFill>
                  <a:srgbClr val="87BD31"/>
                </a:solidFill>
                <a:ea typeface="Calibri" panose="020F0502020204030204" pitchFamily="34" charset="0"/>
                <a:cs typeface="Calibri" panose="020F0502020204030204" pitchFamily="34" charset="0"/>
              </a:rPr>
              <a:t>4</a:t>
            </a:r>
            <a:endParaRPr lang="en-GB" sz="2800" b="1" dirty="0">
              <a:solidFill>
                <a:srgbClr val="87BD31"/>
              </a:solidFill>
              <a:ea typeface="Calibri" panose="020F0502020204030204" pitchFamily="34" charset="0"/>
              <a:cs typeface="Times New Roman" panose="02020603050405020304" pitchFamily="18" charset="0"/>
            </a:endParaRPr>
          </a:p>
        </p:txBody>
      </p:sp>
      <p:sp>
        <p:nvSpPr>
          <p:cNvPr id="26" name="Rectangle 25"/>
          <p:cNvSpPr/>
          <p:nvPr/>
        </p:nvSpPr>
        <p:spPr>
          <a:xfrm>
            <a:off x="1962025" y="4240393"/>
            <a:ext cx="258404" cy="320729"/>
          </a:xfrm>
          <a:prstGeom prst="rect">
            <a:avLst/>
          </a:prstGeom>
        </p:spPr>
        <p:txBody>
          <a:bodyPr wrap="none">
            <a:spAutoFit/>
          </a:bodyPr>
          <a:lstStyle/>
          <a:p>
            <a:pPr algn="ctr">
              <a:lnSpc>
                <a:spcPct val="106000"/>
              </a:lnSpc>
              <a:spcAft>
                <a:spcPts val="0"/>
              </a:spcAft>
            </a:pPr>
            <a:r>
              <a:rPr lang="en-GB" sz="1400" b="1" dirty="0">
                <a:solidFill>
                  <a:srgbClr val="87BD31"/>
                </a:solidFill>
                <a:ea typeface="Calibri" panose="020F0502020204030204" pitchFamily="34" charset="0"/>
                <a:cs typeface="Calibri" panose="020F0502020204030204" pitchFamily="34" charset="0"/>
              </a:rPr>
              <a:t>1</a:t>
            </a:r>
            <a:endParaRPr lang="en-GB" sz="1400" b="1" dirty="0">
              <a:solidFill>
                <a:srgbClr val="87BD31"/>
              </a:solidFill>
              <a:ea typeface="Calibri" panose="020F0502020204030204" pitchFamily="34" charset="0"/>
              <a:cs typeface="Times New Roman" panose="02020603050405020304" pitchFamily="18" charset="0"/>
            </a:endParaRPr>
          </a:p>
        </p:txBody>
      </p:sp>
      <p:sp>
        <p:nvSpPr>
          <p:cNvPr id="29" name="Rectangle 28"/>
          <p:cNvSpPr/>
          <p:nvPr/>
        </p:nvSpPr>
        <p:spPr>
          <a:xfrm>
            <a:off x="7673442" y="2794675"/>
            <a:ext cx="385041" cy="549061"/>
          </a:xfrm>
          <a:prstGeom prst="rect">
            <a:avLst/>
          </a:prstGeom>
        </p:spPr>
        <p:txBody>
          <a:bodyPr wrap="none">
            <a:spAutoFit/>
          </a:bodyPr>
          <a:lstStyle/>
          <a:p>
            <a:pPr lvl="0" algn="ctr">
              <a:lnSpc>
                <a:spcPct val="106000"/>
              </a:lnSpc>
            </a:pPr>
            <a:r>
              <a:rPr lang="en-GB" sz="2800" b="1" dirty="0">
                <a:solidFill>
                  <a:srgbClr val="87BD31"/>
                </a:solidFill>
                <a:ea typeface="Calibri" panose="020F0502020204030204" pitchFamily="34" charset="0"/>
                <a:cs typeface="Times New Roman" panose="02020603050405020304" pitchFamily="18" charset="0"/>
              </a:rPr>
              <a:t>9</a:t>
            </a:r>
          </a:p>
        </p:txBody>
      </p:sp>
      <p:sp>
        <p:nvSpPr>
          <p:cNvPr id="31" name="Rectangle 30"/>
          <p:cNvSpPr/>
          <p:nvPr/>
        </p:nvSpPr>
        <p:spPr>
          <a:xfrm>
            <a:off x="7280585" y="3735149"/>
            <a:ext cx="385041" cy="523220"/>
          </a:xfrm>
          <a:prstGeom prst="rect">
            <a:avLst/>
          </a:prstGeom>
        </p:spPr>
        <p:txBody>
          <a:bodyPr wrap="none">
            <a:spAutoFit/>
          </a:bodyPr>
          <a:lstStyle/>
          <a:p>
            <a:pPr lvl="0" algn="ctr"/>
            <a:r>
              <a:rPr lang="en-GB" sz="2800" b="1" dirty="0">
                <a:solidFill>
                  <a:srgbClr val="87BD31"/>
                </a:solidFill>
              </a:rPr>
              <a:t>9</a:t>
            </a:r>
          </a:p>
        </p:txBody>
      </p:sp>
      <p:sp>
        <p:nvSpPr>
          <p:cNvPr id="33" name="Rectangle 32"/>
          <p:cNvSpPr/>
          <p:nvPr/>
        </p:nvSpPr>
        <p:spPr>
          <a:xfrm>
            <a:off x="7240203" y="2740578"/>
            <a:ext cx="258404" cy="307777"/>
          </a:xfrm>
          <a:prstGeom prst="rect">
            <a:avLst/>
          </a:prstGeom>
        </p:spPr>
        <p:txBody>
          <a:bodyPr wrap="none">
            <a:spAutoFit/>
          </a:bodyPr>
          <a:lstStyle/>
          <a:p>
            <a:r>
              <a:rPr lang="en-GB" sz="1400" b="1" dirty="0">
                <a:solidFill>
                  <a:srgbClr val="87BD31"/>
                </a:solidFill>
                <a:ea typeface="Calibri" panose="020F0502020204030204" pitchFamily="34" charset="0"/>
                <a:cs typeface="Calibri" panose="020F0502020204030204" pitchFamily="34" charset="0"/>
              </a:rPr>
              <a:t>1</a:t>
            </a:r>
            <a:endParaRPr lang="en-GB" dirty="0"/>
          </a:p>
        </p:txBody>
      </p:sp>
      <p:sp>
        <p:nvSpPr>
          <p:cNvPr id="36" name="Rectangle 35"/>
          <p:cNvSpPr/>
          <p:nvPr/>
        </p:nvSpPr>
        <p:spPr>
          <a:xfrm>
            <a:off x="6809072" y="2734102"/>
            <a:ext cx="284052" cy="320729"/>
          </a:xfrm>
          <a:prstGeom prst="rect">
            <a:avLst/>
          </a:prstGeom>
        </p:spPr>
        <p:txBody>
          <a:bodyPr wrap="none">
            <a:spAutoFit/>
          </a:bodyPr>
          <a:lstStyle/>
          <a:p>
            <a:pPr lvl="0" algn="ctr">
              <a:lnSpc>
                <a:spcPct val="106000"/>
              </a:lnSpc>
            </a:pPr>
            <a:r>
              <a:rPr lang="en-GB" sz="1400" b="1" dirty="0">
                <a:solidFill>
                  <a:srgbClr val="87BD31"/>
                </a:solidFill>
                <a:ea typeface="Calibri" panose="020F0502020204030204" pitchFamily="34" charset="0"/>
                <a:cs typeface="Calibri" panose="020F0502020204030204" pitchFamily="34" charset="0"/>
              </a:rPr>
              <a:t>6</a:t>
            </a:r>
            <a:endParaRPr lang="en-GB" sz="1400" b="1" dirty="0">
              <a:solidFill>
                <a:srgbClr val="87BD31"/>
              </a:solidFill>
              <a:ea typeface="Calibri" panose="020F0502020204030204" pitchFamily="34" charset="0"/>
              <a:cs typeface="Times New Roman" panose="02020603050405020304" pitchFamily="18" charset="0"/>
            </a:endParaRPr>
          </a:p>
        </p:txBody>
      </p:sp>
      <p:sp>
        <p:nvSpPr>
          <p:cNvPr id="38" name="Rectangle 37"/>
          <p:cNvSpPr/>
          <p:nvPr/>
        </p:nvSpPr>
        <p:spPr>
          <a:xfrm>
            <a:off x="6487297" y="3743500"/>
            <a:ext cx="385041" cy="523220"/>
          </a:xfrm>
          <a:prstGeom prst="rect">
            <a:avLst/>
          </a:prstGeom>
        </p:spPr>
        <p:txBody>
          <a:bodyPr wrap="none">
            <a:spAutoFit/>
          </a:bodyPr>
          <a:lstStyle/>
          <a:p>
            <a:pPr lvl="0" algn="ctr"/>
            <a:r>
              <a:rPr lang="en-GB" sz="2800" b="1" dirty="0">
                <a:solidFill>
                  <a:srgbClr val="87BD31"/>
                </a:solidFill>
              </a:rPr>
              <a:t>9</a:t>
            </a:r>
          </a:p>
        </p:txBody>
      </p:sp>
      <p:sp>
        <p:nvSpPr>
          <p:cNvPr id="35" name="Rectangle 34"/>
          <p:cNvSpPr/>
          <p:nvPr/>
        </p:nvSpPr>
        <p:spPr>
          <a:xfrm>
            <a:off x="6442919" y="2734102"/>
            <a:ext cx="258404" cy="320729"/>
          </a:xfrm>
          <a:prstGeom prst="rect">
            <a:avLst/>
          </a:prstGeom>
        </p:spPr>
        <p:txBody>
          <a:bodyPr wrap="none">
            <a:spAutoFit/>
          </a:bodyPr>
          <a:lstStyle/>
          <a:p>
            <a:pPr lvl="0" algn="ctr">
              <a:lnSpc>
                <a:spcPct val="106000"/>
              </a:lnSpc>
            </a:pPr>
            <a:r>
              <a:rPr lang="en-GB" sz="1400" b="1" dirty="0">
                <a:solidFill>
                  <a:srgbClr val="87BD31"/>
                </a:solidFill>
                <a:ea typeface="Calibri" panose="020F0502020204030204" pitchFamily="34" charset="0"/>
                <a:cs typeface="Calibri" panose="020F0502020204030204" pitchFamily="34" charset="0"/>
              </a:rPr>
              <a:t>1</a:t>
            </a:r>
            <a:endParaRPr lang="en-GB" sz="1400" b="1" dirty="0">
              <a:solidFill>
                <a:srgbClr val="87BD31"/>
              </a:solidFill>
              <a:ea typeface="Calibri" panose="020F0502020204030204" pitchFamily="34" charset="0"/>
              <a:cs typeface="Times New Roman" panose="02020603050405020304" pitchFamily="18" charset="0"/>
            </a:endParaRPr>
          </a:p>
        </p:txBody>
      </p:sp>
      <p:sp>
        <p:nvSpPr>
          <p:cNvPr id="37" name="Rectangle 36"/>
          <p:cNvSpPr/>
          <p:nvPr/>
        </p:nvSpPr>
        <p:spPr>
          <a:xfrm>
            <a:off x="6036262" y="2734102"/>
            <a:ext cx="279244" cy="320729"/>
          </a:xfrm>
          <a:prstGeom prst="rect">
            <a:avLst/>
          </a:prstGeom>
        </p:spPr>
        <p:txBody>
          <a:bodyPr wrap="none">
            <a:spAutoFit/>
          </a:bodyPr>
          <a:lstStyle/>
          <a:p>
            <a:pPr lvl="0" algn="ctr">
              <a:lnSpc>
                <a:spcPct val="106000"/>
              </a:lnSpc>
            </a:pPr>
            <a:r>
              <a:rPr lang="en-GB" sz="1400" b="1" dirty="0">
                <a:solidFill>
                  <a:srgbClr val="87BD31"/>
                </a:solidFill>
                <a:ea typeface="Calibri" panose="020F0502020204030204" pitchFamily="34" charset="0"/>
                <a:cs typeface="Calibri" panose="020F0502020204030204" pitchFamily="34" charset="0"/>
              </a:rPr>
              <a:t>2</a:t>
            </a:r>
            <a:endParaRPr lang="en-GB" sz="1400" b="1" dirty="0">
              <a:solidFill>
                <a:srgbClr val="87BD31"/>
              </a:solidFill>
              <a:ea typeface="Calibri" panose="020F0502020204030204" pitchFamily="34" charset="0"/>
              <a:cs typeface="Times New Roman" panose="02020603050405020304" pitchFamily="18" charset="0"/>
            </a:endParaRPr>
          </a:p>
        </p:txBody>
      </p:sp>
      <p:sp>
        <p:nvSpPr>
          <p:cNvPr id="43" name="Rectangle 42"/>
          <p:cNvSpPr/>
          <p:nvPr/>
        </p:nvSpPr>
        <p:spPr>
          <a:xfrm>
            <a:off x="5707364" y="3259041"/>
            <a:ext cx="365805" cy="549061"/>
          </a:xfrm>
          <a:prstGeom prst="rect">
            <a:avLst/>
          </a:prstGeom>
        </p:spPr>
        <p:txBody>
          <a:bodyPr wrap="none">
            <a:spAutoFit/>
          </a:bodyPr>
          <a:lstStyle/>
          <a:p>
            <a:pPr lvl="0" algn="ctr">
              <a:lnSpc>
                <a:spcPct val="106000"/>
              </a:lnSpc>
            </a:pPr>
            <a:r>
              <a:rPr lang="en-GB" sz="2800" b="1" dirty="0">
                <a:solidFill>
                  <a:srgbClr val="87BD31"/>
                </a:solidFill>
                <a:ea typeface="Calibri" panose="020F0502020204030204" pitchFamily="34" charset="0"/>
                <a:cs typeface="Calibri" panose="020F0502020204030204" pitchFamily="34" charset="0"/>
              </a:rPr>
              <a:t>7</a:t>
            </a:r>
            <a:endParaRPr lang="en-GB" sz="2800" b="1" dirty="0">
              <a:solidFill>
                <a:srgbClr val="87BD31"/>
              </a:solidFill>
              <a:ea typeface="Calibri" panose="020F0502020204030204" pitchFamily="34" charset="0"/>
              <a:cs typeface="Times New Roman" panose="02020603050405020304" pitchFamily="18" charset="0"/>
            </a:endParaRPr>
          </a:p>
        </p:txBody>
      </p:sp>
      <p:sp>
        <p:nvSpPr>
          <p:cNvPr id="45" name="Rectangle 44"/>
          <p:cNvSpPr/>
          <p:nvPr/>
        </p:nvSpPr>
        <p:spPr>
          <a:xfrm>
            <a:off x="5660277" y="2734102"/>
            <a:ext cx="258404" cy="320729"/>
          </a:xfrm>
          <a:prstGeom prst="rect">
            <a:avLst/>
          </a:prstGeom>
        </p:spPr>
        <p:txBody>
          <a:bodyPr wrap="none">
            <a:spAutoFit/>
          </a:bodyPr>
          <a:lstStyle/>
          <a:p>
            <a:pPr lvl="0" algn="ctr">
              <a:lnSpc>
                <a:spcPct val="106000"/>
              </a:lnSpc>
            </a:pPr>
            <a:r>
              <a:rPr lang="en-GB" sz="1400" b="1" dirty="0">
                <a:solidFill>
                  <a:srgbClr val="87BD31"/>
                </a:solidFill>
                <a:ea typeface="Calibri" panose="020F0502020204030204" pitchFamily="34" charset="0"/>
                <a:cs typeface="Calibri" panose="020F0502020204030204" pitchFamily="34" charset="0"/>
              </a:rPr>
              <a:t>1</a:t>
            </a:r>
            <a:endParaRPr lang="en-GB" sz="1400" b="1" dirty="0">
              <a:solidFill>
                <a:srgbClr val="87BD31"/>
              </a:solidFill>
              <a:ea typeface="Calibri" panose="020F0502020204030204" pitchFamily="34" charset="0"/>
              <a:cs typeface="Times New Roman" panose="02020603050405020304" pitchFamily="18" charset="0"/>
            </a:endParaRPr>
          </a:p>
        </p:txBody>
      </p:sp>
      <p:sp>
        <p:nvSpPr>
          <p:cNvPr id="47" name="Rectangle 46"/>
          <p:cNvSpPr/>
          <p:nvPr/>
        </p:nvSpPr>
        <p:spPr>
          <a:xfrm>
            <a:off x="5291599" y="3737826"/>
            <a:ext cx="394660" cy="523220"/>
          </a:xfrm>
          <a:prstGeom prst="rect">
            <a:avLst/>
          </a:prstGeom>
        </p:spPr>
        <p:txBody>
          <a:bodyPr wrap="none">
            <a:spAutoFit/>
          </a:bodyPr>
          <a:lstStyle/>
          <a:p>
            <a:pPr lvl="0" algn="ctr"/>
            <a:r>
              <a:rPr lang="en-GB" sz="2800" b="1" dirty="0">
                <a:solidFill>
                  <a:srgbClr val="87BD31"/>
                </a:solidFill>
              </a:rPr>
              <a:t>4</a:t>
            </a:r>
          </a:p>
        </p:txBody>
      </p:sp>
      <p:sp>
        <p:nvSpPr>
          <p:cNvPr id="49" name="Rectangle 48"/>
          <p:cNvSpPr/>
          <p:nvPr/>
        </p:nvSpPr>
        <p:spPr>
          <a:xfrm>
            <a:off x="5248598" y="2734102"/>
            <a:ext cx="274434" cy="320729"/>
          </a:xfrm>
          <a:prstGeom prst="rect">
            <a:avLst/>
          </a:prstGeom>
        </p:spPr>
        <p:txBody>
          <a:bodyPr wrap="none">
            <a:spAutoFit/>
          </a:bodyPr>
          <a:lstStyle/>
          <a:p>
            <a:pPr lvl="0" algn="ctr">
              <a:lnSpc>
                <a:spcPct val="106000"/>
              </a:lnSpc>
            </a:pPr>
            <a:r>
              <a:rPr lang="en-GB" sz="1400" b="1" dirty="0">
                <a:solidFill>
                  <a:srgbClr val="87BD31"/>
                </a:solidFill>
                <a:ea typeface="Calibri" panose="020F0502020204030204" pitchFamily="34" charset="0"/>
                <a:cs typeface="Calibri" panose="020F0502020204030204" pitchFamily="34" charset="0"/>
              </a:rPr>
              <a:t>7</a:t>
            </a:r>
            <a:endParaRPr lang="en-GB" sz="1400" b="1" dirty="0">
              <a:solidFill>
                <a:srgbClr val="87BD31"/>
              </a:solidFill>
              <a:ea typeface="Calibri" panose="020F0502020204030204" pitchFamily="34" charset="0"/>
              <a:cs typeface="Times New Roman" panose="02020603050405020304" pitchFamily="18" charset="0"/>
            </a:endParaRPr>
          </a:p>
        </p:txBody>
      </p:sp>
      <p:cxnSp>
        <p:nvCxnSpPr>
          <p:cNvPr id="46" name="Straight Connector 45"/>
          <p:cNvCxnSpPr/>
          <p:nvPr/>
        </p:nvCxnSpPr>
        <p:spPr>
          <a:xfrm flipV="1">
            <a:off x="6936916" y="2927081"/>
            <a:ext cx="284052" cy="287364"/>
          </a:xfrm>
          <a:prstGeom prst="line">
            <a:avLst/>
          </a:prstGeom>
          <a:ln w="28575">
            <a:solidFill>
              <a:srgbClr val="87BD3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flipV="1">
            <a:off x="6145109" y="2927081"/>
            <a:ext cx="284052" cy="287364"/>
          </a:xfrm>
          <a:prstGeom prst="line">
            <a:avLst/>
          </a:prstGeom>
          <a:ln w="28575">
            <a:solidFill>
              <a:srgbClr val="87BD3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flipV="1">
            <a:off x="5357420" y="2927081"/>
            <a:ext cx="284052" cy="287364"/>
          </a:xfrm>
          <a:prstGeom prst="line">
            <a:avLst/>
          </a:prstGeom>
          <a:ln w="28575">
            <a:solidFill>
              <a:srgbClr val="87BD31"/>
            </a:solidFill>
          </a:ln>
        </p:spPr>
        <p:style>
          <a:lnRef idx="1">
            <a:schemeClr val="accent1"/>
          </a:lnRef>
          <a:fillRef idx="0">
            <a:schemeClr val="accent1"/>
          </a:fillRef>
          <a:effectRef idx="0">
            <a:schemeClr val="accent1"/>
          </a:effectRef>
          <a:fontRef idx="minor">
            <a:schemeClr val="tx1"/>
          </a:fontRef>
        </p:style>
      </p:cxnSp>
      <p:sp>
        <p:nvSpPr>
          <p:cNvPr id="39" name="Rectangle 38"/>
          <p:cNvSpPr/>
          <p:nvPr/>
        </p:nvSpPr>
        <p:spPr>
          <a:xfrm>
            <a:off x="3459883" y="2860382"/>
            <a:ext cx="387994" cy="39679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ectangle 39"/>
          <p:cNvSpPr/>
          <p:nvPr/>
        </p:nvSpPr>
        <p:spPr>
          <a:xfrm>
            <a:off x="2660797" y="3319271"/>
            <a:ext cx="387994" cy="39679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Rectangle 40"/>
          <p:cNvSpPr/>
          <p:nvPr/>
        </p:nvSpPr>
        <p:spPr>
          <a:xfrm>
            <a:off x="3859036" y="3321640"/>
            <a:ext cx="387994" cy="39679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Rectangle 41"/>
          <p:cNvSpPr/>
          <p:nvPr/>
        </p:nvSpPr>
        <p:spPr>
          <a:xfrm>
            <a:off x="1882893" y="3319271"/>
            <a:ext cx="387994" cy="39679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Rectangle 43"/>
          <p:cNvSpPr/>
          <p:nvPr/>
        </p:nvSpPr>
        <p:spPr>
          <a:xfrm>
            <a:off x="5706512" y="3324489"/>
            <a:ext cx="387994" cy="39679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Rectangle 47"/>
          <p:cNvSpPr/>
          <p:nvPr/>
        </p:nvSpPr>
        <p:spPr>
          <a:xfrm>
            <a:off x="7673442" y="2860382"/>
            <a:ext cx="387994" cy="39679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Rectangle 49"/>
          <p:cNvSpPr/>
          <p:nvPr/>
        </p:nvSpPr>
        <p:spPr>
          <a:xfrm>
            <a:off x="7285382" y="3808193"/>
            <a:ext cx="387994" cy="39679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6499375" y="3808193"/>
            <a:ext cx="387994" cy="39679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Rectangle 53"/>
          <p:cNvSpPr/>
          <p:nvPr/>
        </p:nvSpPr>
        <p:spPr>
          <a:xfrm>
            <a:off x="5318518" y="3807809"/>
            <a:ext cx="387994" cy="39679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08914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1" grpId="0"/>
      <p:bldP spid="22" grpId="0"/>
      <p:bldP spid="16" grpId="0"/>
      <p:bldP spid="24" grpId="0"/>
      <p:bldP spid="25" grpId="0"/>
      <p:bldP spid="26" grpId="0"/>
      <p:bldP spid="29" grpId="0"/>
      <p:bldP spid="31" grpId="0"/>
      <p:bldP spid="33" grpId="0"/>
      <p:bldP spid="36" grpId="0"/>
      <p:bldP spid="38" grpId="0"/>
      <p:bldP spid="35" grpId="0"/>
      <p:bldP spid="37" grpId="0"/>
      <p:bldP spid="43" grpId="0"/>
      <p:bldP spid="45" grpId="0"/>
      <p:bldP spid="47" grpId="0"/>
      <p:bldP spid="4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65908" y="2438913"/>
            <a:ext cx="7612184" cy="853292"/>
          </a:xfrm>
          <a:prstGeom prst="rect">
            <a:avLst/>
          </a:prstGeom>
          <a:solidFill>
            <a:schemeClr val="bg1"/>
          </a:solidFill>
          <a:ln w="28575">
            <a:solidFill>
              <a:srgbClr val="87BD31"/>
            </a:solidFill>
          </a:ln>
        </p:spPr>
        <p:txBody>
          <a:bodyPr wrap="square" lIns="108000" tIns="72000" rIns="108000" bIns="72000">
            <a:spAutoFit/>
          </a:bodyPr>
          <a:lstStyle/>
          <a:p>
            <a:pPr>
              <a:spcAft>
                <a:spcPts val="1200"/>
              </a:spcAft>
            </a:pPr>
            <a:r>
              <a:rPr lang="en-GB" b="1" dirty="0"/>
              <a:t>£124 763 + £53 752 = £178 515</a:t>
            </a:r>
          </a:p>
          <a:p>
            <a:r>
              <a:rPr lang="en-GB" b="1" dirty="0"/>
              <a:t>£345 231 - £178 515 = £166 716</a:t>
            </a:r>
          </a:p>
        </p:txBody>
      </p:sp>
      <p:pic>
        <p:nvPicPr>
          <p:cNvPr id="5" name="Picture 4">
            <a:extLst>
              <a:ext uri="{FF2B5EF4-FFF2-40B4-BE49-F238E27FC236}">
                <a16:creationId xmlns:a16="http://schemas.microsoft.com/office/drawing/2014/main" xmlns="" id="{2830866F-58AA-4213-AFD1-4A7F919ABC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04094" y="532799"/>
            <a:ext cx="700156" cy="700156"/>
          </a:xfrm>
          <a:prstGeom prst="rect">
            <a:avLst/>
          </a:prstGeom>
        </p:spPr>
      </p:pic>
      <p:sp>
        <p:nvSpPr>
          <p:cNvPr id="19" name="TextBox 18"/>
          <p:cNvSpPr txBox="1"/>
          <p:nvPr/>
        </p:nvSpPr>
        <p:spPr>
          <a:xfrm>
            <a:off x="755009" y="1979106"/>
            <a:ext cx="7633341" cy="422405"/>
          </a:xfrm>
          <a:prstGeom prst="rect">
            <a:avLst/>
          </a:prstGeom>
          <a:solidFill>
            <a:srgbClr val="009284"/>
          </a:solidFill>
        </p:spPr>
        <p:txBody>
          <a:bodyPr wrap="square" lIns="72000" tIns="72000" rIns="72000" bIns="72000" rtlCol="0">
            <a:spAutoFit/>
          </a:bodyPr>
          <a:lstStyle/>
          <a:p>
            <a:r>
              <a:rPr lang="en-GB" dirty="0">
                <a:solidFill>
                  <a:schemeClr val="bg1"/>
                </a:solidFill>
              </a:rPr>
              <a:t>What is the value of the stock that is </a:t>
            </a:r>
            <a:r>
              <a:rPr lang="en-GB" b="1" dirty="0">
                <a:solidFill>
                  <a:schemeClr val="bg1"/>
                </a:solidFill>
              </a:rPr>
              <a:t>left over</a:t>
            </a:r>
            <a:r>
              <a:rPr lang="en-GB" dirty="0">
                <a:solidFill>
                  <a:schemeClr val="bg1"/>
                </a:solidFill>
              </a:rPr>
              <a:t>?</a:t>
            </a:r>
          </a:p>
        </p:txBody>
      </p:sp>
      <p:sp>
        <p:nvSpPr>
          <p:cNvPr id="4" name="Rectangle 3"/>
          <p:cNvSpPr/>
          <p:nvPr/>
        </p:nvSpPr>
        <p:spPr>
          <a:xfrm>
            <a:off x="769814" y="1291687"/>
            <a:ext cx="7602399" cy="699404"/>
          </a:xfrm>
          <a:prstGeom prst="rect">
            <a:avLst/>
          </a:prstGeom>
          <a:solidFill>
            <a:schemeClr val="bg1"/>
          </a:solidFill>
          <a:ln w="28575">
            <a:solidFill>
              <a:srgbClr val="009284"/>
            </a:solidFill>
          </a:ln>
        </p:spPr>
        <p:txBody>
          <a:bodyPr wrap="square" lIns="108000" tIns="72000" rIns="108000" bIns="72000">
            <a:spAutoFit/>
          </a:bodyPr>
          <a:lstStyle/>
          <a:p>
            <a:r>
              <a:rPr lang="en-GB" dirty="0"/>
              <a:t>A supermarket had </a:t>
            </a:r>
            <a:r>
              <a:rPr lang="en-GB" b="1" dirty="0"/>
              <a:t>£345 231 </a:t>
            </a:r>
            <a:r>
              <a:rPr lang="en-GB" dirty="0"/>
              <a:t>worth of stock. They sell </a:t>
            </a:r>
            <a:r>
              <a:rPr lang="en-GB" b="1" dirty="0"/>
              <a:t>£124 763 </a:t>
            </a:r>
            <a:r>
              <a:rPr lang="en-GB" dirty="0" smtClean="0"/>
              <a:t/>
            </a:r>
            <a:br>
              <a:rPr lang="en-GB" dirty="0" smtClean="0"/>
            </a:br>
            <a:r>
              <a:rPr lang="en-GB" dirty="0" smtClean="0"/>
              <a:t>during </a:t>
            </a:r>
            <a:r>
              <a:rPr lang="en-GB" dirty="0"/>
              <a:t>the first week and </a:t>
            </a:r>
            <a:r>
              <a:rPr lang="en-GB" b="1" dirty="0"/>
              <a:t>£53 752 </a:t>
            </a:r>
            <a:r>
              <a:rPr lang="en-GB" dirty="0"/>
              <a:t>during the second week. </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9042" y="1676289"/>
            <a:ext cx="2197275" cy="1720136"/>
          </a:xfrm>
          <a:prstGeom prst="rect">
            <a:avLst/>
          </a:prstGeom>
        </p:spPr>
      </p:pic>
      <p:sp>
        <p:nvSpPr>
          <p:cNvPr id="23" name="TextBox 22"/>
          <p:cNvSpPr txBox="1"/>
          <p:nvPr/>
        </p:nvSpPr>
        <p:spPr>
          <a:xfrm>
            <a:off x="758093" y="4446472"/>
            <a:ext cx="7635630" cy="699404"/>
          </a:xfrm>
          <a:prstGeom prst="rect">
            <a:avLst/>
          </a:prstGeom>
          <a:solidFill>
            <a:srgbClr val="009284"/>
          </a:solidFill>
        </p:spPr>
        <p:txBody>
          <a:bodyPr wrap="square" lIns="72000" tIns="72000" rIns="72000" bIns="72000" rtlCol="0">
            <a:spAutoFit/>
          </a:bodyPr>
          <a:lstStyle/>
          <a:p>
            <a:r>
              <a:rPr lang="en-GB" dirty="0">
                <a:solidFill>
                  <a:schemeClr val="bg1"/>
                </a:solidFill>
              </a:rPr>
              <a:t>How much more money does Jacob need to save </a:t>
            </a:r>
            <a:r>
              <a:rPr lang="en-GB" dirty="0" smtClean="0">
                <a:solidFill>
                  <a:schemeClr val="bg1"/>
                </a:solidFill>
              </a:rPr>
              <a:t>before</a:t>
            </a:r>
            <a:br>
              <a:rPr lang="en-GB" dirty="0" smtClean="0">
                <a:solidFill>
                  <a:schemeClr val="bg1"/>
                </a:solidFill>
              </a:rPr>
            </a:br>
            <a:r>
              <a:rPr lang="en-GB" dirty="0" smtClean="0">
                <a:solidFill>
                  <a:schemeClr val="bg1"/>
                </a:solidFill>
              </a:rPr>
              <a:t> </a:t>
            </a:r>
            <a:r>
              <a:rPr lang="en-GB" dirty="0">
                <a:solidFill>
                  <a:schemeClr val="bg1"/>
                </a:solidFill>
              </a:rPr>
              <a:t>he </a:t>
            </a:r>
            <a:r>
              <a:rPr lang="en-GB" dirty="0" smtClean="0">
                <a:solidFill>
                  <a:schemeClr val="bg1"/>
                </a:solidFill>
              </a:rPr>
              <a:t>can afford </a:t>
            </a:r>
            <a:r>
              <a:rPr lang="en-GB" dirty="0">
                <a:solidFill>
                  <a:schemeClr val="bg1"/>
                </a:solidFill>
              </a:rPr>
              <a:t>to buy the console and the games? </a:t>
            </a:r>
          </a:p>
        </p:txBody>
      </p:sp>
      <p:sp>
        <p:nvSpPr>
          <p:cNvPr id="27" name="Rectangle 26"/>
          <p:cNvSpPr/>
          <p:nvPr/>
        </p:nvSpPr>
        <p:spPr>
          <a:xfrm>
            <a:off x="771145" y="3465606"/>
            <a:ext cx="7608816" cy="976403"/>
          </a:xfrm>
          <a:prstGeom prst="rect">
            <a:avLst/>
          </a:prstGeom>
          <a:solidFill>
            <a:schemeClr val="bg1"/>
          </a:solidFill>
          <a:ln w="28575">
            <a:solidFill>
              <a:srgbClr val="009284"/>
            </a:solidFill>
          </a:ln>
        </p:spPr>
        <p:txBody>
          <a:bodyPr wrap="square" lIns="108000" tIns="72000" rIns="108000" bIns="72000">
            <a:spAutoFit/>
          </a:bodyPr>
          <a:lstStyle/>
          <a:p>
            <a:r>
              <a:rPr lang="en-GB" dirty="0"/>
              <a:t>Jacob is saving up to buy a new games console and two new games. </a:t>
            </a:r>
            <a:r>
              <a:rPr lang="en-GB" dirty="0" smtClean="0"/>
              <a:t/>
            </a:r>
            <a:br>
              <a:rPr lang="en-GB" dirty="0" smtClean="0"/>
            </a:br>
            <a:r>
              <a:rPr lang="en-GB" dirty="0" smtClean="0"/>
              <a:t>The </a:t>
            </a:r>
            <a:r>
              <a:rPr lang="en-GB" dirty="0"/>
              <a:t>games console costs </a:t>
            </a:r>
            <a:r>
              <a:rPr lang="en-GB" b="1" dirty="0"/>
              <a:t>£176.89</a:t>
            </a:r>
            <a:r>
              <a:rPr lang="en-GB" dirty="0"/>
              <a:t>. One of the games is</a:t>
            </a:r>
            <a:r>
              <a:rPr lang="en-GB" b="1" dirty="0"/>
              <a:t> £28.75 </a:t>
            </a:r>
            <a:r>
              <a:rPr lang="en-GB" dirty="0"/>
              <a:t>and the other is </a:t>
            </a:r>
            <a:r>
              <a:rPr lang="en-GB" b="1" dirty="0"/>
              <a:t>£31.58</a:t>
            </a:r>
            <a:r>
              <a:rPr lang="en-GB" dirty="0"/>
              <a:t>. He has manged to save </a:t>
            </a:r>
            <a:r>
              <a:rPr lang="en-GB" b="1" dirty="0"/>
              <a:t>£194</a:t>
            </a:r>
            <a:r>
              <a:rPr lang="en-GB" dirty="0"/>
              <a:t>. </a:t>
            </a:r>
          </a:p>
        </p:txBody>
      </p:sp>
      <p:sp>
        <p:nvSpPr>
          <p:cNvPr id="28" name="Rectangle 27"/>
          <p:cNvSpPr/>
          <p:nvPr/>
        </p:nvSpPr>
        <p:spPr>
          <a:xfrm>
            <a:off x="771145" y="5204608"/>
            <a:ext cx="7607504" cy="853292"/>
          </a:xfrm>
          <a:prstGeom prst="rect">
            <a:avLst/>
          </a:prstGeom>
          <a:solidFill>
            <a:schemeClr val="bg1"/>
          </a:solidFill>
          <a:ln w="28575">
            <a:solidFill>
              <a:srgbClr val="87BD31"/>
            </a:solidFill>
          </a:ln>
        </p:spPr>
        <p:txBody>
          <a:bodyPr wrap="square" lIns="108000" tIns="72000" rIns="108000" bIns="72000">
            <a:spAutoFit/>
          </a:bodyPr>
          <a:lstStyle/>
          <a:p>
            <a:pPr>
              <a:spcAft>
                <a:spcPts val="1200"/>
              </a:spcAft>
            </a:pPr>
            <a:r>
              <a:rPr lang="en-GB" b="1" dirty="0"/>
              <a:t>£176.89 + £28.75 + £31.58 = £237.22</a:t>
            </a:r>
          </a:p>
          <a:p>
            <a:r>
              <a:rPr lang="en-GB" b="1" dirty="0"/>
              <a:t>£237.22 - £194 = £43.22</a:t>
            </a:r>
          </a:p>
        </p:txBody>
      </p: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79096" y="4523695"/>
            <a:ext cx="2488642" cy="1856269"/>
          </a:xfrm>
          <a:prstGeom prst="rect">
            <a:avLst/>
          </a:prstGeom>
        </p:spPr>
      </p:pic>
      <p:sp>
        <p:nvSpPr>
          <p:cNvPr id="29" name="Rectangle 28"/>
          <p:cNvSpPr/>
          <p:nvPr/>
        </p:nvSpPr>
        <p:spPr>
          <a:xfrm>
            <a:off x="445574" y="702863"/>
            <a:ext cx="2833085" cy="355276"/>
          </a:xfrm>
          <a:prstGeom prst="rect">
            <a:avLst/>
          </a:prstGeom>
          <a:solidFill>
            <a:srgbClr val="072F54"/>
          </a:solidFill>
        </p:spPr>
        <p:txBody>
          <a:bodyPr wrap="square" lIns="180000" tIns="36000" rIns="180000" bIns="72000" anchor="ctr">
            <a:spAutoFit/>
          </a:bodyPr>
          <a:lstStyle/>
          <a:p>
            <a:r>
              <a:rPr lang="en-GB" altLang="en-US" sz="1600" b="1" dirty="0" smtClean="0">
                <a:solidFill>
                  <a:schemeClr val="bg1"/>
                </a:solidFill>
              </a:rPr>
              <a:t>Add and Subtract Integers</a:t>
            </a:r>
            <a:endParaRPr lang="en-GB" sz="1600" b="1" dirty="0">
              <a:solidFill>
                <a:schemeClr val="bg1"/>
              </a:solidFill>
            </a:endParaRPr>
          </a:p>
        </p:txBody>
      </p:sp>
      <p:sp>
        <p:nvSpPr>
          <p:cNvPr id="97" name="Rectangle 96"/>
          <p:cNvSpPr/>
          <p:nvPr/>
        </p:nvSpPr>
        <p:spPr>
          <a:xfrm>
            <a:off x="3278659" y="702863"/>
            <a:ext cx="976684" cy="355276"/>
          </a:xfrm>
          <a:prstGeom prst="rect">
            <a:avLst/>
          </a:prstGeom>
          <a:solidFill>
            <a:srgbClr val="4EB2E5"/>
          </a:solidFill>
        </p:spPr>
        <p:txBody>
          <a:bodyPr wrap="square" lIns="180000" tIns="36000" rIns="180000" bIns="72000" anchor="ctr">
            <a:spAutoFit/>
          </a:bodyPr>
          <a:lstStyle/>
          <a:p>
            <a:pPr algn="ctr"/>
            <a:r>
              <a:rPr lang="en-GB" altLang="en-US" sz="1600" b="1" dirty="0" smtClean="0">
                <a:solidFill>
                  <a:schemeClr val="bg1"/>
                </a:solidFill>
              </a:rPr>
              <a:t>Diving</a:t>
            </a:r>
            <a:endParaRPr lang="en-GB" sz="1600" b="1" dirty="0">
              <a:solidFill>
                <a:schemeClr val="bg1"/>
              </a:solidFill>
            </a:endParaRPr>
          </a:p>
        </p:txBody>
      </p:sp>
      <p:cxnSp>
        <p:nvCxnSpPr>
          <p:cNvPr id="103" name="Straight Connector 102"/>
          <p:cNvCxnSpPr/>
          <p:nvPr/>
        </p:nvCxnSpPr>
        <p:spPr>
          <a:xfrm>
            <a:off x="3278659" y="698268"/>
            <a:ext cx="0" cy="3960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2447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wipe(left)">
                                      <p:cBhvr>
                                        <p:cTn id="1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 name="Ruby Box"/>
          <p:cNvGrpSpPr/>
          <p:nvPr/>
        </p:nvGrpSpPr>
        <p:grpSpPr>
          <a:xfrm>
            <a:off x="1793822" y="2988475"/>
            <a:ext cx="6600272" cy="3057843"/>
            <a:chOff x="1793822" y="2988475"/>
            <a:chExt cx="6600272" cy="3057843"/>
          </a:xfrm>
        </p:grpSpPr>
        <p:sp>
          <p:nvSpPr>
            <p:cNvPr id="54" name="Rectangle 53"/>
            <p:cNvSpPr/>
            <p:nvPr/>
          </p:nvSpPr>
          <p:spPr>
            <a:xfrm>
              <a:off x="1912603" y="2988475"/>
              <a:ext cx="6481491" cy="3057843"/>
            </a:xfrm>
            <a:prstGeom prst="rect">
              <a:avLst/>
            </a:prstGeom>
            <a:solidFill>
              <a:schemeClr val="bg1"/>
            </a:solidFill>
            <a:ln w="28575">
              <a:solidFill>
                <a:srgbClr val="87B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0" name="Picture 49"/>
            <p:cNvPicPr>
              <a:picLocks noChangeAspect="1"/>
            </p:cNvPicPr>
            <p:nvPr/>
          </p:nvPicPr>
          <p:blipFill>
            <a:blip r:embed="rId2"/>
            <a:stretch>
              <a:fillRect/>
            </a:stretch>
          </p:blipFill>
          <p:spPr>
            <a:xfrm>
              <a:off x="1973922" y="3446149"/>
              <a:ext cx="6358644" cy="1115665"/>
            </a:xfrm>
            <a:prstGeom prst="rect">
              <a:avLst/>
            </a:prstGeom>
          </p:spPr>
        </p:pic>
        <p:sp>
          <p:nvSpPr>
            <p:cNvPr id="56" name="Isosceles Triangle 55"/>
            <p:cNvSpPr/>
            <p:nvPr/>
          </p:nvSpPr>
          <p:spPr>
            <a:xfrm rot="16200000">
              <a:off x="1725642" y="5518298"/>
              <a:ext cx="248469" cy="112110"/>
            </a:xfrm>
            <a:prstGeom prst="triangle">
              <a:avLst/>
            </a:prstGeom>
            <a:solidFill>
              <a:srgbClr val="87B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Rectangle 56"/>
            <p:cNvSpPr/>
            <p:nvPr/>
          </p:nvSpPr>
          <p:spPr>
            <a:xfrm>
              <a:off x="1976087" y="3455987"/>
              <a:ext cx="6362223" cy="884070"/>
            </a:xfrm>
            <a:prstGeom prst="rect">
              <a:avLst/>
            </a:prstGeom>
          </p:spPr>
          <p:txBody>
            <a:bodyPr wrap="square" lIns="72000" tIns="72000" rIns="108000" bIns="72000">
              <a:spAutoFit/>
            </a:bodyPr>
            <a:lstStyle/>
            <a:p>
              <a:r>
                <a:rPr lang="en-GB" sz="1600" dirty="0"/>
                <a:t>I would use mental methods to solve this question. I would take 500 from both the 1986 and the 60 500 so that I was left with </a:t>
              </a:r>
              <a:r>
                <a:rPr lang="en-GB" sz="1600" dirty="0" smtClean="0"/>
                <a:t/>
              </a:r>
              <a:br>
                <a:rPr lang="en-GB" sz="1600" dirty="0" smtClean="0"/>
              </a:br>
              <a:r>
                <a:rPr lang="en-GB" sz="1600" dirty="0" smtClean="0"/>
                <a:t>60 </a:t>
              </a:r>
              <a:r>
                <a:rPr lang="en-GB" sz="1600" dirty="0"/>
                <a:t>000 minus 1486. The answer to that subtraction is 58 614.</a:t>
              </a:r>
            </a:p>
          </p:txBody>
        </p:sp>
        <p:sp>
          <p:nvSpPr>
            <p:cNvPr id="58" name="TextBox 57"/>
            <p:cNvSpPr txBox="1"/>
            <p:nvPr/>
          </p:nvSpPr>
          <p:spPr>
            <a:xfrm>
              <a:off x="1960597" y="3042962"/>
              <a:ext cx="6377714" cy="338554"/>
            </a:xfrm>
            <a:prstGeom prst="rect">
              <a:avLst/>
            </a:prstGeom>
            <a:solidFill>
              <a:srgbClr val="87BD31"/>
            </a:solidFill>
            <a:ln w="28575">
              <a:noFill/>
            </a:ln>
          </p:spPr>
          <p:txBody>
            <a:bodyPr wrap="square" rtlCol="0">
              <a:spAutoFit/>
            </a:bodyPr>
            <a:lstStyle/>
            <a:p>
              <a:r>
                <a:rPr lang="en-GB" sz="1600" b="1" dirty="0" smtClean="0">
                  <a:solidFill>
                    <a:schemeClr val="bg1"/>
                  </a:solidFill>
                </a:rPr>
                <a:t>Ruby</a:t>
              </a:r>
              <a:endParaRPr lang="en-GB" sz="1600" b="1" dirty="0">
                <a:solidFill>
                  <a:schemeClr val="bg1"/>
                </a:solidFill>
              </a:endParaRPr>
            </a:p>
          </p:txBody>
        </p:sp>
      </p:grpSp>
      <p:pic>
        <p:nvPicPr>
          <p:cNvPr id="66" name="Picture 6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02250" y="532799"/>
            <a:ext cx="702000" cy="702000"/>
          </a:xfrm>
          <a:prstGeom prst="rect">
            <a:avLst/>
          </a:prstGeom>
        </p:spPr>
      </p:pic>
      <p:sp>
        <p:nvSpPr>
          <p:cNvPr id="7" name="Rectangle 6"/>
          <p:cNvSpPr/>
          <p:nvPr/>
        </p:nvSpPr>
        <p:spPr>
          <a:xfrm>
            <a:off x="445574" y="702863"/>
            <a:ext cx="2833085" cy="355276"/>
          </a:xfrm>
          <a:prstGeom prst="rect">
            <a:avLst/>
          </a:prstGeom>
          <a:solidFill>
            <a:srgbClr val="072F54"/>
          </a:solidFill>
        </p:spPr>
        <p:txBody>
          <a:bodyPr wrap="square" lIns="180000" tIns="36000" rIns="180000" bIns="72000" anchor="ctr">
            <a:spAutoFit/>
          </a:bodyPr>
          <a:lstStyle/>
          <a:p>
            <a:r>
              <a:rPr lang="en-GB" altLang="en-US" sz="1600" b="1" dirty="0" smtClean="0">
                <a:solidFill>
                  <a:schemeClr val="bg1"/>
                </a:solidFill>
              </a:rPr>
              <a:t>Add and Subtract Integers</a:t>
            </a:r>
            <a:endParaRPr lang="en-GB" sz="1600" b="1" dirty="0">
              <a:solidFill>
                <a:schemeClr val="bg1"/>
              </a:solidFill>
            </a:endParaRPr>
          </a:p>
        </p:txBody>
      </p:sp>
      <p:sp>
        <p:nvSpPr>
          <p:cNvPr id="30" name="Rectangle 29"/>
          <p:cNvSpPr/>
          <p:nvPr/>
        </p:nvSpPr>
        <p:spPr>
          <a:xfrm>
            <a:off x="3278659" y="702863"/>
            <a:ext cx="1063301" cy="355276"/>
          </a:xfrm>
          <a:prstGeom prst="rect">
            <a:avLst/>
          </a:prstGeom>
          <a:solidFill>
            <a:srgbClr val="007AC3"/>
          </a:solidFill>
        </p:spPr>
        <p:txBody>
          <a:bodyPr wrap="square" lIns="180000" tIns="36000" rIns="180000" bIns="72000" anchor="ctr">
            <a:spAutoFit/>
          </a:bodyPr>
          <a:lstStyle/>
          <a:p>
            <a:pPr algn="ctr"/>
            <a:r>
              <a:rPr lang="en-GB" altLang="en-US" sz="1600" b="1" dirty="0" smtClean="0">
                <a:solidFill>
                  <a:schemeClr val="bg1"/>
                </a:solidFill>
              </a:rPr>
              <a:t>Deeper</a:t>
            </a:r>
            <a:endParaRPr lang="en-GB" sz="1600" b="1" dirty="0">
              <a:solidFill>
                <a:schemeClr val="bg1"/>
              </a:solidFill>
            </a:endParaRPr>
          </a:p>
        </p:txBody>
      </p:sp>
      <p:cxnSp>
        <p:nvCxnSpPr>
          <p:cNvPr id="68" name="Straight Connector 67"/>
          <p:cNvCxnSpPr/>
          <p:nvPr/>
        </p:nvCxnSpPr>
        <p:spPr>
          <a:xfrm>
            <a:off x="3278659" y="698268"/>
            <a:ext cx="0" cy="3960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69813" y="1712320"/>
            <a:ext cx="7606337" cy="514738"/>
          </a:xfrm>
          <a:prstGeom prst="rect">
            <a:avLst/>
          </a:prstGeom>
          <a:noFill/>
          <a:ln w="28575">
            <a:noFill/>
          </a:ln>
        </p:spPr>
        <p:txBody>
          <a:bodyPr wrap="square" lIns="72000" tIns="72000" rIns="72000" bIns="72000" rtlCol="0">
            <a:spAutoFit/>
          </a:bodyPr>
          <a:lstStyle/>
          <a:p>
            <a:pPr algn="ctr"/>
            <a:r>
              <a:rPr lang="en-GB" sz="2400" b="1" dirty="0"/>
              <a:t>60 </a:t>
            </a:r>
            <a:r>
              <a:rPr lang="en-GB" sz="2400" b="1" dirty="0" smtClean="0"/>
              <a:t>500 − 1986</a:t>
            </a:r>
            <a:endParaRPr lang="en-GB" sz="2400" b="1" dirty="0"/>
          </a:p>
        </p:txBody>
      </p:sp>
      <p:sp>
        <p:nvSpPr>
          <p:cNvPr id="10" name="Rectangle 9"/>
          <p:cNvSpPr/>
          <p:nvPr/>
        </p:nvSpPr>
        <p:spPr>
          <a:xfrm>
            <a:off x="776895" y="2225393"/>
            <a:ext cx="7611455" cy="607071"/>
          </a:xfrm>
          <a:prstGeom prst="rect">
            <a:avLst/>
          </a:prstGeom>
          <a:solidFill>
            <a:srgbClr val="009284"/>
          </a:solidFill>
          <a:ln w="28575">
            <a:solidFill>
              <a:srgbClr val="009284"/>
            </a:solidFill>
          </a:ln>
        </p:spPr>
        <p:txBody>
          <a:bodyPr wrap="square" lIns="108000" tIns="72000" rIns="108000" bIns="72000">
            <a:spAutoFit/>
          </a:bodyPr>
          <a:lstStyle/>
          <a:p>
            <a:pPr algn="ctr"/>
            <a:r>
              <a:rPr lang="en-GB" sz="1500" dirty="0">
                <a:solidFill>
                  <a:schemeClr val="bg1"/>
                </a:solidFill>
              </a:rPr>
              <a:t>Each child has made an error in their method. Click on each of the children to see their method</a:t>
            </a:r>
            <a:r>
              <a:rPr lang="en-GB" sz="1500" dirty="0" smtClean="0">
                <a:solidFill>
                  <a:schemeClr val="bg1"/>
                </a:solidFill>
              </a:rPr>
              <a:t>. Explain </a:t>
            </a:r>
            <a:r>
              <a:rPr lang="en-GB" sz="1500" dirty="0">
                <a:solidFill>
                  <a:schemeClr val="bg1"/>
                </a:solidFill>
              </a:rPr>
              <a:t>the error that each child has made and how you would correct it. </a:t>
            </a:r>
          </a:p>
        </p:txBody>
      </p:sp>
      <p:sp>
        <p:nvSpPr>
          <p:cNvPr id="12" name="Rectangle 11"/>
          <p:cNvSpPr/>
          <p:nvPr/>
        </p:nvSpPr>
        <p:spPr>
          <a:xfrm>
            <a:off x="769814" y="1297808"/>
            <a:ext cx="7618536" cy="376239"/>
          </a:xfrm>
          <a:prstGeom prst="rect">
            <a:avLst/>
          </a:prstGeom>
          <a:solidFill>
            <a:schemeClr val="bg1"/>
          </a:solidFill>
          <a:ln w="28575">
            <a:solidFill>
              <a:srgbClr val="009284"/>
            </a:solidFill>
          </a:ln>
        </p:spPr>
        <p:txBody>
          <a:bodyPr wrap="square" lIns="108000" tIns="72000" rIns="108000" bIns="72000">
            <a:spAutoFit/>
          </a:bodyPr>
          <a:lstStyle/>
          <a:p>
            <a:pPr algn="ctr"/>
            <a:r>
              <a:rPr lang="en-GB" sz="1500" dirty="0"/>
              <a:t>Three children are discussing the most </a:t>
            </a:r>
            <a:r>
              <a:rPr lang="en-GB" sz="1500" dirty="0" smtClean="0"/>
              <a:t>efficient </a:t>
            </a:r>
            <a:r>
              <a:rPr lang="en-GB" sz="1500" dirty="0"/>
              <a:t>way to solve this question: </a:t>
            </a:r>
          </a:p>
        </p:txBody>
      </p:sp>
      <p:grpSp>
        <p:nvGrpSpPr>
          <p:cNvPr id="21" name="Oliver Picture"/>
          <p:cNvGrpSpPr/>
          <p:nvPr/>
        </p:nvGrpSpPr>
        <p:grpSpPr>
          <a:xfrm>
            <a:off x="776895" y="2950438"/>
            <a:ext cx="968858" cy="983308"/>
            <a:chOff x="4679896" y="1234799"/>
            <a:chExt cx="1135465" cy="1152401"/>
          </a:xfrm>
        </p:grpSpPr>
        <p:sp>
          <p:nvSpPr>
            <p:cNvPr id="2" name="Oval 1"/>
            <p:cNvSpPr/>
            <p:nvPr/>
          </p:nvSpPr>
          <p:spPr>
            <a:xfrm>
              <a:off x="4679897" y="1234799"/>
              <a:ext cx="1135464" cy="1135464"/>
            </a:xfrm>
            <a:prstGeom prst="ellipse">
              <a:avLst/>
            </a:prstGeom>
            <a:solidFill>
              <a:srgbClr val="2BB7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Picture 2"/>
            <p:cNvPicPr>
              <a:picLocks noChangeAspect="1"/>
            </p:cNvPicPr>
            <p:nvPr/>
          </p:nvPicPr>
          <p:blipFill rotWithShape="1">
            <a:blip r:embed="rId4" cstate="print">
              <a:extLst>
                <a:ext uri="{28A0092B-C50C-407E-A947-70E740481C1C}">
                  <a14:useLocalDpi xmlns:a14="http://schemas.microsoft.com/office/drawing/2010/main" val="0"/>
                </a:ext>
              </a:extLst>
            </a:blip>
            <a:srcRect l="11241" t="-2900" r="9291" b="76734"/>
            <a:stretch/>
          </p:blipFill>
          <p:spPr>
            <a:xfrm>
              <a:off x="4679896" y="1234799"/>
              <a:ext cx="1135465" cy="1152401"/>
            </a:xfrm>
            <a:prstGeom prst="ellipse">
              <a:avLst/>
            </a:prstGeom>
          </p:spPr>
        </p:pic>
      </p:grpSp>
      <p:grpSp>
        <p:nvGrpSpPr>
          <p:cNvPr id="26" name="Ciara Picture"/>
          <p:cNvGrpSpPr/>
          <p:nvPr/>
        </p:nvGrpSpPr>
        <p:grpSpPr>
          <a:xfrm>
            <a:off x="776896" y="4027408"/>
            <a:ext cx="968857" cy="968856"/>
            <a:chOff x="4017593" y="2381119"/>
            <a:chExt cx="1135464" cy="1135464"/>
          </a:xfrm>
        </p:grpSpPr>
        <p:sp>
          <p:nvSpPr>
            <p:cNvPr id="13" name="Oval 12"/>
            <p:cNvSpPr/>
            <p:nvPr/>
          </p:nvSpPr>
          <p:spPr>
            <a:xfrm>
              <a:off x="4017593" y="2381119"/>
              <a:ext cx="1135464" cy="1135464"/>
            </a:xfrm>
            <a:prstGeom prst="ellipse">
              <a:avLst/>
            </a:prstGeom>
            <a:solidFill>
              <a:srgbClr val="E3C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8" name="Picture 17"/>
            <p:cNvPicPr>
              <a:picLocks noChangeAspect="1"/>
            </p:cNvPicPr>
            <p:nvPr/>
          </p:nvPicPr>
          <p:blipFill rotWithShape="1">
            <a:blip r:embed="rId5" cstate="print">
              <a:extLst>
                <a:ext uri="{28A0092B-C50C-407E-A947-70E740481C1C}">
                  <a14:useLocalDpi xmlns:a14="http://schemas.microsoft.com/office/drawing/2010/main" val="0"/>
                </a:ext>
              </a:extLst>
            </a:blip>
            <a:srcRect l="11418" t="-4633" r="6476" b="79612"/>
            <a:stretch/>
          </p:blipFill>
          <p:spPr>
            <a:xfrm>
              <a:off x="4017593" y="2393646"/>
              <a:ext cx="1135464" cy="1118526"/>
            </a:xfrm>
            <a:prstGeom prst="ellipse">
              <a:avLst/>
            </a:prstGeom>
          </p:spPr>
        </p:pic>
      </p:grpSp>
      <p:grpSp>
        <p:nvGrpSpPr>
          <p:cNvPr id="27" name="Ruby Picture"/>
          <p:cNvGrpSpPr/>
          <p:nvPr/>
        </p:nvGrpSpPr>
        <p:grpSpPr>
          <a:xfrm>
            <a:off x="776896" y="5089926"/>
            <a:ext cx="968857" cy="968856"/>
            <a:chOff x="5345835" y="2376708"/>
            <a:chExt cx="1135464" cy="1135464"/>
          </a:xfrm>
        </p:grpSpPr>
        <p:sp>
          <p:nvSpPr>
            <p:cNvPr id="14" name="Oval 13"/>
            <p:cNvSpPr/>
            <p:nvPr/>
          </p:nvSpPr>
          <p:spPr>
            <a:xfrm>
              <a:off x="5345835" y="2376708"/>
              <a:ext cx="1135464" cy="1135464"/>
            </a:xfrm>
            <a:prstGeom prst="ellipse">
              <a:avLst/>
            </a:prstGeom>
            <a:solidFill>
              <a:srgbClr val="87B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7" name="Picture 16"/>
            <p:cNvPicPr>
              <a:picLocks noChangeAspect="1"/>
            </p:cNvPicPr>
            <p:nvPr/>
          </p:nvPicPr>
          <p:blipFill rotWithShape="1">
            <a:blip r:embed="rId6" cstate="print">
              <a:extLst>
                <a:ext uri="{28A0092B-C50C-407E-A947-70E740481C1C}">
                  <a14:useLocalDpi xmlns:a14="http://schemas.microsoft.com/office/drawing/2010/main" val="0"/>
                </a:ext>
              </a:extLst>
            </a:blip>
            <a:srcRect l="9545" t="-3015" r="8821" b="76216"/>
            <a:stretch/>
          </p:blipFill>
          <p:spPr>
            <a:xfrm>
              <a:off x="5345835" y="2376708"/>
              <a:ext cx="1135464" cy="1135464"/>
            </a:xfrm>
            <a:prstGeom prst="ellipse">
              <a:avLst/>
            </a:prstGeom>
          </p:spPr>
        </p:pic>
      </p:grpSp>
      <p:grpSp>
        <p:nvGrpSpPr>
          <p:cNvPr id="32" name="Oliver"/>
          <p:cNvGrpSpPr/>
          <p:nvPr/>
        </p:nvGrpSpPr>
        <p:grpSpPr>
          <a:xfrm>
            <a:off x="1781403" y="2982914"/>
            <a:ext cx="6606947" cy="3057843"/>
            <a:chOff x="1781403" y="2982914"/>
            <a:chExt cx="6606947" cy="3057843"/>
          </a:xfrm>
        </p:grpSpPr>
        <p:grpSp>
          <p:nvGrpSpPr>
            <p:cNvPr id="28" name="Oliver"/>
            <p:cNvGrpSpPr/>
            <p:nvPr/>
          </p:nvGrpSpPr>
          <p:grpSpPr>
            <a:xfrm>
              <a:off x="1781403" y="2982914"/>
              <a:ext cx="6606947" cy="3057843"/>
              <a:chOff x="1781403" y="2982914"/>
              <a:chExt cx="6606947" cy="3057843"/>
            </a:xfrm>
          </p:grpSpPr>
          <p:sp>
            <p:nvSpPr>
              <p:cNvPr id="20" name="Rectangle 19"/>
              <p:cNvSpPr/>
              <p:nvPr/>
            </p:nvSpPr>
            <p:spPr>
              <a:xfrm>
                <a:off x="1906859" y="2982914"/>
                <a:ext cx="6481491" cy="3057843"/>
              </a:xfrm>
              <a:prstGeom prst="rect">
                <a:avLst/>
              </a:prstGeom>
              <a:solidFill>
                <a:schemeClr val="bg1"/>
              </a:solidFill>
              <a:ln w="28575">
                <a:solidFill>
                  <a:srgbClr val="2BB7B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4" name="Picture 23"/>
              <p:cNvPicPr>
                <a:picLocks noChangeAspect="1"/>
              </p:cNvPicPr>
              <p:nvPr/>
            </p:nvPicPr>
            <p:blipFill>
              <a:blip r:embed="rId7"/>
              <a:stretch>
                <a:fillRect/>
              </a:stretch>
            </p:blipFill>
            <p:spPr>
              <a:xfrm>
                <a:off x="1961357" y="3447400"/>
                <a:ext cx="3145809" cy="1310754"/>
              </a:xfrm>
              <a:prstGeom prst="rect">
                <a:avLst/>
              </a:prstGeom>
            </p:spPr>
          </p:pic>
          <p:sp>
            <p:nvSpPr>
              <p:cNvPr id="22" name="Rectangle 21"/>
              <p:cNvSpPr/>
              <p:nvPr/>
            </p:nvSpPr>
            <p:spPr>
              <a:xfrm>
                <a:off x="1976848" y="3450426"/>
                <a:ext cx="3138580" cy="1130291"/>
              </a:xfrm>
              <a:prstGeom prst="rect">
                <a:avLst/>
              </a:prstGeom>
            </p:spPr>
            <p:txBody>
              <a:bodyPr wrap="square" lIns="72000" tIns="72000" rIns="108000" bIns="72000">
                <a:spAutoFit/>
              </a:bodyPr>
              <a:lstStyle/>
              <a:p>
                <a:r>
                  <a:rPr lang="en-GB" sz="1600" dirty="0" smtClean="0"/>
                  <a:t>I </a:t>
                </a:r>
                <a:r>
                  <a:rPr lang="en-GB" sz="1600" dirty="0"/>
                  <a:t>think the best way to solve </a:t>
                </a:r>
                <a:r>
                  <a:rPr lang="en-GB" sz="1600" dirty="0" smtClean="0"/>
                  <a:t/>
                </a:r>
                <a:br>
                  <a:rPr lang="en-GB" sz="1600" dirty="0" smtClean="0"/>
                </a:br>
                <a:r>
                  <a:rPr lang="en-GB" sz="1600" dirty="0" smtClean="0"/>
                  <a:t>this </a:t>
                </a:r>
                <a:r>
                  <a:rPr lang="en-GB" sz="1600" dirty="0"/>
                  <a:t>calculation is to place it </a:t>
                </a:r>
                <a:r>
                  <a:rPr lang="en-GB" sz="1600" dirty="0" smtClean="0"/>
                  <a:t/>
                </a:r>
                <a:br>
                  <a:rPr lang="en-GB" sz="1600" dirty="0" smtClean="0"/>
                </a:br>
                <a:r>
                  <a:rPr lang="en-GB" sz="1600" dirty="0" smtClean="0"/>
                  <a:t>in </a:t>
                </a:r>
                <a:r>
                  <a:rPr lang="en-GB" sz="1600" dirty="0"/>
                  <a:t>columns and do column </a:t>
                </a:r>
                <a:r>
                  <a:rPr lang="en-GB" sz="1600" dirty="0" smtClean="0"/>
                  <a:t>subtraction.</a:t>
                </a:r>
                <a:endParaRPr lang="en-GB" sz="1600" dirty="0"/>
              </a:p>
            </p:txBody>
          </p:sp>
          <p:sp>
            <p:nvSpPr>
              <p:cNvPr id="25" name="TextBox 24"/>
              <p:cNvSpPr txBox="1"/>
              <p:nvPr/>
            </p:nvSpPr>
            <p:spPr>
              <a:xfrm>
                <a:off x="1961357" y="3037401"/>
                <a:ext cx="6377714" cy="338554"/>
              </a:xfrm>
              <a:prstGeom prst="rect">
                <a:avLst/>
              </a:prstGeom>
              <a:solidFill>
                <a:srgbClr val="2BB7BD"/>
              </a:solidFill>
              <a:ln w="28575">
                <a:noFill/>
              </a:ln>
            </p:spPr>
            <p:txBody>
              <a:bodyPr wrap="square" rtlCol="0">
                <a:spAutoFit/>
              </a:bodyPr>
              <a:lstStyle/>
              <a:p>
                <a:r>
                  <a:rPr lang="en-GB" sz="1600" b="1" dirty="0" smtClean="0">
                    <a:solidFill>
                      <a:schemeClr val="bg1"/>
                    </a:solidFill>
                  </a:rPr>
                  <a:t>Oliver</a:t>
                </a:r>
                <a:endParaRPr lang="en-GB" sz="1600" b="1" dirty="0">
                  <a:solidFill>
                    <a:schemeClr val="bg1"/>
                  </a:solidFill>
                </a:endParaRPr>
              </a:p>
            </p:txBody>
          </p:sp>
          <p:sp>
            <p:nvSpPr>
              <p:cNvPr id="34" name="Isosceles Triangle 33"/>
              <p:cNvSpPr/>
              <p:nvPr/>
            </p:nvSpPr>
            <p:spPr>
              <a:xfrm rot="16200000">
                <a:off x="1713223" y="3444494"/>
                <a:ext cx="248469" cy="112110"/>
              </a:xfrm>
              <a:prstGeom prst="triangle">
                <a:avLst/>
              </a:prstGeom>
              <a:solidFill>
                <a:srgbClr val="2BB7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16" name="Picture 15"/>
            <p:cNvPicPr>
              <a:picLocks noChangeAspect="1"/>
            </p:cNvPicPr>
            <p:nvPr/>
          </p:nvPicPr>
          <p:blipFill>
            <a:blip r:embed="rId8"/>
            <a:stretch>
              <a:fillRect/>
            </a:stretch>
          </p:blipFill>
          <p:spPr>
            <a:xfrm>
              <a:off x="5788637" y="3426471"/>
              <a:ext cx="1926503" cy="1280271"/>
            </a:xfrm>
            <a:prstGeom prst="rect">
              <a:avLst/>
            </a:prstGeom>
          </p:spPr>
        </p:pic>
      </p:grpSp>
      <p:pic>
        <p:nvPicPr>
          <p:cNvPr id="64" name="1"/>
          <p:cNvPicPr>
            <a:picLocks noChangeAspect="1"/>
          </p:cNvPicPr>
          <p:nvPr/>
        </p:nvPicPr>
        <p:blipFill rotWithShape="1">
          <a:blip r:embed="rId9">
            <a:extLst>
              <a:ext uri="{28A0092B-C50C-407E-A947-70E740481C1C}">
                <a14:useLocalDpi xmlns:a14="http://schemas.microsoft.com/office/drawing/2010/main" val="0"/>
              </a:ext>
            </a:extLst>
          </a:blip>
          <a:srcRect l="19464" t="42619"/>
          <a:stretch/>
        </p:blipFill>
        <p:spPr>
          <a:xfrm>
            <a:off x="1779814" y="2922814"/>
            <a:ext cx="7364185" cy="3935186"/>
          </a:xfrm>
          <a:prstGeom prst="rect">
            <a:avLst/>
          </a:prstGeom>
        </p:spPr>
      </p:pic>
      <p:sp>
        <p:nvSpPr>
          <p:cNvPr id="19" name="Answer Oliver"/>
          <p:cNvSpPr/>
          <p:nvPr/>
        </p:nvSpPr>
        <p:spPr>
          <a:xfrm>
            <a:off x="1929161" y="4863157"/>
            <a:ext cx="6099718" cy="1151021"/>
          </a:xfrm>
          <a:prstGeom prst="rect">
            <a:avLst/>
          </a:prstGeom>
          <a:solidFill>
            <a:schemeClr val="bg1"/>
          </a:solidFill>
          <a:ln w="28575">
            <a:solidFill>
              <a:srgbClr val="87BD31"/>
            </a:solidFill>
          </a:ln>
        </p:spPr>
        <p:txBody>
          <a:bodyPr wrap="square" lIns="108000" tIns="72000" rIns="108000" bIns="72000">
            <a:noAutofit/>
          </a:bodyPr>
          <a:lstStyle/>
          <a:p>
            <a:r>
              <a:rPr lang="en-GB" sz="1600" dirty="0"/>
              <a:t>Oliver has incorrectly exchanged between the </a:t>
            </a:r>
            <a:r>
              <a:rPr lang="en-GB" sz="1600" dirty="0" smtClean="0"/>
              <a:t>ten </a:t>
            </a:r>
            <a:r>
              <a:rPr lang="en-GB" sz="1600" dirty="0"/>
              <a:t>thousands column and the hundreds column. He has also taken away a greater number from a smaller number in the ones, tens and hundreds columns instead of exchanging. </a:t>
            </a:r>
          </a:p>
        </p:txBody>
      </p:sp>
      <p:grpSp>
        <p:nvGrpSpPr>
          <p:cNvPr id="5" name="Answer Button Oliver"/>
          <p:cNvGrpSpPr/>
          <p:nvPr/>
        </p:nvGrpSpPr>
        <p:grpSpPr>
          <a:xfrm>
            <a:off x="8049477" y="4863158"/>
            <a:ext cx="307777" cy="1151020"/>
            <a:chOff x="8049477" y="4863158"/>
            <a:chExt cx="307777" cy="1151020"/>
          </a:xfrm>
        </p:grpSpPr>
        <p:sp>
          <p:nvSpPr>
            <p:cNvPr id="38" name="TextBox 37"/>
            <p:cNvSpPr txBox="1"/>
            <p:nvPr/>
          </p:nvSpPr>
          <p:spPr>
            <a:xfrm rot="16200000" flipH="1">
              <a:off x="7627856" y="5284779"/>
              <a:ext cx="1151020" cy="307777"/>
            </a:xfrm>
            <a:prstGeom prst="rect">
              <a:avLst/>
            </a:prstGeom>
            <a:solidFill>
              <a:srgbClr val="87BD31"/>
            </a:solidFill>
            <a:ln w="28575">
              <a:solidFill>
                <a:srgbClr val="87BD31"/>
              </a:solidFill>
            </a:ln>
          </p:spPr>
          <p:txBody>
            <a:bodyPr wrap="square" lIns="144000" rtlCol="0">
              <a:spAutoFit/>
            </a:bodyPr>
            <a:lstStyle/>
            <a:p>
              <a:r>
                <a:rPr lang="en-GB" sz="1400" b="1" dirty="0" smtClean="0">
                  <a:solidFill>
                    <a:schemeClr val="bg1"/>
                  </a:solidFill>
                </a:rPr>
                <a:t>Answer</a:t>
              </a:r>
              <a:endParaRPr lang="en-GB" sz="1400" b="1" dirty="0">
                <a:solidFill>
                  <a:schemeClr val="bg1"/>
                </a:solidFill>
              </a:endParaRPr>
            </a:p>
          </p:txBody>
        </p:sp>
        <p:sp>
          <p:nvSpPr>
            <p:cNvPr id="4" name="Isosceles Triangle 3"/>
            <p:cNvSpPr/>
            <p:nvPr/>
          </p:nvSpPr>
          <p:spPr>
            <a:xfrm rot="16200000">
              <a:off x="8136126" y="5048021"/>
              <a:ext cx="141540" cy="9692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5" name="Ciara Box"/>
          <p:cNvGrpSpPr/>
          <p:nvPr/>
        </p:nvGrpSpPr>
        <p:grpSpPr>
          <a:xfrm>
            <a:off x="1788700" y="2982914"/>
            <a:ext cx="6599650" cy="3057843"/>
            <a:chOff x="1788700" y="2982914"/>
            <a:chExt cx="6599650" cy="3057843"/>
          </a:xfrm>
        </p:grpSpPr>
        <p:sp>
          <p:nvSpPr>
            <p:cNvPr id="36" name="Rectangle 35"/>
            <p:cNvSpPr/>
            <p:nvPr/>
          </p:nvSpPr>
          <p:spPr>
            <a:xfrm>
              <a:off x="1906859" y="2982914"/>
              <a:ext cx="6481491" cy="3057843"/>
            </a:xfrm>
            <a:prstGeom prst="rect">
              <a:avLst/>
            </a:prstGeom>
            <a:solidFill>
              <a:schemeClr val="bg1"/>
            </a:solidFill>
            <a:ln w="28575">
              <a:solidFill>
                <a:srgbClr val="E3C1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3" name="Picture 32"/>
            <p:cNvPicPr>
              <a:picLocks noChangeAspect="1"/>
            </p:cNvPicPr>
            <p:nvPr/>
          </p:nvPicPr>
          <p:blipFill>
            <a:blip r:embed="rId10"/>
            <a:stretch>
              <a:fillRect/>
            </a:stretch>
          </p:blipFill>
          <p:spPr>
            <a:xfrm>
              <a:off x="1970343" y="3426118"/>
              <a:ext cx="6364776" cy="1091279"/>
            </a:xfrm>
            <a:prstGeom prst="rect">
              <a:avLst/>
            </a:prstGeom>
          </p:spPr>
        </p:pic>
        <p:sp>
          <p:nvSpPr>
            <p:cNvPr id="41" name="Isosceles Triangle 40"/>
            <p:cNvSpPr/>
            <p:nvPr/>
          </p:nvSpPr>
          <p:spPr>
            <a:xfrm rot="16200000">
              <a:off x="1720520" y="4455779"/>
              <a:ext cx="248469" cy="112110"/>
            </a:xfrm>
            <a:prstGeom prst="triangle">
              <a:avLst/>
            </a:prstGeom>
            <a:solidFill>
              <a:srgbClr val="E3C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Rectangle 42"/>
            <p:cNvSpPr/>
            <p:nvPr/>
          </p:nvSpPr>
          <p:spPr>
            <a:xfrm>
              <a:off x="1970343" y="3450426"/>
              <a:ext cx="6362223" cy="884070"/>
            </a:xfrm>
            <a:prstGeom prst="rect">
              <a:avLst/>
            </a:prstGeom>
          </p:spPr>
          <p:txBody>
            <a:bodyPr wrap="square" lIns="72000" tIns="72000" rIns="108000" bIns="72000">
              <a:spAutoFit/>
            </a:bodyPr>
            <a:lstStyle/>
            <a:p>
              <a:r>
                <a:rPr lang="en-GB" sz="1600" dirty="0"/>
                <a:t>I think the most efficient way to solve 60 500 - 1986  is to use mental methods. I would take 2000 away from 60 500 and then add 14 back on. That would leave me with 57 514.</a:t>
              </a:r>
            </a:p>
          </p:txBody>
        </p:sp>
        <p:sp>
          <p:nvSpPr>
            <p:cNvPr id="44" name="TextBox 43"/>
            <p:cNvSpPr txBox="1"/>
            <p:nvPr/>
          </p:nvSpPr>
          <p:spPr>
            <a:xfrm>
              <a:off x="1954853" y="3037401"/>
              <a:ext cx="6377714" cy="338554"/>
            </a:xfrm>
            <a:prstGeom prst="rect">
              <a:avLst/>
            </a:prstGeom>
            <a:solidFill>
              <a:srgbClr val="E3C101"/>
            </a:solidFill>
            <a:ln w="28575">
              <a:noFill/>
            </a:ln>
          </p:spPr>
          <p:txBody>
            <a:bodyPr wrap="square" rtlCol="0">
              <a:spAutoFit/>
            </a:bodyPr>
            <a:lstStyle/>
            <a:p>
              <a:r>
                <a:rPr lang="en-GB" sz="1600" b="1" dirty="0" smtClean="0">
                  <a:solidFill>
                    <a:schemeClr val="bg1"/>
                  </a:solidFill>
                </a:rPr>
                <a:t>Ciara</a:t>
              </a:r>
              <a:endParaRPr lang="en-GB" sz="1600" b="1" dirty="0">
                <a:solidFill>
                  <a:schemeClr val="bg1"/>
                </a:solidFill>
              </a:endParaRPr>
            </a:p>
          </p:txBody>
        </p:sp>
      </p:grpSp>
      <p:sp>
        <p:nvSpPr>
          <p:cNvPr id="46" name="Answer Ciara"/>
          <p:cNvSpPr/>
          <p:nvPr/>
        </p:nvSpPr>
        <p:spPr>
          <a:xfrm>
            <a:off x="1932143" y="4861470"/>
            <a:ext cx="6099718" cy="1151021"/>
          </a:xfrm>
          <a:prstGeom prst="rect">
            <a:avLst/>
          </a:prstGeom>
          <a:solidFill>
            <a:schemeClr val="bg1"/>
          </a:solidFill>
          <a:ln w="28575">
            <a:solidFill>
              <a:srgbClr val="87BD31"/>
            </a:solidFill>
          </a:ln>
        </p:spPr>
        <p:txBody>
          <a:bodyPr wrap="square" lIns="108000" tIns="72000" rIns="108000" bIns="72000" anchor="ctr">
            <a:noAutofit/>
          </a:bodyPr>
          <a:lstStyle/>
          <a:p>
            <a:r>
              <a:rPr lang="en-GB" sz="1600" dirty="0"/>
              <a:t>Ciara’s method is correct but when calculating, she has taken away 3000 from her number instead of 2000. This means that her answer is now 1000 too small.</a:t>
            </a:r>
          </a:p>
        </p:txBody>
      </p:sp>
      <p:grpSp>
        <p:nvGrpSpPr>
          <p:cNvPr id="47" name="Answer Button Ciara"/>
          <p:cNvGrpSpPr/>
          <p:nvPr/>
        </p:nvGrpSpPr>
        <p:grpSpPr>
          <a:xfrm>
            <a:off x="8052459" y="4861471"/>
            <a:ext cx="307777" cy="1151020"/>
            <a:chOff x="8049477" y="4863158"/>
            <a:chExt cx="307777" cy="1151020"/>
          </a:xfrm>
        </p:grpSpPr>
        <p:sp>
          <p:nvSpPr>
            <p:cNvPr id="48" name="TextBox 47"/>
            <p:cNvSpPr txBox="1"/>
            <p:nvPr/>
          </p:nvSpPr>
          <p:spPr>
            <a:xfrm rot="16200000" flipH="1">
              <a:off x="7627856" y="5284779"/>
              <a:ext cx="1151020" cy="307777"/>
            </a:xfrm>
            <a:prstGeom prst="rect">
              <a:avLst/>
            </a:prstGeom>
            <a:solidFill>
              <a:srgbClr val="87BD31"/>
            </a:solidFill>
            <a:ln w="28575">
              <a:solidFill>
                <a:srgbClr val="87BD31"/>
              </a:solidFill>
            </a:ln>
          </p:spPr>
          <p:txBody>
            <a:bodyPr wrap="square" lIns="144000" rtlCol="0">
              <a:spAutoFit/>
            </a:bodyPr>
            <a:lstStyle/>
            <a:p>
              <a:r>
                <a:rPr lang="en-GB" sz="1400" b="1" dirty="0" smtClean="0">
                  <a:solidFill>
                    <a:schemeClr val="bg1"/>
                  </a:solidFill>
                </a:rPr>
                <a:t>Answer</a:t>
              </a:r>
              <a:endParaRPr lang="en-GB" sz="1400" b="1" dirty="0">
                <a:solidFill>
                  <a:schemeClr val="bg1"/>
                </a:solidFill>
              </a:endParaRPr>
            </a:p>
          </p:txBody>
        </p:sp>
        <p:sp>
          <p:nvSpPr>
            <p:cNvPr id="49" name="Isosceles Triangle 48"/>
            <p:cNvSpPr/>
            <p:nvPr/>
          </p:nvSpPr>
          <p:spPr>
            <a:xfrm rot="16200000">
              <a:off x="8136126" y="5048021"/>
              <a:ext cx="141540" cy="9692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52" name="Answer Ruby"/>
          <p:cNvSpPr/>
          <p:nvPr/>
        </p:nvSpPr>
        <p:spPr>
          <a:xfrm>
            <a:off x="1934905" y="4868718"/>
            <a:ext cx="6099718" cy="1151021"/>
          </a:xfrm>
          <a:prstGeom prst="rect">
            <a:avLst/>
          </a:prstGeom>
          <a:solidFill>
            <a:schemeClr val="bg1"/>
          </a:solidFill>
          <a:ln w="28575">
            <a:solidFill>
              <a:srgbClr val="87BD31"/>
            </a:solidFill>
          </a:ln>
        </p:spPr>
        <p:txBody>
          <a:bodyPr wrap="square" lIns="108000" tIns="72000" rIns="108000" bIns="72000" anchor="ctr">
            <a:noAutofit/>
          </a:bodyPr>
          <a:lstStyle/>
          <a:p>
            <a:r>
              <a:rPr lang="en-GB" sz="1600" dirty="0"/>
              <a:t>Ruby’s method is correct but she has miscalculated her final answer by making an error in the final subtraction. She has taken away 100 too many. The correct answer would be 58 514.</a:t>
            </a:r>
          </a:p>
        </p:txBody>
      </p:sp>
      <p:grpSp>
        <p:nvGrpSpPr>
          <p:cNvPr id="59" name="Answer Button Ruby"/>
          <p:cNvGrpSpPr/>
          <p:nvPr/>
        </p:nvGrpSpPr>
        <p:grpSpPr>
          <a:xfrm>
            <a:off x="8057596" y="4868718"/>
            <a:ext cx="307777" cy="1151020"/>
            <a:chOff x="8049477" y="4863158"/>
            <a:chExt cx="307777" cy="1151020"/>
          </a:xfrm>
        </p:grpSpPr>
        <p:sp>
          <p:nvSpPr>
            <p:cNvPr id="60" name="TextBox 59"/>
            <p:cNvSpPr txBox="1"/>
            <p:nvPr/>
          </p:nvSpPr>
          <p:spPr>
            <a:xfrm rot="16200000" flipH="1">
              <a:off x="7627856" y="5284779"/>
              <a:ext cx="1151020" cy="307777"/>
            </a:xfrm>
            <a:prstGeom prst="rect">
              <a:avLst/>
            </a:prstGeom>
            <a:solidFill>
              <a:srgbClr val="87BD31"/>
            </a:solidFill>
            <a:ln w="28575">
              <a:solidFill>
                <a:srgbClr val="87BD31"/>
              </a:solidFill>
            </a:ln>
          </p:spPr>
          <p:txBody>
            <a:bodyPr wrap="square" lIns="144000" rtlCol="0">
              <a:spAutoFit/>
            </a:bodyPr>
            <a:lstStyle/>
            <a:p>
              <a:r>
                <a:rPr lang="en-GB" sz="1400" b="1" dirty="0" smtClean="0">
                  <a:solidFill>
                    <a:schemeClr val="bg1"/>
                  </a:solidFill>
                </a:rPr>
                <a:t>Answer</a:t>
              </a:r>
              <a:endParaRPr lang="en-GB" sz="1400" b="1" dirty="0">
                <a:solidFill>
                  <a:schemeClr val="bg1"/>
                </a:solidFill>
              </a:endParaRPr>
            </a:p>
          </p:txBody>
        </p:sp>
        <p:sp>
          <p:nvSpPr>
            <p:cNvPr id="61" name="Isosceles Triangle 60"/>
            <p:cNvSpPr/>
            <p:nvPr/>
          </p:nvSpPr>
          <p:spPr>
            <a:xfrm rot="16200000">
              <a:off x="8136126" y="5048021"/>
              <a:ext cx="141540" cy="9692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67" name="Picture 66"/>
          <p:cNvPicPr>
            <a:picLocks noChangeAspect="1"/>
          </p:cNvPicPr>
          <p:nvPr/>
        </p:nvPicPr>
        <p:blipFill rotWithShape="1">
          <a:blip r:embed="rId9">
            <a:extLst>
              <a:ext uri="{28A0092B-C50C-407E-A947-70E740481C1C}">
                <a14:useLocalDpi xmlns:a14="http://schemas.microsoft.com/office/drawing/2010/main" val="0"/>
              </a:ext>
            </a:extLst>
          </a:blip>
          <a:srcRect l="19091" t="42619"/>
          <a:stretch/>
        </p:blipFill>
        <p:spPr>
          <a:xfrm>
            <a:off x="1745754" y="2922814"/>
            <a:ext cx="7398246" cy="3935186"/>
          </a:xfrm>
          <a:prstGeom prst="rect">
            <a:avLst/>
          </a:prstGeom>
        </p:spPr>
      </p:pic>
    </p:spTree>
    <p:extLst>
      <p:ext uri="{BB962C8B-B14F-4D97-AF65-F5344CB8AC3E}">
        <p14:creationId xmlns:p14="http://schemas.microsoft.com/office/powerpoint/2010/main" val="254723848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1"/>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nodeType="withEffect">
                                  <p:stCondLst>
                                    <p:cond delay="0"/>
                                  </p:stCondLst>
                                  <p:childTnLst>
                                    <p:set>
                                      <p:cBhvr>
                                        <p:cTn id="6" dur="1" fill="hold">
                                          <p:stCondLst>
                                            <p:cond delay="0"/>
                                          </p:stCondLst>
                                        </p:cTn>
                                        <p:tgtEl>
                                          <p:spTgt spid="67"/>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64"/>
                                        </p:tgtEl>
                                        <p:attrNameLst>
                                          <p:attrName>style.visibility</p:attrName>
                                        </p:attrNameLst>
                                      </p:cBhvr>
                                      <p:to>
                                        <p:strVal val="hidden"/>
                                      </p:to>
                                    </p:set>
                                  </p:childTnLst>
                                </p:cTn>
                              </p:par>
                              <p:par>
                                <p:cTn id="9" presetID="22" presetClass="entr" presetSubtype="8" fill="hold" nodeType="with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wipe(left)">
                                      <p:cBhvr>
                                        <p:cTn id="11" dur="500"/>
                                        <p:tgtEl>
                                          <p:spTgt spid="32"/>
                                        </p:tgtEl>
                                      </p:cBhvr>
                                    </p:animEffect>
                                  </p:childTnLst>
                                </p:cTn>
                              </p:par>
                              <p:par>
                                <p:cTn id="12" presetID="1" presetClass="exit" presetSubtype="0" fill="hold" nodeType="withEffect">
                                  <p:stCondLst>
                                    <p:cond delay="0"/>
                                  </p:stCondLst>
                                  <p:childTnLst>
                                    <p:set>
                                      <p:cBhvr>
                                        <p:cTn id="13" dur="1" fill="hold">
                                          <p:stCondLst>
                                            <p:cond delay="0"/>
                                          </p:stCondLst>
                                        </p:cTn>
                                        <p:tgtEl>
                                          <p:spTgt spid="59"/>
                                        </p:tgtEl>
                                        <p:attrNameLst>
                                          <p:attrName>style.visibility</p:attrName>
                                        </p:attrNameLst>
                                      </p:cBhvr>
                                      <p:to>
                                        <p:strVal val="hidden"/>
                                      </p:to>
                                    </p:set>
                                  </p:childTnLst>
                                </p:cTn>
                              </p:par>
                              <p:par>
                                <p:cTn id="14" presetID="1" presetClass="exit" presetSubtype="0" fill="hold" grpId="1" nodeType="withEffect">
                                  <p:stCondLst>
                                    <p:cond delay="0"/>
                                  </p:stCondLst>
                                  <p:childTnLst>
                                    <p:set>
                                      <p:cBhvr>
                                        <p:cTn id="15" dur="1" fill="hold">
                                          <p:stCondLst>
                                            <p:cond delay="0"/>
                                          </p:stCondLst>
                                        </p:cTn>
                                        <p:tgtEl>
                                          <p:spTgt spid="52"/>
                                        </p:tgtEl>
                                        <p:attrNameLst>
                                          <p:attrName>style.visibility</p:attrName>
                                        </p:attrNameLst>
                                      </p:cBhvr>
                                      <p:to>
                                        <p:strVal val="hidden"/>
                                      </p:to>
                                    </p:set>
                                  </p:childTnLst>
                                </p:cTn>
                              </p:par>
                              <p:par>
                                <p:cTn id="16" presetID="1" presetClass="exit" presetSubtype="0" fill="hold" nodeType="withEffect">
                                  <p:stCondLst>
                                    <p:cond delay="0"/>
                                  </p:stCondLst>
                                  <p:childTnLst>
                                    <p:set>
                                      <p:cBhvr>
                                        <p:cTn id="17" dur="1" fill="hold">
                                          <p:stCondLst>
                                            <p:cond delay="0"/>
                                          </p:stCondLst>
                                        </p:cTn>
                                        <p:tgtEl>
                                          <p:spTgt spid="63"/>
                                        </p:tgtEl>
                                        <p:attrNameLst>
                                          <p:attrName>style.visibility</p:attrName>
                                        </p:attrNameLst>
                                      </p:cBhvr>
                                      <p:to>
                                        <p:strVal val="hidden"/>
                                      </p:to>
                                    </p:set>
                                  </p:childTnLst>
                                </p:cTn>
                              </p:par>
                              <p:par>
                                <p:cTn id="18" presetID="1" presetClass="exit" presetSubtype="0" fill="hold" nodeType="withEffect">
                                  <p:stCondLst>
                                    <p:cond delay="0"/>
                                  </p:stCondLst>
                                  <p:childTnLst>
                                    <p:set>
                                      <p:cBhvr>
                                        <p:cTn id="19" dur="1" fill="hold">
                                          <p:stCondLst>
                                            <p:cond delay="0"/>
                                          </p:stCondLst>
                                        </p:cTn>
                                        <p:tgtEl>
                                          <p:spTgt spid="35"/>
                                        </p:tgtEl>
                                        <p:attrNameLst>
                                          <p:attrName>style.visibility</p:attrName>
                                        </p:attrNameLst>
                                      </p:cBhvr>
                                      <p:to>
                                        <p:strVal val="hidden"/>
                                      </p:to>
                                    </p:set>
                                  </p:childTnLst>
                                </p:cTn>
                              </p:par>
                              <p:par>
                                <p:cTn id="20" presetID="1" presetClass="exit" presetSubtype="0" fill="hold" nodeType="withEffect">
                                  <p:stCondLst>
                                    <p:cond delay="0"/>
                                  </p:stCondLst>
                                  <p:childTnLst>
                                    <p:set>
                                      <p:cBhvr>
                                        <p:cTn id="21" dur="1" fill="hold">
                                          <p:stCondLst>
                                            <p:cond delay="0"/>
                                          </p:stCondLst>
                                        </p:cTn>
                                        <p:tgtEl>
                                          <p:spTgt spid="47"/>
                                        </p:tgtEl>
                                        <p:attrNameLst>
                                          <p:attrName>style.visibility</p:attrName>
                                        </p:attrNameLst>
                                      </p:cBhvr>
                                      <p:to>
                                        <p:strVal val="hidden"/>
                                      </p:to>
                                    </p:set>
                                  </p:childTnLst>
                                </p:cTn>
                              </p:par>
                              <p:par>
                                <p:cTn id="22" presetID="1" presetClass="exit" presetSubtype="0" fill="hold" grpId="2" nodeType="withEffect">
                                  <p:stCondLst>
                                    <p:cond delay="0"/>
                                  </p:stCondLst>
                                  <p:childTnLst>
                                    <p:set>
                                      <p:cBhvr>
                                        <p:cTn id="23" dur="1" fill="hold">
                                          <p:stCondLst>
                                            <p:cond delay="0"/>
                                          </p:stCondLst>
                                        </p:cTn>
                                        <p:tgtEl>
                                          <p:spTgt spid="46"/>
                                        </p:tgtEl>
                                        <p:attrNameLst>
                                          <p:attrName>style.visibility</p:attrName>
                                        </p:attrNameLst>
                                      </p:cBhvr>
                                      <p:to>
                                        <p:strVal val="hidden"/>
                                      </p:to>
                                    </p:set>
                                  </p:childTnLst>
                                </p:cTn>
                              </p:par>
                            </p:childTnLst>
                          </p:cTn>
                        </p:par>
                        <p:par>
                          <p:cTn id="24" fill="hold">
                            <p:stCondLst>
                              <p:cond delay="500"/>
                            </p:stCondLst>
                            <p:childTnLst>
                              <p:par>
                                <p:cTn id="25" presetID="1" presetClass="entr" presetSubtype="0"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nextCondLst>
                <p:cond evt="onClick" delay="0">
                  <p:tgtEl>
                    <p:spTgt spid="21"/>
                  </p:tgtEl>
                </p:cond>
              </p:nextCondLst>
            </p:seq>
            <p:seq concurrent="1" nextAc="seek">
              <p:cTn id="27" restart="whenNotActive" fill="hold" evtFilter="cancelBubble" nodeType="interactiveSeq">
                <p:stCondLst>
                  <p:cond evt="onClick" delay="0">
                    <p:tgtEl>
                      <p:spTgt spid="5"/>
                    </p:tgtEl>
                  </p:cond>
                </p:stCondLst>
                <p:endSync evt="end" delay="0">
                  <p:rtn val="all"/>
                </p:endSync>
                <p:childTnLst>
                  <p:par>
                    <p:cTn id="28" fill="hold">
                      <p:stCondLst>
                        <p:cond delay="0"/>
                      </p:stCondLst>
                      <p:childTnLst>
                        <p:par>
                          <p:cTn id="29" fill="hold">
                            <p:stCondLst>
                              <p:cond delay="0"/>
                            </p:stCondLst>
                            <p:childTnLst>
                              <p:par>
                                <p:cTn id="30" presetID="22" presetClass="entr" presetSubtype="2"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wipe(right)">
                                      <p:cBhvr>
                                        <p:cTn id="32" dur="500"/>
                                        <p:tgtEl>
                                          <p:spTgt spid="19"/>
                                        </p:tgtEl>
                                      </p:cBhvr>
                                    </p:animEffect>
                                  </p:childTnLst>
                                </p:cTn>
                              </p:par>
                            </p:childTnLst>
                          </p:cTn>
                        </p:par>
                      </p:childTnLst>
                    </p:cTn>
                  </p:par>
                </p:childTnLst>
              </p:cTn>
              <p:nextCondLst>
                <p:cond evt="onClick" delay="0">
                  <p:tgtEl>
                    <p:spTgt spid="5"/>
                  </p:tgtEl>
                </p:cond>
              </p:nextCondLst>
            </p:seq>
            <p:seq concurrent="1" nextAc="seek">
              <p:cTn id="33" restart="whenNotActive" fill="hold" evtFilter="cancelBubble" nodeType="interactiveSeq">
                <p:stCondLst>
                  <p:cond evt="onClick" delay="0">
                    <p:tgtEl>
                      <p:spTgt spid="26"/>
                    </p:tgtEl>
                  </p:cond>
                </p:stCondLst>
                <p:endSync evt="end" delay="0">
                  <p:rtn val="all"/>
                </p:endSync>
                <p:childTnLst>
                  <p:par>
                    <p:cTn id="34" fill="hold">
                      <p:stCondLst>
                        <p:cond delay="0"/>
                      </p:stCondLst>
                      <p:childTnLst>
                        <p:par>
                          <p:cTn id="35" fill="hold">
                            <p:stCondLst>
                              <p:cond delay="0"/>
                            </p:stCondLst>
                            <p:childTnLst>
                              <p:par>
                                <p:cTn id="36" presetID="22" presetClass="entr" presetSubtype="8" fill="hold" nodeType="withEffect">
                                  <p:stCondLst>
                                    <p:cond delay="0"/>
                                  </p:stCondLst>
                                  <p:childTnLst>
                                    <p:set>
                                      <p:cBhvr>
                                        <p:cTn id="37" dur="1" fill="hold">
                                          <p:stCondLst>
                                            <p:cond delay="0"/>
                                          </p:stCondLst>
                                        </p:cTn>
                                        <p:tgtEl>
                                          <p:spTgt spid="35"/>
                                        </p:tgtEl>
                                        <p:attrNameLst>
                                          <p:attrName>style.visibility</p:attrName>
                                        </p:attrNameLst>
                                      </p:cBhvr>
                                      <p:to>
                                        <p:strVal val="visible"/>
                                      </p:to>
                                    </p:set>
                                    <p:animEffect transition="in" filter="wipe(left)">
                                      <p:cBhvr>
                                        <p:cTn id="38" dur="500"/>
                                        <p:tgtEl>
                                          <p:spTgt spid="35"/>
                                        </p:tgtEl>
                                      </p:cBhvr>
                                    </p:animEffect>
                                  </p:childTnLst>
                                </p:cTn>
                              </p:par>
                              <p:par>
                                <p:cTn id="39" presetID="1" presetClass="exit" presetSubtype="0" fill="hold" nodeType="withEffect">
                                  <p:stCondLst>
                                    <p:cond delay="0"/>
                                  </p:stCondLst>
                                  <p:childTnLst>
                                    <p:set>
                                      <p:cBhvr>
                                        <p:cTn id="40" dur="1" fill="hold">
                                          <p:stCondLst>
                                            <p:cond delay="0"/>
                                          </p:stCondLst>
                                        </p:cTn>
                                        <p:tgtEl>
                                          <p:spTgt spid="32"/>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67"/>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5"/>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5"/>
                                        </p:tgtEl>
                                        <p:attrNameLst>
                                          <p:attrName>style.visibility</p:attrName>
                                        </p:attrNameLst>
                                      </p:cBhvr>
                                      <p:to>
                                        <p:strVal val="hidden"/>
                                      </p:to>
                                    </p:set>
                                  </p:childTnLst>
                                </p:cTn>
                              </p:par>
                              <p:par>
                                <p:cTn id="47" presetID="1" presetClass="exit" presetSubtype="0" fill="hold" grpId="1" nodeType="withEffect">
                                  <p:stCondLst>
                                    <p:cond delay="0"/>
                                  </p:stCondLst>
                                  <p:childTnLst>
                                    <p:set>
                                      <p:cBhvr>
                                        <p:cTn id="48" dur="1" fill="hold">
                                          <p:stCondLst>
                                            <p:cond delay="0"/>
                                          </p:stCondLst>
                                        </p:cTn>
                                        <p:tgtEl>
                                          <p:spTgt spid="19"/>
                                        </p:tgtEl>
                                        <p:attrNameLst>
                                          <p:attrName>style.visibility</p:attrName>
                                        </p:attrNameLst>
                                      </p:cBhvr>
                                      <p:to>
                                        <p:strVal val="hidden"/>
                                      </p:to>
                                    </p:set>
                                  </p:childTnLst>
                                </p:cTn>
                              </p:par>
                              <p:par>
                                <p:cTn id="49" presetID="1" presetClass="exit" presetSubtype="0" fill="hold" nodeType="withEffect">
                                  <p:stCondLst>
                                    <p:cond delay="0"/>
                                  </p:stCondLst>
                                  <p:childTnLst>
                                    <p:set>
                                      <p:cBhvr>
                                        <p:cTn id="50" dur="1" fill="hold">
                                          <p:stCondLst>
                                            <p:cond delay="0"/>
                                          </p:stCondLst>
                                        </p:cTn>
                                        <p:tgtEl>
                                          <p:spTgt spid="59"/>
                                        </p:tgtEl>
                                        <p:attrNameLst>
                                          <p:attrName>style.visibility</p:attrName>
                                        </p:attrNameLst>
                                      </p:cBhvr>
                                      <p:to>
                                        <p:strVal val="hidden"/>
                                      </p:to>
                                    </p:set>
                                  </p:childTnLst>
                                </p:cTn>
                              </p:par>
                              <p:par>
                                <p:cTn id="51" presetID="1" presetClass="exit" presetSubtype="0" fill="hold" grpId="2" nodeType="withEffect">
                                  <p:stCondLst>
                                    <p:cond delay="0"/>
                                  </p:stCondLst>
                                  <p:childTnLst>
                                    <p:set>
                                      <p:cBhvr>
                                        <p:cTn id="52" dur="1" fill="hold">
                                          <p:stCondLst>
                                            <p:cond delay="0"/>
                                          </p:stCondLst>
                                        </p:cTn>
                                        <p:tgtEl>
                                          <p:spTgt spid="52"/>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63"/>
                                        </p:tgtEl>
                                        <p:attrNameLst>
                                          <p:attrName>style.visibility</p:attrName>
                                        </p:attrNameLst>
                                      </p:cBhvr>
                                      <p:to>
                                        <p:strVal val="hidden"/>
                                      </p:to>
                                    </p:set>
                                  </p:childTnLst>
                                </p:cTn>
                              </p:par>
                            </p:childTnLst>
                          </p:cTn>
                        </p:par>
                        <p:par>
                          <p:cTn id="55" fill="hold">
                            <p:stCondLst>
                              <p:cond delay="500"/>
                            </p:stCondLst>
                            <p:childTnLst>
                              <p:par>
                                <p:cTn id="56" presetID="1" presetClass="entr" presetSubtype="0" fill="hold" nodeType="afterEffect">
                                  <p:stCondLst>
                                    <p:cond delay="0"/>
                                  </p:stCondLst>
                                  <p:childTnLst>
                                    <p:set>
                                      <p:cBhvr>
                                        <p:cTn id="57" dur="1" fill="hold">
                                          <p:stCondLst>
                                            <p:cond delay="0"/>
                                          </p:stCondLst>
                                        </p:cTn>
                                        <p:tgtEl>
                                          <p:spTgt spid="47"/>
                                        </p:tgtEl>
                                        <p:attrNameLst>
                                          <p:attrName>style.visibility</p:attrName>
                                        </p:attrNameLst>
                                      </p:cBhvr>
                                      <p:to>
                                        <p:strVal val="visible"/>
                                      </p:to>
                                    </p:set>
                                  </p:childTnLst>
                                </p:cTn>
                              </p:par>
                            </p:childTnLst>
                          </p:cTn>
                        </p:par>
                      </p:childTnLst>
                    </p:cTn>
                  </p:par>
                </p:childTnLst>
              </p:cTn>
              <p:nextCondLst>
                <p:cond evt="onClick" delay="0">
                  <p:tgtEl>
                    <p:spTgt spid="26"/>
                  </p:tgtEl>
                </p:cond>
              </p:nextCondLst>
            </p:seq>
            <p:seq concurrent="1" nextAc="seek">
              <p:cTn id="58" restart="whenNotActive" fill="hold" evtFilter="cancelBubble" nodeType="interactiveSeq">
                <p:stCondLst>
                  <p:cond evt="onClick" delay="0">
                    <p:tgtEl>
                      <p:spTgt spid="47"/>
                    </p:tgtEl>
                  </p:cond>
                </p:stCondLst>
                <p:endSync evt="end" delay="0">
                  <p:rtn val="all"/>
                </p:endSync>
                <p:childTnLst>
                  <p:par>
                    <p:cTn id="59" fill="hold">
                      <p:stCondLst>
                        <p:cond delay="0"/>
                      </p:stCondLst>
                      <p:childTnLst>
                        <p:par>
                          <p:cTn id="60" fill="hold">
                            <p:stCondLst>
                              <p:cond delay="0"/>
                            </p:stCondLst>
                            <p:childTnLst>
                              <p:par>
                                <p:cTn id="61" presetID="22" presetClass="entr" presetSubtype="2" fill="hold" grpId="0" nodeType="clickEffect">
                                  <p:stCondLst>
                                    <p:cond delay="0"/>
                                  </p:stCondLst>
                                  <p:childTnLst>
                                    <p:set>
                                      <p:cBhvr>
                                        <p:cTn id="62" dur="1" fill="hold">
                                          <p:stCondLst>
                                            <p:cond delay="0"/>
                                          </p:stCondLst>
                                        </p:cTn>
                                        <p:tgtEl>
                                          <p:spTgt spid="46"/>
                                        </p:tgtEl>
                                        <p:attrNameLst>
                                          <p:attrName>style.visibility</p:attrName>
                                        </p:attrNameLst>
                                      </p:cBhvr>
                                      <p:to>
                                        <p:strVal val="visible"/>
                                      </p:to>
                                    </p:set>
                                    <p:animEffect transition="in" filter="wipe(right)">
                                      <p:cBhvr>
                                        <p:cTn id="63" dur="500"/>
                                        <p:tgtEl>
                                          <p:spTgt spid="46"/>
                                        </p:tgtEl>
                                      </p:cBhvr>
                                    </p:animEffect>
                                  </p:childTnLst>
                                </p:cTn>
                              </p:par>
                            </p:childTnLst>
                          </p:cTn>
                        </p:par>
                      </p:childTnLst>
                    </p:cTn>
                  </p:par>
                </p:childTnLst>
              </p:cTn>
              <p:nextCondLst>
                <p:cond evt="onClick" delay="0">
                  <p:tgtEl>
                    <p:spTgt spid="47"/>
                  </p:tgtEl>
                </p:cond>
              </p:nextCondLst>
            </p:seq>
            <p:seq concurrent="1" nextAc="seek">
              <p:cTn id="64" restart="whenNotActive" fill="hold" evtFilter="cancelBubble" nodeType="interactiveSeq">
                <p:stCondLst>
                  <p:cond evt="onClick" delay="0">
                    <p:tgtEl>
                      <p:spTgt spid="27"/>
                    </p:tgtEl>
                  </p:cond>
                </p:stCondLst>
                <p:endSync evt="end" delay="0">
                  <p:rtn val="all"/>
                </p:endSync>
                <p:childTnLst>
                  <p:par>
                    <p:cTn id="65" fill="hold">
                      <p:stCondLst>
                        <p:cond delay="0"/>
                      </p:stCondLst>
                      <p:childTnLst>
                        <p:par>
                          <p:cTn id="66" fill="hold">
                            <p:stCondLst>
                              <p:cond delay="0"/>
                            </p:stCondLst>
                            <p:childTnLst>
                              <p:par>
                                <p:cTn id="67" presetID="22" presetClass="entr" presetSubtype="8" fill="hold" nodeType="withEffect">
                                  <p:stCondLst>
                                    <p:cond delay="0"/>
                                  </p:stCondLst>
                                  <p:childTnLst>
                                    <p:set>
                                      <p:cBhvr>
                                        <p:cTn id="68" dur="1" fill="hold">
                                          <p:stCondLst>
                                            <p:cond delay="0"/>
                                          </p:stCondLst>
                                        </p:cTn>
                                        <p:tgtEl>
                                          <p:spTgt spid="63"/>
                                        </p:tgtEl>
                                        <p:attrNameLst>
                                          <p:attrName>style.visibility</p:attrName>
                                        </p:attrNameLst>
                                      </p:cBhvr>
                                      <p:to>
                                        <p:strVal val="visible"/>
                                      </p:to>
                                    </p:set>
                                    <p:animEffect transition="in" filter="wipe(left)">
                                      <p:cBhvr>
                                        <p:cTn id="69" dur="500"/>
                                        <p:tgtEl>
                                          <p:spTgt spid="63"/>
                                        </p:tgtEl>
                                      </p:cBhvr>
                                    </p:animEffect>
                                  </p:childTnLst>
                                </p:cTn>
                              </p:par>
                              <p:par>
                                <p:cTn id="70" presetID="1" presetClass="exit" presetSubtype="0" fill="hold" nodeType="withEffect">
                                  <p:stCondLst>
                                    <p:cond delay="0"/>
                                  </p:stCondLst>
                                  <p:childTnLst>
                                    <p:set>
                                      <p:cBhvr>
                                        <p:cTn id="71" dur="1" fill="hold">
                                          <p:stCondLst>
                                            <p:cond delay="0"/>
                                          </p:stCondLst>
                                        </p:cTn>
                                        <p:tgtEl>
                                          <p:spTgt spid="35"/>
                                        </p:tgtEl>
                                        <p:attrNameLst>
                                          <p:attrName>style.visibility</p:attrName>
                                        </p:attrNameLst>
                                      </p:cBhvr>
                                      <p:to>
                                        <p:strVal val="hidden"/>
                                      </p:to>
                                    </p:set>
                                  </p:childTnLst>
                                </p:cTn>
                              </p:par>
                              <p:par>
                                <p:cTn id="72" presetID="1" presetClass="exit" presetSubtype="0" fill="hold" nodeType="withEffect">
                                  <p:stCondLst>
                                    <p:cond delay="0"/>
                                  </p:stCondLst>
                                  <p:childTnLst>
                                    <p:set>
                                      <p:cBhvr>
                                        <p:cTn id="73" dur="1" fill="hold">
                                          <p:stCondLst>
                                            <p:cond delay="0"/>
                                          </p:stCondLst>
                                        </p:cTn>
                                        <p:tgtEl>
                                          <p:spTgt spid="67"/>
                                        </p:tgtEl>
                                        <p:attrNameLst>
                                          <p:attrName>style.visibility</p:attrName>
                                        </p:attrNameLst>
                                      </p:cBhvr>
                                      <p:to>
                                        <p:strVal val="hidden"/>
                                      </p:to>
                                    </p:set>
                                  </p:childTnLst>
                                </p:cTn>
                              </p:par>
                              <p:par>
                                <p:cTn id="74" presetID="1" presetClass="exit" presetSubtype="0" fill="hold" nodeType="withEffect">
                                  <p:stCondLst>
                                    <p:cond delay="0"/>
                                  </p:stCondLst>
                                  <p:childTnLst>
                                    <p:set>
                                      <p:cBhvr>
                                        <p:cTn id="75" dur="1" fill="hold">
                                          <p:stCondLst>
                                            <p:cond delay="0"/>
                                          </p:stCondLst>
                                        </p:cTn>
                                        <p:tgtEl>
                                          <p:spTgt spid="47"/>
                                        </p:tgtEl>
                                        <p:attrNameLst>
                                          <p:attrName>style.visibility</p:attrName>
                                        </p:attrNameLst>
                                      </p:cBhvr>
                                      <p:to>
                                        <p:strVal val="hidden"/>
                                      </p:to>
                                    </p:set>
                                  </p:childTnLst>
                                </p:cTn>
                              </p:par>
                              <p:par>
                                <p:cTn id="76" presetID="1" presetClass="exit" presetSubtype="0" fill="hold" grpId="1" nodeType="withEffect">
                                  <p:stCondLst>
                                    <p:cond delay="0"/>
                                  </p:stCondLst>
                                  <p:childTnLst>
                                    <p:set>
                                      <p:cBhvr>
                                        <p:cTn id="77" dur="1" fill="hold">
                                          <p:stCondLst>
                                            <p:cond delay="0"/>
                                          </p:stCondLst>
                                        </p:cTn>
                                        <p:tgtEl>
                                          <p:spTgt spid="46"/>
                                        </p:tgtEl>
                                        <p:attrNameLst>
                                          <p:attrName>style.visibility</p:attrName>
                                        </p:attrNameLst>
                                      </p:cBhvr>
                                      <p:to>
                                        <p:strVal val="hidden"/>
                                      </p:to>
                                    </p:set>
                                  </p:childTnLst>
                                </p:cTn>
                              </p:par>
                              <p:par>
                                <p:cTn id="78" presetID="1" presetClass="exit" presetSubtype="0" fill="hold" nodeType="withEffect">
                                  <p:stCondLst>
                                    <p:cond delay="0"/>
                                  </p:stCondLst>
                                  <p:childTnLst>
                                    <p:set>
                                      <p:cBhvr>
                                        <p:cTn id="79" dur="1" fill="hold">
                                          <p:stCondLst>
                                            <p:cond delay="0"/>
                                          </p:stCondLst>
                                        </p:cTn>
                                        <p:tgtEl>
                                          <p:spTgt spid="32"/>
                                        </p:tgtEl>
                                        <p:attrNameLst>
                                          <p:attrName>style.visibility</p:attrName>
                                        </p:attrNameLst>
                                      </p:cBhvr>
                                      <p:to>
                                        <p:strVal val="hidden"/>
                                      </p:to>
                                    </p:set>
                                  </p:childTnLst>
                                </p:cTn>
                              </p:par>
                              <p:par>
                                <p:cTn id="80" presetID="1" presetClass="exit" presetSubtype="0" fill="hold" nodeType="withEffect">
                                  <p:stCondLst>
                                    <p:cond delay="0"/>
                                  </p:stCondLst>
                                  <p:childTnLst>
                                    <p:set>
                                      <p:cBhvr>
                                        <p:cTn id="81" dur="1" fill="hold">
                                          <p:stCondLst>
                                            <p:cond delay="0"/>
                                          </p:stCondLst>
                                        </p:cTn>
                                        <p:tgtEl>
                                          <p:spTgt spid="5"/>
                                        </p:tgtEl>
                                        <p:attrNameLst>
                                          <p:attrName>style.visibility</p:attrName>
                                        </p:attrNameLst>
                                      </p:cBhvr>
                                      <p:to>
                                        <p:strVal val="hidden"/>
                                      </p:to>
                                    </p:set>
                                  </p:childTnLst>
                                </p:cTn>
                              </p:par>
                              <p:par>
                                <p:cTn id="82" presetID="1" presetClass="exit" presetSubtype="0" fill="hold" grpId="2" nodeType="withEffect">
                                  <p:stCondLst>
                                    <p:cond delay="0"/>
                                  </p:stCondLst>
                                  <p:childTnLst>
                                    <p:set>
                                      <p:cBhvr>
                                        <p:cTn id="83" dur="1" fill="hold">
                                          <p:stCondLst>
                                            <p:cond delay="0"/>
                                          </p:stCondLst>
                                        </p:cTn>
                                        <p:tgtEl>
                                          <p:spTgt spid="19"/>
                                        </p:tgtEl>
                                        <p:attrNameLst>
                                          <p:attrName>style.visibility</p:attrName>
                                        </p:attrNameLst>
                                      </p:cBhvr>
                                      <p:to>
                                        <p:strVal val="hidden"/>
                                      </p:to>
                                    </p:set>
                                  </p:childTnLst>
                                </p:cTn>
                              </p:par>
                            </p:childTnLst>
                          </p:cTn>
                        </p:par>
                        <p:par>
                          <p:cTn id="84" fill="hold">
                            <p:stCondLst>
                              <p:cond delay="500"/>
                            </p:stCondLst>
                            <p:childTnLst>
                              <p:par>
                                <p:cTn id="85" presetID="1" presetClass="entr" presetSubtype="0" fill="hold" nodeType="afterEffect">
                                  <p:stCondLst>
                                    <p:cond delay="0"/>
                                  </p:stCondLst>
                                  <p:childTnLst>
                                    <p:set>
                                      <p:cBhvr>
                                        <p:cTn id="86" dur="1" fill="hold">
                                          <p:stCondLst>
                                            <p:cond delay="0"/>
                                          </p:stCondLst>
                                        </p:cTn>
                                        <p:tgtEl>
                                          <p:spTgt spid="59"/>
                                        </p:tgtEl>
                                        <p:attrNameLst>
                                          <p:attrName>style.visibility</p:attrName>
                                        </p:attrNameLst>
                                      </p:cBhvr>
                                      <p:to>
                                        <p:strVal val="visible"/>
                                      </p:to>
                                    </p:set>
                                  </p:childTnLst>
                                </p:cTn>
                              </p:par>
                            </p:childTnLst>
                          </p:cTn>
                        </p:par>
                      </p:childTnLst>
                    </p:cTn>
                  </p:par>
                </p:childTnLst>
              </p:cTn>
              <p:nextCondLst>
                <p:cond evt="onClick" delay="0">
                  <p:tgtEl>
                    <p:spTgt spid="27"/>
                  </p:tgtEl>
                </p:cond>
              </p:nextCondLst>
            </p:seq>
            <p:seq concurrent="1" nextAc="seek">
              <p:cTn id="87" restart="whenNotActive" fill="hold" evtFilter="cancelBubble" nodeType="interactiveSeq">
                <p:stCondLst>
                  <p:cond evt="onClick" delay="0">
                    <p:tgtEl>
                      <p:spTgt spid="59"/>
                    </p:tgtEl>
                  </p:cond>
                </p:stCondLst>
                <p:endSync evt="end" delay="0">
                  <p:rtn val="all"/>
                </p:endSync>
                <p:childTnLst>
                  <p:par>
                    <p:cTn id="88" fill="hold">
                      <p:stCondLst>
                        <p:cond delay="0"/>
                      </p:stCondLst>
                      <p:childTnLst>
                        <p:par>
                          <p:cTn id="89" fill="hold">
                            <p:stCondLst>
                              <p:cond delay="0"/>
                            </p:stCondLst>
                            <p:childTnLst>
                              <p:par>
                                <p:cTn id="90" presetID="22" presetClass="entr" presetSubtype="2" fill="hold" grpId="0" nodeType="clickEffect">
                                  <p:stCondLst>
                                    <p:cond delay="0"/>
                                  </p:stCondLst>
                                  <p:childTnLst>
                                    <p:set>
                                      <p:cBhvr>
                                        <p:cTn id="91" dur="1" fill="hold">
                                          <p:stCondLst>
                                            <p:cond delay="0"/>
                                          </p:stCondLst>
                                        </p:cTn>
                                        <p:tgtEl>
                                          <p:spTgt spid="52"/>
                                        </p:tgtEl>
                                        <p:attrNameLst>
                                          <p:attrName>style.visibility</p:attrName>
                                        </p:attrNameLst>
                                      </p:cBhvr>
                                      <p:to>
                                        <p:strVal val="visible"/>
                                      </p:to>
                                    </p:set>
                                    <p:animEffect transition="in" filter="wipe(right)">
                                      <p:cBhvr>
                                        <p:cTn id="92" dur="500"/>
                                        <p:tgtEl>
                                          <p:spTgt spid="52"/>
                                        </p:tgtEl>
                                      </p:cBhvr>
                                    </p:animEffect>
                                  </p:childTnLst>
                                </p:cTn>
                              </p:par>
                            </p:childTnLst>
                          </p:cTn>
                        </p:par>
                      </p:childTnLst>
                    </p:cTn>
                  </p:par>
                </p:childTnLst>
              </p:cTn>
              <p:nextCondLst>
                <p:cond evt="onClick" delay="0">
                  <p:tgtEl>
                    <p:spTgt spid="59"/>
                  </p:tgtEl>
                </p:cond>
              </p:nextCondLst>
            </p:seq>
          </p:childTnLst>
        </p:cTn>
      </p:par>
    </p:tnLst>
    <p:bldLst>
      <p:bldP spid="19" grpId="0" animBg="1"/>
      <p:bldP spid="19" grpId="1" animBg="1"/>
      <p:bldP spid="19" grpId="2" animBg="1"/>
      <p:bldP spid="46" grpId="0" animBg="1"/>
      <p:bldP spid="46" grpId="1" animBg="1"/>
      <p:bldP spid="46" grpId="2" animBg="1"/>
      <p:bldP spid="52" grpId="0" animBg="1"/>
      <p:bldP spid="52" grpId="1" animBg="1"/>
      <p:bldP spid="52" grpId="2"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Picture 6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02250" y="532799"/>
            <a:ext cx="702000" cy="702000"/>
          </a:xfrm>
          <a:prstGeom prst="rect">
            <a:avLst/>
          </a:prstGeom>
        </p:spPr>
      </p:pic>
      <p:sp>
        <p:nvSpPr>
          <p:cNvPr id="7" name="Rectangle 6"/>
          <p:cNvSpPr/>
          <p:nvPr/>
        </p:nvSpPr>
        <p:spPr>
          <a:xfrm>
            <a:off x="445574" y="702863"/>
            <a:ext cx="2833085" cy="355276"/>
          </a:xfrm>
          <a:prstGeom prst="rect">
            <a:avLst/>
          </a:prstGeom>
          <a:solidFill>
            <a:srgbClr val="072F54"/>
          </a:solidFill>
        </p:spPr>
        <p:txBody>
          <a:bodyPr wrap="square" lIns="180000" tIns="36000" rIns="180000" bIns="72000" anchor="ctr">
            <a:spAutoFit/>
          </a:bodyPr>
          <a:lstStyle/>
          <a:p>
            <a:r>
              <a:rPr lang="en-GB" altLang="en-US" sz="1600" b="1" dirty="0" smtClean="0">
                <a:solidFill>
                  <a:schemeClr val="bg1"/>
                </a:solidFill>
              </a:rPr>
              <a:t>Add and Subtract Integers</a:t>
            </a:r>
            <a:endParaRPr lang="en-GB" sz="1600" b="1" dirty="0">
              <a:solidFill>
                <a:schemeClr val="bg1"/>
              </a:solidFill>
            </a:endParaRPr>
          </a:p>
        </p:txBody>
      </p:sp>
      <p:sp>
        <p:nvSpPr>
          <p:cNvPr id="30" name="Rectangle 29"/>
          <p:cNvSpPr/>
          <p:nvPr/>
        </p:nvSpPr>
        <p:spPr>
          <a:xfrm>
            <a:off x="3278659" y="702863"/>
            <a:ext cx="1063301" cy="355276"/>
          </a:xfrm>
          <a:prstGeom prst="rect">
            <a:avLst/>
          </a:prstGeom>
          <a:solidFill>
            <a:srgbClr val="007AC3"/>
          </a:solidFill>
        </p:spPr>
        <p:txBody>
          <a:bodyPr wrap="square" lIns="180000" tIns="36000" rIns="180000" bIns="72000" anchor="ctr">
            <a:spAutoFit/>
          </a:bodyPr>
          <a:lstStyle/>
          <a:p>
            <a:pPr algn="ctr"/>
            <a:r>
              <a:rPr lang="en-GB" altLang="en-US" sz="1600" b="1" dirty="0" smtClean="0">
                <a:solidFill>
                  <a:schemeClr val="bg1"/>
                </a:solidFill>
              </a:rPr>
              <a:t>Deeper</a:t>
            </a:r>
            <a:endParaRPr lang="en-GB" sz="1600" b="1" dirty="0">
              <a:solidFill>
                <a:schemeClr val="bg1"/>
              </a:solidFill>
            </a:endParaRPr>
          </a:p>
        </p:txBody>
      </p:sp>
      <p:cxnSp>
        <p:nvCxnSpPr>
          <p:cNvPr id="68" name="Straight Connector 67"/>
          <p:cNvCxnSpPr/>
          <p:nvPr/>
        </p:nvCxnSpPr>
        <p:spPr>
          <a:xfrm>
            <a:off x="3278659" y="698268"/>
            <a:ext cx="0" cy="3960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53" name="Rectangle 52"/>
          <p:cNvSpPr/>
          <p:nvPr/>
        </p:nvSpPr>
        <p:spPr>
          <a:xfrm>
            <a:off x="766120" y="2139201"/>
            <a:ext cx="7622229" cy="2976352"/>
          </a:xfrm>
          <a:prstGeom prst="rect">
            <a:avLst/>
          </a:prstGeom>
          <a:solidFill>
            <a:schemeClr val="bg1"/>
          </a:solidFill>
          <a:ln w="28575">
            <a:solidFill>
              <a:srgbClr val="0092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TextBox 61"/>
          <p:cNvSpPr txBox="1"/>
          <p:nvPr/>
        </p:nvSpPr>
        <p:spPr>
          <a:xfrm>
            <a:off x="755650" y="1716796"/>
            <a:ext cx="7652370" cy="422405"/>
          </a:xfrm>
          <a:prstGeom prst="rect">
            <a:avLst/>
          </a:prstGeom>
          <a:solidFill>
            <a:srgbClr val="009284"/>
          </a:solidFill>
        </p:spPr>
        <p:txBody>
          <a:bodyPr wrap="square" lIns="72000" tIns="72000" rIns="72000" bIns="72000" rtlCol="0">
            <a:spAutoFit/>
          </a:bodyPr>
          <a:lstStyle/>
          <a:p>
            <a:pPr algn="ctr"/>
            <a:r>
              <a:rPr lang="en-GB" dirty="0">
                <a:solidFill>
                  <a:schemeClr val="bg1"/>
                </a:solidFill>
              </a:rPr>
              <a:t>Correct the errors that have been made in this subtraction calculation.</a:t>
            </a:r>
          </a:p>
        </p:txBody>
      </p:sp>
      <p:graphicFrame>
        <p:nvGraphicFramePr>
          <p:cNvPr id="69" name="Table 68">
            <a:extLst>
              <a:ext uri="{FF2B5EF4-FFF2-40B4-BE49-F238E27FC236}">
                <a16:creationId xmlns:a16="http://schemas.microsoft.com/office/drawing/2014/main" xmlns="" id="{A533AC8F-E509-429A-94BD-91F3DD37440E}"/>
              </a:ext>
            </a:extLst>
          </p:cNvPr>
          <p:cNvGraphicFramePr>
            <a:graphicFrameLocks noGrp="1"/>
          </p:cNvGraphicFramePr>
          <p:nvPr>
            <p:extLst>
              <p:ext uri="{D42A27DB-BD31-4B8C-83A1-F6EECF244321}">
                <p14:modId xmlns:p14="http://schemas.microsoft.com/office/powerpoint/2010/main" val="3109334434"/>
              </p:ext>
            </p:extLst>
          </p:nvPr>
        </p:nvGraphicFramePr>
        <p:xfrm>
          <a:off x="1043531" y="2589749"/>
          <a:ext cx="3168000" cy="1761427"/>
        </p:xfrm>
        <a:graphic>
          <a:graphicData uri="http://schemas.openxmlformats.org/drawingml/2006/table">
            <a:tbl>
              <a:tblPr firstRow="1" firstCol="1" bandRow="1"/>
              <a:tblGrid>
                <a:gridCol w="396000">
                  <a:extLst>
                    <a:ext uri="{9D8B030D-6E8A-4147-A177-3AD203B41FA5}">
                      <a16:colId xmlns:a16="http://schemas.microsoft.com/office/drawing/2014/main" xmlns="" val="1536321958"/>
                    </a:ext>
                  </a:extLst>
                </a:gridCol>
                <a:gridCol w="396000">
                  <a:extLst>
                    <a:ext uri="{9D8B030D-6E8A-4147-A177-3AD203B41FA5}">
                      <a16:colId xmlns:a16="http://schemas.microsoft.com/office/drawing/2014/main" xmlns="" val="1477369677"/>
                    </a:ext>
                  </a:extLst>
                </a:gridCol>
                <a:gridCol w="396000">
                  <a:extLst>
                    <a:ext uri="{9D8B030D-6E8A-4147-A177-3AD203B41FA5}">
                      <a16:colId xmlns:a16="http://schemas.microsoft.com/office/drawing/2014/main" xmlns="" val="3495381372"/>
                    </a:ext>
                  </a:extLst>
                </a:gridCol>
                <a:gridCol w="396000">
                  <a:extLst>
                    <a:ext uri="{9D8B030D-6E8A-4147-A177-3AD203B41FA5}">
                      <a16:colId xmlns:a16="http://schemas.microsoft.com/office/drawing/2014/main" xmlns="" val="2633357235"/>
                    </a:ext>
                  </a:extLst>
                </a:gridCol>
                <a:gridCol w="396000">
                  <a:extLst>
                    <a:ext uri="{9D8B030D-6E8A-4147-A177-3AD203B41FA5}">
                      <a16:colId xmlns:a16="http://schemas.microsoft.com/office/drawing/2014/main" xmlns="" val="3326555490"/>
                    </a:ext>
                  </a:extLst>
                </a:gridCol>
                <a:gridCol w="396000">
                  <a:extLst>
                    <a:ext uri="{9D8B030D-6E8A-4147-A177-3AD203B41FA5}">
                      <a16:colId xmlns:a16="http://schemas.microsoft.com/office/drawing/2014/main" xmlns="" val="1338941930"/>
                    </a:ext>
                  </a:extLst>
                </a:gridCol>
                <a:gridCol w="396000">
                  <a:extLst>
                    <a:ext uri="{9D8B030D-6E8A-4147-A177-3AD203B41FA5}">
                      <a16:colId xmlns:a16="http://schemas.microsoft.com/office/drawing/2014/main" xmlns="" val="3169146331"/>
                    </a:ext>
                  </a:extLst>
                </a:gridCol>
                <a:gridCol w="396000">
                  <a:extLst>
                    <a:ext uri="{9D8B030D-6E8A-4147-A177-3AD203B41FA5}">
                      <a16:colId xmlns:a16="http://schemas.microsoft.com/office/drawing/2014/main" xmlns="" val="1734172578"/>
                    </a:ext>
                  </a:extLst>
                </a:gridCol>
              </a:tblGrid>
              <a:tr h="116914">
                <a:tc>
                  <a:txBody>
                    <a:bodyPr/>
                    <a:lstStyle/>
                    <a:p>
                      <a:pPr algn="ctr">
                        <a:lnSpc>
                          <a:spcPct val="106000"/>
                        </a:lnSpc>
                        <a:spcAft>
                          <a:spcPts val="0"/>
                        </a:spcAft>
                      </a:pPr>
                      <a:r>
                        <a:rPr lang="en-GB" sz="2400" kern="1200" dirty="0">
                          <a:solidFill>
                            <a:schemeClr val="tx1"/>
                          </a:solidFill>
                          <a:effectLst/>
                          <a:latin typeface="+mn-lt"/>
                          <a:ea typeface="Calibri" panose="020F0502020204030204" pitchFamily="34" charset="0"/>
                          <a:cs typeface="Calibri" panose="020F0502020204030204" pitchFamily="34" charset="0"/>
                        </a:rPr>
                        <a:t> </a:t>
                      </a:r>
                      <a:endParaRPr lang="en-GB" sz="240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endParaRPr lang="en-GB" sz="1400" b="1" dirty="0">
                        <a:solidFill>
                          <a:srgbClr val="87BD31"/>
                        </a:solidFill>
                        <a:effectLst/>
                        <a:latin typeface="+mn-lt"/>
                        <a:ea typeface="Calibri" panose="020F0502020204030204" pitchFamily="34" charset="0"/>
                        <a:cs typeface="Times New Roman" panose="02020603050405020304" pitchFamily="18" charset="0"/>
                      </a:endParaRPr>
                    </a:p>
                  </a:txBody>
                  <a:tcPr marL="68580" marR="68580"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1400" b="1" kern="1200" dirty="0">
                          <a:solidFill>
                            <a:srgbClr val="87BD31"/>
                          </a:solidFill>
                          <a:effectLst/>
                          <a:latin typeface="+mn-lt"/>
                          <a:ea typeface="Calibri" panose="020F0502020204030204" pitchFamily="34" charset="0"/>
                          <a:cs typeface="Calibri" panose="020F0502020204030204" pitchFamily="34" charset="0"/>
                        </a:rPr>
                        <a:t> </a:t>
                      </a:r>
                      <a:endParaRPr lang="en-GB" sz="1400" b="1" dirty="0">
                        <a:solidFill>
                          <a:srgbClr val="87BD31"/>
                        </a:solidFill>
                        <a:effectLst/>
                        <a:latin typeface="+mn-lt"/>
                        <a:ea typeface="Calibri" panose="020F0502020204030204" pitchFamily="34" charset="0"/>
                        <a:cs typeface="Times New Roman" panose="02020603050405020304" pitchFamily="18" charset="0"/>
                      </a:endParaRPr>
                    </a:p>
                  </a:txBody>
                  <a:tcPr marL="68580" marR="68580"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1400" b="1" kern="1200" dirty="0">
                          <a:solidFill>
                            <a:srgbClr val="87BD31"/>
                          </a:solidFill>
                          <a:effectLst/>
                          <a:latin typeface="+mn-lt"/>
                          <a:ea typeface="Calibri" panose="020F0502020204030204" pitchFamily="34" charset="0"/>
                          <a:cs typeface="Calibri" panose="020F0502020204030204" pitchFamily="34" charset="0"/>
                        </a:rPr>
                        <a:t> </a:t>
                      </a:r>
                      <a:endParaRPr lang="en-GB" sz="1400" b="1" dirty="0">
                        <a:solidFill>
                          <a:srgbClr val="87BD31"/>
                        </a:solidFill>
                        <a:effectLst/>
                        <a:latin typeface="+mn-lt"/>
                        <a:ea typeface="Calibri" panose="020F0502020204030204" pitchFamily="34" charset="0"/>
                        <a:cs typeface="Times New Roman" panose="02020603050405020304" pitchFamily="18" charset="0"/>
                      </a:endParaRPr>
                    </a:p>
                  </a:txBody>
                  <a:tcPr marL="68580" marR="68580"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endParaRPr lang="en-GB" sz="1400" b="1"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endParaRPr lang="en-GB" sz="1400" b="1" dirty="0">
                        <a:solidFill>
                          <a:srgbClr val="87BD31"/>
                        </a:solidFill>
                        <a:effectLst/>
                        <a:latin typeface="+mn-lt"/>
                        <a:ea typeface="Calibri" panose="020F0502020204030204" pitchFamily="34" charset="0"/>
                        <a:cs typeface="Times New Roman" panose="02020603050405020304" pitchFamily="18" charset="0"/>
                      </a:endParaRPr>
                    </a:p>
                  </a:txBody>
                  <a:tcPr marL="68580" marR="68580"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1400" b="1" kern="1200" dirty="0">
                          <a:solidFill>
                            <a:srgbClr val="87BD31"/>
                          </a:solidFill>
                          <a:effectLst/>
                          <a:latin typeface="+mn-lt"/>
                          <a:ea typeface="Calibri" panose="020F0502020204030204" pitchFamily="34" charset="0"/>
                          <a:cs typeface="Calibri" panose="020F0502020204030204" pitchFamily="34" charset="0"/>
                        </a:rPr>
                        <a:t> </a:t>
                      </a:r>
                      <a:endParaRPr lang="en-GB" sz="1400" b="1" dirty="0">
                        <a:solidFill>
                          <a:srgbClr val="87BD31"/>
                        </a:solidFill>
                        <a:effectLst/>
                        <a:latin typeface="+mn-lt"/>
                        <a:ea typeface="Calibri" panose="020F0502020204030204" pitchFamily="34" charset="0"/>
                        <a:cs typeface="Times New Roman" panose="02020603050405020304" pitchFamily="18" charset="0"/>
                      </a:endParaRPr>
                    </a:p>
                  </a:txBody>
                  <a:tcPr marL="68580" marR="68580"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1400" b="0" kern="1200" dirty="0">
                          <a:solidFill>
                            <a:srgbClr val="87BD31"/>
                          </a:solidFill>
                          <a:effectLst/>
                          <a:latin typeface="+mn-lt"/>
                          <a:ea typeface="Calibri" panose="020F0502020204030204" pitchFamily="34" charset="0"/>
                          <a:cs typeface="Calibri" panose="020F0502020204030204" pitchFamily="34" charset="0"/>
                        </a:rPr>
                        <a:t> </a:t>
                      </a:r>
                      <a:endParaRPr lang="en-GB" sz="1400" b="0" dirty="0">
                        <a:solidFill>
                          <a:srgbClr val="87BD31"/>
                        </a:solidFill>
                        <a:effectLst/>
                        <a:latin typeface="+mn-lt"/>
                        <a:ea typeface="Calibri" panose="020F0502020204030204" pitchFamily="34" charset="0"/>
                        <a:cs typeface="Times New Roman" panose="02020603050405020304" pitchFamily="18" charset="0"/>
                      </a:endParaRPr>
                    </a:p>
                  </a:txBody>
                  <a:tcPr marL="68580" marR="68580"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396000">
                <a:tc>
                  <a:txBody>
                    <a:bodyPr/>
                    <a:lstStyle/>
                    <a:p>
                      <a:pPr algn="ctr">
                        <a:lnSpc>
                          <a:spcPct val="106000"/>
                        </a:lnSpc>
                        <a:spcAft>
                          <a:spcPts val="0"/>
                        </a:spcAft>
                      </a:pPr>
                      <a:r>
                        <a:rPr lang="en-GB" sz="2400" b="0" kern="1200" dirty="0">
                          <a:solidFill>
                            <a:schemeClr val="tx1"/>
                          </a:solidFill>
                          <a:effectLst/>
                          <a:latin typeface="+mn-lt"/>
                          <a:ea typeface="Calibri" panose="020F0502020204030204" pitchFamily="34" charset="0"/>
                          <a:cs typeface="Calibri" panose="020F0502020204030204" pitchFamily="34" charset="0"/>
                        </a:rPr>
                        <a:t> </a:t>
                      </a:r>
                      <a:endParaRPr lang="en-GB" sz="24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b="0" kern="1200" dirty="0">
                          <a:solidFill>
                            <a:schemeClr val="tx1"/>
                          </a:solidFill>
                          <a:effectLst/>
                          <a:latin typeface="+mn-lt"/>
                          <a:ea typeface="Calibri" panose="020F0502020204030204" pitchFamily="34" charset="0"/>
                          <a:cs typeface="Calibri" panose="020F0502020204030204" pitchFamily="34" charset="0"/>
                        </a:rPr>
                        <a:t>6</a:t>
                      </a:r>
                      <a:endParaRPr lang="en-GB" sz="28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b="0" kern="1200" dirty="0">
                          <a:solidFill>
                            <a:schemeClr val="tx1"/>
                          </a:solidFill>
                          <a:effectLst/>
                          <a:latin typeface="+mn-lt"/>
                          <a:ea typeface="Calibri" panose="020F0502020204030204" pitchFamily="34" charset="0"/>
                          <a:cs typeface="Calibri" panose="020F0502020204030204" pitchFamily="34" charset="0"/>
                        </a:rPr>
                        <a:t>5</a:t>
                      </a:r>
                      <a:endParaRPr lang="en-GB" sz="28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b="0" kern="1200" dirty="0">
                          <a:solidFill>
                            <a:schemeClr val="tx1"/>
                          </a:solidFill>
                          <a:effectLst/>
                          <a:latin typeface="+mn-lt"/>
                          <a:ea typeface="Calibri" panose="020F0502020204030204" pitchFamily="34" charset="0"/>
                          <a:cs typeface="Calibri" panose="020F0502020204030204" pitchFamily="34" charset="0"/>
                        </a:rPr>
                        <a:t>0</a:t>
                      </a:r>
                      <a:endParaRPr lang="en-GB" sz="28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b="0" kern="1200" dirty="0" smtClean="0">
                          <a:solidFill>
                            <a:schemeClr val="tx1"/>
                          </a:solidFill>
                          <a:effectLst/>
                          <a:latin typeface="+mn-lt"/>
                          <a:ea typeface="Calibri" panose="020F0502020204030204" pitchFamily="34" charset="0"/>
                          <a:cs typeface="Calibri" panose="020F0502020204030204" pitchFamily="34" charset="0"/>
                        </a:rPr>
                        <a:t>7</a:t>
                      </a:r>
                      <a:endParaRPr lang="en-GB" sz="28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b="0" kern="1200" dirty="0" smtClean="0">
                          <a:solidFill>
                            <a:schemeClr val="tx1"/>
                          </a:solidFill>
                          <a:effectLst/>
                          <a:latin typeface="+mn-lt"/>
                          <a:ea typeface="Calibri" panose="020F0502020204030204" pitchFamily="34" charset="0"/>
                          <a:cs typeface="Calibri" panose="020F0502020204030204" pitchFamily="34" charset="0"/>
                        </a:rPr>
                        <a:t>6</a:t>
                      </a:r>
                      <a:endParaRPr lang="en-GB" sz="28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b="0" kern="1200" dirty="0">
                          <a:solidFill>
                            <a:schemeClr val="tx1"/>
                          </a:solidFill>
                          <a:effectLst/>
                          <a:latin typeface="+mn-lt"/>
                          <a:ea typeface="Calibri" panose="020F0502020204030204" pitchFamily="34" charset="0"/>
                          <a:cs typeface="Calibri" panose="020F0502020204030204" pitchFamily="34" charset="0"/>
                        </a:rPr>
                        <a:t>8</a:t>
                      </a:r>
                      <a:endParaRPr lang="en-GB" sz="28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b="0" dirty="0" smtClean="0">
                          <a:solidFill>
                            <a:schemeClr val="tx1"/>
                          </a:solidFill>
                          <a:effectLst/>
                          <a:latin typeface="+mn-lt"/>
                          <a:ea typeface="Calibri" panose="020F0502020204030204" pitchFamily="34" charset="0"/>
                          <a:cs typeface="Times New Roman" panose="02020603050405020304" pitchFamily="18" charset="0"/>
                        </a:rPr>
                        <a:t>5</a:t>
                      </a:r>
                      <a:endParaRPr lang="en-GB" sz="28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432000585"/>
                  </a:ext>
                </a:extLst>
              </a:tr>
              <a:tr h="396000">
                <a:tc>
                  <a:txBody>
                    <a:bodyPr/>
                    <a:lstStyle/>
                    <a:p>
                      <a:pPr algn="ctr">
                        <a:lnSpc>
                          <a:spcPct val="106000"/>
                        </a:lnSpc>
                        <a:spcAft>
                          <a:spcPts val="0"/>
                        </a:spcAft>
                      </a:pPr>
                      <a:r>
                        <a:rPr lang="en-GB" sz="2400" kern="1200" dirty="0" smtClean="0">
                          <a:solidFill>
                            <a:srgbClr val="000000"/>
                          </a:solidFill>
                          <a:effectLst/>
                          <a:latin typeface="+mn-lt"/>
                          <a:ea typeface="Calibri" panose="020F0502020204030204" pitchFamily="34" charset="0"/>
                          <a:cs typeface="Calibri" panose="020F0502020204030204" pitchFamily="34" charset="0"/>
                        </a:rPr>
                        <a:t>−</a:t>
                      </a:r>
                      <a:endParaRPr lang="en-GB" sz="2400" dirty="0">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7000"/>
                        </a:lnSpc>
                      </a:pPr>
                      <a:r>
                        <a:rPr lang="en-GB" sz="2800" dirty="0" smtClean="0">
                          <a:solidFill>
                            <a:schemeClr val="tx1"/>
                          </a:solidFill>
                          <a:effectLst/>
                          <a:latin typeface="+mn-lt"/>
                          <a:cs typeface="Times New Roman" panose="02020603050405020304" pitchFamily="18" charset="0"/>
                        </a:rPr>
                        <a:t>1</a:t>
                      </a:r>
                      <a:endParaRPr lang="en-GB" sz="2800" dirty="0">
                        <a:solidFill>
                          <a:schemeClr val="tx1"/>
                        </a:solidFill>
                        <a:effectLst/>
                        <a:latin typeface="+mn-lt"/>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b="0" dirty="0" smtClean="0">
                          <a:solidFill>
                            <a:schemeClr val="tx1"/>
                          </a:solidFill>
                          <a:effectLst/>
                          <a:latin typeface="+mn-lt"/>
                          <a:ea typeface="Calibri" panose="020F0502020204030204" pitchFamily="34" charset="0"/>
                          <a:cs typeface="Times New Roman" panose="02020603050405020304" pitchFamily="18" charset="0"/>
                        </a:rPr>
                        <a:t>3</a:t>
                      </a:r>
                      <a:endParaRPr lang="en-GB" sz="28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b="0" kern="1200" dirty="0">
                          <a:solidFill>
                            <a:schemeClr val="tx1"/>
                          </a:solidFill>
                          <a:effectLst/>
                          <a:latin typeface="+mn-lt"/>
                          <a:ea typeface="Calibri" panose="020F0502020204030204" pitchFamily="34" charset="0"/>
                          <a:cs typeface="Calibri" panose="020F0502020204030204" pitchFamily="34" charset="0"/>
                        </a:rPr>
                        <a:t>2</a:t>
                      </a:r>
                      <a:endParaRPr lang="en-GB" sz="28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b="0" kern="1200" dirty="0">
                          <a:solidFill>
                            <a:schemeClr val="tx1"/>
                          </a:solidFill>
                          <a:effectLst/>
                          <a:latin typeface="+mn-lt"/>
                          <a:ea typeface="Calibri" panose="020F0502020204030204" pitchFamily="34" charset="0"/>
                          <a:cs typeface="Calibri" panose="020F0502020204030204" pitchFamily="34" charset="0"/>
                        </a:rPr>
                        <a:t>8</a:t>
                      </a:r>
                      <a:endParaRPr lang="en-GB" sz="28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b="0" kern="1200" dirty="0">
                          <a:solidFill>
                            <a:schemeClr val="tx1"/>
                          </a:solidFill>
                          <a:effectLst/>
                          <a:latin typeface="+mn-lt"/>
                          <a:ea typeface="Calibri" panose="020F0502020204030204" pitchFamily="34" charset="0"/>
                          <a:cs typeface="Calibri" panose="020F0502020204030204" pitchFamily="34" charset="0"/>
                        </a:rPr>
                        <a:t>3</a:t>
                      </a:r>
                      <a:endParaRPr lang="en-GB" sz="28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b="0" kern="1200" dirty="0">
                          <a:solidFill>
                            <a:schemeClr val="tx1"/>
                          </a:solidFill>
                          <a:effectLst/>
                          <a:latin typeface="+mn-lt"/>
                          <a:ea typeface="Calibri" panose="020F0502020204030204" pitchFamily="34" charset="0"/>
                          <a:cs typeface="Calibri" panose="020F0502020204030204" pitchFamily="34" charset="0"/>
                        </a:rPr>
                        <a:t>9</a:t>
                      </a:r>
                      <a:endParaRPr lang="en-GB" sz="28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b="0" kern="1200" dirty="0">
                          <a:solidFill>
                            <a:schemeClr val="tx1"/>
                          </a:solidFill>
                          <a:effectLst/>
                          <a:latin typeface="+mn-lt"/>
                          <a:ea typeface="Calibri" panose="020F0502020204030204" pitchFamily="34" charset="0"/>
                          <a:cs typeface="Calibri" panose="020F0502020204030204" pitchFamily="34" charset="0"/>
                        </a:rPr>
                        <a:t>4</a:t>
                      </a:r>
                      <a:endParaRPr lang="en-GB" sz="28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908131349"/>
                  </a:ext>
                </a:extLst>
              </a:tr>
              <a:tr h="396000">
                <a:tc>
                  <a:txBody>
                    <a:bodyPr/>
                    <a:lstStyle/>
                    <a:p>
                      <a:pPr algn="ctr">
                        <a:lnSpc>
                          <a:spcPct val="106000"/>
                        </a:lnSpc>
                        <a:spcAft>
                          <a:spcPts val="0"/>
                        </a:spcAft>
                      </a:pPr>
                      <a:endParaRPr lang="en-GB" sz="2400" u="none" dirty="0">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800" b="0" dirty="0" smtClean="0">
                          <a:solidFill>
                            <a:schemeClr val="tx1"/>
                          </a:solidFill>
                        </a:rPr>
                        <a:t>5</a:t>
                      </a:r>
                      <a:endParaRPr lang="en-GB" sz="2800" b="0" dirty="0">
                        <a:solidFill>
                          <a:schemeClr val="tx1"/>
                        </a:solidFill>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800" b="0" dirty="0" smtClean="0">
                          <a:solidFill>
                            <a:schemeClr val="tx1"/>
                          </a:solidFill>
                        </a:rPr>
                        <a:t>1</a:t>
                      </a:r>
                      <a:endParaRPr lang="en-GB" sz="2800" b="0" dirty="0">
                        <a:solidFill>
                          <a:schemeClr val="tx1"/>
                        </a:solidFill>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800" b="0" dirty="0" smtClean="0">
                          <a:solidFill>
                            <a:schemeClr val="tx1"/>
                          </a:solidFill>
                        </a:rPr>
                        <a:t>2</a:t>
                      </a:r>
                      <a:endParaRPr lang="en-GB" sz="2800" b="0" dirty="0">
                        <a:solidFill>
                          <a:schemeClr val="tx1"/>
                        </a:solidFill>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800" b="0" dirty="0" smtClean="0">
                          <a:solidFill>
                            <a:schemeClr val="tx1"/>
                          </a:solidFill>
                        </a:rPr>
                        <a:t>9</a:t>
                      </a:r>
                      <a:endParaRPr lang="en-GB" sz="2800" b="0" dirty="0">
                        <a:solidFill>
                          <a:schemeClr val="tx1"/>
                        </a:solidFill>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800" b="0" dirty="0" smtClean="0">
                          <a:solidFill>
                            <a:schemeClr val="tx1"/>
                          </a:solidFill>
                        </a:rPr>
                        <a:t>3</a:t>
                      </a:r>
                      <a:endParaRPr lang="en-GB" sz="2800" b="0" dirty="0">
                        <a:solidFill>
                          <a:schemeClr val="tx1"/>
                        </a:solidFill>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800" b="0" dirty="0" smtClean="0">
                          <a:solidFill>
                            <a:schemeClr val="tx1"/>
                          </a:solidFill>
                        </a:rPr>
                        <a:t>1</a:t>
                      </a:r>
                      <a:endParaRPr lang="en-GB" sz="2800" b="0" dirty="0">
                        <a:solidFill>
                          <a:schemeClr val="tx1"/>
                        </a:solidFill>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800" b="0" dirty="0" smtClean="0">
                          <a:solidFill>
                            <a:schemeClr val="tx1"/>
                          </a:solidFill>
                        </a:rPr>
                        <a:t>1</a:t>
                      </a:r>
                      <a:endParaRPr lang="en-GB" sz="2800" b="0" dirty="0">
                        <a:solidFill>
                          <a:schemeClr val="tx1"/>
                        </a:solidFill>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824819332"/>
                  </a:ext>
                </a:extLst>
              </a:tr>
            </a:tbl>
          </a:graphicData>
        </a:graphic>
      </p:graphicFrame>
      <p:graphicFrame>
        <p:nvGraphicFramePr>
          <p:cNvPr id="91" name="Table 90">
            <a:extLst>
              <a:ext uri="{FF2B5EF4-FFF2-40B4-BE49-F238E27FC236}">
                <a16:creationId xmlns:a16="http://schemas.microsoft.com/office/drawing/2014/main" xmlns="" id="{A533AC8F-E509-429A-94BD-91F3DD37440E}"/>
              </a:ext>
            </a:extLst>
          </p:cNvPr>
          <p:cNvGraphicFramePr>
            <a:graphicFrameLocks noGrp="1"/>
          </p:cNvGraphicFramePr>
          <p:nvPr>
            <p:extLst>
              <p:ext uri="{D42A27DB-BD31-4B8C-83A1-F6EECF244321}">
                <p14:modId xmlns:p14="http://schemas.microsoft.com/office/powerpoint/2010/main" val="1503843513"/>
              </p:ext>
            </p:extLst>
          </p:nvPr>
        </p:nvGraphicFramePr>
        <p:xfrm>
          <a:off x="4794631" y="2170475"/>
          <a:ext cx="3343840" cy="2160000"/>
        </p:xfrm>
        <a:graphic>
          <a:graphicData uri="http://schemas.openxmlformats.org/drawingml/2006/table">
            <a:tbl>
              <a:tblPr firstRow="1" firstCol="1" bandRow="1"/>
              <a:tblGrid>
                <a:gridCol w="417980">
                  <a:extLst>
                    <a:ext uri="{9D8B030D-6E8A-4147-A177-3AD203B41FA5}">
                      <a16:colId xmlns:a16="http://schemas.microsoft.com/office/drawing/2014/main" xmlns="" val="1536321958"/>
                    </a:ext>
                  </a:extLst>
                </a:gridCol>
                <a:gridCol w="417980">
                  <a:extLst>
                    <a:ext uri="{9D8B030D-6E8A-4147-A177-3AD203B41FA5}">
                      <a16:colId xmlns:a16="http://schemas.microsoft.com/office/drawing/2014/main" xmlns="" val="1477369677"/>
                    </a:ext>
                  </a:extLst>
                </a:gridCol>
                <a:gridCol w="417980">
                  <a:extLst>
                    <a:ext uri="{9D8B030D-6E8A-4147-A177-3AD203B41FA5}">
                      <a16:colId xmlns:a16="http://schemas.microsoft.com/office/drawing/2014/main" xmlns="" val="3495381372"/>
                    </a:ext>
                  </a:extLst>
                </a:gridCol>
                <a:gridCol w="417980">
                  <a:extLst>
                    <a:ext uri="{9D8B030D-6E8A-4147-A177-3AD203B41FA5}">
                      <a16:colId xmlns:a16="http://schemas.microsoft.com/office/drawing/2014/main" xmlns="" val="2633357235"/>
                    </a:ext>
                  </a:extLst>
                </a:gridCol>
                <a:gridCol w="417980">
                  <a:extLst>
                    <a:ext uri="{9D8B030D-6E8A-4147-A177-3AD203B41FA5}">
                      <a16:colId xmlns:a16="http://schemas.microsoft.com/office/drawing/2014/main" xmlns="" val="3326555490"/>
                    </a:ext>
                  </a:extLst>
                </a:gridCol>
                <a:gridCol w="417980">
                  <a:extLst>
                    <a:ext uri="{9D8B030D-6E8A-4147-A177-3AD203B41FA5}">
                      <a16:colId xmlns:a16="http://schemas.microsoft.com/office/drawing/2014/main" xmlns="" val="1338941930"/>
                    </a:ext>
                  </a:extLst>
                </a:gridCol>
                <a:gridCol w="417980">
                  <a:extLst>
                    <a:ext uri="{9D8B030D-6E8A-4147-A177-3AD203B41FA5}">
                      <a16:colId xmlns:a16="http://schemas.microsoft.com/office/drawing/2014/main" xmlns="" val="3169146331"/>
                    </a:ext>
                  </a:extLst>
                </a:gridCol>
                <a:gridCol w="417980">
                  <a:extLst>
                    <a:ext uri="{9D8B030D-6E8A-4147-A177-3AD203B41FA5}">
                      <a16:colId xmlns:a16="http://schemas.microsoft.com/office/drawing/2014/main" xmlns="" val="1734172578"/>
                    </a:ext>
                  </a:extLst>
                </a:gridCol>
              </a:tblGrid>
              <a:tr h="393188">
                <a:tc>
                  <a:txBody>
                    <a:bodyPr/>
                    <a:lstStyle/>
                    <a:p>
                      <a:pPr algn="ctr">
                        <a:lnSpc>
                          <a:spcPct val="106000"/>
                        </a:lnSpc>
                        <a:spcAft>
                          <a:spcPts val="0"/>
                        </a:spcAft>
                      </a:pPr>
                      <a:endParaRPr lang="en-GB" sz="2400" dirty="0">
                        <a:solidFill>
                          <a:schemeClr val="tx1"/>
                        </a:solidFill>
                        <a:effectLst/>
                        <a:latin typeface="+mn-lt"/>
                        <a:ea typeface="Calibri" panose="020F0502020204030204" pitchFamily="34" charset="0"/>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endParaRPr lang="en-GB" sz="1400" b="1" dirty="0">
                        <a:solidFill>
                          <a:srgbClr val="87BD31"/>
                        </a:solidFill>
                        <a:effectLst/>
                        <a:latin typeface="+mn-lt"/>
                        <a:ea typeface="Calibri" panose="020F0502020204030204" pitchFamily="34" charset="0"/>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endParaRPr lang="en-GB" sz="1400" b="1" dirty="0">
                        <a:solidFill>
                          <a:srgbClr val="87BD31"/>
                        </a:solidFill>
                        <a:effectLst/>
                        <a:latin typeface="+mn-lt"/>
                        <a:ea typeface="Calibri" panose="020F0502020204030204" pitchFamily="34" charset="0"/>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endParaRPr lang="en-GB" sz="1400" b="1" dirty="0">
                        <a:solidFill>
                          <a:srgbClr val="87BD31"/>
                        </a:solidFill>
                        <a:effectLst/>
                        <a:latin typeface="+mn-lt"/>
                        <a:ea typeface="Calibri" panose="020F0502020204030204" pitchFamily="34" charset="0"/>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endParaRPr lang="en-GB" sz="1400" b="1" dirty="0">
                        <a:solidFill>
                          <a:schemeClr val="tx1"/>
                        </a:solidFill>
                        <a:effectLst/>
                        <a:latin typeface="+mn-lt"/>
                        <a:ea typeface="Calibri" panose="020F0502020204030204" pitchFamily="34" charset="0"/>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endParaRPr lang="en-GB" sz="1400" b="1" dirty="0">
                        <a:solidFill>
                          <a:srgbClr val="87BD31"/>
                        </a:solidFill>
                        <a:effectLst/>
                        <a:latin typeface="+mn-lt"/>
                        <a:ea typeface="Calibri" panose="020F0502020204030204" pitchFamily="34" charset="0"/>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endParaRPr lang="en-GB" sz="1400" b="1" dirty="0">
                        <a:solidFill>
                          <a:srgbClr val="87BD31"/>
                        </a:solidFill>
                        <a:effectLst/>
                        <a:latin typeface="+mn-lt"/>
                        <a:ea typeface="Calibri" panose="020F0502020204030204" pitchFamily="34" charset="0"/>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endParaRPr lang="en-GB" sz="1400" b="0" dirty="0">
                        <a:solidFill>
                          <a:srgbClr val="87BD31"/>
                        </a:solidFill>
                        <a:effectLst/>
                        <a:latin typeface="+mn-lt"/>
                        <a:ea typeface="Calibri" panose="020F0502020204030204" pitchFamily="34" charset="0"/>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390315">
                <a:tc>
                  <a:txBody>
                    <a:bodyPr/>
                    <a:lstStyle/>
                    <a:p>
                      <a:pPr algn="ctr">
                        <a:lnSpc>
                          <a:spcPct val="106000"/>
                        </a:lnSpc>
                        <a:spcAft>
                          <a:spcPts val="0"/>
                        </a:spcAft>
                      </a:pPr>
                      <a:r>
                        <a:rPr lang="en-GB" sz="2400" kern="1200" dirty="0">
                          <a:solidFill>
                            <a:schemeClr val="tx1"/>
                          </a:solidFill>
                          <a:effectLst/>
                          <a:latin typeface="+mn-lt"/>
                          <a:ea typeface="Calibri" panose="020F0502020204030204" pitchFamily="34" charset="0"/>
                          <a:cs typeface="Calibri" panose="020F0502020204030204" pitchFamily="34" charset="0"/>
                        </a:rPr>
                        <a:t> </a:t>
                      </a:r>
                      <a:endParaRPr lang="en-GB" sz="2400" dirty="0">
                        <a:solidFill>
                          <a:schemeClr val="tx1"/>
                        </a:solidFill>
                        <a:effectLst/>
                        <a:latin typeface="+mn-lt"/>
                        <a:ea typeface="Calibri" panose="020F0502020204030204" pitchFamily="34" charset="0"/>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endParaRPr lang="en-GB" sz="1400" b="1" dirty="0">
                        <a:solidFill>
                          <a:srgbClr val="87BD31"/>
                        </a:solidFill>
                        <a:effectLst/>
                        <a:latin typeface="+mn-lt"/>
                        <a:ea typeface="Calibri" panose="020F0502020204030204" pitchFamily="34" charset="0"/>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1400" b="1" kern="1200" dirty="0">
                          <a:solidFill>
                            <a:srgbClr val="87BD31"/>
                          </a:solidFill>
                          <a:effectLst/>
                          <a:latin typeface="+mn-lt"/>
                          <a:ea typeface="Calibri" panose="020F0502020204030204" pitchFamily="34" charset="0"/>
                          <a:cs typeface="Calibri" panose="020F0502020204030204" pitchFamily="34" charset="0"/>
                        </a:rPr>
                        <a:t> </a:t>
                      </a:r>
                      <a:endParaRPr lang="en-GB" sz="1400" b="1" dirty="0">
                        <a:solidFill>
                          <a:srgbClr val="87BD31"/>
                        </a:solidFill>
                        <a:effectLst/>
                        <a:latin typeface="+mn-lt"/>
                        <a:ea typeface="Calibri" panose="020F0502020204030204" pitchFamily="34" charset="0"/>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1400" b="1" kern="1200" dirty="0">
                          <a:solidFill>
                            <a:srgbClr val="87BD31"/>
                          </a:solidFill>
                          <a:effectLst/>
                          <a:latin typeface="+mn-lt"/>
                          <a:ea typeface="Calibri" panose="020F0502020204030204" pitchFamily="34" charset="0"/>
                          <a:cs typeface="Calibri" panose="020F0502020204030204" pitchFamily="34" charset="0"/>
                        </a:rPr>
                        <a:t> </a:t>
                      </a:r>
                      <a:endParaRPr lang="en-GB" sz="1400" b="1" dirty="0">
                        <a:solidFill>
                          <a:srgbClr val="87BD31"/>
                        </a:solidFill>
                        <a:effectLst/>
                        <a:latin typeface="+mn-lt"/>
                        <a:ea typeface="Calibri" panose="020F0502020204030204" pitchFamily="34" charset="0"/>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endParaRPr lang="en-GB" sz="1400" b="1" dirty="0">
                        <a:solidFill>
                          <a:schemeClr val="tx1"/>
                        </a:solidFill>
                        <a:effectLst/>
                        <a:latin typeface="+mn-lt"/>
                        <a:ea typeface="Calibri" panose="020F0502020204030204" pitchFamily="34" charset="0"/>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endParaRPr lang="en-GB" sz="1400" b="1" dirty="0">
                        <a:solidFill>
                          <a:srgbClr val="87BD31"/>
                        </a:solidFill>
                        <a:effectLst/>
                        <a:latin typeface="+mn-lt"/>
                        <a:ea typeface="Calibri" panose="020F0502020204030204" pitchFamily="34" charset="0"/>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1400" b="1" kern="1200" dirty="0">
                          <a:solidFill>
                            <a:srgbClr val="87BD31"/>
                          </a:solidFill>
                          <a:effectLst/>
                          <a:latin typeface="+mn-lt"/>
                          <a:ea typeface="Calibri" panose="020F0502020204030204" pitchFamily="34" charset="0"/>
                          <a:cs typeface="Calibri" panose="020F0502020204030204" pitchFamily="34" charset="0"/>
                        </a:rPr>
                        <a:t> </a:t>
                      </a:r>
                      <a:endParaRPr lang="en-GB" sz="1400" b="1" dirty="0">
                        <a:solidFill>
                          <a:srgbClr val="87BD31"/>
                        </a:solidFill>
                        <a:effectLst/>
                        <a:latin typeface="+mn-lt"/>
                        <a:ea typeface="Calibri" panose="020F0502020204030204" pitchFamily="34" charset="0"/>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1400" b="0" kern="1200" dirty="0">
                          <a:solidFill>
                            <a:srgbClr val="87BD31"/>
                          </a:solidFill>
                          <a:effectLst/>
                          <a:latin typeface="+mn-lt"/>
                          <a:ea typeface="Calibri" panose="020F0502020204030204" pitchFamily="34" charset="0"/>
                          <a:cs typeface="Calibri" panose="020F0502020204030204" pitchFamily="34" charset="0"/>
                        </a:rPr>
                        <a:t> </a:t>
                      </a:r>
                      <a:endParaRPr lang="en-GB" sz="1400" b="0" dirty="0">
                        <a:solidFill>
                          <a:srgbClr val="87BD31"/>
                        </a:solidFill>
                        <a:effectLst/>
                        <a:latin typeface="+mn-lt"/>
                        <a:ea typeface="Calibri" panose="020F0502020204030204" pitchFamily="34" charset="0"/>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464915">
                <a:tc>
                  <a:txBody>
                    <a:bodyPr/>
                    <a:lstStyle/>
                    <a:p>
                      <a:pPr algn="ctr">
                        <a:lnSpc>
                          <a:spcPct val="106000"/>
                        </a:lnSpc>
                        <a:spcAft>
                          <a:spcPts val="0"/>
                        </a:spcAft>
                      </a:pPr>
                      <a:r>
                        <a:rPr lang="en-GB" sz="2400" b="0" kern="1200" dirty="0">
                          <a:solidFill>
                            <a:schemeClr val="tx1"/>
                          </a:solidFill>
                          <a:effectLst/>
                          <a:latin typeface="+mn-lt"/>
                          <a:ea typeface="Calibri" panose="020F0502020204030204" pitchFamily="34" charset="0"/>
                          <a:cs typeface="Calibri" panose="020F0502020204030204" pitchFamily="34" charset="0"/>
                        </a:rPr>
                        <a:t> </a:t>
                      </a:r>
                      <a:endParaRPr lang="en-GB" sz="24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b="0" kern="1200" dirty="0">
                          <a:solidFill>
                            <a:schemeClr val="tx1"/>
                          </a:solidFill>
                          <a:effectLst/>
                          <a:latin typeface="+mn-lt"/>
                          <a:ea typeface="Calibri" panose="020F0502020204030204" pitchFamily="34" charset="0"/>
                          <a:cs typeface="Calibri" panose="020F0502020204030204" pitchFamily="34" charset="0"/>
                        </a:rPr>
                        <a:t>6</a:t>
                      </a:r>
                      <a:endParaRPr lang="en-GB" sz="28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b="0" kern="1200" dirty="0">
                          <a:solidFill>
                            <a:schemeClr val="tx1"/>
                          </a:solidFill>
                          <a:effectLst/>
                          <a:latin typeface="+mn-lt"/>
                          <a:ea typeface="Calibri" panose="020F0502020204030204" pitchFamily="34" charset="0"/>
                          <a:cs typeface="Calibri" panose="020F0502020204030204" pitchFamily="34" charset="0"/>
                        </a:rPr>
                        <a:t>5</a:t>
                      </a:r>
                      <a:endParaRPr lang="en-GB" sz="28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b="0" kern="1200" dirty="0">
                          <a:solidFill>
                            <a:schemeClr val="tx1"/>
                          </a:solidFill>
                          <a:effectLst/>
                          <a:latin typeface="+mn-lt"/>
                          <a:ea typeface="Calibri" panose="020F0502020204030204" pitchFamily="34" charset="0"/>
                          <a:cs typeface="Calibri" panose="020F0502020204030204" pitchFamily="34" charset="0"/>
                        </a:rPr>
                        <a:t>0</a:t>
                      </a:r>
                      <a:endParaRPr lang="en-GB" sz="28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b="0" kern="1200" dirty="0" smtClean="0">
                          <a:solidFill>
                            <a:schemeClr val="tx1"/>
                          </a:solidFill>
                          <a:effectLst/>
                          <a:latin typeface="+mn-lt"/>
                          <a:ea typeface="Calibri" panose="020F0502020204030204" pitchFamily="34" charset="0"/>
                          <a:cs typeface="Calibri" panose="020F0502020204030204" pitchFamily="34" charset="0"/>
                        </a:rPr>
                        <a:t>7</a:t>
                      </a:r>
                      <a:endParaRPr lang="en-GB" sz="28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b="0" kern="1200" dirty="0" smtClean="0">
                          <a:solidFill>
                            <a:schemeClr val="tx1"/>
                          </a:solidFill>
                          <a:effectLst/>
                          <a:latin typeface="+mn-lt"/>
                          <a:ea typeface="Calibri" panose="020F0502020204030204" pitchFamily="34" charset="0"/>
                          <a:cs typeface="Calibri" panose="020F0502020204030204" pitchFamily="34" charset="0"/>
                        </a:rPr>
                        <a:t>6</a:t>
                      </a:r>
                      <a:endParaRPr lang="en-GB" sz="28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b="0" kern="1200" dirty="0">
                          <a:solidFill>
                            <a:schemeClr val="tx1"/>
                          </a:solidFill>
                          <a:effectLst/>
                          <a:latin typeface="+mn-lt"/>
                          <a:ea typeface="Calibri" panose="020F0502020204030204" pitchFamily="34" charset="0"/>
                          <a:cs typeface="Calibri" panose="020F0502020204030204" pitchFamily="34" charset="0"/>
                        </a:rPr>
                        <a:t>8</a:t>
                      </a:r>
                      <a:endParaRPr lang="en-GB" sz="28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b="0" dirty="0" smtClean="0">
                          <a:solidFill>
                            <a:schemeClr val="tx1"/>
                          </a:solidFill>
                          <a:effectLst/>
                          <a:latin typeface="+mn-lt"/>
                          <a:ea typeface="Calibri" panose="020F0502020204030204" pitchFamily="34" charset="0"/>
                          <a:cs typeface="Times New Roman" panose="02020603050405020304" pitchFamily="18" charset="0"/>
                        </a:rPr>
                        <a:t>5</a:t>
                      </a:r>
                      <a:endParaRPr lang="en-GB" sz="28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432000585"/>
                  </a:ext>
                </a:extLst>
              </a:tr>
              <a:tr h="469197">
                <a:tc>
                  <a:txBody>
                    <a:bodyPr/>
                    <a:lstStyle/>
                    <a:p>
                      <a:pPr algn="ctr">
                        <a:lnSpc>
                          <a:spcPct val="106000"/>
                        </a:lnSpc>
                        <a:spcAft>
                          <a:spcPts val="0"/>
                        </a:spcAft>
                      </a:pPr>
                      <a:r>
                        <a:rPr lang="en-GB" sz="2400" kern="1200" dirty="0" smtClean="0">
                          <a:solidFill>
                            <a:srgbClr val="000000"/>
                          </a:solidFill>
                          <a:effectLst/>
                          <a:latin typeface="+mn-lt"/>
                          <a:ea typeface="Calibri" panose="020F0502020204030204" pitchFamily="34" charset="0"/>
                          <a:cs typeface="Calibri" panose="020F0502020204030204" pitchFamily="34" charset="0"/>
                        </a:rPr>
                        <a:t>−</a:t>
                      </a:r>
                      <a:endParaRPr lang="en-GB" sz="2400" dirty="0">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7000"/>
                        </a:lnSpc>
                      </a:pPr>
                      <a:r>
                        <a:rPr lang="en-GB" sz="2800" dirty="0" smtClean="0">
                          <a:solidFill>
                            <a:schemeClr val="tx1"/>
                          </a:solidFill>
                          <a:effectLst/>
                          <a:latin typeface="+mn-lt"/>
                          <a:cs typeface="Times New Roman" panose="02020603050405020304" pitchFamily="18" charset="0"/>
                        </a:rPr>
                        <a:t>1</a:t>
                      </a:r>
                      <a:endParaRPr lang="en-GB" sz="2800" dirty="0">
                        <a:solidFill>
                          <a:schemeClr val="tx1"/>
                        </a:solidFill>
                        <a:effectLst/>
                        <a:latin typeface="+mn-lt"/>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b="0" dirty="0" smtClean="0">
                          <a:solidFill>
                            <a:schemeClr val="tx1"/>
                          </a:solidFill>
                          <a:effectLst/>
                          <a:latin typeface="+mn-lt"/>
                          <a:ea typeface="Calibri" panose="020F0502020204030204" pitchFamily="34" charset="0"/>
                          <a:cs typeface="Times New Roman" panose="02020603050405020304" pitchFamily="18" charset="0"/>
                        </a:rPr>
                        <a:t>3</a:t>
                      </a:r>
                      <a:endParaRPr lang="en-GB" sz="28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b="0" kern="1200" dirty="0">
                          <a:solidFill>
                            <a:schemeClr val="tx1"/>
                          </a:solidFill>
                          <a:effectLst/>
                          <a:latin typeface="+mn-lt"/>
                          <a:ea typeface="Calibri" panose="020F0502020204030204" pitchFamily="34" charset="0"/>
                          <a:cs typeface="Calibri" panose="020F0502020204030204" pitchFamily="34" charset="0"/>
                        </a:rPr>
                        <a:t>2</a:t>
                      </a:r>
                      <a:endParaRPr lang="en-GB" sz="28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b="0" kern="1200" dirty="0">
                          <a:solidFill>
                            <a:schemeClr val="tx1"/>
                          </a:solidFill>
                          <a:effectLst/>
                          <a:latin typeface="+mn-lt"/>
                          <a:ea typeface="Calibri" panose="020F0502020204030204" pitchFamily="34" charset="0"/>
                          <a:cs typeface="Calibri" panose="020F0502020204030204" pitchFamily="34" charset="0"/>
                        </a:rPr>
                        <a:t>8</a:t>
                      </a:r>
                      <a:endParaRPr lang="en-GB" sz="28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b="0" kern="1200" dirty="0">
                          <a:solidFill>
                            <a:schemeClr val="tx1"/>
                          </a:solidFill>
                          <a:effectLst/>
                          <a:latin typeface="+mn-lt"/>
                          <a:ea typeface="Calibri" panose="020F0502020204030204" pitchFamily="34" charset="0"/>
                          <a:cs typeface="Calibri" panose="020F0502020204030204" pitchFamily="34" charset="0"/>
                        </a:rPr>
                        <a:t>3</a:t>
                      </a:r>
                      <a:endParaRPr lang="en-GB" sz="28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b="0" kern="1200" dirty="0">
                          <a:solidFill>
                            <a:schemeClr val="tx1"/>
                          </a:solidFill>
                          <a:effectLst/>
                          <a:latin typeface="+mn-lt"/>
                          <a:ea typeface="Calibri" panose="020F0502020204030204" pitchFamily="34" charset="0"/>
                          <a:cs typeface="Calibri" panose="020F0502020204030204" pitchFamily="34" charset="0"/>
                        </a:rPr>
                        <a:t>9</a:t>
                      </a:r>
                      <a:endParaRPr lang="en-GB" sz="28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6000"/>
                        </a:lnSpc>
                        <a:spcAft>
                          <a:spcPts val="0"/>
                        </a:spcAft>
                      </a:pPr>
                      <a:r>
                        <a:rPr lang="en-GB" sz="2800" b="0" kern="1200" dirty="0">
                          <a:solidFill>
                            <a:schemeClr val="tx1"/>
                          </a:solidFill>
                          <a:effectLst/>
                          <a:latin typeface="+mn-lt"/>
                          <a:ea typeface="Calibri" panose="020F0502020204030204" pitchFamily="34" charset="0"/>
                          <a:cs typeface="Calibri" panose="020F0502020204030204" pitchFamily="34" charset="0"/>
                        </a:rPr>
                        <a:t>4</a:t>
                      </a:r>
                      <a:endParaRPr lang="en-GB" sz="28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908131349"/>
                  </a:ext>
                </a:extLst>
              </a:tr>
              <a:tr h="442385">
                <a:tc>
                  <a:txBody>
                    <a:bodyPr/>
                    <a:lstStyle/>
                    <a:p>
                      <a:pPr algn="ctr">
                        <a:lnSpc>
                          <a:spcPct val="106000"/>
                        </a:lnSpc>
                        <a:spcAft>
                          <a:spcPts val="0"/>
                        </a:spcAft>
                      </a:pPr>
                      <a:endParaRPr lang="en-GB" sz="2400" u="none" dirty="0">
                        <a:effectLst/>
                        <a:latin typeface="+mn-lt"/>
                        <a:ea typeface="Calibri" panose="020F0502020204030204" pitchFamily="34" charset="0"/>
                        <a:cs typeface="Times New Roman" panose="02020603050405020304" pitchFamily="18" charset="0"/>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800" b="0" dirty="0" smtClean="0">
                          <a:solidFill>
                            <a:schemeClr val="tx1"/>
                          </a:solidFill>
                        </a:rPr>
                        <a:t>5</a:t>
                      </a:r>
                      <a:endParaRPr lang="en-GB" sz="2800" b="0" dirty="0">
                        <a:solidFill>
                          <a:schemeClr val="tx1"/>
                        </a:solidFill>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800" b="0" dirty="0" smtClean="0">
                          <a:solidFill>
                            <a:schemeClr val="tx1"/>
                          </a:solidFill>
                        </a:rPr>
                        <a:t>1</a:t>
                      </a:r>
                      <a:endParaRPr lang="en-GB" sz="2800" b="0" dirty="0">
                        <a:solidFill>
                          <a:schemeClr val="tx1"/>
                        </a:solidFill>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800" b="1" dirty="0" smtClean="0">
                          <a:solidFill>
                            <a:srgbClr val="87BD31"/>
                          </a:solidFill>
                        </a:rPr>
                        <a:t>7</a:t>
                      </a:r>
                      <a:endParaRPr lang="en-GB" sz="2800" b="1" dirty="0">
                        <a:solidFill>
                          <a:srgbClr val="87BD31"/>
                        </a:solidFill>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800" b="0" dirty="0" smtClean="0">
                          <a:solidFill>
                            <a:schemeClr val="tx1"/>
                          </a:solidFill>
                        </a:rPr>
                        <a:t>9</a:t>
                      </a:r>
                      <a:endParaRPr lang="en-GB" sz="2800" b="0" dirty="0">
                        <a:solidFill>
                          <a:schemeClr val="tx1"/>
                        </a:solidFill>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800" b="1" dirty="0" smtClean="0">
                          <a:solidFill>
                            <a:srgbClr val="87BD31"/>
                          </a:solidFill>
                        </a:rPr>
                        <a:t>2</a:t>
                      </a:r>
                      <a:endParaRPr lang="en-GB" sz="2800" b="1" dirty="0">
                        <a:solidFill>
                          <a:srgbClr val="87BD31"/>
                        </a:solidFill>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800" b="1" dirty="0" smtClean="0">
                          <a:solidFill>
                            <a:srgbClr val="87BD31"/>
                          </a:solidFill>
                        </a:rPr>
                        <a:t>9</a:t>
                      </a:r>
                      <a:endParaRPr lang="en-GB" sz="2800" b="1" dirty="0">
                        <a:solidFill>
                          <a:srgbClr val="87BD31"/>
                        </a:solidFill>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800" b="0" dirty="0" smtClean="0">
                          <a:solidFill>
                            <a:schemeClr val="tx1"/>
                          </a:solidFill>
                        </a:rPr>
                        <a:t>1</a:t>
                      </a:r>
                      <a:endParaRPr lang="en-GB" sz="2800" b="0" dirty="0">
                        <a:solidFill>
                          <a:schemeClr val="tx1"/>
                        </a:solidFill>
                      </a:endParaRPr>
                    </a:p>
                  </a:txBody>
                  <a:tcPr marL="68580" marR="68580" marT="95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824819332"/>
                  </a:ext>
                </a:extLst>
              </a:tr>
            </a:tbl>
          </a:graphicData>
        </a:graphic>
      </p:graphicFrame>
      <p:cxnSp>
        <p:nvCxnSpPr>
          <p:cNvPr id="92" name="Straight Connector 91"/>
          <p:cNvCxnSpPr/>
          <p:nvPr/>
        </p:nvCxnSpPr>
        <p:spPr>
          <a:xfrm flipV="1">
            <a:off x="6960942" y="3063595"/>
            <a:ext cx="284052" cy="287364"/>
          </a:xfrm>
          <a:prstGeom prst="line">
            <a:avLst/>
          </a:prstGeom>
          <a:ln w="28575">
            <a:solidFill>
              <a:srgbClr val="87BD3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flipV="1">
            <a:off x="6109288" y="3054897"/>
            <a:ext cx="284052" cy="287364"/>
          </a:xfrm>
          <a:prstGeom prst="line">
            <a:avLst/>
          </a:prstGeom>
          <a:ln w="28575">
            <a:solidFill>
              <a:srgbClr val="87BD31"/>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flipV="1">
            <a:off x="5696083" y="3063595"/>
            <a:ext cx="284052" cy="28736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flipV="1">
            <a:off x="6110294" y="2909700"/>
            <a:ext cx="119567" cy="120961"/>
          </a:xfrm>
          <a:prstGeom prst="line">
            <a:avLst/>
          </a:prstGeom>
          <a:ln w="28575">
            <a:solidFill>
              <a:srgbClr val="87BD31"/>
            </a:solidFill>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1797695" y="2853772"/>
            <a:ext cx="271228" cy="276999"/>
          </a:xfrm>
          <a:prstGeom prst="rect">
            <a:avLst/>
          </a:prstGeom>
        </p:spPr>
        <p:txBody>
          <a:bodyPr wrap="none">
            <a:spAutoFit/>
          </a:bodyPr>
          <a:lstStyle/>
          <a:p>
            <a:r>
              <a:rPr lang="en-GB" sz="1200" dirty="0" smtClean="0">
                <a:ea typeface="Calibri" panose="020F0502020204030204" pitchFamily="34" charset="0"/>
                <a:cs typeface="Calibri" panose="020F0502020204030204" pitchFamily="34" charset="0"/>
              </a:rPr>
              <a:t>4</a:t>
            </a:r>
            <a:endParaRPr lang="en-GB" sz="1200" dirty="0"/>
          </a:p>
        </p:txBody>
      </p:sp>
      <p:sp>
        <p:nvSpPr>
          <p:cNvPr id="16" name="Rectangle 15"/>
          <p:cNvSpPr/>
          <p:nvPr/>
        </p:nvSpPr>
        <p:spPr>
          <a:xfrm>
            <a:off x="2579590" y="2853771"/>
            <a:ext cx="243978" cy="276999"/>
          </a:xfrm>
          <a:prstGeom prst="rect">
            <a:avLst/>
          </a:prstGeom>
        </p:spPr>
        <p:txBody>
          <a:bodyPr wrap="none">
            <a:spAutoFit/>
          </a:bodyPr>
          <a:lstStyle/>
          <a:p>
            <a:r>
              <a:rPr lang="en-GB" sz="1200" dirty="0" smtClean="0">
                <a:ea typeface="Calibri" panose="020F0502020204030204" pitchFamily="34" charset="0"/>
                <a:cs typeface="Calibri" panose="020F0502020204030204" pitchFamily="34" charset="0"/>
              </a:rPr>
              <a:t>1</a:t>
            </a:r>
            <a:endParaRPr lang="en-GB" sz="1200" dirty="0"/>
          </a:p>
        </p:txBody>
      </p:sp>
      <p:sp>
        <p:nvSpPr>
          <p:cNvPr id="4" name="Rectangle 3"/>
          <p:cNvSpPr/>
          <p:nvPr/>
        </p:nvSpPr>
        <p:spPr>
          <a:xfrm>
            <a:off x="5558866" y="2853770"/>
            <a:ext cx="274434" cy="276999"/>
          </a:xfrm>
          <a:prstGeom prst="rect">
            <a:avLst/>
          </a:prstGeom>
        </p:spPr>
        <p:txBody>
          <a:bodyPr wrap="none">
            <a:spAutoFit/>
          </a:bodyPr>
          <a:lstStyle/>
          <a:p>
            <a:r>
              <a:rPr lang="en-GB" sz="1200" dirty="0">
                <a:ea typeface="Calibri" panose="020F0502020204030204" pitchFamily="34" charset="0"/>
                <a:cs typeface="Calibri" panose="020F0502020204030204" pitchFamily="34" charset="0"/>
              </a:rPr>
              <a:t>4</a:t>
            </a:r>
            <a:endParaRPr lang="en-GB" sz="1200" dirty="0"/>
          </a:p>
        </p:txBody>
      </p:sp>
      <p:sp>
        <p:nvSpPr>
          <p:cNvPr id="5" name="Rectangle 4"/>
          <p:cNvSpPr/>
          <p:nvPr/>
        </p:nvSpPr>
        <p:spPr>
          <a:xfrm>
            <a:off x="7276820" y="2853770"/>
            <a:ext cx="248786" cy="276999"/>
          </a:xfrm>
          <a:prstGeom prst="rect">
            <a:avLst/>
          </a:prstGeom>
        </p:spPr>
        <p:txBody>
          <a:bodyPr wrap="none">
            <a:spAutoFit/>
          </a:bodyPr>
          <a:lstStyle/>
          <a:p>
            <a:r>
              <a:rPr lang="en-GB" sz="1200" b="1" dirty="0">
                <a:solidFill>
                  <a:srgbClr val="87BD31"/>
                </a:solidFill>
                <a:ea typeface="Calibri" panose="020F0502020204030204" pitchFamily="34" charset="0"/>
                <a:cs typeface="Calibri" panose="020F0502020204030204" pitchFamily="34" charset="0"/>
              </a:rPr>
              <a:t>1</a:t>
            </a:r>
            <a:endParaRPr lang="en-GB" sz="1600" dirty="0"/>
          </a:p>
        </p:txBody>
      </p:sp>
      <p:sp>
        <p:nvSpPr>
          <p:cNvPr id="6" name="Rectangle 5"/>
          <p:cNvSpPr/>
          <p:nvPr/>
        </p:nvSpPr>
        <p:spPr>
          <a:xfrm>
            <a:off x="6869157" y="2853770"/>
            <a:ext cx="266419" cy="288092"/>
          </a:xfrm>
          <a:prstGeom prst="rect">
            <a:avLst/>
          </a:prstGeom>
        </p:spPr>
        <p:txBody>
          <a:bodyPr wrap="none">
            <a:spAutoFit/>
          </a:bodyPr>
          <a:lstStyle/>
          <a:p>
            <a:pPr lvl="0" algn="ctr">
              <a:lnSpc>
                <a:spcPct val="106000"/>
              </a:lnSpc>
            </a:pPr>
            <a:r>
              <a:rPr lang="en-GB" sz="1200" b="1" dirty="0">
                <a:solidFill>
                  <a:srgbClr val="87BD31"/>
                </a:solidFill>
                <a:ea typeface="Calibri" panose="020F0502020204030204" pitchFamily="34" charset="0"/>
                <a:cs typeface="Times New Roman" panose="02020603050405020304" pitchFamily="18" charset="0"/>
              </a:rPr>
              <a:t>5</a:t>
            </a:r>
          </a:p>
        </p:txBody>
      </p:sp>
      <p:sp>
        <p:nvSpPr>
          <p:cNvPr id="8" name="Rectangle 7"/>
          <p:cNvSpPr/>
          <p:nvPr/>
        </p:nvSpPr>
        <p:spPr>
          <a:xfrm>
            <a:off x="6428355" y="2851753"/>
            <a:ext cx="248786" cy="277640"/>
          </a:xfrm>
          <a:prstGeom prst="rect">
            <a:avLst/>
          </a:prstGeom>
        </p:spPr>
        <p:txBody>
          <a:bodyPr wrap="none">
            <a:spAutoFit/>
          </a:bodyPr>
          <a:lstStyle/>
          <a:p>
            <a:pPr lvl="0" algn="ctr">
              <a:lnSpc>
                <a:spcPct val="106000"/>
              </a:lnSpc>
            </a:pPr>
            <a:r>
              <a:rPr lang="en-GB" sz="1200" b="1" dirty="0">
                <a:solidFill>
                  <a:srgbClr val="1C1C1C"/>
                </a:solidFill>
                <a:ea typeface="Calibri" panose="020F0502020204030204" pitchFamily="34" charset="0"/>
                <a:cs typeface="Times New Roman" panose="02020603050405020304" pitchFamily="18" charset="0"/>
              </a:rPr>
              <a:t>1</a:t>
            </a:r>
          </a:p>
        </p:txBody>
      </p:sp>
      <p:sp>
        <p:nvSpPr>
          <p:cNvPr id="21" name="Rectangle 20"/>
          <p:cNvSpPr/>
          <p:nvPr/>
        </p:nvSpPr>
        <p:spPr>
          <a:xfrm>
            <a:off x="6042860" y="2846914"/>
            <a:ext cx="248786" cy="276999"/>
          </a:xfrm>
          <a:prstGeom prst="rect">
            <a:avLst/>
          </a:prstGeom>
        </p:spPr>
        <p:txBody>
          <a:bodyPr wrap="none">
            <a:spAutoFit/>
          </a:bodyPr>
          <a:lstStyle/>
          <a:p>
            <a:r>
              <a:rPr lang="en-GB" sz="1200" b="1" dirty="0">
                <a:solidFill>
                  <a:srgbClr val="87BD31"/>
                </a:solidFill>
                <a:ea typeface="Calibri" panose="020F0502020204030204" pitchFamily="34" charset="0"/>
                <a:cs typeface="Calibri" panose="020F0502020204030204" pitchFamily="34" charset="0"/>
              </a:rPr>
              <a:t>1</a:t>
            </a:r>
            <a:endParaRPr lang="en-GB" sz="1600" dirty="0"/>
          </a:p>
        </p:txBody>
      </p:sp>
      <p:sp>
        <p:nvSpPr>
          <p:cNvPr id="9" name="Rectangle 8"/>
          <p:cNvSpPr/>
          <p:nvPr/>
        </p:nvSpPr>
        <p:spPr>
          <a:xfrm>
            <a:off x="5966152" y="2742240"/>
            <a:ext cx="271228" cy="277640"/>
          </a:xfrm>
          <a:prstGeom prst="rect">
            <a:avLst/>
          </a:prstGeom>
        </p:spPr>
        <p:txBody>
          <a:bodyPr wrap="none">
            <a:spAutoFit/>
          </a:bodyPr>
          <a:lstStyle/>
          <a:p>
            <a:pPr lvl="0" algn="ctr">
              <a:lnSpc>
                <a:spcPct val="106000"/>
              </a:lnSpc>
            </a:pPr>
            <a:r>
              <a:rPr lang="en-GB" sz="1200" b="1" dirty="0">
                <a:solidFill>
                  <a:srgbClr val="87BD31"/>
                </a:solidFill>
                <a:ea typeface="Calibri" panose="020F0502020204030204" pitchFamily="34" charset="0"/>
                <a:cs typeface="Times New Roman" panose="02020603050405020304" pitchFamily="18" charset="0"/>
              </a:rPr>
              <a:t>9</a:t>
            </a:r>
          </a:p>
        </p:txBody>
      </p:sp>
      <p:sp>
        <p:nvSpPr>
          <p:cNvPr id="10" name="Rectangle 9"/>
          <p:cNvSpPr/>
          <p:nvPr/>
        </p:nvSpPr>
        <p:spPr>
          <a:xfrm>
            <a:off x="4672361" y="2589749"/>
            <a:ext cx="3612995" cy="1859588"/>
          </a:xfrm>
          <a:prstGeom prst="rect">
            <a:avLst/>
          </a:prstGeom>
          <a:noFill/>
          <a:ln w="28575">
            <a:solidFill>
              <a:srgbClr val="87B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3" name="Straight Connector 22"/>
          <p:cNvCxnSpPr/>
          <p:nvPr/>
        </p:nvCxnSpPr>
        <p:spPr>
          <a:xfrm flipV="1">
            <a:off x="1894205" y="3054897"/>
            <a:ext cx="284052" cy="28736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5252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8" grpId="0"/>
      <p:bldP spid="21" grpId="0"/>
      <p:bldP spid="9" grpId="0"/>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 name="Picture 7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02250" y="532799"/>
            <a:ext cx="702000" cy="702000"/>
          </a:xfrm>
          <a:prstGeom prst="rect">
            <a:avLst/>
          </a:prstGeom>
        </p:spPr>
      </p:pic>
      <p:sp>
        <p:nvSpPr>
          <p:cNvPr id="8" name="Rectangle 7"/>
          <p:cNvSpPr/>
          <p:nvPr/>
        </p:nvSpPr>
        <p:spPr>
          <a:xfrm>
            <a:off x="445574" y="702863"/>
            <a:ext cx="2833085" cy="355276"/>
          </a:xfrm>
          <a:prstGeom prst="rect">
            <a:avLst/>
          </a:prstGeom>
          <a:solidFill>
            <a:srgbClr val="072F54"/>
          </a:solidFill>
        </p:spPr>
        <p:txBody>
          <a:bodyPr wrap="square" lIns="180000" tIns="36000" rIns="180000" bIns="72000" anchor="ctr">
            <a:spAutoFit/>
          </a:bodyPr>
          <a:lstStyle/>
          <a:p>
            <a:r>
              <a:rPr lang="en-GB" altLang="en-US" sz="1600" b="1" dirty="0" smtClean="0">
                <a:solidFill>
                  <a:schemeClr val="bg1"/>
                </a:solidFill>
              </a:rPr>
              <a:t>Add and Subtract Integers</a:t>
            </a:r>
            <a:endParaRPr lang="en-GB" sz="1600" b="1" dirty="0">
              <a:solidFill>
                <a:schemeClr val="bg1"/>
              </a:solidFill>
            </a:endParaRPr>
          </a:p>
        </p:txBody>
      </p:sp>
      <p:sp>
        <p:nvSpPr>
          <p:cNvPr id="75" name="Rectangle 74"/>
          <p:cNvSpPr/>
          <p:nvPr/>
        </p:nvSpPr>
        <p:spPr>
          <a:xfrm>
            <a:off x="3278659" y="702863"/>
            <a:ext cx="1141417" cy="355276"/>
          </a:xfrm>
          <a:prstGeom prst="rect">
            <a:avLst/>
          </a:prstGeom>
          <a:solidFill>
            <a:srgbClr val="00529C"/>
          </a:solidFill>
        </p:spPr>
        <p:txBody>
          <a:bodyPr wrap="square" lIns="180000" tIns="36000" rIns="180000" bIns="72000" anchor="ctr">
            <a:spAutoFit/>
          </a:bodyPr>
          <a:lstStyle/>
          <a:p>
            <a:pPr algn="ctr"/>
            <a:r>
              <a:rPr lang="en-GB" altLang="en-US" sz="1600" b="1" dirty="0" smtClean="0">
                <a:solidFill>
                  <a:schemeClr val="bg1"/>
                </a:solidFill>
              </a:rPr>
              <a:t>Deepest</a:t>
            </a:r>
            <a:endParaRPr lang="en-GB" sz="1600" b="1" dirty="0">
              <a:solidFill>
                <a:schemeClr val="bg1"/>
              </a:solidFill>
            </a:endParaRPr>
          </a:p>
        </p:txBody>
      </p:sp>
      <p:cxnSp>
        <p:nvCxnSpPr>
          <p:cNvPr id="77" name="Straight Connector 76"/>
          <p:cNvCxnSpPr/>
          <p:nvPr/>
        </p:nvCxnSpPr>
        <p:spPr>
          <a:xfrm>
            <a:off x="3278659" y="698268"/>
            <a:ext cx="0" cy="3960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755009" y="1359174"/>
            <a:ext cx="7633341" cy="391628"/>
          </a:xfrm>
          <a:prstGeom prst="rect">
            <a:avLst/>
          </a:prstGeom>
          <a:solidFill>
            <a:srgbClr val="009284"/>
          </a:solidFill>
        </p:spPr>
        <p:txBody>
          <a:bodyPr wrap="square" lIns="72000" tIns="72000" rIns="72000" bIns="72000" rtlCol="0">
            <a:spAutoFit/>
          </a:bodyPr>
          <a:lstStyle/>
          <a:p>
            <a:pPr algn="ctr"/>
            <a:r>
              <a:rPr lang="en-GB" sz="1600" dirty="0">
                <a:solidFill>
                  <a:schemeClr val="bg1"/>
                </a:solidFill>
              </a:rPr>
              <a:t>Use this bar model and the clues below to find the </a:t>
            </a:r>
            <a:r>
              <a:rPr lang="en-GB" sz="1600" dirty="0" smtClean="0">
                <a:solidFill>
                  <a:schemeClr val="bg1"/>
                </a:solidFill>
              </a:rPr>
              <a:t>possible </a:t>
            </a:r>
            <a:r>
              <a:rPr lang="en-GB" sz="1600" dirty="0">
                <a:solidFill>
                  <a:schemeClr val="bg1"/>
                </a:solidFill>
              </a:rPr>
              <a:t>values of A and B.</a:t>
            </a:r>
          </a:p>
        </p:txBody>
      </p:sp>
      <p:graphicFrame>
        <p:nvGraphicFramePr>
          <p:cNvPr id="2" name="Table 1"/>
          <p:cNvGraphicFramePr>
            <a:graphicFrameLocks noGrp="1"/>
          </p:cNvGraphicFramePr>
          <p:nvPr>
            <p:extLst>
              <p:ext uri="{D42A27DB-BD31-4B8C-83A1-F6EECF244321}">
                <p14:modId xmlns:p14="http://schemas.microsoft.com/office/powerpoint/2010/main" val="1599238749"/>
              </p:ext>
            </p:extLst>
          </p:nvPr>
        </p:nvGraphicFramePr>
        <p:xfrm>
          <a:off x="755007" y="1954890"/>
          <a:ext cx="7633342" cy="792480"/>
        </p:xfrm>
        <a:graphic>
          <a:graphicData uri="http://schemas.openxmlformats.org/drawingml/2006/table">
            <a:tbl>
              <a:tblPr firstRow="1" bandRow="1">
                <a:tableStyleId>{5C22544A-7EE6-4342-B048-85BDC9FD1C3A}</a:tableStyleId>
              </a:tblPr>
              <a:tblGrid>
                <a:gridCol w="3816671"/>
                <a:gridCol w="3816671"/>
              </a:tblGrid>
              <a:tr h="370840">
                <a:tc>
                  <a:txBody>
                    <a:bodyPr/>
                    <a:lstStyle/>
                    <a:p>
                      <a:pPr algn="ctr"/>
                      <a:r>
                        <a:rPr lang="en-GB" sz="2000" dirty="0" smtClean="0">
                          <a:solidFill>
                            <a:schemeClr val="tx1"/>
                          </a:solidFill>
                        </a:rPr>
                        <a:t>A</a:t>
                      </a:r>
                      <a:endParaRPr lang="en-GB"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BB7BD"/>
                    </a:solidFill>
                  </a:tcPr>
                </a:tc>
                <a:tc>
                  <a:txBody>
                    <a:bodyPr/>
                    <a:lstStyle/>
                    <a:p>
                      <a:pPr algn="ctr"/>
                      <a:r>
                        <a:rPr lang="en-GB" sz="2000" dirty="0" smtClean="0">
                          <a:solidFill>
                            <a:schemeClr val="tx1"/>
                          </a:solidFill>
                        </a:rPr>
                        <a:t>B</a:t>
                      </a:r>
                      <a:endParaRPr lang="en-GB"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C101"/>
                    </a:solidFill>
                  </a:tcPr>
                </a:tc>
              </a:tr>
              <a:tr h="370840">
                <a:tc gridSpan="2">
                  <a:txBody>
                    <a:bodyPr/>
                    <a:lstStyle/>
                    <a:p>
                      <a:pPr algn="ctr"/>
                      <a:r>
                        <a:rPr lang="en-GB" sz="2000" b="1" dirty="0" smtClean="0">
                          <a:solidFill>
                            <a:schemeClr val="tx1"/>
                          </a:solidFill>
                        </a:rPr>
                        <a:t>1 550 000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7BD31"/>
                    </a:solidFill>
                  </a:tcPr>
                </a:tc>
                <a:tc hMerge="1">
                  <a:txBody>
                    <a:bodyPr/>
                    <a:lstStyle/>
                    <a:p>
                      <a:endParaRPr lang="en-GB" dirty="0"/>
                    </a:p>
                  </a:txBody>
                  <a:tcPr/>
                </a:tc>
              </a:tr>
            </a:tbl>
          </a:graphicData>
        </a:graphic>
      </p:graphicFrame>
      <p:grpSp>
        <p:nvGrpSpPr>
          <p:cNvPr id="12" name="Group 11"/>
          <p:cNvGrpSpPr/>
          <p:nvPr/>
        </p:nvGrpSpPr>
        <p:grpSpPr>
          <a:xfrm>
            <a:off x="755650" y="2932076"/>
            <a:ext cx="7632699" cy="1613841"/>
            <a:chOff x="755650" y="3016147"/>
            <a:chExt cx="7632699" cy="1613841"/>
          </a:xfrm>
        </p:grpSpPr>
        <p:sp>
          <p:nvSpPr>
            <p:cNvPr id="13" name="Rectangle 12"/>
            <p:cNvSpPr/>
            <p:nvPr/>
          </p:nvSpPr>
          <p:spPr>
            <a:xfrm>
              <a:off x="5006659" y="3214216"/>
              <a:ext cx="3381690" cy="1415772"/>
            </a:xfrm>
            <a:prstGeom prst="rect">
              <a:avLst/>
            </a:prstGeom>
            <a:solidFill>
              <a:schemeClr val="bg1"/>
            </a:solidFill>
            <a:ln w="19050">
              <a:solidFill>
                <a:schemeClr val="tx1"/>
              </a:solidFill>
            </a:ln>
          </p:spPr>
          <p:txBody>
            <a:bodyPr wrap="square">
              <a:spAutoFit/>
            </a:bodyPr>
            <a:lstStyle/>
            <a:p>
              <a:pPr algn="ctr">
                <a:spcAft>
                  <a:spcPts val="1200"/>
                </a:spcAft>
              </a:pPr>
              <a:r>
                <a:rPr lang="en-GB" sz="1600" dirty="0"/>
                <a:t>It has 9 thousands.</a:t>
              </a:r>
            </a:p>
            <a:p>
              <a:pPr algn="ctr">
                <a:spcAft>
                  <a:spcPts val="1200"/>
                </a:spcAft>
              </a:pPr>
              <a:r>
                <a:rPr lang="en-GB" sz="1600" dirty="0"/>
                <a:t>It has a digit total </a:t>
              </a:r>
              <a:r>
                <a:rPr lang="en-GB" sz="1600" dirty="0" smtClean="0"/>
                <a:t/>
              </a:r>
              <a:br>
                <a:rPr lang="en-GB" sz="1600" dirty="0" smtClean="0"/>
              </a:br>
              <a:r>
                <a:rPr lang="en-GB" sz="1600" dirty="0" smtClean="0"/>
                <a:t>less </a:t>
              </a:r>
              <a:r>
                <a:rPr lang="en-GB" sz="1600" dirty="0"/>
                <a:t>than 40.</a:t>
              </a:r>
            </a:p>
            <a:p>
              <a:pPr algn="ctr">
                <a:spcAft>
                  <a:spcPts val="1200"/>
                </a:spcAft>
              </a:pPr>
              <a:r>
                <a:rPr lang="en-GB" sz="1600" dirty="0"/>
                <a:t>It is an even number.</a:t>
              </a:r>
            </a:p>
          </p:txBody>
        </p:sp>
        <p:sp>
          <p:nvSpPr>
            <p:cNvPr id="4" name="Rectangle 3"/>
            <p:cNvSpPr/>
            <p:nvPr/>
          </p:nvSpPr>
          <p:spPr>
            <a:xfrm>
              <a:off x="1038386" y="3214216"/>
              <a:ext cx="3381690" cy="1415772"/>
            </a:xfrm>
            <a:prstGeom prst="rect">
              <a:avLst/>
            </a:prstGeom>
            <a:solidFill>
              <a:schemeClr val="bg1"/>
            </a:solidFill>
            <a:ln w="19050">
              <a:solidFill>
                <a:schemeClr val="tx1"/>
              </a:solidFill>
            </a:ln>
          </p:spPr>
          <p:txBody>
            <a:bodyPr wrap="square">
              <a:spAutoFit/>
            </a:bodyPr>
            <a:lstStyle/>
            <a:p>
              <a:pPr algn="ctr">
                <a:spcAft>
                  <a:spcPts val="1200"/>
                </a:spcAft>
              </a:pPr>
              <a:r>
                <a:rPr lang="en-GB" dirty="0"/>
                <a:t>It is </a:t>
              </a:r>
              <a:r>
                <a:rPr lang="en-GB" sz="1600" dirty="0"/>
                <a:t>between 800 </a:t>
              </a:r>
              <a:r>
                <a:rPr lang="en-GB" sz="1600" dirty="0" smtClean="0"/>
                <a:t>000</a:t>
              </a:r>
              <a:br>
                <a:rPr lang="en-GB" sz="1600" dirty="0" smtClean="0"/>
              </a:br>
              <a:r>
                <a:rPr lang="en-GB" sz="1600" dirty="0" smtClean="0"/>
                <a:t> </a:t>
              </a:r>
              <a:r>
                <a:rPr lang="en-GB" sz="1600" dirty="0"/>
                <a:t>and 900 000.</a:t>
              </a:r>
            </a:p>
            <a:p>
              <a:pPr algn="ctr">
                <a:spcAft>
                  <a:spcPts val="1200"/>
                </a:spcAft>
              </a:pPr>
              <a:r>
                <a:rPr lang="en-GB" sz="1600" dirty="0"/>
                <a:t>It is a multiple of 2.</a:t>
              </a:r>
            </a:p>
            <a:p>
              <a:pPr algn="ctr">
                <a:spcAft>
                  <a:spcPts val="1200"/>
                </a:spcAft>
              </a:pPr>
              <a:r>
                <a:rPr lang="en-GB" sz="1600" dirty="0"/>
                <a:t>It has a digit total of 20.</a:t>
              </a:r>
            </a:p>
          </p:txBody>
        </p:sp>
        <p:sp>
          <p:nvSpPr>
            <p:cNvPr id="3" name="Oval 2"/>
            <p:cNvSpPr/>
            <p:nvPr/>
          </p:nvSpPr>
          <p:spPr>
            <a:xfrm>
              <a:off x="755650" y="3020593"/>
              <a:ext cx="623699" cy="623699"/>
            </a:xfrm>
            <a:prstGeom prst="ellipse">
              <a:avLst/>
            </a:prstGeom>
            <a:solidFill>
              <a:srgbClr val="2BB7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rPr>
                <a:t>A</a:t>
              </a:r>
              <a:endParaRPr lang="en-GB" b="1" dirty="0">
                <a:solidFill>
                  <a:schemeClr val="tx1"/>
                </a:solidFill>
              </a:endParaRPr>
            </a:p>
          </p:txBody>
        </p:sp>
        <p:sp>
          <p:nvSpPr>
            <p:cNvPr id="11" name="Oval 10"/>
            <p:cNvSpPr/>
            <p:nvPr/>
          </p:nvSpPr>
          <p:spPr>
            <a:xfrm>
              <a:off x="4675781" y="3016147"/>
              <a:ext cx="623699" cy="623699"/>
            </a:xfrm>
            <a:prstGeom prst="ellipse">
              <a:avLst/>
            </a:prstGeom>
            <a:solidFill>
              <a:srgbClr val="E3C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rPr>
                <a:t>B</a:t>
              </a:r>
              <a:endParaRPr lang="en-GB" b="1" dirty="0">
                <a:solidFill>
                  <a:schemeClr val="tx1"/>
                </a:solidFill>
              </a:endParaRPr>
            </a:p>
          </p:txBody>
        </p:sp>
      </p:grpSp>
      <p:grpSp>
        <p:nvGrpSpPr>
          <p:cNvPr id="14" name="Group 13"/>
          <p:cNvGrpSpPr/>
          <p:nvPr/>
        </p:nvGrpSpPr>
        <p:grpSpPr>
          <a:xfrm>
            <a:off x="755006" y="4769386"/>
            <a:ext cx="7633344" cy="1323439"/>
            <a:chOff x="755006" y="4769386"/>
            <a:chExt cx="7633344" cy="1323439"/>
          </a:xfrm>
        </p:grpSpPr>
        <p:sp>
          <p:nvSpPr>
            <p:cNvPr id="5" name="Rectangle 4"/>
            <p:cNvSpPr/>
            <p:nvPr/>
          </p:nvSpPr>
          <p:spPr>
            <a:xfrm>
              <a:off x="755006" y="5107940"/>
              <a:ext cx="7633344" cy="984885"/>
            </a:xfrm>
            <a:prstGeom prst="rect">
              <a:avLst/>
            </a:prstGeom>
            <a:solidFill>
              <a:schemeClr val="bg1"/>
            </a:solidFill>
            <a:ln w="19050">
              <a:solidFill>
                <a:srgbClr val="87BD31"/>
              </a:solidFill>
            </a:ln>
          </p:spPr>
          <p:txBody>
            <a:bodyPr wrap="square">
              <a:spAutoFit/>
            </a:bodyPr>
            <a:lstStyle/>
            <a:p>
              <a:pPr algn="ctr">
                <a:spcAft>
                  <a:spcPts val="600"/>
                </a:spcAft>
              </a:pPr>
              <a:r>
                <a:rPr lang="en-GB" sz="1600" b="1" dirty="0" smtClean="0"/>
                <a:t>A = </a:t>
              </a:r>
              <a:r>
                <a:rPr lang="en-GB" sz="1600" b="1" dirty="0"/>
                <a:t>820 028 and </a:t>
              </a:r>
              <a:r>
                <a:rPr lang="en-GB" sz="1600" b="1" dirty="0" smtClean="0"/>
                <a:t>B </a:t>
              </a:r>
              <a:r>
                <a:rPr lang="en-GB" sz="1600" b="1" dirty="0"/>
                <a:t>= </a:t>
              </a:r>
              <a:r>
                <a:rPr lang="en-GB" sz="1600" b="1" dirty="0" smtClean="0"/>
                <a:t>729 </a:t>
              </a:r>
              <a:r>
                <a:rPr lang="en-GB" sz="1600" b="1" dirty="0"/>
                <a:t>972</a:t>
              </a:r>
            </a:p>
            <a:p>
              <a:pPr algn="ctr">
                <a:spcAft>
                  <a:spcPts val="600"/>
                </a:spcAft>
              </a:pPr>
              <a:r>
                <a:rPr lang="en-GB" sz="1600" b="1" dirty="0"/>
                <a:t>A = </a:t>
              </a:r>
              <a:r>
                <a:rPr lang="en-GB" sz="1600" b="1" dirty="0" smtClean="0"/>
                <a:t>820 </a:t>
              </a:r>
              <a:r>
                <a:rPr lang="en-GB" sz="1600" b="1" dirty="0"/>
                <a:t>046 and B= 729 954</a:t>
              </a:r>
            </a:p>
            <a:p>
              <a:pPr algn="ctr">
                <a:spcAft>
                  <a:spcPts val="600"/>
                </a:spcAft>
              </a:pPr>
              <a:r>
                <a:rPr lang="en-GB" sz="1600" b="1" dirty="0"/>
                <a:t>A = </a:t>
              </a:r>
              <a:r>
                <a:rPr lang="en-GB" sz="1600" b="1" dirty="0" smtClean="0"/>
                <a:t>820 </a:t>
              </a:r>
              <a:r>
                <a:rPr lang="en-GB" sz="1600" b="1" dirty="0"/>
                <a:t>244 and B = 729 756</a:t>
              </a:r>
            </a:p>
          </p:txBody>
        </p:sp>
        <p:sp>
          <p:nvSpPr>
            <p:cNvPr id="10" name="Rectangle 9"/>
            <p:cNvSpPr/>
            <p:nvPr/>
          </p:nvSpPr>
          <p:spPr>
            <a:xfrm>
              <a:off x="755006" y="4769386"/>
              <a:ext cx="7633344" cy="338554"/>
            </a:xfrm>
            <a:prstGeom prst="rect">
              <a:avLst/>
            </a:prstGeom>
            <a:solidFill>
              <a:srgbClr val="87BD31"/>
            </a:solidFill>
            <a:ln w="19050">
              <a:solidFill>
                <a:srgbClr val="87BD31"/>
              </a:solidFill>
            </a:ln>
          </p:spPr>
          <p:txBody>
            <a:bodyPr wrap="square">
              <a:spAutoFit/>
            </a:bodyPr>
            <a:lstStyle/>
            <a:p>
              <a:pPr algn="ctr"/>
              <a:r>
                <a:rPr lang="en-GB" sz="1600" dirty="0"/>
                <a:t>A variety of answers are possible, such </a:t>
              </a:r>
              <a:r>
                <a:rPr lang="en-GB" sz="1600" dirty="0" smtClean="0"/>
                <a:t>as:</a:t>
              </a:r>
              <a:endParaRPr lang="en-GB" sz="1600" dirty="0"/>
            </a:p>
          </p:txBody>
        </p:sp>
      </p:grpSp>
    </p:spTree>
    <p:extLst>
      <p:ext uri="{BB962C8B-B14F-4D97-AF65-F5344CB8AC3E}">
        <p14:creationId xmlns:p14="http://schemas.microsoft.com/office/powerpoint/2010/main" val="4195136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 name="Picture 7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02250" y="532799"/>
            <a:ext cx="702000" cy="702000"/>
          </a:xfrm>
          <a:prstGeom prst="rect">
            <a:avLst/>
          </a:prstGeom>
        </p:spPr>
      </p:pic>
      <p:sp>
        <p:nvSpPr>
          <p:cNvPr id="8" name="Rectangle 7"/>
          <p:cNvSpPr/>
          <p:nvPr/>
        </p:nvSpPr>
        <p:spPr>
          <a:xfrm>
            <a:off x="445574" y="702863"/>
            <a:ext cx="2833085" cy="355276"/>
          </a:xfrm>
          <a:prstGeom prst="rect">
            <a:avLst/>
          </a:prstGeom>
          <a:solidFill>
            <a:srgbClr val="072F54"/>
          </a:solidFill>
        </p:spPr>
        <p:txBody>
          <a:bodyPr wrap="square" lIns="180000" tIns="36000" rIns="180000" bIns="72000" anchor="ctr">
            <a:spAutoFit/>
          </a:bodyPr>
          <a:lstStyle/>
          <a:p>
            <a:r>
              <a:rPr lang="en-GB" altLang="en-US" sz="1600" b="1" dirty="0" smtClean="0">
                <a:solidFill>
                  <a:schemeClr val="bg1"/>
                </a:solidFill>
              </a:rPr>
              <a:t>Add and Subtract Integers</a:t>
            </a:r>
            <a:endParaRPr lang="en-GB" sz="1600" b="1" dirty="0">
              <a:solidFill>
                <a:schemeClr val="bg1"/>
              </a:solidFill>
            </a:endParaRPr>
          </a:p>
        </p:txBody>
      </p:sp>
      <p:sp>
        <p:nvSpPr>
          <p:cNvPr id="75" name="Rectangle 74"/>
          <p:cNvSpPr/>
          <p:nvPr/>
        </p:nvSpPr>
        <p:spPr>
          <a:xfrm>
            <a:off x="3278659" y="702863"/>
            <a:ext cx="1141417" cy="355276"/>
          </a:xfrm>
          <a:prstGeom prst="rect">
            <a:avLst/>
          </a:prstGeom>
          <a:solidFill>
            <a:srgbClr val="00529C"/>
          </a:solidFill>
        </p:spPr>
        <p:txBody>
          <a:bodyPr wrap="square" lIns="180000" tIns="36000" rIns="180000" bIns="72000" anchor="ctr">
            <a:spAutoFit/>
          </a:bodyPr>
          <a:lstStyle/>
          <a:p>
            <a:pPr algn="ctr"/>
            <a:r>
              <a:rPr lang="en-GB" altLang="en-US" sz="1600" b="1" dirty="0" smtClean="0">
                <a:solidFill>
                  <a:schemeClr val="bg1"/>
                </a:solidFill>
              </a:rPr>
              <a:t>Deepest</a:t>
            </a:r>
            <a:endParaRPr lang="en-GB" sz="1600" b="1" dirty="0">
              <a:solidFill>
                <a:schemeClr val="bg1"/>
              </a:solidFill>
            </a:endParaRPr>
          </a:p>
        </p:txBody>
      </p:sp>
      <p:cxnSp>
        <p:nvCxnSpPr>
          <p:cNvPr id="77" name="Straight Connector 76"/>
          <p:cNvCxnSpPr/>
          <p:nvPr/>
        </p:nvCxnSpPr>
        <p:spPr>
          <a:xfrm>
            <a:off x="3278659" y="698268"/>
            <a:ext cx="0" cy="3960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755009" y="1359174"/>
            <a:ext cx="7633341" cy="699404"/>
          </a:xfrm>
          <a:prstGeom prst="rect">
            <a:avLst/>
          </a:prstGeom>
          <a:solidFill>
            <a:srgbClr val="009284"/>
          </a:solidFill>
        </p:spPr>
        <p:txBody>
          <a:bodyPr wrap="square" lIns="72000" tIns="72000" rIns="72000" bIns="72000" rtlCol="0">
            <a:spAutoFit/>
          </a:bodyPr>
          <a:lstStyle/>
          <a:p>
            <a:pPr algn="ctr"/>
            <a:r>
              <a:rPr lang="en-GB" dirty="0">
                <a:solidFill>
                  <a:schemeClr val="bg1"/>
                </a:solidFill>
              </a:rPr>
              <a:t>Using any of the digits 1-9, can you make the given target number using addition? You may use each digit only twice. </a:t>
            </a:r>
          </a:p>
        </p:txBody>
      </p:sp>
      <p:graphicFrame>
        <p:nvGraphicFramePr>
          <p:cNvPr id="2" name="Table 1"/>
          <p:cNvGraphicFramePr>
            <a:graphicFrameLocks noGrp="1"/>
          </p:cNvGraphicFramePr>
          <p:nvPr>
            <p:extLst>
              <p:ext uri="{D42A27DB-BD31-4B8C-83A1-F6EECF244321}">
                <p14:modId xmlns:p14="http://schemas.microsoft.com/office/powerpoint/2010/main" val="3005043104"/>
              </p:ext>
            </p:extLst>
          </p:nvPr>
        </p:nvGraphicFramePr>
        <p:xfrm>
          <a:off x="755009" y="2613713"/>
          <a:ext cx="1953792" cy="488448"/>
        </p:xfrm>
        <a:graphic>
          <a:graphicData uri="http://schemas.openxmlformats.org/drawingml/2006/table">
            <a:tbl>
              <a:tblPr firstRow="1" bandRow="1">
                <a:tableStyleId>{5C22544A-7EE6-4342-B048-85BDC9FD1C3A}</a:tableStyleId>
              </a:tblPr>
              <a:tblGrid>
                <a:gridCol w="488448"/>
                <a:gridCol w="488448"/>
                <a:gridCol w="488448"/>
                <a:gridCol w="488448"/>
              </a:tblGrid>
              <a:tr h="488448">
                <a:tc>
                  <a:txBody>
                    <a:bodyPr/>
                    <a:lstStyle/>
                    <a:p>
                      <a:endParaRPr lang="en-GB" dirty="0"/>
                    </a:p>
                  </a:txBody>
                  <a:tcPr marL="62033" marR="62033" marT="31016" marB="310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a:p>
                  </a:txBody>
                  <a:tcPr marL="62033" marR="62033" marT="31016" marB="310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a:p>
                  </a:txBody>
                  <a:tcPr marL="62033" marR="62033" marT="31016" marB="310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dirty="0"/>
                    </a:p>
                  </a:txBody>
                  <a:tcPr marL="62033" marR="62033" marT="31016" marB="310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43396883"/>
              </p:ext>
            </p:extLst>
          </p:nvPr>
        </p:nvGraphicFramePr>
        <p:xfrm>
          <a:off x="2873793" y="2613713"/>
          <a:ext cx="488448" cy="488752"/>
        </p:xfrm>
        <a:graphic>
          <a:graphicData uri="http://schemas.openxmlformats.org/drawingml/2006/table">
            <a:tbl>
              <a:tblPr firstRow="1" bandRow="1">
                <a:tableStyleId>{5C22544A-7EE6-4342-B048-85BDC9FD1C3A}</a:tableStyleId>
              </a:tblPr>
              <a:tblGrid>
                <a:gridCol w="488448"/>
              </a:tblGrid>
              <a:tr h="488448">
                <a:tc>
                  <a:txBody>
                    <a:bodyPr/>
                    <a:lstStyle/>
                    <a:p>
                      <a:pPr algn="ctr"/>
                      <a:r>
                        <a:rPr lang="en-GB" sz="2800" dirty="0" smtClean="0">
                          <a:solidFill>
                            <a:schemeClr val="tx1"/>
                          </a:solidFill>
                        </a:rPr>
                        <a:t>+</a:t>
                      </a:r>
                      <a:endParaRPr lang="en-GB" sz="2800" dirty="0">
                        <a:solidFill>
                          <a:schemeClr val="tx1"/>
                        </a:solidFill>
                      </a:endParaRPr>
                    </a:p>
                  </a:txBody>
                  <a:tcPr marL="62033" marR="62033" marT="31016" marB="310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1256300885"/>
              </p:ext>
            </p:extLst>
          </p:nvPr>
        </p:nvGraphicFramePr>
        <p:xfrm>
          <a:off x="3527233" y="2613713"/>
          <a:ext cx="1953792" cy="488448"/>
        </p:xfrm>
        <a:graphic>
          <a:graphicData uri="http://schemas.openxmlformats.org/drawingml/2006/table">
            <a:tbl>
              <a:tblPr firstRow="1" bandRow="1">
                <a:tableStyleId>{5C22544A-7EE6-4342-B048-85BDC9FD1C3A}</a:tableStyleId>
              </a:tblPr>
              <a:tblGrid>
                <a:gridCol w="488448"/>
                <a:gridCol w="488448"/>
                <a:gridCol w="488448"/>
                <a:gridCol w="488448"/>
              </a:tblGrid>
              <a:tr h="488448">
                <a:tc>
                  <a:txBody>
                    <a:bodyPr/>
                    <a:lstStyle/>
                    <a:p>
                      <a:endParaRPr lang="en-GB" dirty="0"/>
                    </a:p>
                  </a:txBody>
                  <a:tcPr marL="62033" marR="62033" marT="31016" marB="310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a:p>
                  </a:txBody>
                  <a:tcPr marL="62033" marR="62033" marT="31016" marB="310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a:p>
                  </a:txBody>
                  <a:tcPr marL="62033" marR="62033" marT="31016" marB="310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dirty="0"/>
                    </a:p>
                  </a:txBody>
                  <a:tcPr marL="62033" marR="62033" marT="31016" marB="310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3750826102"/>
              </p:ext>
            </p:extLst>
          </p:nvPr>
        </p:nvGraphicFramePr>
        <p:xfrm>
          <a:off x="5646017" y="2613713"/>
          <a:ext cx="488448" cy="488752"/>
        </p:xfrm>
        <a:graphic>
          <a:graphicData uri="http://schemas.openxmlformats.org/drawingml/2006/table">
            <a:tbl>
              <a:tblPr firstRow="1" bandRow="1">
                <a:tableStyleId>{5C22544A-7EE6-4342-B048-85BDC9FD1C3A}</a:tableStyleId>
              </a:tblPr>
              <a:tblGrid>
                <a:gridCol w="488448"/>
              </a:tblGrid>
              <a:tr h="488448">
                <a:tc>
                  <a:txBody>
                    <a:bodyPr/>
                    <a:lstStyle/>
                    <a:p>
                      <a:pPr algn="ctr"/>
                      <a:r>
                        <a:rPr lang="en-GB" sz="2800" dirty="0" smtClean="0">
                          <a:solidFill>
                            <a:schemeClr val="tx1"/>
                          </a:solidFill>
                        </a:rPr>
                        <a:t>=</a:t>
                      </a:r>
                      <a:endParaRPr lang="en-GB" sz="2800" dirty="0">
                        <a:solidFill>
                          <a:schemeClr val="tx1"/>
                        </a:solidFill>
                      </a:endParaRPr>
                    </a:p>
                  </a:txBody>
                  <a:tcPr marL="62033" marR="62033" marT="31016" marB="310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873795467"/>
              </p:ext>
            </p:extLst>
          </p:nvPr>
        </p:nvGraphicFramePr>
        <p:xfrm>
          <a:off x="6299458" y="2613713"/>
          <a:ext cx="1953792" cy="488448"/>
        </p:xfrm>
        <a:graphic>
          <a:graphicData uri="http://schemas.openxmlformats.org/drawingml/2006/table">
            <a:tbl>
              <a:tblPr firstRow="1" bandRow="1">
                <a:tableStyleId>{5C22544A-7EE6-4342-B048-85BDC9FD1C3A}</a:tableStyleId>
              </a:tblPr>
              <a:tblGrid>
                <a:gridCol w="488448"/>
                <a:gridCol w="488448"/>
                <a:gridCol w="488448"/>
                <a:gridCol w="488448"/>
              </a:tblGrid>
              <a:tr h="488448">
                <a:tc>
                  <a:txBody>
                    <a:bodyPr/>
                    <a:lstStyle/>
                    <a:p>
                      <a:pPr algn="ctr"/>
                      <a:r>
                        <a:rPr lang="en-GB" sz="2200" dirty="0" smtClean="0">
                          <a:solidFill>
                            <a:schemeClr val="tx1"/>
                          </a:solidFill>
                        </a:rPr>
                        <a:t>4</a:t>
                      </a:r>
                      <a:endParaRPr lang="en-GB" sz="2200" dirty="0">
                        <a:solidFill>
                          <a:schemeClr val="tx1"/>
                        </a:solidFill>
                      </a:endParaRPr>
                    </a:p>
                  </a:txBody>
                  <a:tcPr marL="62033" marR="62033" marT="31016" marB="310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200" dirty="0" smtClean="0">
                          <a:solidFill>
                            <a:schemeClr val="tx1"/>
                          </a:solidFill>
                        </a:rPr>
                        <a:t>3</a:t>
                      </a:r>
                      <a:endParaRPr lang="en-GB" sz="2200" dirty="0">
                        <a:solidFill>
                          <a:schemeClr val="tx1"/>
                        </a:solidFill>
                      </a:endParaRPr>
                    </a:p>
                  </a:txBody>
                  <a:tcPr marL="62033" marR="62033" marT="31016" marB="310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200" dirty="0" smtClean="0">
                          <a:solidFill>
                            <a:schemeClr val="tx1"/>
                          </a:solidFill>
                        </a:rPr>
                        <a:t>3</a:t>
                      </a:r>
                      <a:endParaRPr lang="en-GB" sz="2200" dirty="0">
                        <a:solidFill>
                          <a:schemeClr val="tx1"/>
                        </a:solidFill>
                      </a:endParaRPr>
                    </a:p>
                  </a:txBody>
                  <a:tcPr marL="62033" marR="62033" marT="31016" marB="310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200" dirty="0" smtClean="0">
                          <a:solidFill>
                            <a:schemeClr val="tx1"/>
                          </a:solidFill>
                        </a:rPr>
                        <a:t>2</a:t>
                      </a:r>
                      <a:endParaRPr lang="en-GB" sz="2200" dirty="0">
                        <a:solidFill>
                          <a:schemeClr val="tx1"/>
                        </a:solidFill>
                      </a:endParaRPr>
                    </a:p>
                  </a:txBody>
                  <a:tcPr marL="62033" marR="62033" marT="31016" marB="310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1882540128"/>
              </p:ext>
            </p:extLst>
          </p:nvPr>
        </p:nvGraphicFramePr>
        <p:xfrm>
          <a:off x="755008" y="2613713"/>
          <a:ext cx="1953792" cy="488448"/>
        </p:xfrm>
        <a:graphic>
          <a:graphicData uri="http://schemas.openxmlformats.org/drawingml/2006/table">
            <a:tbl>
              <a:tblPr firstRow="1" bandRow="1">
                <a:tableStyleId>{5C22544A-7EE6-4342-B048-85BDC9FD1C3A}</a:tableStyleId>
              </a:tblPr>
              <a:tblGrid>
                <a:gridCol w="488448"/>
                <a:gridCol w="488448"/>
                <a:gridCol w="488448"/>
                <a:gridCol w="488448"/>
              </a:tblGrid>
              <a:tr h="488448">
                <a:tc>
                  <a:txBody>
                    <a:bodyPr/>
                    <a:lstStyle/>
                    <a:p>
                      <a:pPr algn="ctr"/>
                      <a:r>
                        <a:rPr lang="en-GB" sz="2200" dirty="0" smtClean="0">
                          <a:solidFill>
                            <a:srgbClr val="87BD31"/>
                          </a:solidFill>
                        </a:rPr>
                        <a:t>1</a:t>
                      </a:r>
                      <a:endParaRPr lang="en-GB" sz="2200" dirty="0">
                        <a:solidFill>
                          <a:srgbClr val="87BD31"/>
                        </a:solidFill>
                      </a:endParaRPr>
                    </a:p>
                  </a:txBody>
                  <a:tcPr marL="62033" marR="62033" marT="31016" marB="310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200" dirty="0" smtClean="0">
                          <a:solidFill>
                            <a:srgbClr val="87BD31"/>
                          </a:solidFill>
                        </a:rPr>
                        <a:t>4</a:t>
                      </a:r>
                      <a:endParaRPr lang="en-GB" sz="2200" dirty="0">
                        <a:solidFill>
                          <a:srgbClr val="87BD31"/>
                        </a:solidFill>
                      </a:endParaRPr>
                    </a:p>
                  </a:txBody>
                  <a:tcPr marL="62033" marR="62033" marT="31016" marB="310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200" dirty="0" smtClean="0">
                          <a:solidFill>
                            <a:srgbClr val="87BD31"/>
                          </a:solidFill>
                        </a:rPr>
                        <a:t>3</a:t>
                      </a:r>
                      <a:endParaRPr lang="en-GB" sz="2200" dirty="0">
                        <a:solidFill>
                          <a:srgbClr val="87BD31"/>
                        </a:solidFill>
                      </a:endParaRPr>
                    </a:p>
                  </a:txBody>
                  <a:tcPr marL="62033" marR="62033" marT="31016" marB="310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200" dirty="0" smtClean="0">
                          <a:solidFill>
                            <a:srgbClr val="87BD31"/>
                          </a:solidFill>
                        </a:rPr>
                        <a:t>7</a:t>
                      </a:r>
                      <a:endParaRPr lang="en-GB" sz="2200" dirty="0">
                        <a:solidFill>
                          <a:srgbClr val="87BD31"/>
                        </a:solidFill>
                      </a:endParaRPr>
                    </a:p>
                  </a:txBody>
                  <a:tcPr marL="62033" marR="62033" marT="31016" marB="310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2532898417"/>
              </p:ext>
            </p:extLst>
          </p:nvPr>
        </p:nvGraphicFramePr>
        <p:xfrm>
          <a:off x="3527232" y="2613713"/>
          <a:ext cx="1953792" cy="488448"/>
        </p:xfrm>
        <a:graphic>
          <a:graphicData uri="http://schemas.openxmlformats.org/drawingml/2006/table">
            <a:tbl>
              <a:tblPr firstRow="1" bandRow="1">
                <a:tableStyleId>{5C22544A-7EE6-4342-B048-85BDC9FD1C3A}</a:tableStyleId>
              </a:tblPr>
              <a:tblGrid>
                <a:gridCol w="488448"/>
                <a:gridCol w="488448"/>
                <a:gridCol w="488448"/>
                <a:gridCol w="488448"/>
              </a:tblGrid>
              <a:tr h="488448">
                <a:tc>
                  <a:txBody>
                    <a:bodyPr/>
                    <a:lstStyle/>
                    <a:p>
                      <a:pPr algn="ctr"/>
                      <a:r>
                        <a:rPr lang="en-GB" sz="2200" dirty="0" smtClean="0">
                          <a:solidFill>
                            <a:srgbClr val="87BD31"/>
                          </a:solidFill>
                        </a:rPr>
                        <a:t>2</a:t>
                      </a:r>
                      <a:endParaRPr lang="en-GB" sz="2200" dirty="0">
                        <a:solidFill>
                          <a:srgbClr val="87BD31"/>
                        </a:solidFill>
                      </a:endParaRPr>
                    </a:p>
                  </a:txBody>
                  <a:tcPr marL="62033" marR="62033" marT="31016" marB="310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200" dirty="0" smtClean="0">
                          <a:solidFill>
                            <a:srgbClr val="87BD31"/>
                          </a:solidFill>
                        </a:rPr>
                        <a:t>8</a:t>
                      </a:r>
                      <a:endParaRPr lang="en-GB" sz="2200" dirty="0">
                        <a:solidFill>
                          <a:srgbClr val="87BD31"/>
                        </a:solidFill>
                      </a:endParaRPr>
                    </a:p>
                  </a:txBody>
                  <a:tcPr marL="62033" marR="62033" marT="31016" marB="310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200" dirty="0" smtClean="0">
                          <a:solidFill>
                            <a:srgbClr val="87BD31"/>
                          </a:solidFill>
                        </a:rPr>
                        <a:t>9</a:t>
                      </a:r>
                      <a:endParaRPr lang="en-GB" sz="2200" dirty="0">
                        <a:solidFill>
                          <a:srgbClr val="87BD31"/>
                        </a:solidFill>
                      </a:endParaRPr>
                    </a:p>
                  </a:txBody>
                  <a:tcPr marL="62033" marR="62033" marT="31016" marB="310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200" dirty="0" smtClean="0">
                          <a:solidFill>
                            <a:srgbClr val="87BD31"/>
                          </a:solidFill>
                        </a:rPr>
                        <a:t>5</a:t>
                      </a:r>
                      <a:endParaRPr lang="en-GB" sz="2200" dirty="0">
                        <a:solidFill>
                          <a:srgbClr val="87BD31"/>
                        </a:solidFill>
                      </a:endParaRPr>
                    </a:p>
                  </a:txBody>
                  <a:tcPr marL="62033" marR="62033" marT="31016" marB="310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pic>
        <p:nvPicPr>
          <p:cNvPr id="3" name="Picture 2"/>
          <p:cNvPicPr>
            <a:picLocks noChangeAspect="1"/>
          </p:cNvPicPr>
          <p:nvPr/>
        </p:nvPicPr>
        <p:blipFill rotWithShape="1">
          <a:blip r:embed="rId3" cstate="print">
            <a:extLst>
              <a:ext uri="{28A0092B-C50C-407E-A947-70E740481C1C}">
                <a14:useLocalDpi xmlns:a14="http://schemas.microsoft.com/office/drawing/2010/main" val="0"/>
              </a:ext>
            </a:extLst>
          </a:blip>
          <a:srcRect b="30523"/>
          <a:stretch/>
        </p:blipFill>
        <p:spPr>
          <a:xfrm>
            <a:off x="4841298" y="3550531"/>
            <a:ext cx="3762955" cy="2787207"/>
          </a:xfrm>
          <a:prstGeom prst="rect">
            <a:avLst/>
          </a:prstGeom>
        </p:spPr>
      </p:pic>
      <p:pic>
        <p:nvPicPr>
          <p:cNvPr id="4" name="Picture 3"/>
          <p:cNvPicPr>
            <a:picLocks noChangeAspect="1"/>
          </p:cNvPicPr>
          <p:nvPr/>
        </p:nvPicPr>
        <p:blipFill rotWithShape="1">
          <a:blip r:embed="rId4" cstate="print">
            <a:extLst>
              <a:ext uri="{28A0092B-C50C-407E-A947-70E740481C1C}">
                <a14:useLocalDpi xmlns:a14="http://schemas.microsoft.com/office/drawing/2010/main" val="0"/>
              </a:ext>
            </a:extLst>
          </a:blip>
          <a:srcRect b="60290"/>
          <a:stretch/>
        </p:blipFill>
        <p:spPr>
          <a:xfrm>
            <a:off x="4012611" y="3686784"/>
            <a:ext cx="2333806" cy="2723322"/>
          </a:xfrm>
          <a:prstGeom prst="rect">
            <a:avLst/>
          </a:prstGeom>
        </p:spPr>
      </p:pic>
    </p:spTree>
    <p:extLst>
      <p:ext uri="{BB962C8B-B14F-4D97-AF65-F5344CB8AC3E}">
        <p14:creationId xmlns:p14="http://schemas.microsoft.com/office/powerpoint/2010/main" val="2326556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 xmlns:a16="http://schemas.microsoft.com/office/drawing/2014/main" id="{CC3F129B-2D47-483A-A90C-799D2C477CF6}"/>
              </a:ext>
            </a:extLst>
          </p:cNvPr>
          <p:cNvSpPr/>
          <p:nvPr/>
        </p:nvSpPr>
        <p:spPr>
          <a:xfrm>
            <a:off x="4563663" y="1819414"/>
            <a:ext cx="3824688" cy="4273409"/>
          </a:xfrm>
          <a:prstGeom prst="rect">
            <a:avLst/>
          </a:prstGeom>
          <a:solidFill>
            <a:srgbClr val="4EB2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p:cNvSpPr/>
          <p:nvPr/>
        </p:nvSpPr>
        <p:spPr>
          <a:xfrm>
            <a:off x="755650" y="1822827"/>
            <a:ext cx="3816349" cy="4269997"/>
          </a:xfrm>
          <a:prstGeom prst="rect">
            <a:avLst/>
          </a:prstGeom>
          <a:solidFill>
            <a:srgbClr val="007A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p:cNvSpPr/>
          <p:nvPr/>
        </p:nvSpPr>
        <p:spPr>
          <a:xfrm>
            <a:off x="755649" y="1364071"/>
            <a:ext cx="7632701" cy="458757"/>
          </a:xfrm>
          <a:prstGeom prst="rect">
            <a:avLst/>
          </a:prstGeom>
          <a:solidFill>
            <a:srgbClr val="C7E8FD"/>
          </a:solidFill>
        </p:spPr>
        <p:txBody>
          <a:bodyPr wrap="square" lIns="72000" tIns="72000" rIns="72000" bIns="108000">
            <a:spAutoFit/>
          </a:bodyPr>
          <a:lstStyle/>
          <a:p>
            <a:pPr algn="ctr"/>
            <a:r>
              <a:rPr lang="en-GB" dirty="0"/>
              <a:t>Dive in by completing your own activity!</a:t>
            </a:r>
          </a:p>
        </p:txBody>
      </p:sp>
      <p:pic>
        <p:nvPicPr>
          <p:cNvPr id="6" name="Picture 5">
            <a:extLst>
              <a:ext uri="{FF2B5EF4-FFF2-40B4-BE49-F238E27FC236}">
                <a16:creationId xmlns="" xmlns:a16="http://schemas.microsoft.com/office/drawing/2014/main" id="{61B74EBF-AD1B-4DC1-AB71-6B21B868FC7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5355" t="500" r="27421" b="1"/>
          <a:stretch/>
        </p:blipFill>
        <p:spPr>
          <a:xfrm>
            <a:off x="755650" y="1819415"/>
            <a:ext cx="3818059" cy="4273409"/>
          </a:xfrm>
          <a:prstGeom prst="rect">
            <a:avLst/>
          </a:prstGeom>
        </p:spPr>
      </p:pic>
      <p:pic>
        <p:nvPicPr>
          <p:cNvPr id="21" name="Picture 20">
            <a:extLst>
              <a:ext uri="{FF2B5EF4-FFF2-40B4-BE49-F238E27FC236}">
                <a16:creationId xmlns="" xmlns:a16="http://schemas.microsoft.com/office/drawing/2014/main" id="{23B3C386-037D-47BC-B81B-E45DB0C5678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82123" y="2032605"/>
            <a:ext cx="2722089" cy="3850440"/>
          </a:xfrm>
          <a:prstGeom prst="rect">
            <a:avLst/>
          </a:prstGeom>
          <a:effectLst>
            <a:outerShdw blurRad="63500" sx="102000" sy="102000" algn="ctr" rotWithShape="0">
              <a:prstClr val="black">
                <a:alpha val="20000"/>
              </a:prstClr>
            </a:outerShdw>
          </a:effectLst>
        </p:spPr>
      </p:pic>
      <p:sp>
        <p:nvSpPr>
          <p:cNvPr id="16" name="Rectangle 15"/>
          <p:cNvSpPr/>
          <p:nvPr/>
        </p:nvSpPr>
        <p:spPr>
          <a:xfrm>
            <a:off x="445574" y="702863"/>
            <a:ext cx="2833085" cy="355276"/>
          </a:xfrm>
          <a:prstGeom prst="rect">
            <a:avLst/>
          </a:prstGeom>
          <a:solidFill>
            <a:srgbClr val="072F54"/>
          </a:solidFill>
        </p:spPr>
        <p:txBody>
          <a:bodyPr wrap="square" lIns="180000" tIns="36000" rIns="180000" bIns="72000" anchor="ctr">
            <a:spAutoFit/>
          </a:bodyPr>
          <a:lstStyle/>
          <a:p>
            <a:r>
              <a:rPr lang="en-GB" altLang="en-US" sz="1600" b="1" dirty="0" smtClean="0">
                <a:solidFill>
                  <a:schemeClr val="bg1"/>
                </a:solidFill>
              </a:rPr>
              <a:t>Add and Subtract Integers</a:t>
            </a:r>
            <a:endParaRPr lang="en-GB" sz="1600" b="1" dirty="0">
              <a:solidFill>
                <a:schemeClr val="bg1"/>
              </a:solidFill>
            </a:endParaRPr>
          </a:p>
        </p:txBody>
      </p:sp>
      <p:pic>
        <p:nvPicPr>
          <p:cNvPr id="17" name="Picture 16">
            <a:extLst>
              <a:ext uri="{FF2B5EF4-FFF2-40B4-BE49-F238E27FC236}">
                <a16:creationId xmlns="" xmlns:a16="http://schemas.microsoft.com/office/drawing/2014/main" id="{A410F3B9-A120-4B78-B8FC-DBBE2542D02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18275" y="2030899"/>
            <a:ext cx="2722089" cy="3850438"/>
          </a:xfrm>
          <a:prstGeom prst="rect">
            <a:avLst/>
          </a:prstGeom>
          <a:effectLst>
            <a:outerShdw blurRad="63500" sx="102000" sy="102000" algn="ctr" rotWithShape="0">
              <a:prstClr val="black">
                <a:alpha val="20000"/>
              </a:prstClr>
            </a:outerShdw>
          </a:effectLst>
        </p:spPr>
      </p:pic>
      <p:pic>
        <p:nvPicPr>
          <p:cNvPr id="23" name="Picture 22">
            <a:extLst>
              <a:ext uri="{FF2B5EF4-FFF2-40B4-BE49-F238E27FC236}">
                <a16:creationId xmlns="" xmlns:a16="http://schemas.microsoft.com/office/drawing/2014/main" id="{A410F3B9-A120-4B78-B8FC-DBBE2542D02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554426" y="2032605"/>
            <a:ext cx="2722089" cy="3850440"/>
          </a:xfrm>
          <a:prstGeom prst="rect">
            <a:avLst/>
          </a:prstGeom>
          <a:effectLst>
            <a:outerShdw blurRad="63500" sx="102000" sy="102000" algn="ctr" rotWithShape="0">
              <a:prstClr val="black">
                <a:alpha val="20000"/>
              </a:prstClr>
            </a:outerShdw>
          </a:effectLst>
        </p:spPr>
      </p:pic>
      <p:pic>
        <p:nvPicPr>
          <p:cNvPr id="3" name="Picture 2"/>
          <p:cNvPicPr>
            <a:picLocks noChangeAspect="1"/>
          </p:cNvPicPr>
          <p:nvPr/>
        </p:nvPicPr>
        <p:blipFill rotWithShape="1">
          <a:blip r:embed="rId6"/>
          <a:srcRect l="9854" r="1"/>
          <a:stretch/>
        </p:blipFill>
        <p:spPr>
          <a:xfrm>
            <a:off x="749021" y="2030899"/>
            <a:ext cx="2148843" cy="2639797"/>
          </a:xfrm>
          <a:prstGeom prst="rect">
            <a:avLst/>
          </a:prstGeom>
        </p:spPr>
      </p:pic>
      <p:pic>
        <p:nvPicPr>
          <p:cNvPr id="8" name="Picture 7"/>
          <p:cNvPicPr>
            <a:picLocks noChangeAspect="1"/>
          </p:cNvPicPr>
          <p:nvPr/>
        </p:nvPicPr>
        <p:blipFill rotWithShape="1">
          <a:blip r:embed="rId7" cstate="print">
            <a:extLst>
              <a:ext uri="{28A0092B-C50C-407E-A947-70E740481C1C}">
                <a14:useLocalDpi xmlns:a14="http://schemas.microsoft.com/office/drawing/2010/main" val="0"/>
              </a:ext>
            </a:extLst>
          </a:blip>
          <a:srcRect l="52236" t="1532" r="2307" b="1610"/>
          <a:stretch/>
        </p:blipFill>
        <p:spPr>
          <a:xfrm rot="1545339">
            <a:off x="2506985" y="2841930"/>
            <a:ext cx="737453" cy="2222715"/>
          </a:xfrm>
          <a:prstGeom prst="rect">
            <a:avLst/>
          </a:prstGeom>
        </p:spPr>
      </p:pic>
      <p:pic>
        <p:nvPicPr>
          <p:cNvPr id="22" name="Boy Writing">
            <a:extLst>
              <a:ext uri="{FF2B5EF4-FFF2-40B4-BE49-F238E27FC236}">
                <a16:creationId xmlns="" xmlns:a16="http://schemas.microsoft.com/office/drawing/2014/main" id="{59E92074-8F0A-4A38-87B2-6E07FF3C8646}"/>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176" t="622" r="32362"/>
          <a:stretch/>
        </p:blipFill>
        <p:spPr>
          <a:xfrm>
            <a:off x="767029" y="1928693"/>
            <a:ext cx="4038155" cy="4164130"/>
          </a:xfrm>
          <a:prstGeom prst="rect">
            <a:avLst/>
          </a:prstGeom>
        </p:spPr>
      </p:pic>
    </p:spTree>
    <p:extLst>
      <p:ext uri="{BB962C8B-B14F-4D97-AF65-F5344CB8AC3E}">
        <p14:creationId xmlns:p14="http://schemas.microsoft.com/office/powerpoint/2010/main" val="17712724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ounded Rectangle 14"/>
          <p:cNvSpPr/>
          <p:nvPr/>
        </p:nvSpPr>
        <p:spPr bwMode="auto">
          <a:xfrm>
            <a:off x="457198" y="438151"/>
            <a:ext cx="8220075" cy="5957887"/>
          </a:xfrm>
          <a:prstGeom prst="roundRect">
            <a:avLst>
              <a:gd name="adj" fmla="val 2649"/>
            </a:avLst>
          </a:prstGeom>
          <a:solidFill>
            <a:srgbClr val="002060">
              <a:alpha val="90000"/>
            </a:srgbClr>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600" b="1" dirty="0">
                <a:latin typeface="Twinkl" pitchFamily="50" charset="0"/>
              </a:rPr>
              <a:t> </a:t>
            </a:r>
          </a:p>
        </p:txBody>
      </p:sp>
      <p:sp>
        <p:nvSpPr>
          <p:cNvPr id="16" name="Rectangle 15"/>
          <p:cNvSpPr/>
          <p:nvPr/>
        </p:nvSpPr>
        <p:spPr>
          <a:xfrm>
            <a:off x="755650" y="2696325"/>
            <a:ext cx="7632700" cy="400110"/>
          </a:xfrm>
          <a:prstGeom prst="rect">
            <a:avLst/>
          </a:prstGeom>
        </p:spPr>
        <p:txBody>
          <a:bodyPr wrap="square">
            <a:spAutoFit/>
          </a:bodyPr>
          <a:lstStyle/>
          <a:p>
            <a:pPr algn="ctr"/>
            <a:r>
              <a:rPr lang="en-GB" sz="2000" dirty="0">
                <a:solidFill>
                  <a:schemeClr val="bg1"/>
                </a:solidFill>
                <a:latin typeface="Tuffy" panose="020B0603060100000000" pitchFamily="34" charset="0"/>
                <a:ea typeface="Tuffy" panose="020B0603060100000000" pitchFamily="34" charset="0"/>
              </a:rPr>
              <a:t>For more planning resources to support this aim, </a:t>
            </a:r>
            <a:r>
              <a:rPr lang="en-GB" sz="2000" b="1" dirty="0">
                <a:solidFill>
                  <a:srgbClr val="18A0DB"/>
                </a:solidFill>
                <a:latin typeface="Tuffy" panose="020B0603060100000000" pitchFamily="34" charset="0"/>
                <a:ea typeface="Tuffy" panose="020B0603060100000000" pitchFamily="34" charset="0"/>
                <a:hlinkClick r:id="rId2"/>
              </a:rPr>
              <a:t>click here</a:t>
            </a:r>
            <a:r>
              <a:rPr lang="en-GB" sz="2000" dirty="0">
                <a:solidFill>
                  <a:schemeClr val="bg1"/>
                </a:solidFill>
                <a:latin typeface="Tuffy" panose="020B0603060100000000" pitchFamily="34" charset="0"/>
                <a:ea typeface="Tuffy" panose="020B0603060100000000" pitchFamily="34" charset="0"/>
              </a:rPr>
              <a:t>.</a:t>
            </a:r>
          </a:p>
        </p:txBody>
      </p:sp>
      <p:sp>
        <p:nvSpPr>
          <p:cNvPr id="17" name="Rectangle 16"/>
          <p:cNvSpPr/>
          <p:nvPr/>
        </p:nvSpPr>
        <p:spPr>
          <a:xfrm>
            <a:off x="766722" y="5385322"/>
            <a:ext cx="6103310" cy="615553"/>
          </a:xfrm>
          <a:prstGeom prst="rect">
            <a:avLst/>
          </a:prstGeom>
        </p:spPr>
        <p:txBody>
          <a:bodyPr wrap="square" lIns="0" tIns="0" rIns="0" bIns="0">
            <a:spAutoFit/>
          </a:bodyPr>
          <a:lstStyle/>
          <a:p>
            <a:r>
              <a:rPr lang="en-GB" sz="2000" dirty="0" err="1">
                <a:solidFill>
                  <a:schemeClr val="bg1"/>
                </a:solidFill>
                <a:latin typeface="Tuffy" panose="020B0603060100000000" pitchFamily="34" charset="0"/>
                <a:ea typeface="Tuffy" panose="020B0603060100000000" pitchFamily="34" charset="0"/>
              </a:rPr>
              <a:t>Twinkl</a:t>
            </a:r>
            <a:r>
              <a:rPr lang="en-GB" sz="2000" dirty="0">
                <a:solidFill>
                  <a:schemeClr val="bg1"/>
                </a:solidFill>
                <a:latin typeface="Tuffy" panose="020B0603060100000000" pitchFamily="34" charset="0"/>
                <a:ea typeface="Tuffy" panose="020B0603060100000000" pitchFamily="34" charset="0"/>
              </a:rPr>
              <a:t> </a:t>
            </a:r>
            <a:r>
              <a:rPr lang="en-GB" sz="2000" dirty="0" err="1">
                <a:solidFill>
                  <a:schemeClr val="bg1"/>
                </a:solidFill>
                <a:latin typeface="Tuffy" panose="020B0603060100000000" pitchFamily="34" charset="0"/>
                <a:ea typeface="Tuffy" panose="020B0603060100000000" pitchFamily="34" charset="0"/>
              </a:rPr>
              <a:t>PlanIt</a:t>
            </a:r>
            <a:r>
              <a:rPr lang="en-GB" sz="2000" dirty="0">
                <a:solidFill>
                  <a:schemeClr val="bg1"/>
                </a:solidFill>
                <a:latin typeface="Tuffy" panose="020B0603060100000000" pitchFamily="34" charset="0"/>
                <a:ea typeface="Tuffy" panose="020B0603060100000000" pitchFamily="34" charset="0"/>
              </a:rPr>
              <a:t> is our award-winning </a:t>
            </a:r>
            <a:r>
              <a:rPr lang="en-GB" sz="2000" dirty="0" smtClean="0">
                <a:solidFill>
                  <a:schemeClr val="bg1"/>
                </a:solidFill>
                <a:latin typeface="Tuffy" panose="020B0603060100000000" pitchFamily="34" charset="0"/>
                <a:ea typeface="Tuffy" panose="020B0603060100000000" pitchFamily="34" charset="0"/>
              </a:rPr>
              <a:t>scheme </a:t>
            </a:r>
            <a:r>
              <a:rPr lang="en-GB" sz="2000" dirty="0">
                <a:solidFill>
                  <a:schemeClr val="bg1"/>
                </a:solidFill>
                <a:latin typeface="Tuffy" panose="020B0603060100000000" pitchFamily="34" charset="0"/>
                <a:ea typeface="Tuffy" panose="020B0603060100000000" pitchFamily="34" charset="0"/>
              </a:rPr>
              <a:t>of work </a:t>
            </a:r>
            <a:r>
              <a:rPr lang="en-GB" sz="2000" dirty="0" smtClean="0">
                <a:solidFill>
                  <a:schemeClr val="bg1"/>
                </a:solidFill>
                <a:latin typeface="Tuffy" panose="020B0603060100000000" pitchFamily="34" charset="0"/>
                <a:ea typeface="Tuffy" panose="020B0603060100000000" pitchFamily="34" charset="0"/>
              </a:rPr>
              <a:t/>
            </a:r>
            <a:br>
              <a:rPr lang="en-GB" sz="2000" dirty="0" smtClean="0">
                <a:solidFill>
                  <a:schemeClr val="bg1"/>
                </a:solidFill>
                <a:latin typeface="Tuffy" panose="020B0603060100000000" pitchFamily="34" charset="0"/>
                <a:ea typeface="Tuffy" panose="020B0603060100000000" pitchFamily="34" charset="0"/>
              </a:rPr>
            </a:br>
            <a:r>
              <a:rPr lang="en-GB" sz="2000" dirty="0" smtClean="0">
                <a:solidFill>
                  <a:schemeClr val="bg1"/>
                </a:solidFill>
                <a:latin typeface="Tuffy" panose="020B0603060100000000" pitchFamily="34" charset="0"/>
                <a:ea typeface="Tuffy" panose="020B0603060100000000" pitchFamily="34" charset="0"/>
              </a:rPr>
              <a:t>with </a:t>
            </a:r>
            <a:r>
              <a:rPr lang="en-GB" sz="2000" dirty="0">
                <a:solidFill>
                  <a:schemeClr val="bg1"/>
                </a:solidFill>
                <a:latin typeface="Tuffy" panose="020B0603060100000000" pitchFamily="34" charset="0"/>
                <a:ea typeface="Tuffy" panose="020B0603060100000000" pitchFamily="34" charset="0"/>
              </a:rPr>
              <a:t>over 4000 </a:t>
            </a:r>
            <a:r>
              <a:rPr lang="en-GB" sz="2000" dirty="0" smtClean="0">
                <a:solidFill>
                  <a:schemeClr val="bg1"/>
                </a:solidFill>
                <a:latin typeface="Tuffy" panose="020B0603060100000000" pitchFamily="34" charset="0"/>
                <a:ea typeface="Tuffy" panose="020B0603060100000000" pitchFamily="34" charset="0"/>
              </a:rPr>
              <a:t>resources.</a:t>
            </a:r>
            <a:endParaRPr lang="en-GB" sz="2000" dirty="0">
              <a:solidFill>
                <a:schemeClr val="bg1"/>
              </a:solidFill>
              <a:latin typeface="Tuffy" panose="020B0603060100000000" pitchFamily="34" charset="0"/>
              <a:ea typeface="Tuffy" panose="020B0603060100000000" pitchFamily="34" charset="0"/>
            </a:endParaRPr>
          </a:p>
        </p:txBody>
      </p:sp>
      <p:pic>
        <p:nvPicPr>
          <p:cNvPr id="21" name="Picture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24745" y="5223878"/>
            <a:ext cx="1406637" cy="933495"/>
          </a:xfrm>
          <a:prstGeom prst="rect">
            <a:avLst/>
          </a:prstGeom>
        </p:spPr>
      </p:pic>
      <p:sp>
        <p:nvSpPr>
          <p:cNvPr id="22" name="Rectangle 21"/>
          <p:cNvSpPr/>
          <p:nvPr/>
        </p:nvSpPr>
        <p:spPr>
          <a:xfrm>
            <a:off x="594362" y="765175"/>
            <a:ext cx="7952222" cy="553998"/>
          </a:xfrm>
          <a:prstGeom prst="rect">
            <a:avLst/>
          </a:prstGeom>
        </p:spPr>
        <p:txBody>
          <a:bodyPr wrap="square">
            <a:spAutoFit/>
          </a:bodyPr>
          <a:lstStyle/>
          <a:p>
            <a:pPr algn="ctr"/>
            <a:r>
              <a:rPr lang="en-GB" sz="2900" b="1" dirty="0" smtClean="0">
                <a:solidFill>
                  <a:schemeClr val="bg1"/>
                </a:solidFill>
                <a:latin typeface="Tuffy" panose="020B0603060100000000" pitchFamily="34" charset="0"/>
                <a:ea typeface="Tuffy" panose="020B0603060100000000" pitchFamily="34" charset="0"/>
              </a:rPr>
              <a:t>Need Planning to Complement this Resource?</a:t>
            </a:r>
            <a:endParaRPr lang="en-GB" sz="2900" b="1" dirty="0">
              <a:solidFill>
                <a:schemeClr val="bg1"/>
              </a:solidFill>
              <a:latin typeface="Tuffy" panose="020B0603060100000000" pitchFamily="34" charset="0"/>
              <a:ea typeface="Tuffy" panose="020B0603060100000000" pitchFamily="34" charset="0"/>
            </a:endParaRPr>
          </a:p>
        </p:txBody>
      </p:sp>
      <p:sp>
        <p:nvSpPr>
          <p:cNvPr id="23" name="Rectangle 22"/>
          <p:cNvSpPr/>
          <p:nvPr/>
        </p:nvSpPr>
        <p:spPr>
          <a:xfrm>
            <a:off x="755650" y="1789800"/>
            <a:ext cx="7564566" cy="742639"/>
          </a:xfrm>
          <a:prstGeom prst="rect">
            <a:avLst/>
          </a:prstGeom>
          <a:solidFill>
            <a:schemeClr val="bg1"/>
          </a:solidFill>
        </p:spPr>
        <p:txBody>
          <a:bodyPr wrap="square">
            <a:spAutoFit/>
          </a:bodyPr>
          <a:lstStyle/>
          <a:p>
            <a:pPr lvl="0" algn="ctr">
              <a:lnSpc>
                <a:spcPct val="110000"/>
              </a:lnSpc>
            </a:pPr>
            <a:r>
              <a:rPr lang="en-GB" sz="2000" b="1" dirty="0">
                <a:solidFill>
                  <a:srgbClr val="014482"/>
                </a:solidFill>
                <a:latin typeface="Tuffy" panose="020B0603060100000000" pitchFamily="34" charset="0"/>
                <a:ea typeface="Tuffy" panose="020B0603060100000000" pitchFamily="34" charset="0"/>
              </a:rPr>
              <a:t>Solve addition and subtraction multi-step problems in contexts, deciding which operations and methods to use and </a:t>
            </a:r>
            <a:r>
              <a:rPr lang="en-GB" sz="2000" b="1" dirty="0" smtClean="0">
                <a:solidFill>
                  <a:srgbClr val="014482"/>
                </a:solidFill>
                <a:latin typeface="Tuffy" panose="020B0603060100000000" pitchFamily="34" charset="0"/>
                <a:ea typeface="Tuffy" panose="020B0603060100000000" pitchFamily="34" charset="0"/>
              </a:rPr>
              <a:t>why.</a:t>
            </a:r>
            <a:endParaRPr lang="en-GB" sz="2000" b="1" dirty="0">
              <a:solidFill>
                <a:srgbClr val="014482"/>
              </a:solidFill>
              <a:latin typeface="Tuffy" panose="020B0603060100000000" pitchFamily="34" charset="0"/>
              <a:ea typeface="Tuffy" panose="020B0603060100000000" pitchFamily="34" charset="0"/>
            </a:endParaRPr>
          </a:p>
        </p:txBody>
      </p:sp>
      <p:sp>
        <p:nvSpPr>
          <p:cNvPr id="24" name="Rectangle 23"/>
          <p:cNvSpPr/>
          <p:nvPr/>
        </p:nvSpPr>
        <p:spPr>
          <a:xfrm>
            <a:off x="3169113" y="1376229"/>
            <a:ext cx="2997937" cy="400110"/>
          </a:xfrm>
          <a:prstGeom prst="rect">
            <a:avLst/>
          </a:prstGeom>
        </p:spPr>
        <p:txBody>
          <a:bodyPr wrap="none">
            <a:spAutoFit/>
          </a:bodyPr>
          <a:lstStyle/>
          <a:p>
            <a:r>
              <a:rPr lang="en-GB" sz="2000" b="1" dirty="0">
                <a:solidFill>
                  <a:schemeClr val="bg1"/>
                </a:solidFill>
                <a:latin typeface="Tuffy" panose="020B0603060100000000" pitchFamily="34" charset="0"/>
                <a:ea typeface="Tuffy" panose="020B0603060100000000" pitchFamily="34" charset="0"/>
              </a:rPr>
              <a:t>National Curriculum </a:t>
            </a:r>
            <a:r>
              <a:rPr lang="en-GB" sz="2000" b="1" dirty="0" smtClean="0">
                <a:solidFill>
                  <a:schemeClr val="bg1"/>
                </a:solidFill>
                <a:latin typeface="Tuffy" panose="020B0603060100000000" pitchFamily="34" charset="0"/>
                <a:ea typeface="Tuffy" panose="020B0603060100000000" pitchFamily="34" charset="0"/>
              </a:rPr>
              <a:t>Aim</a:t>
            </a:r>
            <a:endParaRPr lang="en-GB" sz="2000" b="1" dirty="0">
              <a:solidFill>
                <a:schemeClr val="bg1"/>
              </a:solidFill>
              <a:latin typeface="Tuffy" panose="020B0603060100000000" pitchFamily="34" charset="0"/>
              <a:ea typeface="Tuffy" panose="020B0603060100000000"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66416" y="3225826"/>
            <a:ext cx="3721934" cy="1860967"/>
          </a:xfrm>
          <a:prstGeom prst="rect">
            <a:avLst/>
          </a:prstGeom>
        </p:spPr>
      </p:pic>
      <p:pic>
        <p:nvPicPr>
          <p:cNvPr id="18" name="Picture 1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6722" y="3225826"/>
            <a:ext cx="3721934" cy="1860967"/>
          </a:xfrm>
          <a:prstGeom prst="rect">
            <a:avLst/>
          </a:prstGeom>
        </p:spPr>
      </p:pic>
    </p:spTree>
    <p:extLst>
      <p:ext uri="{BB962C8B-B14F-4D97-AF65-F5344CB8AC3E}">
        <p14:creationId xmlns:p14="http://schemas.microsoft.com/office/powerpoint/2010/main" val="30050266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562888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Twinkl Template">
      <a:dk1>
        <a:srgbClr val="1C1C1C"/>
      </a:dk1>
      <a:lt1>
        <a:sysClr val="window" lastClr="FFFFFF"/>
      </a:lt1>
      <a:dk2>
        <a:srgbClr val="4A4A4A"/>
      </a:dk2>
      <a:lt2>
        <a:srgbClr val="F4F2F2"/>
      </a:lt2>
      <a:accent1>
        <a:srgbClr val="E34192"/>
      </a:accent1>
      <a:accent2>
        <a:srgbClr val="EB8634"/>
      </a:accent2>
      <a:accent3>
        <a:srgbClr val="E6C734"/>
      </a:accent3>
      <a:accent4>
        <a:srgbClr val="79AD42"/>
      </a:accent4>
      <a:accent5>
        <a:srgbClr val="23A7F9"/>
      </a:accent5>
      <a:accent6>
        <a:srgbClr val="954EBE"/>
      </a:accent6>
      <a:hlink>
        <a:srgbClr val="23A7F9"/>
      </a:hlink>
      <a:folHlink>
        <a:srgbClr val="757070"/>
      </a:folHlink>
    </a:clrScheme>
    <a:fontScheme name="Custom 1">
      <a:majorFont>
        <a:latin typeface="Twinkl Sb"/>
        <a:ea typeface=""/>
        <a:cs typeface=""/>
      </a:majorFont>
      <a:minorFont>
        <a:latin typeface="Twink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8A0DB"/>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astery PowerPoint Template" id="{43689DF9-D287-432E-9F40-D237B819A1A7}" vid="{5144CDE6-24FE-4389-99E0-1DDC4C0A7BE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349</TotalTime>
  <Words>757</Words>
  <Application>Microsoft Office PowerPoint</Application>
  <PresentationFormat>On-screen Show (4:3)</PresentationFormat>
  <Paragraphs>216</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Tuffy</vt:lpstr>
      <vt:lpstr>Calibri</vt:lpstr>
      <vt:lpstr>Twinkl</vt:lpstr>
      <vt:lpstr>Times New Roman</vt:lpstr>
      <vt:lpstr>Tuffy-TTF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Abi Haigh</dc:creator>
  <cp:lastModifiedBy>Abi Haigh</cp:lastModifiedBy>
  <cp:revision>39</cp:revision>
  <dcterms:created xsi:type="dcterms:W3CDTF">2019-09-02T14:41:49Z</dcterms:created>
  <dcterms:modified xsi:type="dcterms:W3CDTF">2019-09-13T13:53:16Z</dcterms:modified>
</cp:coreProperties>
</file>