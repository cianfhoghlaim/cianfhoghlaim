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"/><Relationship Id="rId3" Type="http://schemas.openxmlformats.org/officeDocument/2006/relationships/image" Target="../media/image3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5C, Tuesday 18/11/20"/>
          <p:cNvSpPr txBox="1"/>
          <p:nvPr>
            <p:ph type="body" idx="21"/>
          </p:nvPr>
        </p:nvSpPr>
        <p:spPr>
          <a:xfrm>
            <a:off x="1201340" y="11859862"/>
            <a:ext cx="22324597" cy="12407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44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5C, Tuesday 18/11/20</a:t>
            </a:r>
          </a:p>
        </p:txBody>
      </p:sp>
      <p:sp>
        <p:nvSpPr>
          <p:cNvPr id="152" name="Length, Area and Volume: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Length, Area and Volume:</a:t>
            </a:r>
          </a:p>
        </p:txBody>
      </p:sp>
      <p:sp>
        <p:nvSpPr>
          <p:cNvPr id="153" name="Surface Area of 3D Figures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6700"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pPr/>
            <a:r>
              <a:t>Surface Area of 3D Figures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Table"/>
          <p:cNvGraphicFramePr/>
          <p:nvPr/>
        </p:nvGraphicFramePr>
        <p:xfrm>
          <a:off x="242035" y="3750631"/>
          <a:ext cx="23309425" cy="959073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765575"/>
                <a:gridCol w="7765575"/>
                <a:gridCol w="7765575"/>
              </a:tblGrid>
              <a:tr h="1915606">
                <a:tc>
                  <a:txBody>
                    <a:bodyPr/>
                    <a:lstStyle/>
                    <a:p>
                      <a:pPr defTabSz="914400"/>
                      <a:r>
                        <a:rPr b="1" sz="44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</a:rPr>
                        <a:t>Egyptians (~2000 B.C.)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44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</a:rPr>
                        <a:t>Greeks (~250 B.C.)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4400">
                          <a:solidFill>
                            <a:schemeClr val="accent5">
                              <a:hueOff val="-82419"/>
                              <a:satOff val="-9513"/>
                              <a:lumOff val="-16343"/>
                            </a:schemeClr>
                          </a:solidFill>
                        </a:rPr>
                        <a:t>Today (2020)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miter lim="400000"/>
                    </a:lnB>
                  </a:tcPr>
                </a:tc>
              </a:tr>
              <a:tr h="1915606"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1915606"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1915606"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1915606"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4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miter lim="400000"/>
                    </a:lnT>
                  </a:tcPr>
                </a:tc>
              </a:tr>
            </a:tbl>
          </a:graphicData>
        </a:graphic>
      </p:graphicFrame>
      <p:sp>
        <p:nvSpPr>
          <p:cNvPr id="156" name="History of Area and Volum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History of Area and Volume</a:t>
            </a:r>
          </a:p>
        </p:txBody>
      </p:sp>
      <p:pic>
        <p:nvPicPr>
          <p:cNvPr id="157" name="egyptmeasure506.jpg" descr="egyptmeasure5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0898" y="5392442"/>
            <a:ext cx="4094674" cy="40602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GettyImages-144071335.jpg" descr="GettyImages-144071335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852867" y="9506038"/>
            <a:ext cx="3548140" cy="22974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Screenshot 2020-11-17 at 23.55.01.png" descr="Screenshot 2020-11-17 at 23.55.0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25291" y="6229597"/>
            <a:ext cx="5540249" cy="27209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3d-printing-shapeways.png" descr="3d-printing-shapeways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9771297" y="9554064"/>
            <a:ext cx="3627879" cy="27209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Screenshot 2020-11-18 at 00.11.00.png" descr="Screenshot 2020-11-18 at 00.11.00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071347" y="10297004"/>
            <a:ext cx="2806706" cy="28610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Screenshot 2020-11-18 at 00.10.56.png" descr="Screenshot 2020-11-18 at 00.10.56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66611" y="10297004"/>
            <a:ext cx="3019000" cy="28610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Screenshot 2020-11-18 at 06.00.36.png" descr="Screenshot 2020-11-18 at 06.00.36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239564" y="5898670"/>
            <a:ext cx="3722469" cy="30478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Screenshot 2020-11-18 at 06.03.06.png" descr="Screenshot 2020-11-18 at 06.03.06.png"/>
          <p:cNvPicPr>
            <a:picLocks noChangeAspect="1"/>
          </p:cNvPicPr>
          <p:nvPr/>
        </p:nvPicPr>
        <p:blipFill>
          <a:blip r:embed="rId9">
            <a:extLst/>
          </a:blip>
          <a:srcRect l="0" t="0" r="0" b="0"/>
          <a:stretch>
            <a:fillRect/>
          </a:stretch>
        </p:blipFill>
        <p:spPr>
          <a:xfrm>
            <a:off x="8561230" y="5320673"/>
            <a:ext cx="2886077" cy="38303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Screenshot 2020-11-18 at 06.06.32.png" descr="Screenshot 2020-11-18 at 06.06.32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1387902" y="8821685"/>
            <a:ext cx="4094675" cy="41856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8" grpId="9"/>
      <p:bldP build="whole" bldLvl="1" animBg="1" rev="0" advAuto="0" spid="164" grpId="6"/>
      <p:bldP build="whole" bldLvl="1" animBg="1" rev="0" advAuto="0" spid="160" grpId="10"/>
      <p:bldP build="whole" bldLvl="1" animBg="1" rev="0" advAuto="0" spid="155" grpId="1"/>
      <p:bldP build="whole" bldLvl="1" animBg="1" rev="0" advAuto="0" spid="159" grpId="8"/>
      <p:bldP build="whole" bldLvl="1" animBg="1" rev="0" advAuto="0" spid="157" grpId="2"/>
      <p:bldP build="whole" bldLvl="1" animBg="1" rev="0" advAuto="0" spid="161" grpId="5"/>
      <p:bldP build="whole" bldLvl="1" animBg="1" rev="0" advAuto="0" spid="163" grpId="3"/>
      <p:bldP build="whole" bldLvl="1" animBg="1" rev="0" advAuto="0" spid="165" grpId="7"/>
      <p:bldP build="whole" bldLvl="1" animBg="1" rev="0" advAuto="0" spid="162" grpId="4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urface Area and the Net of Objec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Surface Area and the Net of Objects</a:t>
            </a:r>
          </a:p>
        </p:txBody>
      </p:sp>
      <p:sp>
        <p:nvSpPr>
          <p:cNvPr id="168" name="What is the surface area of an object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pPr/>
            <a:r>
              <a:t>What is the surface area of an object?</a:t>
            </a:r>
          </a:p>
        </p:txBody>
      </p:sp>
      <p:pic>
        <p:nvPicPr>
          <p:cNvPr id="169" name="Screenshot 2020-11-18 at 06.38.12.png" descr="Screenshot 2020-11-18 at 06.38.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4183" y="3290742"/>
            <a:ext cx="15758715" cy="101715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8" grpId="1"/>
      <p:bldP build="whole" bldLvl="1" animBg="1" rev="0" advAuto="0" spid="169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What is a net of an objec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What is a net of an object?</a:t>
            </a:r>
          </a:p>
        </p:txBody>
      </p:sp>
      <p:sp>
        <p:nvSpPr>
          <p:cNvPr id="172" name="We use nets to:…"/>
          <p:cNvSpPr txBox="1"/>
          <p:nvPr>
            <p:ph type="body" idx="1"/>
          </p:nvPr>
        </p:nvSpPr>
        <p:spPr>
          <a:xfrm>
            <a:off x="561426" y="4788064"/>
            <a:ext cx="22544004" cy="8010990"/>
          </a:xfrm>
          <a:prstGeom prst="rect">
            <a:avLst/>
          </a:prstGeom>
        </p:spPr>
        <p:txBody>
          <a:bodyPr/>
          <a:lstStyle/>
          <a:p>
            <a:pPr marL="609600" indent="-609600">
              <a:defRPr sz="6300"/>
            </a:pPr>
          </a:p>
          <a:p>
            <a:pPr marL="609600" indent="-609600">
              <a:defRPr sz="6300"/>
            </a:pPr>
            <a:r>
              <a:t>We use nets to:</a:t>
            </a:r>
          </a:p>
          <a:p>
            <a:pPr lvl="8">
              <a:defRPr sz="6300"/>
            </a:pPr>
            <a:r>
              <a:t>help us visualise </a:t>
            </a:r>
            <a:r>
              <a:rPr b="1"/>
              <a:t>all the sides</a:t>
            </a:r>
            <a:r>
              <a:t> of an object</a:t>
            </a:r>
          </a:p>
          <a:p>
            <a:pPr lvl="8">
              <a:defRPr sz="6300"/>
            </a:pPr>
            <a:r>
              <a:t>help us calculate the </a:t>
            </a:r>
            <a:r>
              <a:rPr b="1"/>
              <a:t>surface area</a:t>
            </a:r>
            <a:r>
              <a:t> of an object</a:t>
            </a:r>
          </a:p>
        </p:txBody>
      </p:sp>
      <p:sp>
        <p:nvSpPr>
          <p:cNvPr id="173" name="A net is a flat shape that can be folded to make a 3-dimensional object."/>
          <p:cNvSpPr txBox="1"/>
          <p:nvPr/>
        </p:nvSpPr>
        <p:spPr>
          <a:xfrm>
            <a:off x="608590" y="2946912"/>
            <a:ext cx="23756380" cy="1891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6300">
                <a:solidFill>
                  <a:srgbClr val="000000"/>
                </a:solidFill>
              </a:defRPr>
            </a:lvl1pPr>
          </a:lstStyle>
          <a:p>
            <a:pPr/>
            <a:r>
              <a:t>A net is a flat shape that can be folded to make a 3-dimensional object.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2" grpId="2"/>
      <p:bldP build="whole" bldLvl="1" animBg="1" rev="0" advAuto="0" spid="17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Screenshot 2020-11-18 at 06.40.48.png" descr="Screenshot 2020-11-18 at 06.40.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55072" y="298994"/>
            <a:ext cx="20682550" cy="131180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Worksheet: Section A"/>
          <p:cNvSpPr txBox="1"/>
          <p:nvPr>
            <p:ph type="title"/>
          </p:nvPr>
        </p:nvSpPr>
        <p:spPr>
          <a:xfrm>
            <a:off x="1206500" y="1463878"/>
            <a:ext cx="21971000" cy="14331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Worksheet: Section A</a:t>
            </a:r>
          </a:p>
        </p:txBody>
      </p:sp>
      <p:sp>
        <p:nvSpPr>
          <p:cNvPr id="178" name="Which of these nets will make a cube?"/>
          <p:cNvSpPr txBox="1"/>
          <p:nvPr>
            <p:ph type="body" idx="1"/>
          </p:nvPr>
        </p:nvSpPr>
        <p:spPr>
          <a:xfrm>
            <a:off x="1518807" y="4777024"/>
            <a:ext cx="21971001" cy="825601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b="1"/>
            </a:lvl1pPr>
          </a:lstStyle>
          <a:p>
            <a:pPr/>
            <a:r>
              <a:t>Which of these nets will make a cube?</a:t>
            </a:r>
          </a:p>
        </p:txBody>
      </p:sp>
      <p:pic>
        <p:nvPicPr>
          <p:cNvPr id="179" name="Screenshot 2020-11-18 at 06.42.01.png" descr="Screenshot 2020-11-18 at 06.42.0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13384" y="-1071943"/>
            <a:ext cx="12141764" cy="1456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he Net of a Cube"/>
          <p:cNvSpPr txBox="1"/>
          <p:nvPr/>
        </p:nvSpPr>
        <p:spPr>
          <a:xfrm>
            <a:off x="1206500" y="77388"/>
            <a:ext cx="21971001" cy="1433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70" sz="85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The Net of a Cube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he 11 Nets of a Cub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The 11 Nets of a Cube</a:t>
            </a:r>
          </a:p>
        </p:txBody>
      </p:sp>
      <p:pic>
        <p:nvPicPr>
          <p:cNvPr id="183" name="Screenshot 2020-11-18 at 06.20.40.png" descr="Screenshot 2020-11-18 at 06.20.4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22063" y="2880511"/>
            <a:ext cx="19862398" cy="94528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Worksheet: Section 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Worksheet: Section B</a:t>
            </a:r>
          </a:p>
        </p:txBody>
      </p:sp>
      <p:sp>
        <p:nvSpPr>
          <p:cNvPr id="186" name="Investigate the net of a cube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b="1"/>
            </a:lvl1pPr>
          </a:lstStyle>
          <a:p>
            <a:pPr/>
            <a:r>
              <a:t>Investigate the net of a cube</a:t>
            </a:r>
          </a:p>
        </p:txBody>
      </p:sp>
      <p:pic>
        <p:nvPicPr>
          <p:cNvPr id="187" name="Screenshot 2020-11-18 at 06.47.11.png" descr="Screenshot 2020-11-18 at 06.47.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40692" y="5629666"/>
            <a:ext cx="8780841" cy="70412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36927" y="6414845"/>
            <a:ext cx="12880790" cy="49398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8" grpId="2"/>
      <p:bldP build="whole" bldLvl="1" animBg="1" rev="0" advAuto="0" spid="18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he Net of a Cylin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pPr/>
            <a:r>
              <a:t>The Net of a Cylinder</a:t>
            </a:r>
          </a:p>
        </p:txBody>
      </p:sp>
      <p:pic>
        <p:nvPicPr>
          <p:cNvPr id="19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68489" y="3411357"/>
            <a:ext cx="10603561" cy="9226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044069" y="0"/>
            <a:ext cx="7391857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Worksheet: Section C"/>
          <p:cNvSpPr txBox="1"/>
          <p:nvPr/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70" sz="8500">
                <a:solidFill>
                  <a:schemeClr val="accent1"/>
                </a:solidFill>
              </a:defRPr>
            </a:lvl1pPr>
          </a:lstStyle>
          <a:p>
            <a:pPr/>
            <a:r>
              <a:t>Worksheet: Section C</a:t>
            </a:r>
          </a:p>
        </p:txBody>
      </p:sp>
      <p:sp>
        <p:nvSpPr>
          <p:cNvPr id="195" name="Investigate the net of a cylinder"/>
          <p:cNvSpPr txBox="1"/>
          <p:nvPr/>
        </p:nvSpPr>
        <p:spPr>
          <a:xfrm>
            <a:off x="2242792" y="3420556"/>
            <a:ext cx="11135310" cy="994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b="1" sz="5800">
                <a:solidFill>
                  <a:srgbClr val="000000"/>
                </a:solidFill>
              </a:defRPr>
            </a:lvl1pPr>
          </a:lstStyle>
          <a:p>
            <a:pPr/>
            <a:r>
              <a:t>Investigate the net of a cylinder</a:t>
            </a:r>
          </a:p>
        </p:txBody>
      </p:sp>
      <p:pic>
        <p:nvPicPr>
          <p:cNvPr id="19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49734" y="5348483"/>
            <a:ext cx="14083792" cy="82137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ap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Recap:</a:t>
            </a:r>
          </a:p>
        </p:txBody>
      </p:sp>
      <p:sp>
        <p:nvSpPr>
          <p:cNvPr id="199" name="Maths knowledge is built over thousands of years thanks to humans communicating and learning from each other.…"/>
          <p:cNvSpPr txBox="1"/>
          <p:nvPr>
            <p:ph type="body" idx="1"/>
          </p:nvPr>
        </p:nvSpPr>
        <p:spPr>
          <a:xfrm>
            <a:off x="932667" y="2729994"/>
            <a:ext cx="23267432" cy="9929159"/>
          </a:xfrm>
          <a:prstGeom prst="rect">
            <a:avLst/>
          </a:prstGeom>
        </p:spPr>
        <p:txBody>
          <a:bodyPr/>
          <a:lstStyle/>
          <a:p>
            <a:pPr marL="603504" indent="-603504" defTabSz="2413955">
              <a:spcBef>
                <a:spcPts val="440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defRPr sz="5049"/>
            </a:pPr>
            <a:r>
              <a:t>Maths knowledge is built over thousands of years thanks to humans communicating and learning from each other. </a:t>
            </a:r>
          </a:p>
          <a:p>
            <a:pPr marL="603504" indent="-603504" defTabSz="2413955">
              <a:spcBef>
                <a:spcPts val="440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defRPr sz="5049"/>
            </a:pPr>
            <a:r>
              <a:t>Our ability to quickly calculate the area and volume of shapes build on our ancestors’ knowledge.</a:t>
            </a:r>
          </a:p>
          <a:p>
            <a:pPr marL="603504" indent="-603504" defTabSz="2413955">
              <a:spcBef>
                <a:spcPts val="440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defRPr sz="5049"/>
            </a:pPr>
            <a:r>
              <a:t>Nets are flat shapes that can be folded into 3D objects</a:t>
            </a:r>
          </a:p>
          <a:p>
            <a:pPr marL="603504" indent="-603504" defTabSz="2413955">
              <a:spcBef>
                <a:spcPts val="440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defRPr sz="5049"/>
            </a:pPr>
            <a:r>
              <a:t>There are 11 different shaped nets for a cube.</a:t>
            </a:r>
          </a:p>
          <a:p>
            <a:pPr marL="603504" indent="-603504" defTabSz="2413955">
              <a:spcBef>
                <a:spcPts val="440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defRPr sz="5049"/>
            </a:pPr>
            <a:r>
              <a:t>In the net of a cylinder, the length of the rectangular side is the same as the circumference of the circular side: 2 * π * r</a:t>
            </a:r>
          </a:p>
          <a:p>
            <a:pPr marL="603504" indent="-603504" defTabSz="2413955">
              <a:spcBef>
                <a:spcPts val="4400"/>
              </a:spcBef>
              <a:buClr>
                <a:schemeClr val="accent5">
                  <a:hueOff val="-82419"/>
                  <a:satOff val="-9513"/>
                  <a:lumOff val="-16343"/>
                </a:schemeClr>
              </a:buClr>
              <a:defRPr sz="5049"/>
            </a:pPr>
            <a:r>
              <a:t>We calculate the surface area by calculate the area of each individual side, and adding them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