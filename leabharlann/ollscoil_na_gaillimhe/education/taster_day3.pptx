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9" name="Shape 11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 0">
    <p:bg>
      <p:bgPr>
        <a:solidFill>
          <a:srgbClr val="4141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2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92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93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Text"/>
          <p:cNvSpPr txBox="1"/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1" name="Body Level One…"/>
          <p:cNvSpPr txBox="1"/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jpeg"/><Relationship Id="rId5" Type="http://schemas.openxmlformats.org/officeDocument/2006/relationships/image" Target="../media/image3.jpeg"/><Relationship Id="rId6" Type="http://schemas.openxmlformats.org/officeDocument/2006/relationships/image" Target="../media/image4.jpeg"/><Relationship Id="rId7" Type="http://schemas.openxmlformats.org/officeDocument/2006/relationships/image" Target="../media/image5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tif"/><Relationship Id="rId3" Type="http://schemas.openxmlformats.org/officeDocument/2006/relationships/image" Target="../media/image3.tif"/><Relationship Id="rId4" Type="http://schemas.openxmlformats.org/officeDocument/2006/relationships/image" Target="../media/image4.tif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tif"/><Relationship Id="rId3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intersecting circlesGroup 7"/>
          <p:cNvGrpSpPr/>
          <p:nvPr/>
        </p:nvGrpSpPr>
        <p:grpSpPr>
          <a:xfrm>
            <a:off x="1155480" y="498347"/>
            <a:ext cx="9902664" cy="5861305"/>
            <a:chOff x="0" y="0"/>
            <a:chExt cx="9902663" cy="5861304"/>
          </a:xfrm>
        </p:grpSpPr>
        <p:sp>
          <p:nvSpPr>
            <p:cNvPr id="121" name="Oval 5"/>
            <p:cNvSpPr/>
            <p:nvPr/>
          </p:nvSpPr>
          <p:spPr>
            <a:xfrm>
              <a:off x="-1" y="-1"/>
              <a:ext cx="5861305" cy="5861305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2" name="Oval 9"/>
            <p:cNvSpPr/>
            <p:nvPr/>
          </p:nvSpPr>
          <p:spPr>
            <a:xfrm>
              <a:off x="4041358" y="-1"/>
              <a:ext cx="5861305" cy="5861305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3" name="Oval 5"/>
            <p:cNvSpPr/>
            <p:nvPr/>
          </p:nvSpPr>
          <p:spPr>
            <a:xfrm>
              <a:off x="2009866" y="-1"/>
              <a:ext cx="5861305" cy="5861305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25" name="ribbonRectangle 12"/>
          <p:cNvSpPr/>
          <p:nvPr/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itle 1"/>
          <p:cNvSpPr txBox="1"/>
          <p:nvPr>
            <p:ph type="title"/>
          </p:nvPr>
        </p:nvSpPr>
        <p:spPr>
          <a:xfrm>
            <a:off x="1524000" y="2776538"/>
            <a:ext cx="9144000" cy="1381189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44546A"/>
                </a:solidFill>
              </a:defRPr>
            </a:lvl1pPr>
          </a:lstStyle>
          <a:p>
            <a:pPr/>
            <a:r>
              <a:t>Mathematics, Computer Science, and Education</a:t>
            </a:r>
          </a:p>
        </p:txBody>
      </p:sp>
      <p:sp>
        <p:nvSpPr>
          <p:cNvPr id="127" name="Subtitle 2"/>
          <p:cNvSpPr txBox="1"/>
          <p:nvPr>
            <p:ph type="body" sz="quarter" idx="1"/>
          </p:nvPr>
        </p:nvSpPr>
        <p:spPr>
          <a:xfrm>
            <a:off x="1524000" y="4495800"/>
            <a:ext cx="9144000" cy="7620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pPr/>
            <a:r>
              <a:t>NUI Galway Taster Day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30" name="Content Placeholder 4" descr="Content Placeholder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52730" y="2919665"/>
            <a:ext cx="3841162" cy="23717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8108" y="2919664"/>
            <a:ext cx="3570479" cy="23717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2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15177" y="3630260"/>
            <a:ext cx="3890963" cy="29027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35" name="Content Placeholder 4" descr="Content Placeholder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0"/>
            <a:ext cx="12192001" cy="68732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Content Placeholder 4" descr="Content Placeholder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338" y="1276350"/>
            <a:ext cx="12115323" cy="40821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0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https://www.youtube.com/watch?v=QvyTEx1wyOY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3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4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39017" y="2973890"/>
            <a:ext cx="5713966" cy="2659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12011" y="365125"/>
            <a:ext cx="6287746" cy="160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3983" y="1485900"/>
            <a:ext cx="1892042" cy="25734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93983" y="4194242"/>
            <a:ext cx="1892042" cy="24824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Picture 7" descr="Picture 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468363" y="4194242"/>
            <a:ext cx="2129654" cy="25347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Picture 8" descr="Picture 8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468363" y="1485900"/>
            <a:ext cx="2129654" cy="25003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52" name="Content Placeholder 4" descr="Content Placeholder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333249" cy="68496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Content Placeholder 8" descr="Content Placeholder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3596"/>
            <a:ext cx="12192000" cy="68615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ounded Rectangle 9"/>
          <p:cNvSpPr/>
          <p:nvPr/>
        </p:nvSpPr>
        <p:spPr>
          <a:xfrm>
            <a:off x="675060" y="5824537"/>
            <a:ext cx="10678740" cy="60971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8" name="Content Placeholder 2"/>
          <p:cNvSpPr txBox="1"/>
          <p:nvPr>
            <p:ph type="body" sz="quarter" idx="1"/>
          </p:nvPr>
        </p:nvSpPr>
        <p:spPr>
          <a:xfrm>
            <a:off x="528637" y="5410200"/>
            <a:ext cx="10825164" cy="9191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59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15583" y="587375"/>
            <a:ext cx="9251272" cy="4759325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TextBox 7"/>
          <p:cNvSpPr txBox="1"/>
          <p:nvPr/>
        </p:nvSpPr>
        <p:spPr>
          <a:xfrm>
            <a:off x="675059" y="5824537"/>
            <a:ext cx="11847722" cy="747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Programmer ⑊ Hacker ⑊ Software Engineer ⑊ Coder ⑊ Computer Scientist ⑊ Developer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raphic 6" descr="Graphic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74800" y="2519363"/>
            <a:ext cx="914401" cy="914401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Title 1"/>
          <p:cNvSpPr txBox="1"/>
          <p:nvPr>
            <p:ph type="title"/>
          </p:nvPr>
        </p:nvSpPr>
        <p:spPr>
          <a:xfrm>
            <a:off x="433495" y="3433762"/>
            <a:ext cx="3197014" cy="2743201"/>
          </a:xfrm>
          <a:prstGeom prst="rect">
            <a:avLst/>
          </a:prstGeom>
        </p:spPr>
        <p:txBody>
          <a:bodyPr anchor="t"/>
          <a:lstStyle>
            <a:lvl1pPr algn="ctr">
              <a:defRPr sz="3700"/>
            </a:lvl1pPr>
          </a:lstStyle>
          <a:p>
            <a:pPr/>
            <a:r>
              <a:t>The Math Process</a:t>
            </a:r>
          </a:p>
        </p:txBody>
      </p:sp>
      <p:sp>
        <p:nvSpPr>
          <p:cNvPr id="164" name="Content Placeholder 2"/>
          <p:cNvSpPr txBox="1"/>
          <p:nvPr>
            <p:ph type="body" idx="1"/>
          </p:nvPr>
        </p:nvSpPr>
        <p:spPr>
          <a:xfrm>
            <a:off x="4064000" y="643467"/>
            <a:ext cx="7289800" cy="5533496"/>
          </a:xfrm>
          <a:prstGeom prst="rect">
            <a:avLst/>
          </a:prstGeom>
        </p:spPr>
        <p:txBody>
          <a:bodyPr anchor="ctr"/>
          <a:lstStyle/>
          <a:p>
            <a:pPr marL="514350" indent="-514350">
              <a:buFontTx/>
              <a:buAutoNum type="arabicPeriod" startAt="1"/>
              <a:defRPr sz="2600"/>
            </a:pPr>
          </a:p>
          <a:p>
            <a:pPr marL="514350" indent="-514350">
              <a:buClr>
                <a:srgbClr val="0070C0"/>
              </a:buClr>
              <a:buFontTx/>
              <a:buAutoNum type="arabicPeriod" startAt="1"/>
              <a:defRPr sz="2600"/>
            </a:pPr>
            <a:r>
              <a:t>Math teaches understanding and communication through abstract language.</a:t>
            </a:r>
          </a:p>
          <a:p>
            <a:pPr marL="514350" indent="-514350">
              <a:buFontTx/>
              <a:buAutoNum type="arabicPeriod" startAt="1"/>
              <a:defRPr sz="2600"/>
            </a:pPr>
          </a:p>
          <a:p>
            <a:pPr marL="514350" indent="-514350">
              <a:buClr>
                <a:srgbClr val="0070C0"/>
              </a:buClr>
              <a:buFontTx/>
              <a:buAutoNum type="arabicPeriod" startAt="2"/>
              <a:defRPr sz="2600"/>
            </a:pPr>
            <a:r>
              <a:t>Math teaches how to work with algorithms.</a:t>
            </a:r>
          </a:p>
          <a:p>
            <a:pPr marL="514350" indent="-514350">
              <a:buClr>
                <a:srgbClr val="0070C0"/>
              </a:buClr>
              <a:buFontTx/>
              <a:buAutoNum type="arabicPeriod" startAt="2"/>
              <a:defRPr sz="2600"/>
            </a:pPr>
          </a:p>
          <a:p>
            <a:pPr marL="514350" indent="-514350">
              <a:buClr>
                <a:srgbClr val="0070C0"/>
              </a:buClr>
              <a:buFontTx/>
              <a:buAutoNum type="arabicPeriod" startAt="3"/>
              <a:defRPr sz="2600"/>
            </a:pPr>
            <a:r>
              <a:t>Math teaches students how to analyze their work.</a:t>
            </a:r>
          </a:p>
          <a:p>
            <a:pPr marL="0" indent="0">
              <a:buSzTx/>
              <a:buNone/>
              <a:defRPr sz="2600"/>
            </a:pPr>
            <a:br/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6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05354" y="1825625"/>
            <a:ext cx="2412223" cy="45678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0385" y="365125"/>
            <a:ext cx="3933556" cy="12578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Picture 9" descr="Pictur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90979" y="-456940"/>
            <a:ext cx="5840636" cy="29019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Picture 13" descr="Picture 1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90979" y="2033588"/>
            <a:ext cx="5469535" cy="30527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" name="Content Placeholder 11" descr="Content Placeholder 11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305427" y="3877469"/>
            <a:ext cx="3886573" cy="31035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02336">
              <a:defRPr sz="1716"/>
            </a:pPr>
            <a:br/>
            <a:br/>
            <a:r>
              <a:t>How Many Millions of Lines of Code Does It Take?</a:t>
            </a:r>
            <a:br/>
            <a:br/>
          </a:p>
        </p:txBody>
      </p:sp>
      <p:pic>
        <p:nvPicPr>
          <p:cNvPr id="174" name="Content Placeholder 8" descr="Content Placeholder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0989" y="2085975"/>
            <a:ext cx="11330023" cy="39203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7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026998" y="217952"/>
            <a:ext cx="5618978" cy="3160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Content Placeholder 9" descr="Content Placeholder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00425" y="3088"/>
            <a:ext cx="8658225" cy="68549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414141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