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2"/>
  </p:notesMasterIdLst>
  <p:sldIdLst>
    <p:sldId id="256" r:id="rId2"/>
    <p:sldId id="284" r:id="rId3"/>
    <p:sldId id="330" r:id="rId4"/>
    <p:sldId id="325" r:id="rId5"/>
    <p:sldId id="350" r:id="rId6"/>
    <p:sldId id="341" r:id="rId7"/>
    <p:sldId id="351" r:id="rId8"/>
    <p:sldId id="336" r:id="rId9"/>
    <p:sldId id="337" r:id="rId10"/>
    <p:sldId id="352" r:id="rId1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P3" id="{AD917F9D-4B44-594E-A6C9-B2A378EA660A}">
          <p14:sldIdLst>
            <p14:sldId id="256"/>
            <p14:sldId id="284"/>
          </p14:sldIdLst>
        </p14:section>
        <p14:section name="Content" id="{66C9C7BF-DCB8-0B42-9E5A-A47210286444}">
          <p14:sldIdLst>
            <p14:sldId id="330"/>
            <p14:sldId id="325"/>
            <p14:sldId id="350"/>
            <p14:sldId id="341"/>
            <p14:sldId id="351"/>
            <p14:sldId id="336"/>
            <p14:sldId id="337"/>
            <p14:sldId id="35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8DC"/>
    <a:srgbClr val="7AE6E5"/>
    <a:srgbClr val="00CBCB"/>
    <a:srgbClr val="85D7FF"/>
    <a:srgbClr val="FFFFFF"/>
    <a:srgbClr val="004BFF"/>
    <a:srgbClr val="AA342F"/>
    <a:srgbClr val="33C0FD"/>
    <a:srgbClr val="CD938A"/>
    <a:srgbClr val="D5F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27"/>
    <p:restoredTop sz="94874"/>
  </p:normalViewPr>
  <p:slideViewPr>
    <p:cSldViewPr snapToGrid="0" snapToObjects="1">
      <p:cViewPr varScale="1">
        <p:scale>
          <a:sx n="121" d="100"/>
          <a:sy n="121" d="100"/>
        </p:scale>
        <p:origin x="192"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F61483-72D0-394C-AC95-0368E97CFE03}" type="datetimeFigureOut">
              <a:rPr lang="en-GB" smtClean="0"/>
              <a:t>06/05/2019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9377F-1BD6-9941-B405-1638211A94BD}" type="slidenum">
              <a:rPr lang="en-GB" smtClean="0"/>
              <a:t>‹#›</a:t>
            </a:fld>
            <a:endParaRPr lang="en-GB"/>
          </a:p>
        </p:txBody>
      </p:sp>
    </p:spTree>
    <p:extLst>
      <p:ext uri="{BB962C8B-B14F-4D97-AF65-F5344CB8AC3E}">
        <p14:creationId xmlns:p14="http://schemas.microsoft.com/office/powerpoint/2010/main" val="184852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a:t>
            </a:fld>
            <a:endParaRPr lang="en-GB"/>
          </a:p>
        </p:txBody>
      </p:sp>
    </p:spTree>
    <p:extLst>
      <p:ext uri="{BB962C8B-B14F-4D97-AF65-F5344CB8AC3E}">
        <p14:creationId xmlns:p14="http://schemas.microsoft.com/office/powerpoint/2010/main" val="2801492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GB" dirty="0"/>
              </a:p>
            </p:txBody>
          </p:sp>
        </mc:Choice>
        <mc:Fallback xmlns="">
          <p:sp>
            <p:nvSpPr>
              <p:cNvPr id="3" name="Notes Placeholder 2"/>
              <p:cNvSpPr>
                <a:spLocks noGrp="1"/>
              </p:cNvSpPr>
              <p:nvPr>
                <p:ph type="body" idx="1"/>
              </p:nvPr>
            </p:nvSpPr>
            <p:spPr/>
            <p:txBody>
              <a:bodyPr/>
              <a:lstStyle/>
              <a:p>
                <a:r>
                  <a:rPr lang="en-GB" dirty="0"/>
                  <a:t>Here, I don’t teach the formula </a:t>
                </a:r>
                <a:r>
                  <a:rPr lang="en-GB" b="0" i="0">
                    <a:latin typeface="Cambria Math" panose="02040503050406030204" pitchFamily="18" charset="0"/>
                  </a:rPr>
                  <a:t>𝑉=𝜋𝑟^2 ℎ</a:t>
                </a:r>
                <a:r>
                  <a:rPr lang="en-GB" dirty="0"/>
                  <a:t> as my lesson</a:t>
                </a:r>
                <a:r>
                  <a:rPr lang="en-GB" baseline="0" dirty="0"/>
                  <a:t> follows on from volumes of prisms. </a:t>
                </a:r>
                <a:endParaRPr lang="en-GB" dirty="0"/>
              </a:p>
            </p:txBody>
          </p:sp>
        </mc:Fallback>
      </mc:AlternateContent>
      <p:sp>
        <p:nvSpPr>
          <p:cNvPr id="4" name="Slide Number Placeholder 3"/>
          <p:cNvSpPr>
            <a:spLocks noGrp="1"/>
          </p:cNvSpPr>
          <p:nvPr>
            <p:ph type="sldNum" sz="quarter" idx="5"/>
          </p:nvPr>
        </p:nvSpPr>
        <p:spPr/>
        <p:txBody>
          <a:bodyPr/>
          <a:lstStyle/>
          <a:p>
            <a:fld id="{D5D9377F-1BD6-9941-B405-1638211A94BD}" type="slidenum">
              <a:rPr lang="en-GB" smtClean="0"/>
              <a:t>3</a:t>
            </a:fld>
            <a:endParaRPr lang="en-GB"/>
          </a:p>
        </p:txBody>
      </p:sp>
    </p:spTree>
    <p:extLst>
      <p:ext uri="{BB962C8B-B14F-4D97-AF65-F5344CB8AC3E}">
        <p14:creationId xmlns:p14="http://schemas.microsoft.com/office/powerpoint/2010/main" val="1869211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4</a:t>
            </a:fld>
            <a:endParaRPr lang="en-GB"/>
          </a:p>
        </p:txBody>
      </p:sp>
    </p:spTree>
    <p:extLst>
      <p:ext uri="{BB962C8B-B14F-4D97-AF65-F5344CB8AC3E}">
        <p14:creationId xmlns:p14="http://schemas.microsoft.com/office/powerpoint/2010/main" val="50133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5</a:t>
            </a:fld>
            <a:endParaRPr lang="en-GB"/>
          </a:p>
        </p:txBody>
      </p:sp>
    </p:spTree>
    <p:extLst>
      <p:ext uri="{BB962C8B-B14F-4D97-AF65-F5344CB8AC3E}">
        <p14:creationId xmlns:p14="http://schemas.microsoft.com/office/powerpoint/2010/main" val="3412061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GB" dirty="0"/>
              </a:p>
            </p:txBody>
          </p:sp>
        </mc:Choice>
        <mc:Fallback xmlns="">
          <p:sp>
            <p:nvSpPr>
              <p:cNvPr id="3" name="Notes Placeholder 2"/>
              <p:cNvSpPr>
                <a:spLocks noGrp="1"/>
              </p:cNvSpPr>
              <p:nvPr>
                <p:ph type="body" idx="1"/>
              </p:nvPr>
            </p:nvSpPr>
            <p:spPr/>
            <p:txBody>
              <a:bodyPr/>
              <a:lstStyle/>
              <a:p>
                <a:r>
                  <a:rPr lang="en-GB" dirty="0"/>
                  <a:t>Here, I don’t teach the formula </a:t>
                </a:r>
                <a:r>
                  <a:rPr lang="en-GB" b="0" i="0">
                    <a:latin typeface="Cambria Math" panose="02040503050406030204" pitchFamily="18" charset="0"/>
                  </a:rPr>
                  <a:t>𝑉=𝜋𝑟^2 ℎ</a:t>
                </a:r>
                <a:r>
                  <a:rPr lang="en-GB" dirty="0"/>
                  <a:t> as my lesson</a:t>
                </a:r>
                <a:r>
                  <a:rPr lang="en-GB" baseline="0" dirty="0"/>
                  <a:t> follows on from volumes of prisms. </a:t>
                </a:r>
                <a:endParaRPr lang="en-GB" dirty="0"/>
              </a:p>
            </p:txBody>
          </p:sp>
        </mc:Fallback>
      </mc:AlternateContent>
      <p:sp>
        <p:nvSpPr>
          <p:cNvPr id="4" name="Slide Number Placeholder 3"/>
          <p:cNvSpPr>
            <a:spLocks noGrp="1"/>
          </p:cNvSpPr>
          <p:nvPr>
            <p:ph type="sldNum" sz="quarter" idx="5"/>
          </p:nvPr>
        </p:nvSpPr>
        <p:spPr/>
        <p:txBody>
          <a:bodyPr/>
          <a:lstStyle/>
          <a:p>
            <a:fld id="{D5D9377F-1BD6-9941-B405-1638211A94BD}" type="slidenum">
              <a:rPr lang="en-GB" smtClean="0"/>
              <a:t>6</a:t>
            </a:fld>
            <a:endParaRPr lang="en-GB"/>
          </a:p>
        </p:txBody>
      </p:sp>
    </p:spTree>
    <p:extLst>
      <p:ext uri="{BB962C8B-B14F-4D97-AF65-F5344CB8AC3E}">
        <p14:creationId xmlns:p14="http://schemas.microsoft.com/office/powerpoint/2010/main" val="2099120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7</a:t>
            </a:fld>
            <a:endParaRPr lang="en-GB"/>
          </a:p>
        </p:txBody>
      </p:sp>
    </p:spTree>
    <p:extLst>
      <p:ext uri="{BB962C8B-B14F-4D97-AF65-F5344CB8AC3E}">
        <p14:creationId xmlns:p14="http://schemas.microsoft.com/office/powerpoint/2010/main" val="2343948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8</a:t>
            </a:fld>
            <a:endParaRPr lang="en-GB"/>
          </a:p>
        </p:txBody>
      </p:sp>
    </p:spTree>
    <p:extLst>
      <p:ext uri="{BB962C8B-B14F-4D97-AF65-F5344CB8AC3E}">
        <p14:creationId xmlns:p14="http://schemas.microsoft.com/office/powerpoint/2010/main" val="3909901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9</a:t>
            </a:fld>
            <a:endParaRPr lang="en-GB"/>
          </a:p>
        </p:txBody>
      </p:sp>
    </p:spTree>
    <p:extLst>
      <p:ext uri="{BB962C8B-B14F-4D97-AF65-F5344CB8AC3E}">
        <p14:creationId xmlns:p14="http://schemas.microsoft.com/office/powerpoint/2010/main" val="3647785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10</a:t>
            </a:fld>
            <a:endParaRPr lang="en-GB"/>
          </a:p>
        </p:txBody>
      </p:sp>
    </p:spTree>
    <p:extLst>
      <p:ext uri="{BB962C8B-B14F-4D97-AF65-F5344CB8AC3E}">
        <p14:creationId xmlns:p14="http://schemas.microsoft.com/office/powerpoint/2010/main" val="31379040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P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0807F-CC69-D64A-8CA7-DE7A689C7297}"/>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CD0F4EBC-0EB9-5144-B113-E3C84F3D49F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320822" y="418107"/>
            <a:ext cx="2502359" cy="2908460"/>
          </a:xfrm>
          <a:prstGeom prst="rect">
            <a:avLst/>
          </a:prstGeom>
        </p:spPr>
      </p:pic>
      <p:sp>
        <p:nvSpPr>
          <p:cNvPr id="8" name="TextBox 7">
            <a:extLst>
              <a:ext uri="{FF2B5EF4-FFF2-40B4-BE49-F238E27FC236}">
                <a16:creationId xmlns:a16="http://schemas.microsoft.com/office/drawing/2014/main" id="{6C2C3470-A77D-3F4F-BA21-9D2139540AE8}"/>
              </a:ext>
            </a:extLst>
          </p:cNvPr>
          <p:cNvSpPr txBox="1"/>
          <p:nvPr userDrawn="1"/>
        </p:nvSpPr>
        <p:spPr>
          <a:xfrm>
            <a:off x="3020544" y="3386567"/>
            <a:ext cx="3102965" cy="1131720"/>
          </a:xfrm>
          <a:prstGeom prst="rect">
            <a:avLst/>
          </a:prstGeom>
          <a:noFill/>
        </p:spPr>
        <p:txBody>
          <a:bodyPr wrap="none" rtlCol="0">
            <a:spAutoFit/>
          </a:bodyPr>
          <a:lstStyle/>
          <a:p>
            <a:pPr algn="ctr"/>
            <a:r>
              <a:rPr lang="en-GB" sz="1351" spc="300" dirty="0"/>
              <a:t>Mathematics</a:t>
            </a:r>
          </a:p>
          <a:p>
            <a:pPr algn="ctr"/>
            <a:r>
              <a:rPr lang="en-GB" sz="1351" b="1" spc="300" dirty="0"/>
              <a:t>THE VOLUME OF A SPHERE</a:t>
            </a:r>
          </a:p>
          <a:p>
            <a:pPr algn="ctr"/>
            <a:r>
              <a:rPr lang="en-GB" sz="1351" b="1" spc="300" dirty="0"/>
              <a:t>TES: </a:t>
            </a:r>
            <a:r>
              <a:rPr lang="en-GB" sz="1351" spc="300" dirty="0"/>
              <a:t>cparkinson3</a:t>
            </a:r>
          </a:p>
          <a:p>
            <a:pPr algn="ctr"/>
            <a:endParaRPr lang="en-GB" sz="1351" spc="300" dirty="0"/>
          </a:p>
          <a:p>
            <a:pPr algn="ctr"/>
            <a:r>
              <a:rPr lang="en-GB" sz="1351" b="1" spc="300" dirty="0"/>
              <a:t>Last updated: 5</a:t>
            </a:r>
            <a:r>
              <a:rPr lang="en-GB" sz="1351" b="1" spc="300" baseline="30000" dirty="0"/>
              <a:t>th</a:t>
            </a:r>
            <a:r>
              <a:rPr lang="en-GB" sz="1351" b="1" spc="300" dirty="0"/>
              <a:t> May 2019</a:t>
            </a:r>
          </a:p>
        </p:txBody>
      </p:sp>
      <p:grpSp>
        <p:nvGrpSpPr>
          <p:cNvPr id="19" name="Group 18">
            <a:extLst>
              <a:ext uri="{FF2B5EF4-FFF2-40B4-BE49-F238E27FC236}">
                <a16:creationId xmlns:a16="http://schemas.microsoft.com/office/drawing/2014/main" id="{6E0BBCA1-B637-DA48-9AEB-73D453E7CEF3}"/>
              </a:ext>
            </a:extLst>
          </p:cNvPr>
          <p:cNvGrpSpPr/>
          <p:nvPr userDrawn="1"/>
        </p:nvGrpSpPr>
        <p:grpSpPr>
          <a:xfrm>
            <a:off x="-761023" y="0"/>
            <a:ext cx="677108" cy="3067219"/>
            <a:chOff x="-948661" y="62818"/>
            <a:chExt cx="901230" cy="4082469"/>
          </a:xfrm>
        </p:grpSpPr>
        <p:sp>
          <p:nvSpPr>
            <p:cNvPr id="10" name="Rectangle 9">
              <a:extLst>
                <a:ext uri="{FF2B5EF4-FFF2-40B4-BE49-F238E27FC236}">
                  <a16:creationId xmlns:a16="http://schemas.microsoft.com/office/drawing/2014/main" id="{6E55D352-BAB1-EF49-A53C-E90574CEB9A2}"/>
                </a:ext>
              </a:extLst>
            </p:cNvPr>
            <p:cNvSpPr/>
            <p:nvPr userDrawn="1"/>
          </p:nvSpPr>
          <p:spPr>
            <a:xfrm rot="16200000">
              <a:off x="-2539281" y="1653438"/>
              <a:ext cx="4082469" cy="901230"/>
            </a:xfrm>
            <a:prstGeom prst="rect">
              <a:avLst/>
            </a:prstGeom>
            <a:solidFill>
              <a:schemeClr val="bg1"/>
            </a:solidFill>
            <a:ln w="12700">
              <a:solidFill>
                <a:schemeClr val="tx1">
                  <a:lumMod val="75000"/>
                  <a:lumOff val="25000"/>
                </a:schemeClr>
              </a:solidFill>
            </a:ln>
          </p:spPr>
          <p:txBody>
            <a:bodyPr wrap="square">
              <a:spAutoFit/>
            </a:bodyPr>
            <a:lstStyle/>
            <a:p>
              <a:pPr algn="ctr"/>
              <a:r>
                <a:rPr lang="en-GB" sz="1200" dirty="0">
                  <a:latin typeface="Calibri" charset="0"/>
                  <a:ea typeface="Calibri" charset="0"/>
                  <a:cs typeface="Calibri" charset="0"/>
                </a:rPr>
                <a:t>The main colours used in this PowerPoint.</a:t>
              </a:r>
            </a:p>
            <a:p>
              <a:pPr algn="ctr"/>
              <a:endParaRPr lang="en-GB" sz="1400" dirty="0">
                <a:latin typeface="Calibri" charset="0"/>
                <a:ea typeface="Calibri" charset="0"/>
                <a:cs typeface="Calibri" charset="0"/>
              </a:endParaRPr>
            </a:p>
            <a:p>
              <a:pPr algn="ctr"/>
              <a:endParaRPr lang="en-GB" sz="1100" dirty="0"/>
            </a:p>
          </p:txBody>
        </p:sp>
        <p:sp>
          <p:nvSpPr>
            <p:cNvPr id="11" name="Rectangle 10">
              <a:extLst>
                <a:ext uri="{FF2B5EF4-FFF2-40B4-BE49-F238E27FC236}">
                  <a16:creationId xmlns:a16="http://schemas.microsoft.com/office/drawing/2014/main" id="{33B2B14E-DC1A-5E4C-928B-D4217526D917}"/>
                </a:ext>
              </a:extLst>
            </p:cNvPr>
            <p:cNvSpPr/>
            <p:nvPr userDrawn="1"/>
          </p:nvSpPr>
          <p:spPr>
            <a:xfrm>
              <a:off x="-558935" y="257838"/>
              <a:ext cx="374469" cy="374469"/>
            </a:xfrm>
            <a:prstGeom prst="rect">
              <a:avLst/>
            </a:prstGeom>
            <a:solidFill>
              <a:srgbClr val="FFFD9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BAC70C96-CE7C-C644-B399-67BE1A82A085}"/>
                </a:ext>
              </a:extLst>
            </p:cNvPr>
            <p:cNvSpPr/>
            <p:nvPr userDrawn="1"/>
          </p:nvSpPr>
          <p:spPr>
            <a:xfrm>
              <a:off x="-558935" y="731833"/>
              <a:ext cx="374469" cy="374469"/>
            </a:xfrm>
            <a:prstGeom prst="rect">
              <a:avLst/>
            </a:prstGeom>
            <a:solidFill>
              <a:srgbClr val="97E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Rectangle 12">
              <a:extLst>
                <a:ext uri="{FF2B5EF4-FFF2-40B4-BE49-F238E27FC236}">
                  <a16:creationId xmlns:a16="http://schemas.microsoft.com/office/drawing/2014/main" id="{8A999F51-BD50-C049-90A9-1B6231CB9857}"/>
                </a:ext>
              </a:extLst>
            </p:cNvPr>
            <p:cNvSpPr/>
            <p:nvPr userDrawn="1"/>
          </p:nvSpPr>
          <p:spPr>
            <a:xfrm>
              <a:off x="-558935" y="1205828"/>
              <a:ext cx="374469" cy="374469"/>
            </a:xfrm>
            <a:prstGeom prst="rect">
              <a:avLst/>
            </a:prstGeom>
            <a:solidFill>
              <a:srgbClr val="BEFCB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a:extLst>
                <a:ext uri="{FF2B5EF4-FFF2-40B4-BE49-F238E27FC236}">
                  <a16:creationId xmlns:a16="http://schemas.microsoft.com/office/drawing/2014/main" id="{6CC2D869-022F-E840-89BC-12DD971DC573}"/>
                </a:ext>
              </a:extLst>
            </p:cNvPr>
            <p:cNvSpPr/>
            <p:nvPr userDrawn="1"/>
          </p:nvSpPr>
          <p:spPr>
            <a:xfrm>
              <a:off x="-558935" y="1679823"/>
              <a:ext cx="374469" cy="374469"/>
            </a:xfrm>
            <a:prstGeom prst="rect">
              <a:avLst/>
            </a:prstGeom>
            <a:solidFill>
              <a:srgbClr val="FFE7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5" name="Rectangle 14">
              <a:extLst>
                <a:ext uri="{FF2B5EF4-FFF2-40B4-BE49-F238E27FC236}">
                  <a16:creationId xmlns:a16="http://schemas.microsoft.com/office/drawing/2014/main" id="{EE8AFE88-59C2-B045-B530-3C553F00279C}"/>
                </a:ext>
              </a:extLst>
            </p:cNvPr>
            <p:cNvSpPr/>
            <p:nvPr userDrawn="1"/>
          </p:nvSpPr>
          <p:spPr>
            <a:xfrm>
              <a:off x="-558935" y="2153818"/>
              <a:ext cx="374469" cy="374469"/>
            </a:xfrm>
            <a:prstGeom prst="rect">
              <a:avLst/>
            </a:prstGeom>
            <a:solidFill>
              <a:srgbClr val="FFDBD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6" name="Rectangle 15">
              <a:extLst>
                <a:ext uri="{FF2B5EF4-FFF2-40B4-BE49-F238E27FC236}">
                  <a16:creationId xmlns:a16="http://schemas.microsoft.com/office/drawing/2014/main" id="{2CD1061D-2441-E04D-9676-B653DF83E2F4}"/>
                </a:ext>
              </a:extLst>
            </p:cNvPr>
            <p:cNvSpPr/>
            <p:nvPr userDrawn="1"/>
          </p:nvSpPr>
          <p:spPr>
            <a:xfrm>
              <a:off x="-558935" y="2627813"/>
              <a:ext cx="374469" cy="374469"/>
            </a:xfrm>
            <a:prstGeom prst="rect">
              <a:avLst/>
            </a:prstGeom>
            <a:solidFill>
              <a:srgbClr val="FEB5BB"/>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7" name="Rectangle 16">
              <a:extLst>
                <a:ext uri="{FF2B5EF4-FFF2-40B4-BE49-F238E27FC236}">
                  <a16:creationId xmlns:a16="http://schemas.microsoft.com/office/drawing/2014/main" id="{C5FBBDF0-4A29-224B-929A-32C4CB949376}"/>
                </a:ext>
              </a:extLst>
            </p:cNvPr>
            <p:cNvSpPr/>
            <p:nvPr userDrawn="1"/>
          </p:nvSpPr>
          <p:spPr>
            <a:xfrm>
              <a:off x="-558935" y="3575802"/>
              <a:ext cx="374469" cy="374469"/>
            </a:xfrm>
            <a:prstGeom prst="rect">
              <a:avLst/>
            </a:prstGeom>
            <a:solidFill>
              <a:srgbClr val="D3B3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8" name="Rectangle 17">
              <a:extLst>
                <a:ext uri="{FF2B5EF4-FFF2-40B4-BE49-F238E27FC236}">
                  <a16:creationId xmlns:a16="http://schemas.microsoft.com/office/drawing/2014/main" id="{8D0DA461-5D30-5344-8AA2-02873BB7BFE1}"/>
                </a:ext>
              </a:extLst>
            </p:cNvPr>
            <p:cNvSpPr/>
            <p:nvPr userDrawn="1"/>
          </p:nvSpPr>
          <p:spPr>
            <a:xfrm>
              <a:off x="-558935" y="3101808"/>
              <a:ext cx="374469" cy="374469"/>
            </a:xfrm>
            <a:prstGeom prst="rect">
              <a:avLst/>
            </a:prstGeom>
            <a:solidFill>
              <a:srgbClr val="D9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grpSp>
    </p:spTree>
    <p:extLst>
      <p:ext uri="{BB962C8B-B14F-4D97-AF65-F5344CB8AC3E}">
        <p14:creationId xmlns:p14="http://schemas.microsoft.com/office/powerpoint/2010/main" val="12193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rols&amp;Layout">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53A38F-A006-2D4A-8143-E8B42B9BC24A}"/>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05EF21D-6DDF-A64B-A2DF-AE1F1279CCC8}"/>
              </a:ext>
            </a:extLst>
          </p:cNvPr>
          <p:cNvSpPr txBox="1"/>
          <p:nvPr userDrawn="1"/>
        </p:nvSpPr>
        <p:spPr>
          <a:xfrm>
            <a:off x="66356" y="578058"/>
            <a:ext cx="8264568" cy="553998"/>
          </a:xfrm>
          <a:prstGeom prst="rect">
            <a:avLst/>
          </a:prstGeom>
          <a:noFill/>
        </p:spPr>
        <p:txBody>
          <a:bodyPr wrap="square" rtlCol="0">
            <a:spAutoFit/>
          </a:bodyPr>
          <a:lstStyle/>
          <a:p>
            <a:pPr algn="l"/>
            <a:r>
              <a:rPr lang="en-GB" sz="1500" spc="300" dirty="0"/>
              <a:t>Some textboxes [controls] throughout this PowerPoint have been set up to ‘trigger’ animations when clicked. These are detailed below.</a:t>
            </a:r>
          </a:p>
        </p:txBody>
      </p:sp>
      <p:grpSp>
        <p:nvGrpSpPr>
          <p:cNvPr id="6" name="Group 5">
            <a:extLst>
              <a:ext uri="{FF2B5EF4-FFF2-40B4-BE49-F238E27FC236}">
                <a16:creationId xmlns:a16="http://schemas.microsoft.com/office/drawing/2014/main" id="{45924C19-4218-D940-974A-7AAAA82013D3}"/>
              </a:ext>
            </a:extLst>
          </p:cNvPr>
          <p:cNvGrpSpPr/>
          <p:nvPr userDrawn="1"/>
        </p:nvGrpSpPr>
        <p:grpSpPr>
          <a:xfrm>
            <a:off x="151963" y="1289098"/>
            <a:ext cx="8903805" cy="784830"/>
            <a:chOff x="1820342" y="1466572"/>
            <a:chExt cx="8903805" cy="784830"/>
          </a:xfrm>
        </p:grpSpPr>
        <p:grpSp>
          <p:nvGrpSpPr>
            <p:cNvPr id="2" name="Group 1">
              <a:extLst>
                <a:ext uri="{FF2B5EF4-FFF2-40B4-BE49-F238E27FC236}">
                  <a16:creationId xmlns:a16="http://schemas.microsoft.com/office/drawing/2014/main" id="{A3350D4A-F062-5044-BB59-334D9E4F30FE}"/>
                </a:ext>
              </a:extLst>
            </p:cNvPr>
            <p:cNvGrpSpPr/>
            <p:nvPr userDrawn="1"/>
          </p:nvGrpSpPr>
          <p:grpSpPr>
            <a:xfrm>
              <a:off x="1820342" y="1504138"/>
              <a:ext cx="2660074" cy="709699"/>
              <a:chOff x="1820342" y="1545283"/>
              <a:chExt cx="2660074" cy="709699"/>
            </a:xfrm>
          </p:grpSpPr>
          <p:sp>
            <p:nvSpPr>
              <p:cNvPr id="24" name="TextBox 4">
                <a:extLst>
                  <a:ext uri="{FF2B5EF4-FFF2-40B4-BE49-F238E27FC236}">
                    <a16:creationId xmlns:a16="http://schemas.microsoft.com/office/drawing/2014/main" id="{FA70328D-10AC-B54A-897C-F9AEA2E0874B}"/>
                  </a:ext>
                </a:extLst>
              </p:cNvPr>
              <p:cNvSpPr txBox="1">
                <a:spLocks/>
              </p:cNvSpPr>
              <p:nvPr userDrawn="1"/>
            </p:nvSpPr>
            <p:spPr bwMode="auto">
              <a:xfrm>
                <a:off x="1820342" y="1945382"/>
                <a:ext cx="266007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LEARNING OBJECTIVE</a:t>
                </a:r>
              </a:p>
            </p:txBody>
          </p:sp>
          <p:sp>
            <p:nvSpPr>
              <p:cNvPr id="25" name="TextBox 9">
                <a:extLst>
                  <a:ext uri="{FF2B5EF4-FFF2-40B4-BE49-F238E27FC236}">
                    <a16:creationId xmlns:a16="http://schemas.microsoft.com/office/drawing/2014/main" id="{3241E8D5-E77F-A448-9572-34FE3F91F72F}"/>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26" name="TextBox 3">
                <a:extLst>
                  <a:ext uri="{FF2B5EF4-FFF2-40B4-BE49-F238E27FC236}">
                    <a16:creationId xmlns:a16="http://schemas.microsoft.com/office/drawing/2014/main" id="{8D743310-9ADD-6D49-B1C8-CE5DBB93D6E0}"/>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5" name="Group 4">
              <a:extLst>
                <a:ext uri="{FF2B5EF4-FFF2-40B4-BE49-F238E27FC236}">
                  <a16:creationId xmlns:a16="http://schemas.microsoft.com/office/drawing/2014/main" id="{26C40E73-C315-864E-B58B-A4EC41A0690E}"/>
                </a:ext>
              </a:extLst>
            </p:cNvPr>
            <p:cNvGrpSpPr/>
            <p:nvPr userDrawn="1"/>
          </p:nvGrpSpPr>
          <p:grpSpPr>
            <a:xfrm>
              <a:off x="4628967" y="1466572"/>
              <a:ext cx="6095180" cy="784830"/>
              <a:chOff x="4628967" y="1462993"/>
              <a:chExt cx="6095180" cy="784830"/>
            </a:xfrm>
          </p:grpSpPr>
          <p:sp>
            <p:nvSpPr>
              <p:cNvPr id="23" name="TextBox 22">
                <a:extLst>
                  <a:ext uri="{FF2B5EF4-FFF2-40B4-BE49-F238E27FC236}">
                    <a16:creationId xmlns:a16="http://schemas.microsoft.com/office/drawing/2014/main" id="{E6EB34EC-1B19-414E-93B2-2D0301C311A9}"/>
                  </a:ext>
                </a:extLst>
              </p:cNvPr>
              <p:cNvSpPr txBox="1"/>
              <p:nvPr userDrawn="1"/>
            </p:nvSpPr>
            <p:spPr>
              <a:xfrm>
                <a:off x="4655598" y="1462993"/>
                <a:ext cx="6068549" cy="553998"/>
              </a:xfrm>
              <a:prstGeom prst="rect">
                <a:avLst/>
              </a:prstGeom>
              <a:noFill/>
            </p:spPr>
            <p:txBody>
              <a:bodyPr wrap="square" rtlCol="0">
                <a:spAutoFit/>
              </a:bodyPr>
              <a:lstStyle/>
              <a:p>
                <a:pPr algn="l"/>
                <a:r>
                  <a:rPr lang="en-GB" sz="1500" spc="300" dirty="0"/>
                  <a:t>The date, title and learning objective are displayed at the top of the slide in the format to the left.</a:t>
                </a:r>
              </a:p>
            </p:txBody>
          </p:sp>
          <p:cxnSp>
            <p:nvCxnSpPr>
              <p:cNvPr id="4" name="Straight Connector 3">
                <a:extLst>
                  <a:ext uri="{FF2B5EF4-FFF2-40B4-BE49-F238E27FC236}">
                    <a16:creationId xmlns:a16="http://schemas.microsoft.com/office/drawing/2014/main" id="{76C952C1-5B60-354D-8932-4CA13924694E}"/>
                  </a:ext>
                </a:extLst>
              </p:cNvPr>
              <p:cNvCxnSpPr>
                <a:cxnSpLocks/>
              </p:cNvCxnSpPr>
              <p:nvPr userDrawn="1"/>
            </p:nvCxnSpPr>
            <p:spPr>
              <a:xfrm>
                <a:off x="4628967"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68ADD22D-EA5E-B241-AFB5-D9C97504938B}"/>
              </a:ext>
            </a:extLst>
          </p:cNvPr>
          <p:cNvSpPr txBox="1"/>
          <p:nvPr userDrawn="1"/>
        </p:nvSpPr>
        <p:spPr>
          <a:xfrm>
            <a:off x="66356" y="75603"/>
            <a:ext cx="3920107" cy="584775"/>
          </a:xfrm>
          <a:prstGeom prst="rect">
            <a:avLst/>
          </a:prstGeom>
          <a:noFill/>
        </p:spPr>
        <p:txBody>
          <a:bodyPr wrap="square" rtlCol="0">
            <a:spAutoFit/>
          </a:bodyPr>
          <a:lstStyle/>
          <a:p>
            <a:pPr algn="l"/>
            <a:r>
              <a:rPr lang="en-GB" sz="3200" b="1" spc="300" dirty="0"/>
              <a:t>Controls &amp; layout</a:t>
            </a:r>
          </a:p>
        </p:txBody>
      </p:sp>
      <p:cxnSp>
        <p:nvCxnSpPr>
          <p:cNvPr id="37" name="Straight Connector 36">
            <a:extLst>
              <a:ext uri="{FF2B5EF4-FFF2-40B4-BE49-F238E27FC236}">
                <a16:creationId xmlns:a16="http://schemas.microsoft.com/office/drawing/2014/main" id="{B21CEB9F-8260-0A40-A91D-D64E181A1844}"/>
              </a:ext>
            </a:extLst>
          </p:cNvPr>
          <p:cNvCxnSpPr>
            <a:cxnSpLocks/>
          </p:cNvCxnSpPr>
          <p:nvPr userDrawn="1"/>
        </p:nvCxnSpPr>
        <p:spPr>
          <a:xfrm>
            <a:off x="66356" y="1171257"/>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5FB869-FA68-0348-A0B3-A6A7ED058E3D}"/>
              </a:ext>
            </a:extLst>
          </p:cNvPr>
          <p:cNvCxnSpPr>
            <a:cxnSpLocks/>
          </p:cNvCxnSpPr>
          <p:nvPr userDrawn="1"/>
        </p:nvCxnSpPr>
        <p:spPr>
          <a:xfrm>
            <a:off x="66356" y="2193049"/>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86D0D19-A691-2D42-A577-DC2C5D9B44C4}"/>
              </a:ext>
            </a:extLst>
          </p:cNvPr>
          <p:cNvGrpSpPr/>
          <p:nvPr userDrawn="1"/>
        </p:nvGrpSpPr>
        <p:grpSpPr>
          <a:xfrm>
            <a:off x="151963" y="2307486"/>
            <a:ext cx="8903805" cy="1708160"/>
            <a:chOff x="1820342" y="1466572"/>
            <a:chExt cx="8903805" cy="1708160"/>
          </a:xfrm>
        </p:grpSpPr>
        <p:grpSp>
          <p:nvGrpSpPr>
            <p:cNvPr id="29" name="Group 28">
              <a:extLst>
                <a:ext uri="{FF2B5EF4-FFF2-40B4-BE49-F238E27FC236}">
                  <a16:creationId xmlns:a16="http://schemas.microsoft.com/office/drawing/2014/main" id="{B1C10E65-2ACF-0348-8100-AF39CE803DD7}"/>
                </a:ext>
              </a:extLst>
            </p:cNvPr>
            <p:cNvGrpSpPr/>
            <p:nvPr userDrawn="1"/>
          </p:nvGrpSpPr>
          <p:grpSpPr>
            <a:xfrm>
              <a:off x="1820342" y="1504138"/>
              <a:ext cx="2660074" cy="709699"/>
              <a:chOff x="1820342" y="1545283"/>
              <a:chExt cx="2660074" cy="709699"/>
            </a:xfrm>
          </p:grpSpPr>
          <p:sp>
            <p:nvSpPr>
              <p:cNvPr id="33" name="TextBox 4">
                <a:extLst>
                  <a:ext uri="{FF2B5EF4-FFF2-40B4-BE49-F238E27FC236}">
                    <a16:creationId xmlns:a16="http://schemas.microsoft.com/office/drawing/2014/main" id="{92721DFE-88DE-D84A-9D2B-2B626493B5F9}"/>
                  </a:ext>
                </a:extLst>
              </p:cNvPr>
              <p:cNvSpPr txBox="1">
                <a:spLocks/>
              </p:cNvSpPr>
              <p:nvPr userDrawn="1"/>
            </p:nvSpPr>
            <p:spPr bwMode="auto">
              <a:xfrm>
                <a:off x="1820342" y="1945382"/>
                <a:ext cx="266007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KEY TERMS</a:t>
                </a:r>
              </a:p>
            </p:txBody>
          </p:sp>
          <p:sp>
            <p:nvSpPr>
              <p:cNvPr id="34" name="TextBox 9">
                <a:extLst>
                  <a:ext uri="{FF2B5EF4-FFF2-40B4-BE49-F238E27FC236}">
                    <a16:creationId xmlns:a16="http://schemas.microsoft.com/office/drawing/2014/main" id="{484E0F6D-BFC2-484B-B722-17638277FB12}"/>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35" name="TextBox 3">
                <a:extLst>
                  <a:ext uri="{FF2B5EF4-FFF2-40B4-BE49-F238E27FC236}">
                    <a16:creationId xmlns:a16="http://schemas.microsoft.com/office/drawing/2014/main" id="{32C3C2D2-F91D-7241-B45F-464BD4B284A4}"/>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30" name="Group 29">
              <a:extLst>
                <a:ext uri="{FF2B5EF4-FFF2-40B4-BE49-F238E27FC236}">
                  <a16:creationId xmlns:a16="http://schemas.microsoft.com/office/drawing/2014/main" id="{A7B047A2-CE3D-134E-8E59-58E7A29C6D8C}"/>
                </a:ext>
              </a:extLst>
            </p:cNvPr>
            <p:cNvGrpSpPr/>
            <p:nvPr userDrawn="1"/>
          </p:nvGrpSpPr>
          <p:grpSpPr>
            <a:xfrm>
              <a:off x="4628967" y="1466572"/>
              <a:ext cx="6095180" cy="1708160"/>
              <a:chOff x="4628967" y="1462993"/>
              <a:chExt cx="6095180" cy="1708160"/>
            </a:xfrm>
          </p:grpSpPr>
          <p:sp>
            <p:nvSpPr>
              <p:cNvPr id="31" name="TextBox 30">
                <a:extLst>
                  <a:ext uri="{FF2B5EF4-FFF2-40B4-BE49-F238E27FC236}">
                    <a16:creationId xmlns:a16="http://schemas.microsoft.com/office/drawing/2014/main" id="{67DE6CA1-D0E7-884C-9AFA-77EFD5EB6037}"/>
                  </a:ext>
                </a:extLst>
              </p:cNvPr>
              <p:cNvSpPr txBox="1"/>
              <p:nvPr userDrawn="1"/>
            </p:nvSpPr>
            <p:spPr>
              <a:xfrm>
                <a:off x="4655598" y="1462993"/>
                <a:ext cx="6068549" cy="170816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500" spc="300" dirty="0"/>
                  <a:t>Click on the key terms control to show/hide the lesson’s key terms. The key terms textbox will replace the learning objective when shown. The key terms control is displayed in the bottom right hand corner of the slide. </a:t>
                </a:r>
                <a:r>
                  <a:rPr lang="en-GB" sz="1500" b="1" spc="300" dirty="0"/>
                  <a:t>Note: </a:t>
                </a:r>
                <a:r>
                  <a:rPr lang="en-GB" sz="1500" spc="300" dirty="0"/>
                  <a:t>As you move onto the next slide the key terms textbox will be replaced by the learning objective textbox.</a:t>
                </a:r>
              </a:p>
            </p:txBody>
          </p:sp>
          <p:cxnSp>
            <p:nvCxnSpPr>
              <p:cNvPr id="32" name="Straight Connector 31">
                <a:extLst>
                  <a:ext uri="{FF2B5EF4-FFF2-40B4-BE49-F238E27FC236}">
                    <a16:creationId xmlns:a16="http://schemas.microsoft.com/office/drawing/2014/main" id="{0C4F4C72-B359-F148-B3E7-89A1E826ADB4}"/>
                  </a:ext>
                </a:extLst>
              </p:cNvPr>
              <p:cNvCxnSpPr>
                <a:cxnSpLocks/>
              </p:cNvCxnSpPr>
              <p:nvPr userDrawn="1"/>
            </p:nvCxnSpPr>
            <p:spPr>
              <a:xfrm>
                <a:off x="4628967" y="1462993"/>
                <a:ext cx="0" cy="17081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0" name="TextBox 39">
            <a:extLst>
              <a:ext uri="{FF2B5EF4-FFF2-40B4-BE49-F238E27FC236}">
                <a16:creationId xmlns:a16="http://schemas.microsoft.com/office/drawing/2014/main" id="{E94B164F-2AED-F544-8BBE-B48ABDE56ECA}"/>
              </a:ext>
            </a:extLst>
          </p:cNvPr>
          <p:cNvSpPr txBox="1"/>
          <p:nvPr userDrawn="1"/>
        </p:nvSpPr>
        <p:spPr>
          <a:xfrm>
            <a:off x="2127895" y="3773628"/>
            <a:ext cx="683860" cy="196551"/>
          </a:xfrm>
          <a:prstGeom prst="rect">
            <a:avLst/>
          </a:prstGeom>
          <a:solidFill>
            <a:schemeClr val="accent5">
              <a:lumMod val="60000"/>
              <a:lumOff val="40000"/>
            </a:schemeClr>
          </a:solidFill>
          <a:ln w="12700">
            <a:solidFill>
              <a:schemeClr val="tx1"/>
            </a:solidFill>
          </a:ln>
        </p:spPr>
        <p:txBody>
          <a:bodyPr wrap="none" rtlCol="0" anchor="ctr">
            <a:spAutoFit/>
          </a:bodyPr>
          <a:lstStyle/>
          <a:p>
            <a:pPr algn="ctr"/>
            <a:r>
              <a:rPr lang="en-GB" sz="1050" dirty="0"/>
              <a:t>KEY TERMS</a:t>
            </a:r>
          </a:p>
        </p:txBody>
      </p:sp>
      <p:cxnSp>
        <p:nvCxnSpPr>
          <p:cNvPr id="49" name="Straight Connector 48">
            <a:extLst>
              <a:ext uri="{FF2B5EF4-FFF2-40B4-BE49-F238E27FC236}">
                <a16:creationId xmlns:a16="http://schemas.microsoft.com/office/drawing/2014/main" id="{10DB2AF2-DE73-844E-B6FB-70B8E68C139D}"/>
              </a:ext>
            </a:extLst>
          </p:cNvPr>
          <p:cNvCxnSpPr>
            <a:cxnSpLocks/>
          </p:cNvCxnSpPr>
          <p:nvPr userDrawn="1"/>
        </p:nvCxnSpPr>
        <p:spPr>
          <a:xfrm>
            <a:off x="66356" y="4144943"/>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F0745E-FF13-B842-9A47-5DA624498451}"/>
              </a:ext>
            </a:extLst>
          </p:cNvPr>
          <p:cNvGrpSpPr/>
          <p:nvPr userDrawn="1"/>
        </p:nvGrpSpPr>
        <p:grpSpPr>
          <a:xfrm>
            <a:off x="151963" y="4270067"/>
            <a:ext cx="8903805" cy="784830"/>
            <a:chOff x="151963" y="4204754"/>
            <a:chExt cx="8903805" cy="784830"/>
          </a:xfrm>
        </p:grpSpPr>
        <p:grpSp>
          <p:nvGrpSpPr>
            <p:cNvPr id="43" name="Group 42">
              <a:extLst>
                <a:ext uri="{FF2B5EF4-FFF2-40B4-BE49-F238E27FC236}">
                  <a16:creationId xmlns:a16="http://schemas.microsoft.com/office/drawing/2014/main" id="{BF097B06-3F7C-4E42-9395-239B18628089}"/>
                </a:ext>
              </a:extLst>
            </p:cNvPr>
            <p:cNvGrpSpPr/>
            <p:nvPr userDrawn="1"/>
          </p:nvGrpSpPr>
          <p:grpSpPr>
            <a:xfrm>
              <a:off x="1041844" y="4204754"/>
              <a:ext cx="8013924" cy="784830"/>
              <a:chOff x="2923539" y="1462993"/>
              <a:chExt cx="7800608" cy="784830"/>
            </a:xfrm>
          </p:grpSpPr>
          <p:sp>
            <p:nvSpPr>
              <p:cNvPr id="44" name="TextBox 43">
                <a:extLst>
                  <a:ext uri="{FF2B5EF4-FFF2-40B4-BE49-F238E27FC236}">
                    <a16:creationId xmlns:a16="http://schemas.microsoft.com/office/drawing/2014/main" id="{B08AEA2E-8BC0-4D4F-A0BE-DBD8FE7C2D12}"/>
                  </a:ext>
                </a:extLst>
              </p:cNvPr>
              <p:cNvSpPr txBox="1"/>
              <p:nvPr userDrawn="1"/>
            </p:nvSpPr>
            <p:spPr>
              <a:xfrm>
                <a:off x="2955752" y="1462993"/>
                <a:ext cx="7768395" cy="784830"/>
              </a:xfrm>
              <a:prstGeom prst="rect">
                <a:avLst/>
              </a:prstGeom>
              <a:noFill/>
            </p:spPr>
            <p:txBody>
              <a:bodyPr wrap="square" rtlCol="0">
                <a:spAutoFit/>
              </a:bodyPr>
              <a:lstStyle/>
              <a:p>
                <a:pPr algn="l"/>
                <a:r>
                  <a:rPr lang="en-GB" sz="1500" spc="300" dirty="0"/>
                  <a:t>Click on the solution control to show/hide a solution to a question. These controls are often, but not always, rotated </a:t>
                </a:r>
                <a:r>
                  <a:rPr lang="en-GB" sz="1500" spc="300" dirty="0" err="1"/>
                  <a:t>90</a:t>
                </a:r>
                <a:r>
                  <a:rPr lang="en-GB" sz="1500" spc="300" baseline="30000" dirty="0" err="1"/>
                  <a:t>o</a:t>
                </a:r>
                <a:r>
                  <a:rPr lang="en-GB" sz="1500" spc="300" dirty="0"/>
                  <a:t> anti-clockwise to make greater use of space for questions.</a:t>
                </a:r>
              </a:p>
            </p:txBody>
          </p:sp>
          <p:cxnSp>
            <p:nvCxnSpPr>
              <p:cNvPr id="45" name="Straight Connector 44">
                <a:extLst>
                  <a:ext uri="{FF2B5EF4-FFF2-40B4-BE49-F238E27FC236}">
                    <a16:creationId xmlns:a16="http://schemas.microsoft.com/office/drawing/2014/main" id="{05EA8D9A-B0DC-BF48-9813-4893BBC57B97}"/>
                  </a:ext>
                </a:extLst>
              </p:cNvPr>
              <p:cNvCxnSpPr>
                <a:cxnSpLocks/>
              </p:cNvCxnSpPr>
              <p:nvPr userDrawn="1"/>
            </p:nvCxnSpPr>
            <p:spPr>
              <a:xfrm>
                <a:off x="2923539"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F6B2249C-CE64-CE4A-BD2A-DB21FB39A501}"/>
                </a:ext>
              </a:extLst>
            </p:cNvPr>
            <p:cNvSpPr txBox="1"/>
            <p:nvPr userDrawn="1"/>
          </p:nvSpPr>
          <p:spPr>
            <a:xfrm>
              <a:off x="151963" y="4253694"/>
              <a:ext cx="738343" cy="267766"/>
            </a:xfrm>
            <a:prstGeom prst="rect">
              <a:avLst/>
            </a:prstGeom>
            <a:solidFill>
              <a:schemeClr val="accent3"/>
            </a:solidFill>
            <a:ln w="12700">
              <a:solidFill>
                <a:schemeClr val="tx1"/>
              </a:solidFill>
            </a:ln>
          </p:spPr>
          <p:txBody>
            <a:bodyPr wrap="none" lIns="45720" tIns="18288" rIns="45720" bIns="18288" rtlCol="0">
              <a:spAutoFit/>
            </a:bodyPr>
            <a:lstStyle/>
            <a:p>
              <a:pPr algn="ctr"/>
              <a:r>
                <a:rPr lang="en-GB" sz="1500" dirty="0"/>
                <a:t>Solution</a:t>
              </a:r>
            </a:p>
          </p:txBody>
        </p:sp>
      </p:grpSp>
      <p:pic>
        <p:nvPicPr>
          <p:cNvPr id="39" name="Picture 38">
            <a:extLst>
              <a:ext uri="{FF2B5EF4-FFF2-40B4-BE49-F238E27FC236}">
                <a16:creationId xmlns:a16="http://schemas.microsoft.com/office/drawing/2014/main" id="{A1B53C23-9949-CE4C-BC8F-13541023545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243838" y="160321"/>
            <a:ext cx="724844" cy="842477"/>
          </a:xfrm>
          <a:prstGeom prst="rect">
            <a:avLst/>
          </a:prstGeom>
        </p:spPr>
      </p:pic>
    </p:spTree>
    <p:extLst>
      <p:ext uri="{BB962C8B-B14F-4D97-AF65-F5344CB8AC3E}">
        <p14:creationId xmlns:p14="http://schemas.microsoft.com/office/powerpoint/2010/main" val="243237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1099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1D2E028-A820-384C-809A-72BE9005B3B2}"/>
              </a:ext>
            </a:extLst>
          </p:cNvPr>
          <p:cNvSpPr txBox="1">
            <a:spLocks/>
          </p:cNvSpPr>
          <p:nvPr userDrawn="1"/>
        </p:nvSpPr>
        <p:spPr bwMode="auto">
          <a:xfrm>
            <a:off x="76311" y="488434"/>
            <a:ext cx="8984564" cy="309600"/>
          </a:xfrm>
          <a:prstGeom prst="rect">
            <a:avLst/>
          </a:prstGeom>
          <a:solidFill>
            <a:schemeClr val="accent3"/>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dirty="0">
                <a:latin typeface="Calibri" charset="0"/>
                <a:ea typeface="Calibri" charset="0"/>
                <a:cs typeface="Calibri" charset="0"/>
              </a:rPr>
              <a:t>We are learning to:  </a:t>
            </a:r>
            <a:r>
              <a:rPr lang="en-GB" sz="1400" b="0" noProof="0" dirty="0">
                <a:latin typeface="Calibri" charset="0"/>
                <a:ea typeface="Calibri" charset="0"/>
                <a:cs typeface="Calibri" charset="0"/>
              </a:rPr>
              <a:t>Calculate the volume of a sphere</a:t>
            </a:r>
            <a:r>
              <a:rPr lang="en-US" sz="1400" b="0" dirty="0">
                <a:latin typeface="Calibri" charset="0"/>
                <a:ea typeface="Calibri" charset="0"/>
                <a:cs typeface="Calibri" charset="0"/>
              </a:rPr>
              <a:t>.</a:t>
            </a:r>
          </a:p>
        </p:txBody>
      </p:sp>
      <p:sp>
        <p:nvSpPr>
          <p:cNvPr id="3" name="TextBox 9">
            <a:extLst>
              <a:ext uri="{FF2B5EF4-FFF2-40B4-BE49-F238E27FC236}">
                <a16:creationId xmlns:a16="http://schemas.microsoft.com/office/drawing/2014/main" id="{6B21F474-0336-AB40-BBFF-B5EB883AD2DC}"/>
              </a:ext>
            </a:extLst>
          </p:cNvPr>
          <p:cNvSpPr txBox="1">
            <a:spLocks/>
          </p:cNvSpPr>
          <p:nvPr userDrawn="1"/>
        </p:nvSpPr>
        <p:spPr bwMode="auto">
          <a:xfrm>
            <a:off x="76311" y="88335"/>
            <a:ext cx="2880000"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1CA1613-C89A-4644-A77A-4C72E9291592}" type="datetime2">
              <a:rPr lang="en-GB" sz="1400" b="1" smtClean="0">
                <a:latin typeface="Calibri" charset="0"/>
                <a:ea typeface="Calibri" charset="0"/>
                <a:cs typeface="Calibri" charset="0"/>
              </a:rPr>
              <a:t>Monday, 6 May 2019</a:t>
            </a:fld>
            <a:endParaRPr lang="en-US" sz="1400" b="1" dirty="0">
              <a:latin typeface="Calibri" charset="0"/>
              <a:ea typeface="Calibri" charset="0"/>
              <a:cs typeface="Calibri" charset="0"/>
            </a:endParaRPr>
          </a:p>
        </p:txBody>
      </p:sp>
      <p:sp>
        <p:nvSpPr>
          <p:cNvPr id="4" name="TextBox 3">
            <a:extLst>
              <a:ext uri="{FF2B5EF4-FFF2-40B4-BE49-F238E27FC236}">
                <a16:creationId xmlns:a16="http://schemas.microsoft.com/office/drawing/2014/main" id="{2D765288-31B0-7D46-ADA1-7D75CB44BB17}"/>
              </a:ext>
            </a:extLst>
          </p:cNvPr>
          <p:cNvSpPr txBox="1">
            <a:spLocks/>
          </p:cNvSpPr>
          <p:nvPr userDrawn="1"/>
        </p:nvSpPr>
        <p:spPr bwMode="auto">
          <a:xfrm>
            <a:off x="3059084" y="88335"/>
            <a:ext cx="6001789" cy="309600"/>
          </a:xfrm>
          <a:prstGeom prst="rect">
            <a:avLst/>
          </a:prstGeom>
          <a:solidFill>
            <a:schemeClr val="accent2">
              <a:lumMod val="60000"/>
              <a:lumOff val="40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noProof="0" dirty="0">
                <a:latin typeface="Calibri" charset="0"/>
                <a:ea typeface="Calibri" charset="0"/>
                <a:cs typeface="Calibri" charset="0"/>
              </a:rPr>
              <a:t>We are learning about: </a:t>
            </a:r>
            <a:r>
              <a:rPr lang="en-GB" sz="1400" b="0" spc="0" noProof="0" dirty="0">
                <a:latin typeface="Calibri" charset="0"/>
                <a:ea typeface="Calibri" charset="0"/>
                <a:cs typeface="Calibri" charset="0"/>
              </a:rPr>
              <a:t>The volume of a Sphere</a:t>
            </a:r>
            <a:endParaRPr lang="en-GB" sz="1400" spc="0" noProof="0" dirty="0">
              <a:latin typeface="Calibri" charset="0"/>
              <a:ea typeface="Calibri" charset="0"/>
              <a:cs typeface="Calibri" charset="0"/>
            </a:endParaRPr>
          </a:p>
        </p:txBody>
      </p:sp>
      <p:cxnSp>
        <p:nvCxnSpPr>
          <p:cNvPr id="5" name="Straight Connector 4">
            <a:extLst>
              <a:ext uri="{FF2B5EF4-FFF2-40B4-BE49-F238E27FC236}">
                <a16:creationId xmlns:a16="http://schemas.microsoft.com/office/drawing/2014/main" id="{FA91A4BE-1372-D845-A343-3EB045B018EA}"/>
              </a:ext>
            </a:extLst>
          </p:cNvPr>
          <p:cNvCxnSpPr>
            <a:cxnSpLocks/>
          </p:cNvCxnSpPr>
          <p:nvPr userDrawn="1"/>
        </p:nvCxnSpPr>
        <p:spPr>
          <a:xfrm>
            <a:off x="0" y="891681"/>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4">
                <a:extLst>
                  <a:ext uri="{FF2B5EF4-FFF2-40B4-BE49-F238E27FC236}">
                    <a16:creationId xmlns:a16="http://schemas.microsoft.com/office/drawing/2014/main" id="{ECD868C6-9926-0A4B-BBFA-CAFCA5221881}"/>
                  </a:ext>
                </a:extLst>
              </p:cNvPr>
              <p:cNvSpPr txBox="1">
                <a:spLocks/>
              </p:cNvSpPr>
              <p:nvPr userDrawn="1"/>
            </p:nvSpPr>
            <p:spPr bwMode="auto">
              <a:xfrm>
                <a:off x="76311" y="488434"/>
                <a:ext cx="898456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GB" sz="1400" b="1" noProof="0" dirty="0">
                    <a:latin typeface="Calibri" charset="0"/>
                    <a:ea typeface="Calibri" charset="0"/>
                    <a:cs typeface="Calibri" charset="0"/>
                  </a:rPr>
                  <a:t>Key terms:  </a:t>
                </a:r>
                <a:r>
                  <a:rPr lang="en-GB" sz="1400" b="0" noProof="0" dirty="0">
                    <a:latin typeface="Calibri" charset="0"/>
                    <a:ea typeface="Calibri" charset="0"/>
                    <a:cs typeface="Calibri" charset="0"/>
                  </a:rPr>
                  <a:t>Area,</a:t>
                </a:r>
                <a:r>
                  <a:rPr lang="en-GB" sz="1400" b="0" baseline="0" noProof="0" dirty="0">
                    <a:latin typeface="Calibri" charset="0"/>
                    <a:ea typeface="Calibri" charset="0"/>
                    <a:cs typeface="Calibri" charset="0"/>
                  </a:rPr>
                  <a:t> c</a:t>
                </a:r>
                <a:r>
                  <a:rPr lang="en-GB" sz="1400" b="0" noProof="0" dirty="0">
                    <a:latin typeface="Calibri" charset="0"/>
                    <a:ea typeface="Calibri" charset="0"/>
                    <a:cs typeface="Calibri" charset="0"/>
                  </a:rPr>
                  <a:t>ircumference, diameter, length, perimeter, pi (</a:t>
                </a:r>
                <a14:m>
                  <m:oMath xmlns:m="http://schemas.openxmlformats.org/officeDocument/2006/math">
                    <m:r>
                      <a:rPr lang="en-GB" sz="1400" b="0" i="1" noProof="0" smtClean="0">
                        <a:latin typeface="Cambria Math" panose="02040503050406030204" pitchFamily="18" charset="0"/>
                        <a:ea typeface="Calibri" charset="0"/>
                        <a:cs typeface="Calibri" charset="0"/>
                      </a:rPr>
                      <m:t>𝜋</m:t>
                    </m:r>
                  </m:oMath>
                </a14:m>
                <a:r>
                  <a:rPr lang="en-GB" sz="1400" b="0" noProof="0" dirty="0">
                    <a:latin typeface="Calibri" charset="0"/>
                    <a:ea typeface="Calibri" charset="0"/>
                    <a:cs typeface="Calibri" charset="0"/>
                  </a:rPr>
                  <a:t>), radius, sector</a:t>
                </a:r>
                <a:r>
                  <a:rPr lang="en-GB" sz="1400" b="0" baseline="0" noProof="0" dirty="0">
                    <a:latin typeface="Calibri" charset="0"/>
                    <a:ea typeface="Calibri" charset="0"/>
                    <a:cs typeface="Calibri" charset="0"/>
                  </a:rPr>
                  <a:t>, </a:t>
                </a:r>
                <a:r>
                  <a:rPr lang="en-GB" sz="1400" b="0" noProof="0" dirty="0">
                    <a:latin typeface="Calibri" charset="0"/>
                    <a:ea typeface="Calibri" charset="0"/>
                    <a:cs typeface="Calibri" charset="0"/>
                  </a:rPr>
                  <a:t>square, volume</a:t>
                </a:r>
              </a:p>
            </p:txBody>
          </p:sp>
        </mc:Choice>
        <mc:Fallback xmlns="">
          <p:sp>
            <p:nvSpPr>
              <p:cNvPr id="6" name="TextBox 4">
                <a:extLst>
                  <a:ext uri="{FF2B5EF4-FFF2-40B4-BE49-F238E27FC236}">
                    <a16:creationId xmlns:a16="http://schemas.microsoft.com/office/drawing/2014/main" id="{ECD868C6-9926-0A4B-BBFA-CAFCA5221881}"/>
                  </a:ext>
                </a:extLst>
              </p:cNvPr>
              <p:cNvSpPr txBox="1">
                <a:spLocks noRot="1" noChangeAspect="1" noMove="1" noResize="1" noEditPoints="1" noAdjustHandles="1" noChangeArrowheads="1" noChangeShapeType="1" noTextEdit="1"/>
              </p:cNvSpPr>
              <p:nvPr userDrawn="1"/>
            </p:nvSpPr>
            <p:spPr bwMode="auto">
              <a:xfrm>
                <a:off x="76311" y="488434"/>
                <a:ext cx="8984564" cy="309600"/>
              </a:xfrm>
              <a:prstGeom prst="rect">
                <a:avLst/>
              </a:prstGeom>
              <a:blipFill>
                <a:blip r:embed="rId5"/>
                <a:stretch>
                  <a:fillRect l="-141" b="-14815"/>
                </a:stretch>
              </a:blipFill>
              <a:ln w="12700">
                <a:solidFill>
                  <a:schemeClr val="tx1"/>
                </a:solidFill>
              </a:ln>
            </p:spPr>
            <p:txBody>
              <a:bodyPr/>
              <a:lstStyle/>
              <a:p>
                <a:r>
                  <a:rPr lang="en-GB">
                    <a:noFill/>
                  </a:rPr>
                  <a:t> </a:t>
                </a:r>
              </a:p>
            </p:txBody>
          </p:sp>
        </mc:Fallback>
      </mc:AlternateContent>
      <p:sp>
        <p:nvSpPr>
          <p:cNvPr id="7" name="TextBox 6">
            <a:extLst>
              <a:ext uri="{FF2B5EF4-FFF2-40B4-BE49-F238E27FC236}">
                <a16:creationId xmlns:a16="http://schemas.microsoft.com/office/drawing/2014/main" id="{DEF70ACC-FC36-3A47-AAFD-F601EE139B53}"/>
              </a:ext>
            </a:extLst>
          </p:cNvPr>
          <p:cNvSpPr txBox="1"/>
          <p:nvPr userDrawn="1"/>
        </p:nvSpPr>
        <p:spPr>
          <a:xfrm>
            <a:off x="8114810" y="4583884"/>
            <a:ext cx="974947" cy="300082"/>
          </a:xfrm>
          <a:prstGeom prst="rect">
            <a:avLst/>
          </a:prstGeom>
          <a:solidFill>
            <a:schemeClr val="accent5">
              <a:lumMod val="60000"/>
              <a:lumOff val="40000"/>
            </a:schemeClr>
          </a:solidFill>
          <a:ln w="12700">
            <a:solidFill>
              <a:schemeClr val="tx1"/>
            </a:solidFill>
          </a:ln>
        </p:spPr>
        <p:txBody>
          <a:bodyPr wrap="none" rtlCol="0">
            <a:spAutoFit/>
          </a:bodyPr>
          <a:lstStyle/>
          <a:p>
            <a:pPr algn="ctr"/>
            <a:r>
              <a:rPr lang="en-GB" dirty="0"/>
              <a:t>KEY TERMS</a:t>
            </a:r>
          </a:p>
        </p:txBody>
      </p:sp>
      <p:sp>
        <p:nvSpPr>
          <p:cNvPr id="8" name="TextBox 7">
            <a:extLst>
              <a:ext uri="{FF2B5EF4-FFF2-40B4-BE49-F238E27FC236}">
                <a16:creationId xmlns:a16="http://schemas.microsoft.com/office/drawing/2014/main" id="{E949F5F1-665A-C04E-A669-71FD4AEE79EA}"/>
              </a:ext>
            </a:extLst>
          </p:cNvPr>
          <p:cNvSpPr txBox="1"/>
          <p:nvPr userDrawn="1"/>
        </p:nvSpPr>
        <p:spPr>
          <a:xfrm>
            <a:off x="8114810" y="4583884"/>
            <a:ext cx="974947" cy="300082"/>
          </a:xfrm>
          <a:prstGeom prst="rect">
            <a:avLst/>
          </a:prstGeom>
          <a:solidFill>
            <a:schemeClr val="accent2"/>
          </a:solidFill>
          <a:ln w="12700">
            <a:solidFill>
              <a:schemeClr val="tx1"/>
            </a:solidFill>
          </a:ln>
        </p:spPr>
        <p:txBody>
          <a:bodyPr wrap="none" rtlCol="0">
            <a:spAutoFit/>
          </a:bodyPr>
          <a:lstStyle/>
          <a:p>
            <a:pPr algn="ctr"/>
            <a:r>
              <a:rPr lang="en-GB" dirty="0"/>
              <a:t>KEY TERMS</a:t>
            </a:r>
          </a:p>
        </p:txBody>
      </p:sp>
      <p:sp>
        <p:nvSpPr>
          <p:cNvPr id="10" name="Rectangle 9">
            <a:extLst>
              <a:ext uri="{FF2B5EF4-FFF2-40B4-BE49-F238E27FC236}">
                <a16:creationId xmlns:a16="http://schemas.microsoft.com/office/drawing/2014/main" id="{4E63769C-FE9E-9F46-BD65-E961F9D36AE5}"/>
              </a:ext>
            </a:extLst>
          </p:cNvPr>
          <p:cNvSpPr/>
          <p:nvPr userDrawn="1"/>
        </p:nvSpPr>
        <p:spPr>
          <a:xfrm>
            <a:off x="-2683" y="4516221"/>
            <a:ext cx="9146683" cy="646331"/>
          </a:xfrm>
          <a:prstGeom prst="rect">
            <a:avLst/>
          </a:prstGeom>
        </p:spPr>
        <p:txBody>
          <a:bodyPr wrap="square" anchor="b">
            <a:spAutoFit/>
          </a:bodyPr>
          <a:lstStyle/>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Developing learners will be able to calculate the volume of a sphere.</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Secure learners will be able to find a missing length in a sphere given its volume.</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Excelling learners will be able to solve unfamiliar problems using their knowledge of calculating the volume of a sphere.</a:t>
            </a:r>
          </a:p>
        </p:txBody>
      </p:sp>
      <p:cxnSp>
        <p:nvCxnSpPr>
          <p:cNvPr id="13" name="Straight Connector 12">
            <a:extLst>
              <a:ext uri="{FF2B5EF4-FFF2-40B4-BE49-F238E27FC236}">
                <a16:creationId xmlns:a16="http://schemas.microsoft.com/office/drawing/2014/main" id="{F8755F17-9300-5B4E-9FB7-AA7507610099}"/>
              </a:ext>
            </a:extLst>
          </p:cNvPr>
          <p:cNvCxnSpPr>
            <a:cxnSpLocks/>
          </p:cNvCxnSpPr>
          <p:nvPr userDrawn="1"/>
        </p:nvCxnSpPr>
        <p:spPr>
          <a:xfrm>
            <a:off x="0" y="4507299"/>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872915"/>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88" r:id="rId3"/>
  </p:sldLayoutIdLs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9" presetClass="exit" presetSubtype="0" fill="hold" grpId="1" nodeType="withEffect">
                                  <p:stCondLst>
                                    <p:cond delay="0"/>
                                  </p:stCondLst>
                                  <p:childTnLst>
                                    <p:animEffect transition="out" filter="dissolv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9" presetClass="exit" presetSubtype="0" fill="hold" grpId="1" nodeType="withEffect">
                                  <p:stCondLst>
                                    <p:cond delay="0"/>
                                  </p:stCondLst>
                                  <p:childTnLst>
                                    <p:animEffect transition="out" filter="dissolv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6" grpId="21"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Lst>
  </p:timing>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1.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5.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7.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55.png"/><Relationship Id="rId10" Type="http://schemas.openxmlformats.org/officeDocument/2006/relationships/image" Target="../media/image37.png"/><Relationship Id="rId19" Type="http://schemas.openxmlformats.org/officeDocument/2006/relationships/image" Target="../media/image46.png"/><Relationship Id="rId31" Type="http://schemas.openxmlformats.org/officeDocument/2006/relationships/image" Target="../media/image58.png"/><Relationship Id="rId4" Type="http://schemas.openxmlformats.org/officeDocument/2006/relationships/image" Target="../media/image32.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0.png"/><Relationship Id="rId5" Type="http://schemas.openxmlformats.org/officeDocument/2006/relationships/image" Target="../media/image21.png"/><Relationship Id="rId4" Type="http://schemas.openxmlformats.org/officeDocument/2006/relationships/image" Target="../media/image59.png"/></Relationships>
</file>

<file path=ppt/slides/_rels/slide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3.emf"/><Relationship Id="rId4" Type="http://schemas.openxmlformats.org/officeDocument/2006/relationships/image" Target="../media/image63.png"/></Relationships>
</file>

<file path=ppt/slides/_rels/slide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0.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66.emf"/><Relationship Id="rId4" Type="http://schemas.openxmlformats.org/officeDocument/2006/relationships/image" Target="../media/image64.png"/><Relationship Id="rId9" Type="http://schemas.openxmlformats.org/officeDocument/2006/relationships/image" Target="../media/image69.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537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4663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4CFDB6D-BA7D-FF4A-9461-8AE352764DA6}"/>
              </a:ext>
            </a:extLst>
          </p:cNvPr>
          <p:cNvCxnSpPr>
            <a:cxnSpLocks/>
          </p:cNvCxnSpPr>
          <p:nvPr/>
        </p:nvCxnSpPr>
        <p:spPr>
          <a:xfrm flipH="1">
            <a:off x="0" y="1463171"/>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88F68324-D1E7-FF4C-BFB3-656F3A5B7B9C}"/>
              </a:ext>
            </a:extLst>
          </p:cNvPr>
          <p:cNvSpPr txBox="1"/>
          <p:nvPr/>
        </p:nvSpPr>
        <p:spPr>
          <a:xfrm>
            <a:off x="45916" y="1525295"/>
            <a:ext cx="513302" cy="276999"/>
          </a:xfrm>
          <a:prstGeom prst="rect">
            <a:avLst/>
          </a:prstGeom>
          <a:noFill/>
        </p:spPr>
        <p:txBody>
          <a:bodyPr wrap="square" lIns="36000" tIns="0" rIns="0" bIns="0" rtlCol="0">
            <a:spAutoFit/>
          </a:bodyPr>
          <a:lstStyle/>
          <a:p>
            <a:r>
              <a:rPr lang="en-GB" sz="1800" b="1" dirty="0"/>
              <a:t>Ex1</a:t>
            </a:r>
          </a:p>
        </p:txBody>
      </p:sp>
      <p:sp>
        <p:nvSpPr>
          <p:cNvPr id="124" name="TextBox 123">
            <a:extLst>
              <a:ext uri="{FF2B5EF4-FFF2-40B4-BE49-F238E27FC236}">
                <a16:creationId xmlns:a16="http://schemas.microsoft.com/office/drawing/2014/main" id="{C55FC62E-F3FD-BC4E-8178-09A71A901A90}"/>
              </a:ext>
            </a:extLst>
          </p:cNvPr>
          <p:cNvSpPr txBox="1"/>
          <p:nvPr/>
        </p:nvSpPr>
        <p:spPr>
          <a:xfrm>
            <a:off x="475271" y="1525295"/>
            <a:ext cx="3907175" cy="276999"/>
          </a:xfrm>
          <a:prstGeom prst="rect">
            <a:avLst/>
          </a:prstGeom>
          <a:noFill/>
        </p:spPr>
        <p:txBody>
          <a:bodyPr wrap="square" lIns="36000" tIns="0" rIns="0" bIns="0" rtlCol="0">
            <a:spAutoFit/>
          </a:bodyPr>
          <a:lstStyle/>
          <a:p>
            <a:pPr>
              <a:defRPr/>
            </a:pPr>
            <a:r>
              <a:rPr lang="en-GB" altLang="en-US" sz="1800" dirty="0"/>
              <a:t>Find the volume of the sphere below.</a:t>
            </a:r>
          </a:p>
        </p:txBody>
      </p:sp>
      <p:cxnSp>
        <p:nvCxnSpPr>
          <p:cNvPr id="7" name="Straight Connector 6">
            <a:extLst>
              <a:ext uri="{FF2B5EF4-FFF2-40B4-BE49-F238E27FC236}">
                <a16:creationId xmlns:a16="http://schemas.microsoft.com/office/drawing/2014/main" id="{E958C6B4-897E-C347-8CAD-D11A3B1A9F2E}"/>
              </a:ext>
            </a:extLst>
          </p:cNvPr>
          <p:cNvCxnSpPr>
            <a:cxnSpLocks/>
          </p:cNvCxnSpPr>
          <p:nvPr/>
        </p:nvCxnSpPr>
        <p:spPr>
          <a:xfrm flipV="1">
            <a:off x="4572000" y="1461079"/>
            <a:ext cx="0" cy="30431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59B68E-EC19-0C42-8D64-0516AC96CDE9}"/>
              </a:ext>
            </a:extLst>
          </p:cNvPr>
          <p:cNvSpPr txBox="1"/>
          <p:nvPr/>
        </p:nvSpPr>
        <p:spPr>
          <a:xfrm>
            <a:off x="4617916" y="1525295"/>
            <a:ext cx="513302" cy="276999"/>
          </a:xfrm>
          <a:prstGeom prst="rect">
            <a:avLst/>
          </a:prstGeom>
          <a:noFill/>
        </p:spPr>
        <p:txBody>
          <a:bodyPr wrap="square" lIns="36000" tIns="0" rIns="0" bIns="0" rtlCol="0">
            <a:spAutoFit/>
          </a:bodyPr>
          <a:lstStyle/>
          <a:p>
            <a:r>
              <a:rPr lang="en-GB" sz="1800" b="1" dirty="0"/>
              <a:t>Ex2</a:t>
            </a:r>
          </a:p>
        </p:txBody>
      </p:sp>
      <p:sp>
        <p:nvSpPr>
          <p:cNvPr id="14" name="Rectangle 13">
            <a:extLst>
              <a:ext uri="{FF2B5EF4-FFF2-40B4-BE49-F238E27FC236}">
                <a16:creationId xmlns:a16="http://schemas.microsoft.com/office/drawing/2014/main" id="{0BB4AC7E-89D2-0B47-8B00-E3C205C996C4}"/>
              </a:ext>
            </a:extLst>
          </p:cNvPr>
          <p:cNvSpPr/>
          <p:nvPr/>
        </p:nvSpPr>
        <p:spPr>
          <a:xfrm rot="16200000">
            <a:off x="-96068" y="2042746"/>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6" name="Rectangle 15">
            <a:extLst>
              <a:ext uri="{FF2B5EF4-FFF2-40B4-BE49-F238E27FC236}">
                <a16:creationId xmlns:a16="http://schemas.microsoft.com/office/drawing/2014/main" id="{827DF7C0-66B3-C44D-84F6-8FEEA928B278}"/>
              </a:ext>
            </a:extLst>
          </p:cNvPr>
          <p:cNvSpPr/>
          <p:nvPr/>
        </p:nvSpPr>
        <p:spPr>
          <a:xfrm rot="16200000">
            <a:off x="4475933" y="2042746"/>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36" name="Rectangle 35">
            <a:extLst>
              <a:ext uri="{FF2B5EF4-FFF2-40B4-BE49-F238E27FC236}">
                <a16:creationId xmlns:a16="http://schemas.microsoft.com/office/drawing/2014/main" id="{72A099E8-ABF4-8C4B-9316-643CD5848632}"/>
              </a:ext>
            </a:extLst>
          </p:cNvPr>
          <p:cNvSpPr/>
          <p:nvPr/>
        </p:nvSpPr>
        <p:spPr>
          <a:xfrm>
            <a:off x="2270693" y="3936234"/>
            <a:ext cx="711046" cy="2104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CC3BDE-1A51-C448-8BAA-54DBCD9D9FC9}"/>
                  </a:ext>
                </a:extLst>
              </p:cNvPr>
              <p:cNvSpPr txBox="1"/>
              <p:nvPr/>
            </p:nvSpPr>
            <p:spPr>
              <a:xfrm>
                <a:off x="1404102" y="3654794"/>
                <a:ext cx="1951389" cy="246221"/>
              </a:xfrm>
              <a:prstGeom prst="rect">
                <a:avLst/>
              </a:prstGeom>
              <a:noFill/>
            </p:spPr>
            <p:txBody>
              <a:bodyPr wrap="square" lIns="0" tIns="0" rIns="0" bIns="0" rtlCol="0" anchor="ctr" anchorCtr="0">
                <a:spAutoFit/>
              </a:bodyPr>
              <a:lstStyle/>
              <a:p>
                <a:pPr>
                  <a:defRPr/>
                </a:pPr>
                <a:r>
                  <a:rPr lang="en-GB" altLang="en-US" sz="1600" b="1" dirty="0"/>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sz="1600" b="1" baseline="30000" dirty="0"/>
                  <a:t>4</a:t>
                </a:r>
                <a:r>
                  <a:rPr lang="en-GB" sz="1600" spc="-300" dirty="0"/>
                  <a:t>⁄</a:t>
                </a:r>
                <a:r>
                  <a:rPr lang="en-GB" sz="1600" b="1" baseline="-25000" dirty="0"/>
                  <a:t>3 </a:t>
                </a:r>
                <a14:m>
                  <m:oMath xmlns:m="http://schemas.openxmlformats.org/officeDocument/2006/math">
                    <m:r>
                      <a:rPr lang="en-GB" sz="1600" b="1" i="1" smtClean="0">
                        <a:latin typeface="Cambria Math" panose="02040503050406030204" pitchFamily="18" charset="0"/>
                      </a:rPr>
                      <m:t>×</m:t>
                    </m:r>
                  </m:oMath>
                </a14:m>
                <a:r>
                  <a:rPr lang="en-GB" altLang="en-US" sz="1600" b="1" dirty="0"/>
                  <a:t> </a:t>
                </a:r>
                <a14:m>
                  <m:oMath xmlns:m="http://schemas.openxmlformats.org/officeDocument/2006/math">
                    <m:r>
                      <a:rPr lang="en-GB" altLang="en-US" sz="1600" b="1" i="1" smtClean="0">
                        <a:latin typeface="Cambria Math" panose="02040503050406030204" pitchFamily="18" charset="0"/>
                      </a:rPr>
                      <m:t>𝝅</m:t>
                    </m:r>
                  </m:oMath>
                </a14:m>
                <a:r>
                  <a:rPr lang="en-GB" altLang="en-US" sz="1600" dirty="0"/>
                  <a:t> </a:t>
                </a:r>
                <a14:m>
                  <m:oMath xmlns:m="http://schemas.openxmlformats.org/officeDocument/2006/math">
                    <m:r>
                      <a:rPr lang="en-GB" altLang="en-US" sz="1600" b="0" i="1" dirty="0" smtClean="0">
                        <a:latin typeface="Cambria Math" panose="02040503050406030204" pitchFamily="18" charset="0"/>
                      </a:rPr>
                      <m:t>×</m:t>
                    </m:r>
                  </m:oMath>
                </a14:m>
                <a:r>
                  <a:rPr lang="en-GB" altLang="en-US" sz="1600" dirty="0"/>
                  <a:t> 3</a:t>
                </a:r>
                <a:r>
                  <a:rPr lang="en-GB" altLang="en-US" sz="1600" baseline="30000" dirty="0"/>
                  <a:t>3</a:t>
                </a:r>
              </a:p>
            </p:txBody>
          </p:sp>
        </mc:Choice>
        <mc:Fallback xmlns="">
          <p:sp>
            <p:nvSpPr>
              <p:cNvPr id="37" name="TextBox 36">
                <a:extLst>
                  <a:ext uri="{FF2B5EF4-FFF2-40B4-BE49-F238E27FC236}">
                    <a16:creationId xmlns:a16="http://schemas.microsoft.com/office/drawing/2014/main" id="{CECC3BDE-1A51-C448-8BAA-54DBCD9D9FC9}"/>
                  </a:ext>
                </a:extLst>
              </p:cNvPr>
              <p:cNvSpPr txBox="1">
                <a:spLocks noRot="1" noChangeAspect="1" noMove="1" noResize="1" noEditPoints="1" noAdjustHandles="1" noChangeArrowheads="1" noChangeShapeType="1" noTextEdit="1"/>
              </p:cNvSpPr>
              <p:nvPr/>
            </p:nvSpPr>
            <p:spPr>
              <a:xfrm>
                <a:off x="1404102" y="3654794"/>
                <a:ext cx="1951389" cy="246221"/>
              </a:xfrm>
              <a:prstGeom prst="rect">
                <a:avLst/>
              </a:prstGeom>
              <a:blipFill>
                <a:blip r:embed="rId3"/>
                <a:stretch>
                  <a:fillRect l="-6494" t="-31579" b="-473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248B002-0E86-3F4F-A206-BCA81E820D9A}"/>
                  </a:ext>
                </a:extLst>
              </p:cNvPr>
              <p:cNvSpPr txBox="1"/>
              <p:nvPr/>
            </p:nvSpPr>
            <p:spPr>
              <a:xfrm>
                <a:off x="1404103" y="3919812"/>
                <a:ext cx="1652214" cy="246221"/>
              </a:xfrm>
              <a:prstGeom prst="rect">
                <a:avLst/>
              </a:prstGeom>
              <a:noFill/>
            </p:spPr>
            <p:txBody>
              <a:bodyPr wrap="square" lIns="0" tIns="0" rIns="0" bIns="0" rtlCol="0" anchor="ctr" anchorCtr="0">
                <a:spAutoFit/>
              </a:bodyPr>
              <a:lstStyle/>
              <a:p>
                <a:pPr>
                  <a:defRPr/>
                </a:pPr>
                <a:r>
                  <a:rPr lang="en-GB" altLang="en-US" sz="1600" b="1" dirty="0">
                    <a:solidFill>
                      <a:schemeClr val="bg1"/>
                    </a:solidFill>
                  </a:rPr>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36</a:t>
                </a:r>
                <a14:m>
                  <m:oMath xmlns:m="http://schemas.openxmlformats.org/officeDocument/2006/math">
                    <m:r>
                      <a:rPr lang="en-GB" altLang="en-US" sz="1600" b="1" i="1" dirty="0" smtClean="0">
                        <a:latin typeface="Cambria Math" panose="02040503050406030204" pitchFamily="18" charset="0"/>
                      </a:rPr>
                      <m:t>𝝅</m:t>
                    </m:r>
                  </m:oMath>
                </a14:m>
                <a:r>
                  <a:rPr lang="en-GB" altLang="en-US" sz="1600" b="1" dirty="0"/>
                  <a:t>cm</a:t>
                </a:r>
                <a:r>
                  <a:rPr lang="en-GB" altLang="en-US" sz="1600" b="1" baseline="30000" dirty="0"/>
                  <a:t>3</a:t>
                </a:r>
              </a:p>
            </p:txBody>
          </p:sp>
        </mc:Choice>
        <mc:Fallback xmlns="">
          <p:sp>
            <p:nvSpPr>
              <p:cNvPr id="38" name="TextBox 37">
                <a:extLst>
                  <a:ext uri="{FF2B5EF4-FFF2-40B4-BE49-F238E27FC236}">
                    <a16:creationId xmlns:a16="http://schemas.microsoft.com/office/drawing/2014/main" id="{0248B002-0E86-3F4F-A206-BCA81E820D9A}"/>
                  </a:ext>
                </a:extLst>
              </p:cNvPr>
              <p:cNvSpPr txBox="1">
                <a:spLocks noRot="1" noChangeAspect="1" noMove="1" noResize="1" noEditPoints="1" noAdjustHandles="1" noChangeArrowheads="1" noChangeShapeType="1" noTextEdit="1"/>
              </p:cNvSpPr>
              <p:nvPr/>
            </p:nvSpPr>
            <p:spPr>
              <a:xfrm>
                <a:off x="1404103" y="3919812"/>
                <a:ext cx="1652214" cy="246221"/>
              </a:xfrm>
              <a:prstGeom prst="rect">
                <a:avLst/>
              </a:prstGeom>
              <a:blipFill>
                <a:blip r:embed="rId4"/>
                <a:stretch>
                  <a:fillRect l="-7634" t="-25000" b="-45000"/>
                </a:stretch>
              </a:blipFill>
            </p:spPr>
            <p:txBody>
              <a:bodyPr/>
              <a:lstStyle/>
              <a:p>
                <a:r>
                  <a:rPr lang="en-GB">
                    <a:noFill/>
                  </a:rPr>
                  <a:t> </a:t>
                </a:r>
              </a:p>
            </p:txBody>
          </p:sp>
        </mc:Fallback>
      </mc:AlternateContent>
      <p:sp>
        <p:nvSpPr>
          <p:cNvPr id="42" name="TextBox 41">
            <a:extLst>
              <a:ext uri="{FF2B5EF4-FFF2-40B4-BE49-F238E27FC236}">
                <a16:creationId xmlns:a16="http://schemas.microsoft.com/office/drawing/2014/main" id="{232C7569-A076-C74B-B318-15B76D50E606}"/>
              </a:ext>
            </a:extLst>
          </p:cNvPr>
          <p:cNvSpPr txBox="1"/>
          <p:nvPr/>
        </p:nvSpPr>
        <p:spPr>
          <a:xfrm>
            <a:off x="5047270" y="1525295"/>
            <a:ext cx="4044127" cy="553998"/>
          </a:xfrm>
          <a:prstGeom prst="rect">
            <a:avLst/>
          </a:prstGeom>
          <a:noFill/>
        </p:spPr>
        <p:txBody>
          <a:bodyPr wrap="square" lIns="36000" tIns="0" rIns="0" bIns="0" rtlCol="0">
            <a:spAutoFit/>
          </a:bodyPr>
          <a:lstStyle/>
          <a:p>
            <a:pPr>
              <a:defRPr/>
            </a:pPr>
            <a:r>
              <a:rPr lang="en-GB" altLang="en-US" sz="1800" dirty="0"/>
              <a:t>Which of the following shapes has the largest volume?</a:t>
            </a:r>
            <a:endParaRPr lang="en-GB" altLang="en-US" sz="1800" baseline="30000" dirty="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6780F5A-143B-C849-ADA4-FE1E7AE86F1B}"/>
                  </a:ext>
                </a:extLst>
              </p:cNvPr>
              <p:cNvSpPr txBox="1"/>
              <p:nvPr/>
            </p:nvSpPr>
            <p:spPr>
              <a:xfrm>
                <a:off x="2681555" y="967598"/>
                <a:ext cx="3780890" cy="406265"/>
              </a:xfrm>
              <a:prstGeom prst="rect">
                <a:avLst/>
              </a:prstGeom>
              <a:solidFill>
                <a:schemeClr val="accent3"/>
              </a:solidFill>
            </p:spPr>
            <p:txBody>
              <a:bodyPr wrap="square" lIns="0" tIns="0" rIns="0" bIns="0" rtlCol="0" anchor="t">
                <a:spAutoFit/>
              </a:bodyPr>
              <a:lstStyle/>
              <a:p>
                <a:pPr algn="ctr">
                  <a:defRPr/>
                </a:pPr>
                <a:r>
                  <a:rPr lang="en-GB" altLang="en-US" sz="2400" b="1" dirty="0"/>
                  <a:t>Volume of a Sphere </a:t>
                </a:r>
                <a14:m>
                  <m:oMath xmlns:m="http://schemas.openxmlformats.org/officeDocument/2006/math">
                    <m:r>
                      <a:rPr lang="en-GB" altLang="en-US" sz="2400" b="1" i="1" smtClean="0">
                        <a:latin typeface="Cambria Math" panose="02040503050406030204" pitchFamily="18" charset="0"/>
                      </a:rPr>
                      <m:t>=</m:t>
                    </m:r>
                  </m:oMath>
                </a14:m>
                <a:r>
                  <a:rPr lang="en-GB" altLang="en-US" sz="2400" b="1" dirty="0"/>
                  <a:t> </a:t>
                </a:r>
                <a:r>
                  <a:rPr lang="en-GB" sz="2400" b="1" baseline="30000" dirty="0"/>
                  <a:t>4</a:t>
                </a:r>
                <a:r>
                  <a:rPr lang="en-GB" sz="2400" spc="-300" dirty="0"/>
                  <a:t>⁄</a:t>
                </a:r>
                <a:r>
                  <a:rPr lang="en-GB" sz="2400" b="1" baseline="-25000" dirty="0"/>
                  <a:t>3</a:t>
                </a:r>
                <a14:m>
                  <m:oMath xmlns:m="http://schemas.openxmlformats.org/officeDocument/2006/math">
                    <m:r>
                      <a:rPr lang="en-GB" altLang="en-US" sz="2400" b="1" i="1" smtClean="0">
                        <a:latin typeface="Cambria Math" panose="02040503050406030204" pitchFamily="18" charset="0"/>
                      </a:rPr>
                      <m:t>𝝅</m:t>
                    </m:r>
                    <m:r>
                      <a:rPr lang="en-GB" altLang="en-US" sz="2400" b="1" i="1" smtClean="0">
                        <a:latin typeface="Cambria Math" panose="02040503050406030204" pitchFamily="18" charset="0"/>
                      </a:rPr>
                      <m:t>𝒓</m:t>
                    </m:r>
                  </m:oMath>
                </a14:m>
                <a:r>
                  <a:rPr lang="en-GB" altLang="en-US" sz="2400" b="1" baseline="30000" dirty="0"/>
                  <a:t>3</a:t>
                </a:r>
              </a:p>
            </p:txBody>
          </p:sp>
        </mc:Choice>
        <mc:Fallback xmlns="">
          <p:sp>
            <p:nvSpPr>
              <p:cNvPr id="57" name="TextBox 56">
                <a:extLst>
                  <a:ext uri="{FF2B5EF4-FFF2-40B4-BE49-F238E27FC236}">
                    <a16:creationId xmlns:a16="http://schemas.microsoft.com/office/drawing/2014/main" id="{F6780F5A-143B-C849-ADA4-FE1E7AE86F1B}"/>
                  </a:ext>
                </a:extLst>
              </p:cNvPr>
              <p:cNvSpPr txBox="1">
                <a:spLocks noRot="1" noChangeAspect="1" noMove="1" noResize="1" noEditPoints="1" noAdjustHandles="1" noChangeArrowheads="1" noChangeShapeType="1" noTextEdit="1"/>
              </p:cNvSpPr>
              <p:nvPr/>
            </p:nvSpPr>
            <p:spPr>
              <a:xfrm>
                <a:off x="2681555" y="967598"/>
                <a:ext cx="3780890" cy="406265"/>
              </a:xfrm>
              <a:prstGeom prst="rect">
                <a:avLst/>
              </a:prstGeom>
              <a:blipFill>
                <a:blip r:embed="rId5"/>
                <a:stretch>
                  <a:fillRect l="-2007" t="-18182" r="-334" b="-36364"/>
                </a:stretch>
              </a:blipFill>
            </p:spPr>
            <p:txBody>
              <a:bodyPr/>
              <a:lstStyle/>
              <a:p>
                <a:r>
                  <a:rPr lang="en-GB">
                    <a:noFill/>
                  </a:rPr>
                  <a:t> </a:t>
                </a:r>
              </a:p>
            </p:txBody>
          </p:sp>
        </mc:Fallback>
      </mc:AlternateContent>
      <p:grpSp>
        <p:nvGrpSpPr>
          <p:cNvPr id="3" name="Group 2">
            <a:extLst>
              <a:ext uri="{FF2B5EF4-FFF2-40B4-BE49-F238E27FC236}">
                <a16:creationId xmlns:a16="http://schemas.microsoft.com/office/drawing/2014/main" id="{0E3FB957-E872-F24E-B343-7DA2ABA7D302}"/>
              </a:ext>
            </a:extLst>
          </p:cNvPr>
          <p:cNvGrpSpPr/>
          <p:nvPr/>
        </p:nvGrpSpPr>
        <p:grpSpPr>
          <a:xfrm>
            <a:off x="1558589" y="1938722"/>
            <a:ext cx="1610532" cy="1613299"/>
            <a:chOff x="1478063" y="1858057"/>
            <a:chExt cx="1771585" cy="1774629"/>
          </a:xfrm>
        </p:grpSpPr>
        <p:pic>
          <p:nvPicPr>
            <p:cNvPr id="65" name="Picture 64">
              <a:extLst>
                <a:ext uri="{FF2B5EF4-FFF2-40B4-BE49-F238E27FC236}">
                  <a16:creationId xmlns:a16="http://schemas.microsoft.com/office/drawing/2014/main" id="{C3915134-F574-F645-ACFB-AD4232E82DC1}"/>
                </a:ext>
              </a:extLst>
            </p:cNvPr>
            <p:cNvPicPr>
              <a:picLocks noChangeAspect="1"/>
            </p:cNvPicPr>
            <p:nvPr/>
          </p:nvPicPr>
          <p:blipFill>
            <a:blip r:embed="rId6"/>
            <a:stretch>
              <a:fillRect/>
            </a:stretch>
          </p:blipFill>
          <p:spPr>
            <a:xfrm>
              <a:off x="1478063" y="1858057"/>
              <a:ext cx="1771585" cy="1774629"/>
            </a:xfrm>
            <a:prstGeom prst="rect">
              <a:avLst/>
            </a:prstGeom>
          </p:spPr>
        </p:pic>
        <p:cxnSp>
          <p:nvCxnSpPr>
            <p:cNvPr id="68" name="Straight Arrow Connector 67">
              <a:extLst>
                <a:ext uri="{FF2B5EF4-FFF2-40B4-BE49-F238E27FC236}">
                  <a16:creationId xmlns:a16="http://schemas.microsoft.com/office/drawing/2014/main" id="{FB3E9208-CE7A-CD43-AF79-8ABED47BF3FC}"/>
                </a:ext>
              </a:extLst>
            </p:cNvPr>
            <p:cNvCxnSpPr>
              <a:cxnSpLocks/>
            </p:cNvCxnSpPr>
            <p:nvPr/>
          </p:nvCxnSpPr>
          <p:spPr>
            <a:xfrm flipH="1">
              <a:off x="2363855" y="2126386"/>
              <a:ext cx="592166" cy="607423"/>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9" name="TextBox 68">
              <a:extLst>
                <a:ext uri="{FF2B5EF4-FFF2-40B4-BE49-F238E27FC236}">
                  <a16:creationId xmlns:a16="http://schemas.microsoft.com/office/drawing/2014/main" id="{D573B539-F0FD-B34B-A60C-A090CA2A6EA1}"/>
                </a:ext>
              </a:extLst>
            </p:cNvPr>
            <p:cNvSpPr txBox="1"/>
            <p:nvPr/>
          </p:nvSpPr>
          <p:spPr>
            <a:xfrm>
              <a:off x="2027693" y="2227516"/>
              <a:ext cx="621773" cy="215444"/>
            </a:xfrm>
            <a:prstGeom prst="rect">
              <a:avLst/>
            </a:prstGeom>
            <a:noFill/>
          </p:spPr>
          <p:txBody>
            <a:bodyPr wrap="square" lIns="0" tIns="0" rIns="0" bIns="0" rtlCol="0" anchor="ctr" anchorCtr="0">
              <a:spAutoFit/>
            </a:bodyPr>
            <a:lstStyle/>
            <a:p>
              <a:pPr algn="r">
                <a:defRPr/>
              </a:pPr>
              <a:r>
                <a:rPr lang="en-GB" altLang="en-US" sz="1400" dirty="0"/>
                <a:t>3cm</a:t>
              </a:r>
              <a:endParaRPr lang="en-GB" altLang="en-US" sz="1400" baseline="30000" dirty="0"/>
            </a:p>
          </p:txBody>
        </p:sp>
      </p:grpSp>
      <p:sp>
        <p:nvSpPr>
          <p:cNvPr id="40" name="Rectangle 39">
            <a:extLst>
              <a:ext uri="{FF2B5EF4-FFF2-40B4-BE49-F238E27FC236}">
                <a16:creationId xmlns:a16="http://schemas.microsoft.com/office/drawing/2014/main" id="{E58E6851-33C1-074A-B03C-4D1E642FFCB9}"/>
              </a:ext>
            </a:extLst>
          </p:cNvPr>
          <p:cNvSpPr/>
          <p:nvPr/>
        </p:nvSpPr>
        <p:spPr>
          <a:xfrm>
            <a:off x="2270692" y="4193714"/>
            <a:ext cx="834291" cy="2104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5D3E3DC-7276-9D41-9493-23DDBBD0D630}"/>
                  </a:ext>
                </a:extLst>
              </p:cNvPr>
              <p:cNvSpPr txBox="1"/>
              <p:nvPr/>
            </p:nvSpPr>
            <p:spPr>
              <a:xfrm>
                <a:off x="1404102" y="4177292"/>
                <a:ext cx="1800273" cy="246221"/>
              </a:xfrm>
              <a:prstGeom prst="rect">
                <a:avLst/>
              </a:prstGeom>
              <a:noFill/>
            </p:spPr>
            <p:txBody>
              <a:bodyPr wrap="square" lIns="0" tIns="0" rIns="0" bIns="0" rtlCol="0" anchor="ctr" anchorCtr="0">
                <a:spAutoFit/>
              </a:bodyPr>
              <a:lstStyle/>
              <a:p>
                <a:pPr>
                  <a:defRPr/>
                </a:pPr>
                <a:r>
                  <a:rPr lang="en-GB" altLang="en-US" sz="1600" b="1" dirty="0">
                    <a:solidFill>
                      <a:schemeClr val="bg1"/>
                    </a:solidFill>
                  </a:rPr>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113.1cm</a:t>
                </a:r>
                <a:r>
                  <a:rPr lang="en-GB" altLang="en-US" sz="1600" b="1" baseline="30000" dirty="0"/>
                  <a:t>3</a:t>
                </a:r>
              </a:p>
            </p:txBody>
          </p:sp>
        </mc:Choice>
        <mc:Fallback xmlns="">
          <p:sp>
            <p:nvSpPr>
              <p:cNvPr id="43" name="TextBox 42">
                <a:extLst>
                  <a:ext uri="{FF2B5EF4-FFF2-40B4-BE49-F238E27FC236}">
                    <a16:creationId xmlns:a16="http://schemas.microsoft.com/office/drawing/2014/main" id="{15D3E3DC-7276-9D41-9493-23DDBBD0D630}"/>
                  </a:ext>
                </a:extLst>
              </p:cNvPr>
              <p:cNvSpPr txBox="1">
                <a:spLocks noRot="1" noChangeAspect="1" noMove="1" noResize="1" noEditPoints="1" noAdjustHandles="1" noChangeArrowheads="1" noChangeShapeType="1" noTextEdit="1"/>
              </p:cNvSpPr>
              <p:nvPr/>
            </p:nvSpPr>
            <p:spPr>
              <a:xfrm>
                <a:off x="1404102" y="4177292"/>
                <a:ext cx="1800273" cy="246221"/>
              </a:xfrm>
              <a:prstGeom prst="rect">
                <a:avLst/>
              </a:prstGeom>
              <a:blipFill>
                <a:blip r:embed="rId7"/>
                <a:stretch>
                  <a:fillRect l="-7042" t="-20000" b="-45000"/>
                </a:stretch>
              </a:blipFill>
            </p:spPr>
            <p:txBody>
              <a:bodyPr/>
              <a:lstStyle/>
              <a:p>
                <a:r>
                  <a:rPr lang="en-GB">
                    <a:noFill/>
                  </a:rPr>
                  <a:t> </a:t>
                </a:r>
              </a:p>
            </p:txBody>
          </p:sp>
        </mc:Fallback>
      </mc:AlternateContent>
      <p:grpSp>
        <p:nvGrpSpPr>
          <p:cNvPr id="44" name="Group 43">
            <a:extLst>
              <a:ext uri="{FF2B5EF4-FFF2-40B4-BE49-F238E27FC236}">
                <a16:creationId xmlns:a16="http://schemas.microsoft.com/office/drawing/2014/main" id="{8DF0FD08-3FE9-2A48-9DC1-6D5178E298F2}"/>
              </a:ext>
            </a:extLst>
          </p:cNvPr>
          <p:cNvGrpSpPr/>
          <p:nvPr/>
        </p:nvGrpSpPr>
        <p:grpSpPr>
          <a:xfrm>
            <a:off x="5355624" y="2201959"/>
            <a:ext cx="1464120" cy="1466636"/>
            <a:chOff x="1478063" y="1858057"/>
            <a:chExt cx="1771585" cy="1774629"/>
          </a:xfrm>
        </p:grpSpPr>
        <p:pic>
          <p:nvPicPr>
            <p:cNvPr id="45" name="Picture 44">
              <a:extLst>
                <a:ext uri="{FF2B5EF4-FFF2-40B4-BE49-F238E27FC236}">
                  <a16:creationId xmlns:a16="http://schemas.microsoft.com/office/drawing/2014/main" id="{451A1A35-376D-AB42-8F90-E6A602DC335C}"/>
                </a:ext>
              </a:extLst>
            </p:cNvPr>
            <p:cNvPicPr>
              <a:picLocks noChangeAspect="1"/>
            </p:cNvPicPr>
            <p:nvPr/>
          </p:nvPicPr>
          <p:blipFill>
            <a:blip r:embed="rId6"/>
            <a:stretch>
              <a:fillRect/>
            </a:stretch>
          </p:blipFill>
          <p:spPr>
            <a:xfrm>
              <a:off x="1478063" y="1858057"/>
              <a:ext cx="1771585" cy="1774629"/>
            </a:xfrm>
            <a:prstGeom prst="rect">
              <a:avLst/>
            </a:prstGeom>
          </p:spPr>
        </p:pic>
        <p:cxnSp>
          <p:nvCxnSpPr>
            <p:cNvPr id="46" name="Straight Arrow Connector 45">
              <a:extLst>
                <a:ext uri="{FF2B5EF4-FFF2-40B4-BE49-F238E27FC236}">
                  <a16:creationId xmlns:a16="http://schemas.microsoft.com/office/drawing/2014/main" id="{A887778F-D931-894A-9AFA-6AC36E782352}"/>
                </a:ext>
              </a:extLst>
            </p:cNvPr>
            <p:cNvCxnSpPr>
              <a:cxnSpLocks/>
            </p:cNvCxnSpPr>
            <p:nvPr/>
          </p:nvCxnSpPr>
          <p:spPr>
            <a:xfrm flipH="1">
              <a:off x="2363855" y="2126386"/>
              <a:ext cx="592166" cy="607423"/>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7" name="TextBox 46">
              <a:extLst>
                <a:ext uri="{FF2B5EF4-FFF2-40B4-BE49-F238E27FC236}">
                  <a16:creationId xmlns:a16="http://schemas.microsoft.com/office/drawing/2014/main" id="{8CE5AF19-FACB-BC46-912E-DC531111E5F7}"/>
                </a:ext>
              </a:extLst>
            </p:cNvPr>
            <p:cNvSpPr txBox="1"/>
            <p:nvPr/>
          </p:nvSpPr>
          <p:spPr>
            <a:xfrm>
              <a:off x="2027693" y="2191860"/>
              <a:ext cx="621773" cy="286756"/>
            </a:xfrm>
            <a:prstGeom prst="rect">
              <a:avLst/>
            </a:prstGeom>
            <a:noFill/>
          </p:spPr>
          <p:txBody>
            <a:bodyPr wrap="square" lIns="0" tIns="0" rIns="0" bIns="0" rtlCol="0" anchor="ctr" anchorCtr="0">
              <a:spAutoFit/>
            </a:bodyPr>
            <a:lstStyle/>
            <a:p>
              <a:pPr algn="r">
                <a:defRPr/>
              </a:pPr>
              <a:r>
                <a:rPr lang="en-GB" altLang="en-US" sz="1400" dirty="0"/>
                <a:t>6cm</a:t>
              </a:r>
              <a:endParaRPr lang="en-GB" altLang="en-US" sz="1400" baseline="30000" dirty="0"/>
            </a:p>
          </p:txBody>
        </p:sp>
      </p:grpSp>
      <p:grpSp>
        <p:nvGrpSpPr>
          <p:cNvPr id="48" name="Group 47">
            <a:extLst>
              <a:ext uri="{FF2B5EF4-FFF2-40B4-BE49-F238E27FC236}">
                <a16:creationId xmlns:a16="http://schemas.microsoft.com/office/drawing/2014/main" id="{EA76E24F-D762-4E42-A6D2-86DD93543C23}"/>
              </a:ext>
            </a:extLst>
          </p:cNvPr>
          <p:cNvGrpSpPr/>
          <p:nvPr/>
        </p:nvGrpSpPr>
        <p:grpSpPr>
          <a:xfrm>
            <a:off x="7031068" y="1938722"/>
            <a:ext cx="1361033" cy="1786873"/>
            <a:chOff x="1080296" y="1671720"/>
            <a:chExt cx="1811533" cy="2378329"/>
          </a:xfrm>
        </p:grpSpPr>
        <p:pic>
          <p:nvPicPr>
            <p:cNvPr id="52" name="Picture 51">
              <a:extLst>
                <a:ext uri="{FF2B5EF4-FFF2-40B4-BE49-F238E27FC236}">
                  <a16:creationId xmlns:a16="http://schemas.microsoft.com/office/drawing/2014/main" id="{CD41C9C5-E769-0C41-B090-EF0D895ADA3D}"/>
                </a:ext>
              </a:extLst>
            </p:cNvPr>
            <p:cNvPicPr>
              <a:picLocks noChangeAspect="1"/>
            </p:cNvPicPr>
            <p:nvPr/>
          </p:nvPicPr>
          <p:blipFill>
            <a:blip r:embed="rId8"/>
            <a:stretch>
              <a:fillRect/>
            </a:stretch>
          </p:blipFill>
          <p:spPr>
            <a:xfrm>
              <a:off x="1835878" y="1671720"/>
              <a:ext cx="1055951" cy="2147303"/>
            </a:xfrm>
            <a:prstGeom prst="rect">
              <a:avLst/>
            </a:prstGeom>
          </p:spPr>
        </p:pic>
        <p:cxnSp>
          <p:nvCxnSpPr>
            <p:cNvPr id="62" name="Straight Arrow Connector 61">
              <a:extLst>
                <a:ext uri="{FF2B5EF4-FFF2-40B4-BE49-F238E27FC236}">
                  <a16:creationId xmlns:a16="http://schemas.microsoft.com/office/drawing/2014/main" id="{F80AA79D-5D06-1945-BFE2-B4FE8E18AA3E}"/>
                </a:ext>
              </a:extLst>
            </p:cNvPr>
            <p:cNvCxnSpPr>
              <a:cxnSpLocks/>
            </p:cNvCxnSpPr>
            <p:nvPr/>
          </p:nvCxnSpPr>
          <p:spPr>
            <a:xfrm>
              <a:off x="1768973" y="2746102"/>
              <a:ext cx="0" cy="996835"/>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4" name="TextBox 63">
              <a:extLst>
                <a:ext uri="{FF2B5EF4-FFF2-40B4-BE49-F238E27FC236}">
                  <a16:creationId xmlns:a16="http://schemas.microsoft.com/office/drawing/2014/main" id="{C6814A03-EF7B-3545-B01F-72FC54DA1806}"/>
                </a:ext>
              </a:extLst>
            </p:cNvPr>
            <p:cNvSpPr txBox="1"/>
            <p:nvPr/>
          </p:nvSpPr>
          <p:spPr>
            <a:xfrm>
              <a:off x="1080296" y="3101141"/>
              <a:ext cx="621773" cy="286756"/>
            </a:xfrm>
            <a:prstGeom prst="rect">
              <a:avLst/>
            </a:prstGeom>
            <a:noFill/>
          </p:spPr>
          <p:txBody>
            <a:bodyPr wrap="square" lIns="0" tIns="0" rIns="0" bIns="0" rtlCol="0" anchor="ctr" anchorCtr="0">
              <a:spAutoFit/>
            </a:bodyPr>
            <a:lstStyle/>
            <a:p>
              <a:pPr algn="r">
                <a:defRPr/>
              </a:pPr>
              <a:r>
                <a:rPr lang="en-GB" altLang="en-US" sz="1400" dirty="0"/>
                <a:t>11cm</a:t>
              </a:r>
              <a:endParaRPr lang="en-GB" altLang="en-US" sz="1400" baseline="30000" dirty="0"/>
            </a:p>
          </p:txBody>
        </p:sp>
        <p:sp>
          <p:nvSpPr>
            <p:cNvPr id="72" name="TextBox 71">
              <a:extLst>
                <a:ext uri="{FF2B5EF4-FFF2-40B4-BE49-F238E27FC236}">
                  <a16:creationId xmlns:a16="http://schemas.microsoft.com/office/drawing/2014/main" id="{600F1CDB-37F8-474B-A3C5-0E066A4E1642}"/>
                </a:ext>
              </a:extLst>
            </p:cNvPr>
            <p:cNvSpPr txBox="1"/>
            <p:nvPr/>
          </p:nvSpPr>
          <p:spPr>
            <a:xfrm>
              <a:off x="2052967" y="3763293"/>
              <a:ext cx="621773" cy="286756"/>
            </a:xfrm>
            <a:prstGeom prst="rect">
              <a:avLst/>
            </a:prstGeom>
            <a:noFill/>
          </p:spPr>
          <p:txBody>
            <a:bodyPr wrap="square" lIns="0" tIns="0" rIns="0" bIns="0" rtlCol="0" anchor="ctr" anchorCtr="0">
              <a:spAutoFit/>
            </a:bodyPr>
            <a:lstStyle/>
            <a:p>
              <a:pPr algn="ctr">
                <a:defRPr/>
              </a:pPr>
              <a:r>
                <a:rPr lang="en-GB" altLang="en-US" sz="1400" dirty="0"/>
                <a:t>2cm</a:t>
              </a:r>
              <a:endParaRPr lang="en-GB" altLang="en-US" sz="1400" baseline="30000" dirty="0"/>
            </a:p>
          </p:txBody>
        </p:sp>
      </p:grpSp>
      <p:sp>
        <p:nvSpPr>
          <p:cNvPr id="75" name="TextBox 74">
            <a:extLst>
              <a:ext uri="{FF2B5EF4-FFF2-40B4-BE49-F238E27FC236}">
                <a16:creationId xmlns:a16="http://schemas.microsoft.com/office/drawing/2014/main" id="{59B3D701-FC88-174E-9EF2-5DBBC0904E78}"/>
              </a:ext>
            </a:extLst>
          </p:cNvPr>
          <p:cNvSpPr txBox="1"/>
          <p:nvPr/>
        </p:nvSpPr>
        <p:spPr>
          <a:xfrm>
            <a:off x="5230062" y="3194489"/>
            <a:ext cx="1715243" cy="492443"/>
          </a:xfrm>
          <a:prstGeom prst="rect">
            <a:avLst/>
          </a:prstGeom>
          <a:solidFill>
            <a:schemeClr val="accent3"/>
          </a:solidFill>
        </p:spPr>
        <p:txBody>
          <a:bodyPr wrap="square" lIns="0" tIns="0" rIns="0" bIns="0" rtlCol="0" anchor="ctr" anchorCtr="0">
            <a:spAutoFit/>
          </a:bodyPr>
          <a:lstStyle/>
          <a:p>
            <a:pPr algn="ctr">
              <a:defRPr/>
            </a:pPr>
            <a:r>
              <a:rPr lang="en-GB" altLang="en-US" sz="1600" b="1" dirty="0"/>
              <a:t>The sphere has the largest volume.</a:t>
            </a:r>
            <a:endParaRPr lang="en-GB" altLang="en-US" sz="1600" b="1" baseline="30000" dirty="0">
              <a:solidFill>
                <a:schemeClr val="tx1"/>
              </a:solidFill>
            </a:endParaRPr>
          </a:p>
        </p:txBody>
      </p:sp>
      <p:sp>
        <p:nvSpPr>
          <p:cNvPr id="79" name="Rectangle 78">
            <a:extLst>
              <a:ext uri="{FF2B5EF4-FFF2-40B4-BE49-F238E27FC236}">
                <a16:creationId xmlns:a16="http://schemas.microsoft.com/office/drawing/2014/main" id="{7003DC5B-6BB0-AB4B-8D9B-FDE4A70E75F2}"/>
              </a:ext>
            </a:extLst>
          </p:cNvPr>
          <p:cNvSpPr/>
          <p:nvPr/>
        </p:nvSpPr>
        <p:spPr>
          <a:xfrm>
            <a:off x="5901042" y="4091318"/>
            <a:ext cx="813304" cy="21041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B6D269CA-0C42-E64E-933F-A8E31AFFB7DC}"/>
                  </a:ext>
                </a:extLst>
              </p:cNvPr>
              <p:cNvSpPr txBox="1"/>
              <p:nvPr/>
            </p:nvSpPr>
            <p:spPr>
              <a:xfrm>
                <a:off x="5092755" y="3809878"/>
                <a:ext cx="1951389" cy="246221"/>
              </a:xfrm>
              <a:prstGeom prst="rect">
                <a:avLst/>
              </a:prstGeom>
              <a:noFill/>
            </p:spPr>
            <p:txBody>
              <a:bodyPr wrap="square" lIns="0" tIns="0" rIns="0" bIns="0" rtlCol="0" anchor="ctr" anchorCtr="0">
                <a:spAutoFit/>
              </a:bodyPr>
              <a:lstStyle/>
              <a:p>
                <a:pPr>
                  <a:defRPr/>
                </a:pPr>
                <a:r>
                  <a:rPr lang="en-GB" altLang="en-US" sz="1600" b="1" dirty="0"/>
                  <a:t>Sphere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sz="1600" b="1" baseline="30000" dirty="0"/>
                  <a:t>4</a:t>
                </a:r>
                <a:r>
                  <a:rPr lang="en-GB" sz="1600" spc="-300" dirty="0"/>
                  <a:t>⁄</a:t>
                </a:r>
                <a:r>
                  <a:rPr lang="en-GB" sz="1600" b="1" baseline="-25000" dirty="0"/>
                  <a:t>3 </a:t>
                </a:r>
                <a14:m>
                  <m:oMath xmlns:m="http://schemas.openxmlformats.org/officeDocument/2006/math">
                    <m:r>
                      <a:rPr lang="en-GB" sz="1600" b="1" i="1" smtClean="0">
                        <a:latin typeface="Cambria Math" panose="02040503050406030204" pitchFamily="18" charset="0"/>
                      </a:rPr>
                      <m:t>×</m:t>
                    </m:r>
                  </m:oMath>
                </a14:m>
                <a:r>
                  <a:rPr lang="en-GB" altLang="en-US" sz="1600" b="1" dirty="0"/>
                  <a:t> </a:t>
                </a:r>
                <a14:m>
                  <m:oMath xmlns:m="http://schemas.openxmlformats.org/officeDocument/2006/math">
                    <m:r>
                      <a:rPr lang="en-GB" altLang="en-US" sz="1600" b="1" i="1" smtClean="0">
                        <a:latin typeface="Cambria Math" panose="02040503050406030204" pitchFamily="18" charset="0"/>
                      </a:rPr>
                      <m:t>𝝅</m:t>
                    </m:r>
                  </m:oMath>
                </a14:m>
                <a:r>
                  <a:rPr lang="en-GB" altLang="en-US" sz="1600" dirty="0"/>
                  <a:t> </a:t>
                </a:r>
                <a14:m>
                  <m:oMath xmlns:m="http://schemas.openxmlformats.org/officeDocument/2006/math">
                    <m:r>
                      <a:rPr lang="en-GB" altLang="en-US" sz="1600" b="0" i="1" dirty="0" smtClean="0">
                        <a:latin typeface="Cambria Math" panose="02040503050406030204" pitchFamily="18" charset="0"/>
                      </a:rPr>
                      <m:t>×</m:t>
                    </m:r>
                  </m:oMath>
                </a14:m>
                <a:r>
                  <a:rPr lang="en-GB" altLang="en-US" sz="1600" dirty="0"/>
                  <a:t> 6</a:t>
                </a:r>
                <a:r>
                  <a:rPr lang="en-GB" altLang="en-US" sz="1600" baseline="30000" dirty="0"/>
                  <a:t>3</a:t>
                </a:r>
              </a:p>
            </p:txBody>
          </p:sp>
        </mc:Choice>
        <mc:Fallback xmlns="">
          <p:sp>
            <p:nvSpPr>
              <p:cNvPr id="80" name="TextBox 79">
                <a:extLst>
                  <a:ext uri="{FF2B5EF4-FFF2-40B4-BE49-F238E27FC236}">
                    <a16:creationId xmlns:a16="http://schemas.microsoft.com/office/drawing/2014/main" id="{B6D269CA-0C42-E64E-933F-A8E31AFFB7DC}"/>
                  </a:ext>
                </a:extLst>
              </p:cNvPr>
              <p:cNvSpPr txBox="1">
                <a:spLocks noRot="1" noChangeAspect="1" noMove="1" noResize="1" noEditPoints="1" noAdjustHandles="1" noChangeArrowheads="1" noChangeShapeType="1" noTextEdit="1"/>
              </p:cNvSpPr>
              <p:nvPr/>
            </p:nvSpPr>
            <p:spPr>
              <a:xfrm>
                <a:off x="5092755" y="3809878"/>
                <a:ext cx="1951389" cy="246221"/>
              </a:xfrm>
              <a:prstGeom prst="rect">
                <a:avLst/>
              </a:prstGeom>
              <a:blipFill>
                <a:blip r:embed="rId9"/>
                <a:stretch>
                  <a:fillRect l="-5806" t="-26316" b="-473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0712DC6-4454-F04A-8E12-A8E84384D392}"/>
                  </a:ext>
                </a:extLst>
              </p:cNvPr>
              <p:cNvSpPr txBox="1"/>
              <p:nvPr/>
            </p:nvSpPr>
            <p:spPr>
              <a:xfrm>
                <a:off x="5092756" y="4074896"/>
                <a:ext cx="1652214" cy="246221"/>
              </a:xfrm>
              <a:prstGeom prst="rect">
                <a:avLst/>
              </a:prstGeom>
              <a:noFill/>
            </p:spPr>
            <p:txBody>
              <a:bodyPr wrap="square" lIns="0" tIns="0" rIns="0" bIns="0" rtlCol="0" anchor="ctr" anchorCtr="0">
                <a:spAutoFit/>
              </a:bodyPr>
              <a:lstStyle/>
              <a:p>
                <a:pPr>
                  <a:defRPr/>
                </a:pPr>
                <a:r>
                  <a:rPr lang="en-GB" altLang="en-US" sz="1600" b="1" dirty="0">
                    <a:solidFill>
                      <a:schemeClr val="bg1"/>
                    </a:solidFill>
                  </a:rPr>
                  <a:t>Sphere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288</a:t>
                </a:r>
                <a14:m>
                  <m:oMath xmlns:m="http://schemas.openxmlformats.org/officeDocument/2006/math">
                    <m:r>
                      <a:rPr lang="en-GB" altLang="en-US" sz="1600" b="1" i="1" dirty="0" smtClean="0">
                        <a:latin typeface="Cambria Math" panose="02040503050406030204" pitchFamily="18" charset="0"/>
                      </a:rPr>
                      <m:t>𝝅</m:t>
                    </m:r>
                  </m:oMath>
                </a14:m>
                <a:r>
                  <a:rPr lang="en-GB" altLang="en-US" sz="1600" b="1" dirty="0"/>
                  <a:t>cm</a:t>
                </a:r>
                <a:r>
                  <a:rPr lang="en-GB" altLang="en-US" sz="1600" b="1" baseline="30000" dirty="0"/>
                  <a:t>3</a:t>
                </a:r>
              </a:p>
            </p:txBody>
          </p:sp>
        </mc:Choice>
        <mc:Fallback xmlns="">
          <p:sp>
            <p:nvSpPr>
              <p:cNvPr id="81" name="TextBox 80">
                <a:extLst>
                  <a:ext uri="{FF2B5EF4-FFF2-40B4-BE49-F238E27FC236}">
                    <a16:creationId xmlns:a16="http://schemas.microsoft.com/office/drawing/2014/main" id="{30712DC6-4454-F04A-8E12-A8E84384D392}"/>
                  </a:ext>
                </a:extLst>
              </p:cNvPr>
              <p:cNvSpPr txBox="1">
                <a:spLocks noRot="1" noChangeAspect="1" noMove="1" noResize="1" noEditPoints="1" noAdjustHandles="1" noChangeArrowheads="1" noChangeShapeType="1" noTextEdit="1"/>
              </p:cNvSpPr>
              <p:nvPr/>
            </p:nvSpPr>
            <p:spPr>
              <a:xfrm>
                <a:off x="5092756" y="4074896"/>
                <a:ext cx="1652214" cy="246221"/>
              </a:xfrm>
              <a:prstGeom prst="rect">
                <a:avLst/>
              </a:prstGeom>
              <a:blipFill>
                <a:blip r:embed="rId10"/>
                <a:stretch>
                  <a:fillRect l="-6870" t="-25000" r="-1527" b="-45000"/>
                </a:stretch>
              </a:blipFill>
            </p:spPr>
            <p:txBody>
              <a:bodyPr/>
              <a:lstStyle/>
              <a:p>
                <a:r>
                  <a:rPr lang="en-GB">
                    <a:noFill/>
                  </a:rPr>
                  <a:t> </a:t>
                </a:r>
              </a:p>
            </p:txBody>
          </p:sp>
        </mc:Fallback>
      </mc:AlternateContent>
      <p:sp>
        <p:nvSpPr>
          <p:cNvPr id="83" name="Rectangle 82">
            <a:extLst>
              <a:ext uri="{FF2B5EF4-FFF2-40B4-BE49-F238E27FC236}">
                <a16:creationId xmlns:a16="http://schemas.microsoft.com/office/drawing/2014/main" id="{CC5A8522-FC84-204C-985F-14C48D54B3AD}"/>
              </a:ext>
            </a:extLst>
          </p:cNvPr>
          <p:cNvSpPr/>
          <p:nvPr/>
        </p:nvSpPr>
        <p:spPr>
          <a:xfrm>
            <a:off x="7960357" y="4091318"/>
            <a:ext cx="813304" cy="21041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69AEADD-A4A2-D24D-A3A5-FF2BBA114DD0}"/>
                  </a:ext>
                </a:extLst>
              </p:cNvPr>
              <p:cNvSpPr txBox="1"/>
              <p:nvPr/>
            </p:nvSpPr>
            <p:spPr>
              <a:xfrm>
                <a:off x="7044144" y="3809878"/>
                <a:ext cx="1951389" cy="246221"/>
              </a:xfrm>
              <a:prstGeom prst="rect">
                <a:avLst/>
              </a:prstGeom>
              <a:noFill/>
            </p:spPr>
            <p:txBody>
              <a:bodyPr wrap="square" lIns="0" tIns="0" rIns="0" bIns="0" rtlCol="0" anchor="ctr" anchorCtr="0">
                <a:spAutoFit/>
              </a:bodyPr>
              <a:lstStyle/>
              <a:p>
                <a:pPr>
                  <a:defRPr/>
                </a:pPr>
                <a:r>
                  <a:rPr lang="en-GB" altLang="en-US" sz="1600" b="1" dirty="0"/>
                  <a:t>Cylinder</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14:m>
                  <m:oMath xmlns:m="http://schemas.openxmlformats.org/officeDocument/2006/math">
                    <m:r>
                      <a:rPr lang="en-GB" altLang="en-US" sz="1600" b="1" i="1" smtClean="0">
                        <a:latin typeface="Cambria Math" panose="02040503050406030204" pitchFamily="18" charset="0"/>
                      </a:rPr>
                      <m:t>𝝅</m:t>
                    </m:r>
                  </m:oMath>
                </a14:m>
                <a:r>
                  <a:rPr lang="en-GB" altLang="en-US" sz="1600" dirty="0"/>
                  <a:t> </a:t>
                </a:r>
                <a14:m>
                  <m:oMath xmlns:m="http://schemas.openxmlformats.org/officeDocument/2006/math">
                    <m:r>
                      <a:rPr lang="en-GB" altLang="en-US" sz="1600" b="0" i="1" dirty="0" smtClean="0">
                        <a:latin typeface="Cambria Math" panose="02040503050406030204" pitchFamily="18" charset="0"/>
                      </a:rPr>
                      <m:t>×</m:t>
                    </m:r>
                  </m:oMath>
                </a14:m>
                <a:r>
                  <a:rPr lang="en-GB" altLang="en-US" sz="1600" dirty="0"/>
                  <a:t> 11</a:t>
                </a:r>
                <a:r>
                  <a:rPr lang="en-GB" altLang="en-US" sz="1600" baseline="30000" dirty="0"/>
                  <a:t>2</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2</a:t>
                </a:r>
              </a:p>
            </p:txBody>
          </p:sp>
        </mc:Choice>
        <mc:Fallback xmlns="">
          <p:sp>
            <p:nvSpPr>
              <p:cNvPr id="84" name="TextBox 83">
                <a:extLst>
                  <a:ext uri="{FF2B5EF4-FFF2-40B4-BE49-F238E27FC236}">
                    <a16:creationId xmlns:a16="http://schemas.microsoft.com/office/drawing/2014/main" id="{769AEADD-A4A2-D24D-A3A5-FF2BBA114DD0}"/>
                  </a:ext>
                </a:extLst>
              </p:cNvPr>
              <p:cNvSpPr txBox="1">
                <a:spLocks noRot="1" noChangeAspect="1" noMove="1" noResize="1" noEditPoints="1" noAdjustHandles="1" noChangeArrowheads="1" noChangeShapeType="1" noTextEdit="1"/>
              </p:cNvSpPr>
              <p:nvPr/>
            </p:nvSpPr>
            <p:spPr>
              <a:xfrm>
                <a:off x="7044144" y="3809878"/>
                <a:ext cx="1951389" cy="246221"/>
              </a:xfrm>
              <a:prstGeom prst="rect">
                <a:avLst/>
              </a:prstGeom>
              <a:blipFill>
                <a:blip r:embed="rId11"/>
                <a:stretch>
                  <a:fillRect l="-6494" t="-26316" r="-5195" b="-473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1D659190-2D76-FD42-8F92-BDF0ECEF0231}"/>
                  </a:ext>
                </a:extLst>
              </p:cNvPr>
              <p:cNvSpPr txBox="1"/>
              <p:nvPr/>
            </p:nvSpPr>
            <p:spPr>
              <a:xfrm>
                <a:off x="7044144" y="4074896"/>
                <a:ext cx="1849287" cy="246221"/>
              </a:xfrm>
              <a:prstGeom prst="rect">
                <a:avLst/>
              </a:prstGeom>
              <a:noFill/>
            </p:spPr>
            <p:txBody>
              <a:bodyPr wrap="square" lIns="0" tIns="0" rIns="0" bIns="0" rtlCol="0" anchor="ctr" anchorCtr="0">
                <a:spAutoFit/>
              </a:bodyPr>
              <a:lstStyle/>
              <a:p>
                <a:pPr>
                  <a:defRPr/>
                </a:pPr>
                <a:r>
                  <a:rPr lang="en-GB" altLang="en-US" sz="1600" b="1" dirty="0">
                    <a:solidFill>
                      <a:schemeClr val="bg1"/>
                    </a:solidFill>
                  </a:rPr>
                  <a:t>Cylinder</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r>
                  <a:rPr lang="en-GB" altLang="en-US" sz="1600" b="1" dirty="0"/>
                  <a:t>242</a:t>
                </a:r>
                <a14:m>
                  <m:oMath xmlns:m="http://schemas.openxmlformats.org/officeDocument/2006/math">
                    <m:r>
                      <a:rPr lang="en-GB" altLang="en-US" sz="1600" b="1" i="1" dirty="0" smtClean="0">
                        <a:latin typeface="Cambria Math" panose="02040503050406030204" pitchFamily="18" charset="0"/>
                      </a:rPr>
                      <m:t>𝝅</m:t>
                    </m:r>
                  </m:oMath>
                </a14:m>
                <a:r>
                  <a:rPr lang="en-GB" altLang="en-US" sz="1600" b="1" dirty="0"/>
                  <a:t>cm</a:t>
                </a:r>
                <a:r>
                  <a:rPr lang="en-GB" altLang="en-US" sz="1600" b="1" baseline="30000" dirty="0"/>
                  <a:t>3</a:t>
                </a:r>
              </a:p>
            </p:txBody>
          </p:sp>
        </mc:Choice>
        <mc:Fallback xmlns="">
          <p:sp>
            <p:nvSpPr>
              <p:cNvPr id="85" name="TextBox 84">
                <a:extLst>
                  <a:ext uri="{FF2B5EF4-FFF2-40B4-BE49-F238E27FC236}">
                    <a16:creationId xmlns:a16="http://schemas.microsoft.com/office/drawing/2014/main" id="{1D659190-2D76-FD42-8F92-BDF0ECEF0231}"/>
                  </a:ext>
                </a:extLst>
              </p:cNvPr>
              <p:cNvSpPr txBox="1">
                <a:spLocks noRot="1" noChangeAspect="1" noMove="1" noResize="1" noEditPoints="1" noAdjustHandles="1" noChangeArrowheads="1" noChangeShapeType="1" noTextEdit="1"/>
              </p:cNvSpPr>
              <p:nvPr/>
            </p:nvSpPr>
            <p:spPr>
              <a:xfrm>
                <a:off x="7044144" y="4074896"/>
                <a:ext cx="1849287" cy="246221"/>
              </a:xfrm>
              <a:prstGeom prst="rect">
                <a:avLst/>
              </a:prstGeom>
              <a:blipFill>
                <a:blip r:embed="rId12"/>
                <a:stretch>
                  <a:fillRect l="-6849" t="-25000" b="-45000"/>
                </a:stretch>
              </a:blipFill>
            </p:spPr>
            <p:txBody>
              <a:bodyPr/>
              <a:lstStyle/>
              <a:p>
                <a:r>
                  <a:rPr lang="en-GB">
                    <a:noFill/>
                  </a:rPr>
                  <a:t> </a:t>
                </a:r>
              </a:p>
            </p:txBody>
          </p:sp>
        </mc:Fallback>
      </mc:AlternateContent>
    </p:spTree>
    <p:extLst>
      <p:ext uri="{BB962C8B-B14F-4D97-AF65-F5344CB8AC3E}">
        <p14:creationId xmlns:p14="http://schemas.microsoft.com/office/powerpoint/2010/main" val="280503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dissolve">
                                      <p:cBhvr>
                                        <p:cTn id="12" dur="500"/>
                                        <p:tgtEl>
                                          <p:spTgt spid="3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dissolve">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dissolve">
                                      <p:cBhvr>
                                        <p:cTn id="20" dur="500"/>
                                        <p:tgtEl>
                                          <p:spTgt spid="43"/>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dissolve">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dissolve">
                                      <p:cBhvr>
                                        <p:cTn id="31" dur="500"/>
                                        <p:tgtEl>
                                          <p:spTgt spid="4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dissolve">
                                      <p:cBhvr>
                                        <p:cTn id="34" dur="500"/>
                                        <p:tgtEl>
                                          <p:spTgt spid="4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dissolve">
                                      <p:cBhvr>
                                        <p:cTn id="37" dur="500"/>
                                        <p:tgtEl>
                                          <p:spTgt spid="16"/>
                                        </p:tgtEl>
                                      </p:cBhvr>
                                    </p:animEffect>
                                  </p:childTnLst>
                                </p:cTn>
                              </p:par>
                              <p:par>
                                <p:cTn id="38" presetID="9" presetClass="entr" presetSubtype="0" fill="hold"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dissolve">
                                      <p:cBhvr>
                                        <p:cTn id="40" dur="500"/>
                                        <p:tgtEl>
                                          <p:spTgt spid="44"/>
                                        </p:tgtEl>
                                      </p:cBhvr>
                                    </p:animEffect>
                                  </p:childTnLst>
                                </p:cTn>
                              </p:par>
                              <p:par>
                                <p:cTn id="41" presetID="9"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dissolve">
                                      <p:cBhvr>
                                        <p:cTn id="43" dur="500"/>
                                        <p:tgtEl>
                                          <p:spTgt spid="4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80"/>
                                        </p:tgtEl>
                                        <p:attrNameLst>
                                          <p:attrName>style.visibility</p:attrName>
                                        </p:attrNameLst>
                                      </p:cBhvr>
                                      <p:to>
                                        <p:strVal val="visible"/>
                                      </p:to>
                                    </p:set>
                                    <p:animEffect transition="in" filter="dissolve">
                                      <p:cBhvr>
                                        <p:cTn id="48" dur="500"/>
                                        <p:tgtEl>
                                          <p:spTgt spid="8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dissolve">
                                      <p:cBhvr>
                                        <p:cTn id="53" dur="500"/>
                                        <p:tgtEl>
                                          <p:spTgt spid="81"/>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79"/>
                                        </p:tgtEl>
                                        <p:attrNameLst>
                                          <p:attrName>style.visibility</p:attrName>
                                        </p:attrNameLst>
                                      </p:cBhvr>
                                      <p:to>
                                        <p:strVal val="visible"/>
                                      </p:to>
                                    </p:set>
                                    <p:animEffect transition="in" filter="dissolve">
                                      <p:cBhvr>
                                        <p:cTn id="56" dur="500"/>
                                        <p:tgtEl>
                                          <p:spTgt spid="79"/>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84"/>
                                        </p:tgtEl>
                                        <p:attrNameLst>
                                          <p:attrName>style.visibility</p:attrName>
                                        </p:attrNameLst>
                                      </p:cBhvr>
                                      <p:to>
                                        <p:strVal val="visible"/>
                                      </p:to>
                                    </p:set>
                                    <p:animEffect transition="in" filter="dissolve">
                                      <p:cBhvr>
                                        <p:cTn id="61" dur="500"/>
                                        <p:tgtEl>
                                          <p:spTgt spid="84"/>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85"/>
                                        </p:tgtEl>
                                        <p:attrNameLst>
                                          <p:attrName>style.visibility</p:attrName>
                                        </p:attrNameLst>
                                      </p:cBhvr>
                                      <p:to>
                                        <p:strVal val="visible"/>
                                      </p:to>
                                    </p:set>
                                    <p:animEffect transition="in" filter="dissolve">
                                      <p:cBhvr>
                                        <p:cTn id="66" dur="500"/>
                                        <p:tgtEl>
                                          <p:spTgt spid="85"/>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83"/>
                                        </p:tgtEl>
                                        <p:attrNameLst>
                                          <p:attrName>style.visibility</p:attrName>
                                        </p:attrNameLst>
                                      </p:cBhvr>
                                      <p:to>
                                        <p:strVal val="visible"/>
                                      </p:to>
                                    </p:set>
                                    <p:animEffect transition="in" filter="dissolve">
                                      <p:cBhvr>
                                        <p:cTn id="69" dur="500"/>
                                        <p:tgtEl>
                                          <p:spTgt spid="83"/>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75"/>
                                        </p:tgtEl>
                                        <p:attrNameLst>
                                          <p:attrName>style.visibility</p:attrName>
                                        </p:attrNameLst>
                                      </p:cBhvr>
                                      <p:to>
                                        <p:strVal val="visible"/>
                                      </p:to>
                                    </p:set>
                                    <p:animEffect transition="in" filter="dissolve">
                                      <p:cBhvr>
                                        <p:cTn id="74"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6" grpId="0" animBg="1"/>
      <p:bldP spid="36" grpId="0" animBg="1"/>
      <p:bldP spid="37" grpId="0"/>
      <p:bldP spid="38" grpId="0"/>
      <p:bldP spid="42" grpId="0"/>
      <p:bldP spid="40" grpId="0" animBg="1"/>
      <p:bldP spid="43" grpId="0"/>
      <p:bldP spid="75" grpId="0" animBg="1"/>
      <p:bldP spid="79" grpId="0" animBg="1"/>
      <p:bldP spid="80" grpId="0"/>
      <p:bldP spid="81" grpId="0"/>
      <p:bldP spid="83" grpId="0" animBg="1"/>
      <p:bldP spid="84" grpId="0"/>
      <p:bldP spid="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76">
            <a:extLst>
              <a:ext uri="{FF2B5EF4-FFF2-40B4-BE49-F238E27FC236}">
                <a16:creationId xmlns:a16="http://schemas.microsoft.com/office/drawing/2014/main" id="{CFB31FD0-BC70-DB48-9695-5F56D4BD31DD}"/>
              </a:ext>
            </a:extLst>
          </p:cNvPr>
          <p:cNvSpPr txBox="1"/>
          <p:nvPr/>
        </p:nvSpPr>
        <p:spPr>
          <a:xfrm>
            <a:off x="53020" y="971605"/>
            <a:ext cx="513302" cy="307777"/>
          </a:xfrm>
          <a:prstGeom prst="rect">
            <a:avLst/>
          </a:prstGeom>
          <a:noFill/>
        </p:spPr>
        <p:txBody>
          <a:bodyPr wrap="square" lIns="36000" tIns="0" rIns="0" bIns="0" rtlCol="0">
            <a:spAutoFit/>
          </a:bodyPr>
          <a:lstStyle/>
          <a:p>
            <a:r>
              <a:rPr lang="en-GB" sz="2000" b="1" dirty="0"/>
              <a:t>Q1</a:t>
            </a:r>
          </a:p>
        </p:txBody>
      </p:sp>
      <p:sp>
        <p:nvSpPr>
          <p:cNvPr id="84" name="TextBox 83">
            <a:extLst>
              <a:ext uri="{FF2B5EF4-FFF2-40B4-BE49-F238E27FC236}">
                <a16:creationId xmlns:a16="http://schemas.microsoft.com/office/drawing/2014/main" id="{9D50AD35-6889-304A-A3DE-09E64F5D940F}"/>
              </a:ext>
            </a:extLst>
          </p:cNvPr>
          <p:cNvSpPr txBox="1"/>
          <p:nvPr/>
        </p:nvSpPr>
        <p:spPr>
          <a:xfrm>
            <a:off x="460173" y="971605"/>
            <a:ext cx="8465342" cy="307777"/>
          </a:xfrm>
          <a:prstGeom prst="rect">
            <a:avLst/>
          </a:prstGeom>
          <a:noFill/>
        </p:spPr>
        <p:txBody>
          <a:bodyPr wrap="square" lIns="36000" tIns="0" rIns="0" bIns="0" rtlCol="0">
            <a:spAutoFit/>
          </a:bodyPr>
          <a:lstStyle/>
          <a:p>
            <a:pPr>
              <a:defRPr/>
            </a:pPr>
            <a:r>
              <a:rPr lang="en-GB" altLang="en-US" sz="2000" dirty="0"/>
              <a:t>Work out the volume of each of the following spheres to three significant figures.</a:t>
            </a:r>
            <a:endParaRPr lang="en-GB" altLang="en-US" sz="2000" baseline="30000" dirty="0"/>
          </a:p>
        </p:txBody>
      </p:sp>
      <p:cxnSp>
        <p:nvCxnSpPr>
          <p:cNvPr id="85" name="Straight Connector 84">
            <a:extLst>
              <a:ext uri="{FF2B5EF4-FFF2-40B4-BE49-F238E27FC236}">
                <a16:creationId xmlns:a16="http://schemas.microsoft.com/office/drawing/2014/main" id="{927E555C-8DB1-2246-9949-773D52CBBBAB}"/>
              </a:ext>
            </a:extLst>
          </p:cNvPr>
          <p:cNvCxnSpPr>
            <a:cxnSpLocks/>
          </p:cNvCxnSpPr>
          <p:nvPr/>
        </p:nvCxnSpPr>
        <p:spPr>
          <a:xfrm>
            <a:off x="2286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00C1C96-58B7-6C42-84A7-465271B8E04C}"/>
              </a:ext>
            </a:extLst>
          </p:cNvPr>
          <p:cNvCxnSpPr>
            <a:cxnSpLocks/>
          </p:cNvCxnSpPr>
          <p:nvPr/>
        </p:nvCxnSpPr>
        <p:spPr>
          <a:xfrm>
            <a:off x="6858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E9FA09A-5064-C741-9D19-FBA5BA832621}"/>
              </a:ext>
            </a:extLst>
          </p:cNvPr>
          <p:cNvCxnSpPr>
            <a:cxnSpLocks/>
          </p:cNvCxnSpPr>
          <p:nvPr/>
        </p:nvCxnSpPr>
        <p:spPr>
          <a:xfrm flipH="1">
            <a:off x="0" y="2937573"/>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B409D43-0E3B-FF4E-B6E4-3FF731E93137}"/>
              </a:ext>
            </a:extLst>
          </p:cNvPr>
          <p:cNvCxnSpPr>
            <a:cxnSpLocks/>
          </p:cNvCxnSpPr>
          <p:nvPr/>
        </p:nvCxnSpPr>
        <p:spPr>
          <a:xfrm flipH="1">
            <a:off x="0" y="1361287"/>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D6A0F744-0014-CA41-B494-CC7729E8A5AF}"/>
              </a:ext>
            </a:extLst>
          </p:cNvPr>
          <p:cNvSpPr txBox="1"/>
          <p:nvPr/>
        </p:nvSpPr>
        <p:spPr>
          <a:xfrm>
            <a:off x="11769" y="1396994"/>
            <a:ext cx="513302" cy="246221"/>
          </a:xfrm>
          <a:prstGeom prst="rect">
            <a:avLst/>
          </a:prstGeom>
          <a:noFill/>
        </p:spPr>
        <p:txBody>
          <a:bodyPr wrap="square" lIns="36000" tIns="0" rIns="0" bIns="0" rtlCol="0">
            <a:spAutoFit/>
          </a:bodyPr>
          <a:lstStyle/>
          <a:p>
            <a:r>
              <a:rPr lang="en-GB" sz="1600" b="1" dirty="0"/>
              <a:t>[a]</a:t>
            </a:r>
          </a:p>
        </p:txBody>
      </p:sp>
      <p:sp>
        <p:nvSpPr>
          <p:cNvPr id="90" name="TextBox 89">
            <a:extLst>
              <a:ext uri="{FF2B5EF4-FFF2-40B4-BE49-F238E27FC236}">
                <a16:creationId xmlns:a16="http://schemas.microsoft.com/office/drawing/2014/main" id="{C8CF769B-EFE4-2F49-BCCF-C78578E966DD}"/>
              </a:ext>
            </a:extLst>
          </p:cNvPr>
          <p:cNvSpPr txBox="1"/>
          <p:nvPr/>
        </p:nvSpPr>
        <p:spPr>
          <a:xfrm>
            <a:off x="2301836" y="1396994"/>
            <a:ext cx="513302" cy="246221"/>
          </a:xfrm>
          <a:prstGeom prst="rect">
            <a:avLst/>
          </a:prstGeom>
          <a:noFill/>
        </p:spPr>
        <p:txBody>
          <a:bodyPr wrap="square" lIns="36000" tIns="0" rIns="0" bIns="0" rtlCol="0">
            <a:spAutoFit/>
          </a:bodyPr>
          <a:lstStyle/>
          <a:p>
            <a:r>
              <a:rPr lang="en-GB" sz="1600" b="1" dirty="0"/>
              <a:t>[b]</a:t>
            </a:r>
          </a:p>
        </p:txBody>
      </p:sp>
      <p:sp>
        <p:nvSpPr>
          <p:cNvPr id="91" name="TextBox 90">
            <a:extLst>
              <a:ext uri="{FF2B5EF4-FFF2-40B4-BE49-F238E27FC236}">
                <a16:creationId xmlns:a16="http://schemas.microsoft.com/office/drawing/2014/main" id="{54D5CEBD-9B8E-A648-8E81-19118267B0E8}"/>
              </a:ext>
            </a:extLst>
          </p:cNvPr>
          <p:cNvSpPr txBox="1"/>
          <p:nvPr/>
        </p:nvSpPr>
        <p:spPr>
          <a:xfrm>
            <a:off x="4591914" y="1396994"/>
            <a:ext cx="513302" cy="246221"/>
          </a:xfrm>
          <a:prstGeom prst="rect">
            <a:avLst/>
          </a:prstGeom>
          <a:noFill/>
        </p:spPr>
        <p:txBody>
          <a:bodyPr wrap="square" lIns="36000" tIns="0" rIns="0" bIns="0" rtlCol="0">
            <a:spAutoFit/>
          </a:bodyPr>
          <a:lstStyle/>
          <a:p>
            <a:r>
              <a:rPr lang="en-GB" sz="1600" b="1" dirty="0"/>
              <a:t>[c]</a:t>
            </a:r>
          </a:p>
        </p:txBody>
      </p:sp>
      <p:sp>
        <p:nvSpPr>
          <p:cNvPr id="92" name="TextBox 91">
            <a:extLst>
              <a:ext uri="{FF2B5EF4-FFF2-40B4-BE49-F238E27FC236}">
                <a16:creationId xmlns:a16="http://schemas.microsoft.com/office/drawing/2014/main" id="{B381144E-C254-604F-A30E-1576ECAAE22B}"/>
              </a:ext>
            </a:extLst>
          </p:cNvPr>
          <p:cNvSpPr txBox="1"/>
          <p:nvPr/>
        </p:nvSpPr>
        <p:spPr>
          <a:xfrm>
            <a:off x="11769" y="2978231"/>
            <a:ext cx="513302" cy="246221"/>
          </a:xfrm>
          <a:prstGeom prst="rect">
            <a:avLst/>
          </a:prstGeom>
          <a:noFill/>
        </p:spPr>
        <p:txBody>
          <a:bodyPr wrap="square" lIns="36000" tIns="0" rIns="0" bIns="0" rtlCol="0">
            <a:spAutoFit/>
          </a:bodyPr>
          <a:lstStyle/>
          <a:p>
            <a:r>
              <a:rPr lang="en-GB" sz="1600" b="1" dirty="0"/>
              <a:t>[e]</a:t>
            </a:r>
          </a:p>
        </p:txBody>
      </p:sp>
      <p:sp>
        <p:nvSpPr>
          <p:cNvPr id="95" name="TextBox 94">
            <a:extLst>
              <a:ext uri="{FF2B5EF4-FFF2-40B4-BE49-F238E27FC236}">
                <a16:creationId xmlns:a16="http://schemas.microsoft.com/office/drawing/2014/main" id="{C0B0540C-862E-474E-8086-74E601B87995}"/>
              </a:ext>
            </a:extLst>
          </p:cNvPr>
          <p:cNvSpPr txBox="1"/>
          <p:nvPr/>
        </p:nvSpPr>
        <p:spPr>
          <a:xfrm>
            <a:off x="2301836" y="2978231"/>
            <a:ext cx="513302" cy="246221"/>
          </a:xfrm>
          <a:prstGeom prst="rect">
            <a:avLst/>
          </a:prstGeom>
          <a:noFill/>
        </p:spPr>
        <p:txBody>
          <a:bodyPr wrap="square" lIns="36000" tIns="0" rIns="0" bIns="0" rtlCol="0">
            <a:spAutoFit/>
          </a:bodyPr>
          <a:lstStyle/>
          <a:p>
            <a:r>
              <a:rPr lang="en-GB" sz="1600" b="1" dirty="0"/>
              <a:t>[f]</a:t>
            </a:r>
          </a:p>
        </p:txBody>
      </p:sp>
      <p:sp>
        <p:nvSpPr>
          <p:cNvPr id="98" name="TextBox 97">
            <a:extLst>
              <a:ext uri="{FF2B5EF4-FFF2-40B4-BE49-F238E27FC236}">
                <a16:creationId xmlns:a16="http://schemas.microsoft.com/office/drawing/2014/main" id="{4FD9F5C6-7C6D-4D43-8561-07CABE256EA2}"/>
              </a:ext>
            </a:extLst>
          </p:cNvPr>
          <p:cNvSpPr txBox="1"/>
          <p:nvPr/>
        </p:nvSpPr>
        <p:spPr>
          <a:xfrm>
            <a:off x="4591914" y="2978231"/>
            <a:ext cx="513302" cy="246221"/>
          </a:xfrm>
          <a:prstGeom prst="rect">
            <a:avLst/>
          </a:prstGeom>
          <a:noFill/>
        </p:spPr>
        <p:txBody>
          <a:bodyPr wrap="square" lIns="36000" tIns="0" rIns="0" bIns="0" rtlCol="0">
            <a:spAutoFit/>
          </a:bodyPr>
          <a:lstStyle/>
          <a:p>
            <a:r>
              <a:rPr lang="en-GB" sz="1600" b="1" dirty="0"/>
              <a:t>[g]</a:t>
            </a:r>
          </a:p>
        </p:txBody>
      </p:sp>
      <p:sp>
        <p:nvSpPr>
          <p:cNvPr id="110" name="TextBox 109">
            <a:extLst>
              <a:ext uri="{FF2B5EF4-FFF2-40B4-BE49-F238E27FC236}">
                <a16:creationId xmlns:a16="http://schemas.microsoft.com/office/drawing/2014/main" id="{4F6B7394-5C5C-1841-83FE-5C4C4D4B56B3}"/>
              </a:ext>
            </a:extLst>
          </p:cNvPr>
          <p:cNvSpPr txBox="1"/>
          <p:nvPr/>
        </p:nvSpPr>
        <p:spPr>
          <a:xfrm>
            <a:off x="2638338" y="1412234"/>
            <a:ext cx="636234" cy="228925"/>
          </a:xfrm>
          <a:prstGeom prst="rect">
            <a:avLst/>
          </a:prstGeom>
          <a:solidFill>
            <a:schemeClr val="accent3"/>
          </a:solidFill>
          <a:ln>
            <a:noFill/>
          </a:ln>
        </p:spPr>
        <p:txBody>
          <a:bodyPr wrap="square" lIns="0" tIns="0" rIns="0" bIns="0" rtlCol="0" anchor="ctr">
            <a:spAutoFit/>
          </a:bodyPr>
          <a:lstStyle/>
          <a:p>
            <a:pPr algn="ctr"/>
            <a:r>
              <a:rPr lang="en-GB" sz="1800" b="1" dirty="0"/>
              <a:t>268ft</a:t>
            </a:r>
            <a:r>
              <a:rPr lang="en-GB" sz="1800" b="1" baseline="30000" dirty="0"/>
              <a:t>3</a:t>
            </a:r>
          </a:p>
        </p:txBody>
      </p:sp>
      <p:sp>
        <p:nvSpPr>
          <p:cNvPr id="111" name="TextBox 110">
            <a:extLst>
              <a:ext uri="{FF2B5EF4-FFF2-40B4-BE49-F238E27FC236}">
                <a16:creationId xmlns:a16="http://schemas.microsoft.com/office/drawing/2014/main" id="{99375456-BC56-9E4C-B816-A89ED6C219C3}"/>
              </a:ext>
            </a:extLst>
          </p:cNvPr>
          <p:cNvSpPr txBox="1"/>
          <p:nvPr/>
        </p:nvSpPr>
        <p:spPr>
          <a:xfrm>
            <a:off x="342345" y="1412234"/>
            <a:ext cx="795989" cy="228925"/>
          </a:xfrm>
          <a:prstGeom prst="rect">
            <a:avLst/>
          </a:prstGeom>
          <a:solidFill>
            <a:schemeClr val="accent3"/>
          </a:solidFill>
          <a:ln>
            <a:noFill/>
          </a:ln>
        </p:spPr>
        <p:txBody>
          <a:bodyPr wrap="square" lIns="0" tIns="0" rIns="0" bIns="0" rtlCol="0" anchor="ctr">
            <a:spAutoFit/>
          </a:bodyPr>
          <a:lstStyle/>
          <a:p>
            <a:pPr algn="ctr"/>
            <a:r>
              <a:rPr lang="en-GB" sz="1800" b="1" dirty="0"/>
              <a:t>33.5cm</a:t>
            </a:r>
            <a:r>
              <a:rPr lang="en-GB" sz="1800" b="1" baseline="30000" dirty="0"/>
              <a:t>3</a:t>
            </a:r>
          </a:p>
        </p:txBody>
      </p:sp>
      <p:sp>
        <p:nvSpPr>
          <p:cNvPr id="142" name="TextBox 141">
            <a:extLst>
              <a:ext uri="{FF2B5EF4-FFF2-40B4-BE49-F238E27FC236}">
                <a16:creationId xmlns:a16="http://schemas.microsoft.com/office/drawing/2014/main" id="{059A4A79-E7C5-EC44-B795-2F7885E65B6C}"/>
              </a:ext>
            </a:extLst>
          </p:cNvPr>
          <p:cNvSpPr txBox="1"/>
          <p:nvPr/>
        </p:nvSpPr>
        <p:spPr>
          <a:xfrm>
            <a:off x="4885732" y="1412234"/>
            <a:ext cx="731297" cy="228925"/>
          </a:xfrm>
          <a:prstGeom prst="rect">
            <a:avLst/>
          </a:prstGeom>
          <a:solidFill>
            <a:schemeClr val="accent3"/>
          </a:solidFill>
          <a:ln>
            <a:noFill/>
          </a:ln>
        </p:spPr>
        <p:txBody>
          <a:bodyPr wrap="square" lIns="0" tIns="0" rIns="0" bIns="0" rtlCol="0" anchor="ctr">
            <a:spAutoFit/>
          </a:bodyPr>
          <a:lstStyle/>
          <a:p>
            <a:pPr algn="ctr"/>
            <a:r>
              <a:rPr lang="en-GB" sz="1800" b="1" dirty="0"/>
              <a:t>4.19m</a:t>
            </a:r>
            <a:r>
              <a:rPr lang="en-GB" sz="1800" b="1" baseline="30000" dirty="0"/>
              <a:t>3</a:t>
            </a:r>
          </a:p>
        </p:txBody>
      </p:sp>
      <p:sp>
        <p:nvSpPr>
          <p:cNvPr id="143" name="TextBox 142">
            <a:extLst>
              <a:ext uri="{FF2B5EF4-FFF2-40B4-BE49-F238E27FC236}">
                <a16:creationId xmlns:a16="http://schemas.microsoft.com/office/drawing/2014/main" id="{25403D4C-F575-924A-A60B-FF6AD7DFFF9E}"/>
              </a:ext>
            </a:extLst>
          </p:cNvPr>
          <p:cNvSpPr txBox="1"/>
          <p:nvPr/>
        </p:nvSpPr>
        <p:spPr>
          <a:xfrm>
            <a:off x="2591843" y="2997194"/>
            <a:ext cx="685559" cy="228925"/>
          </a:xfrm>
          <a:prstGeom prst="rect">
            <a:avLst/>
          </a:prstGeom>
          <a:solidFill>
            <a:schemeClr val="accent3"/>
          </a:solidFill>
          <a:ln>
            <a:noFill/>
          </a:ln>
        </p:spPr>
        <p:txBody>
          <a:bodyPr wrap="square" lIns="0" tIns="0" rIns="0" bIns="0" rtlCol="0" anchor="ctr">
            <a:spAutoFit/>
          </a:bodyPr>
          <a:lstStyle/>
          <a:p>
            <a:pPr algn="ctr"/>
            <a:r>
              <a:rPr lang="en-GB" sz="1800" b="1" dirty="0"/>
              <a:t>524m</a:t>
            </a:r>
            <a:r>
              <a:rPr lang="en-GB" sz="1800" b="1" baseline="30000" dirty="0"/>
              <a:t>3</a:t>
            </a:r>
          </a:p>
        </p:txBody>
      </p:sp>
      <p:sp>
        <p:nvSpPr>
          <p:cNvPr id="144" name="TextBox 143">
            <a:extLst>
              <a:ext uri="{FF2B5EF4-FFF2-40B4-BE49-F238E27FC236}">
                <a16:creationId xmlns:a16="http://schemas.microsoft.com/office/drawing/2014/main" id="{3B39C54F-39E0-1C43-908C-AAA18C892D31}"/>
              </a:ext>
            </a:extLst>
          </p:cNvPr>
          <p:cNvSpPr txBox="1"/>
          <p:nvPr/>
        </p:nvSpPr>
        <p:spPr>
          <a:xfrm>
            <a:off x="334596" y="2985747"/>
            <a:ext cx="815623" cy="251818"/>
          </a:xfrm>
          <a:prstGeom prst="rect">
            <a:avLst/>
          </a:prstGeom>
          <a:solidFill>
            <a:schemeClr val="accent3"/>
          </a:solidFill>
          <a:ln>
            <a:noFill/>
          </a:ln>
        </p:spPr>
        <p:txBody>
          <a:bodyPr wrap="square" lIns="0" tIns="0" rIns="0" bIns="0" rtlCol="0" anchor="ctr">
            <a:spAutoFit/>
          </a:bodyPr>
          <a:lstStyle/>
          <a:p>
            <a:pPr algn="ctr"/>
            <a:r>
              <a:rPr lang="en-GB" sz="1800" b="1" dirty="0"/>
              <a:t>4190yd</a:t>
            </a:r>
            <a:r>
              <a:rPr lang="en-GB" sz="1800" b="1" baseline="30000" dirty="0"/>
              <a:t>3</a:t>
            </a:r>
          </a:p>
        </p:txBody>
      </p:sp>
      <p:sp>
        <p:nvSpPr>
          <p:cNvPr id="145" name="TextBox 144">
            <a:extLst>
              <a:ext uri="{FF2B5EF4-FFF2-40B4-BE49-F238E27FC236}">
                <a16:creationId xmlns:a16="http://schemas.microsoft.com/office/drawing/2014/main" id="{7EB0E1D3-CC9C-2342-8AC2-704EE8485DE9}"/>
              </a:ext>
            </a:extLst>
          </p:cNvPr>
          <p:cNvSpPr txBox="1"/>
          <p:nvPr/>
        </p:nvSpPr>
        <p:spPr>
          <a:xfrm>
            <a:off x="4908980" y="2997194"/>
            <a:ext cx="761116" cy="228925"/>
          </a:xfrm>
          <a:prstGeom prst="rect">
            <a:avLst/>
          </a:prstGeom>
          <a:solidFill>
            <a:schemeClr val="accent3"/>
          </a:solidFill>
          <a:ln>
            <a:noFill/>
          </a:ln>
        </p:spPr>
        <p:txBody>
          <a:bodyPr wrap="square" lIns="0" tIns="0" rIns="0" bIns="0" rtlCol="0" anchor="ctr">
            <a:spAutoFit/>
          </a:bodyPr>
          <a:lstStyle/>
          <a:p>
            <a:pPr algn="ctr"/>
            <a:r>
              <a:rPr lang="en-GB" sz="1800" b="1" dirty="0"/>
              <a:t>2140in</a:t>
            </a:r>
            <a:r>
              <a:rPr lang="en-GB" sz="1800" b="1" baseline="30000" dirty="0"/>
              <a:t>3</a:t>
            </a:r>
          </a:p>
        </p:txBody>
      </p:sp>
      <p:cxnSp>
        <p:nvCxnSpPr>
          <p:cNvPr id="159" name="Straight Connector 158">
            <a:extLst>
              <a:ext uri="{FF2B5EF4-FFF2-40B4-BE49-F238E27FC236}">
                <a16:creationId xmlns:a16="http://schemas.microsoft.com/office/drawing/2014/main" id="{2663FEEC-48E5-6646-9BE4-3FAE85CC1A90}"/>
              </a:ext>
            </a:extLst>
          </p:cNvPr>
          <p:cNvCxnSpPr>
            <a:cxnSpLocks/>
          </p:cNvCxnSpPr>
          <p:nvPr/>
        </p:nvCxnSpPr>
        <p:spPr>
          <a:xfrm>
            <a:off x="4572000" y="1361287"/>
            <a:ext cx="0" cy="3152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1483CA83-CF6B-3C41-B55D-FDCC2DDB0675}"/>
              </a:ext>
            </a:extLst>
          </p:cNvPr>
          <p:cNvSpPr txBox="1"/>
          <p:nvPr/>
        </p:nvSpPr>
        <p:spPr>
          <a:xfrm>
            <a:off x="6877914" y="1396994"/>
            <a:ext cx="513302" cy="246221"/>
          </a:xfrm>
          <a:prstGeom prst="rect">
            <a:avLst/>
          </a:prstGeom>
          <a:noFill/>
        </p:spPr>
        <p:txBody>
          <a:bodyPr wrap="square" lIns="36000" tIns="0" rIns="0" bIns="0" rtlCol="0">
            <a:spAutoFit/>
          </a:bodyPr>
          <a:lstStyle/>
          <a:p>
            <a:r>
              <a:rPr lang="en-GB" sz="1600" b="1" dirty="0"/>
              <a:t>[d]</a:t>
            </a:r>
          </a:p>
        </p:txBody>
      </p:sp>
      <p:sp>
        <p:nvSpPr>
          <p:cNvPr id="161" name="TextBox 160">
            <a:extLst>
              <a:ext uri="{FF2B5EF4-FFF2-40B4-BE49-F238E27FC236}">
                <a16:creationId xmlns:a16="http://schemas.microsoft.com/office/drawing/2014/main" id="{263BD4CC-FE86-524C-9BA6-D071994561BB}"/>
              </a:ext>
            </a:extLst>
          </p:cNvPr>
          <p:cNvSpPr txBox="1"/>
          <p:nvPr/>
        </p:nvSpPr>
        <p:spPr>
          <a:xfrm>
            <a:off x="6877914" y="2978231"/>
            <a:ext cx="513302" cy="246221"/>
          </a:xfrm>
          <a:prstGeom prst="rect">
            <a:avLst/>
          </a:prstGeom>
          <a:noFill/>
        </p:spPr>
        <p:txBody>
          <a:bodyPr wrap="square" lIns="36000" tIns="0" rIns="0" bIns="0" rtlCol="0">
            <a:spAutoFit/>
          </a:bodyPr>
          <a:lstStyle/>
          <a:p>
            <a:r>
              <a:rPr lang="en-GB" sz="1600" b="1" dirty="0"/>
              <a:t>[h]</a:t>
            </a:r>
          </a:p>
        </p:txBody>
      </p:sp>
      <p:sp>
        <p:nvSpPr>
          <p:cNvPr id="162" name="TextBox 161">
            <a:extLst>
              <a:ext uri="{FF2B5EF4-FFF2-40B4-BE49-F238E27FC236}">
                <a16:creationId xmlns:a16="http://schemas.microsoft.com/office/drawing/2014/main" id="{A298601C-C86C-914C-9BE0-E1ED681855C8}"/>
              </a:ext>
            </a:extLst>
          </p:cNvPr>
          <p:cNvSpPr txBox="1"/>
          <p:nvPr/>
        </p:nvSpPr>
        <p:spPr>
          <a:xfrm>
            <a:off x="7202728" y="1412234"/>
            <a:ext cx="979846" cy="228925"/>
          </a:xfrm>
          <a:prstGeom prst="rect">
            <a:avLst/>
          </a:prstGeom>
          <a:solidFill>
            <a:schemeClr val="accent3"/>
          </a:solidFill>
          <a:ln>
            <a:noFill/>
          </a:ln>
        </p:spPr>
        <p:txBody>
          <a:bodyPr wrap="square" lIns="0" tIns="0" rIns="0" bIns="0" rtlCol="0" anchor="ctr">
            <a:spAutoFit/>
          </a:bodyPr>
          <a:lstStyle/>
          <a:p>
            <a:pPr algn="ctr"/>
            <a:r>
              <a:rPr lang="en-GB" sz="1800" b="1" dirty="0"/>
              <a:t>3050mm</a:t>
            </a:r>
            <a:r>
              <a:rPr lang="en-GB" sz="1800" b="1" baseline="30000" dirty="0"/>
              <a:t>3</a:t>
            </a:r>
          </a:p>
        </p:txBody>
      </p:sp>
      <p:sp>
        <p:nvSpPr>
          <p:cNvPr id="163" name="TextBox 162">
            <a:extLst>
              <a:ext uri="{FF2B5EF4-FFF2-40B4-BE49-F238E27FC236}">
                <a16:creationId xmlns:a16="http://schemas.microsoft.com/office/drawing/2014/main" id="{7CFF1777-BED1-7D42-A94D-B1372A28900E}"/>
              </a:ext>
            </a:extLst>
          </p:cNvPr>
          <p:cNvSpPr txBox="1"/>
          <p:nvPr/>
        </p:nvSpPr>
        <p:spPr>
          <a:xfrm>
            <a:off x="7202728" y="2997194"/>
            <a:ext cx="798271" cy="228925"/>
          </a:xfrm>
          <a:prstGeom prst="rect">
            <a:avLst/>
          </a:prstGeom>
          <a:solidFill>
            <a:schemeClr val="accent3"/>
          </a:solidFill>
          <a:ln>
            <a:noFill/>
          </a:ln>
        </p:spPr>
        <p:txBody>
          <a:bodyPr wrap="square" lIns="0" tIns="0" rIns="0" bIns="0" rtlCol="0" anchor="ctr">
            <a:spAutoFit/>
          </a:bodyPr>
          <a:lstStyle/>
          <a:p>
            <a:pPr algn="ctr"/>
            <a:r>
              <a:rPr lang="en-GB" sz="1800" b="1" dirty="0"/>
              <a:t>0.524ft</a:t>
            </a:r>
            <a:r>
              <a:rPr lang="en-GB" sz="1800" b="1" baseline="30000" dirty="0"/>
              <a:t>3</a:t>
            </a:r>
          </a:p>
        </p:txBody>
      </p:sp>
      <p:grpSp>
        <p:nvGrpSpPr>
          <p:cNvPr id="11" name="Group 10">
            <a:extLst>
              <a:ext uri="{FF2B5EF4-FFF2-40B4-BE49-F238E27FC236}">
                <a16:creationId xmlns:a16="http://schemas.microsoft.com/office/drawing/2014/main" id="{7D8546A5-E475-6646-B8D7-14E9984F777D}"/>
              </a:ext>
            </a:extLst>
          </p:cNvPr>
          <p:cNvGrpSpPr/>
          <p:nvPr/>
        </p:nvGrpSpPr>
        <p:grpSpPr>
          <a:xfrm>
            <a:off x="584272" y="1689333"/>
            <a:ext cx="1117456" cy="1119375"/>
            <a:chOff x="584272" y="1689333"/>
            <a:chExt cx="1117456" cy="1119375"/>
          </a:xfrm>
        </p:grpSpPr>
        <p:pic>
          <p:nvPicPr>
            <p:cNvPr id="3" name="Picture 2">
              <a:extLst>
                <a:ext uri="{FF2B5EF4-FFF2-40B4-BE49-F238E27FC236}">
                  <a16:creationId xmlns:a16="http://schemas.microsoft.com/office/drawing/2014/main" id="{A9590742-EE18-7947-AAEB-B4F18AAAF878}"/>
                </a:ext>
              </a:extLst>
            </p:cNvPr>
            <p:cNvPicPr>
              <a:picLocks noChangeAspect="1"/>
            </p:cNvPicPr>
            <p:nvPr/>
          </p:nvPicPr>
          <p:blipFill>
            <a:blip r:embed="rId3"/>
            <a:stretch>
              <a:fillRect/>
            </a:stretch>
          </p:blipFill>
          <p:spPr>
            <a:xfrm>
              <a:off x="584272" y="1689333"/>
              <a:ext cx="1117456" cy="1119375"/>
            </a:xfrm>
            <a:prstGeom prst="rect">
              <a:avLst/>
            </a:prstGeom>
          </p:spPr>
        </p:pic>
        <p:cxnSp>
          <p:nvCxnSpPr>
            <p:cNvPr id="164" name="Straight Arrow Connector 163">
              <a:extLst>
                <a:ext uri="{FF2B5EF4-FFF2-40B4-BE49-F238E27FC236}">
                  <a16:creationId xmlns:a16="http://schemas.microsoft.com/office/drawing/2014/main" id="{285C5578-93DB-5549-B252-B8B0EC279140}"/>
                </a:ext>
              </a:extLst>
            </p:cNvPr>
            <p:cNvCxnSpPr>
              <a:cxnSpLocks/>
            </p:cNvCxnSpPr>
            <p:nvPr/>
          </p:nvCxnSpPr>
          <p:spPr>
            <a:xfrm flipH="1">
              <a:off x="1142161" y="1867059"/>
              <a:ext cx="368744" cy="378246"/>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65" name="TextBox 164">
              <a:extLst>
                <a:ext uri="{FF2B5EF4-FFF2-40B4-BE49-F238E27FC236}">
                  <a16:creationId xmlns:a16="http://schemas.microsoft.com/office/drawing/2014/main" id="{30E4BB99-53EF-9942-AF88-3F40B6B3EAC1}"/>
                </a:ext>
              </a:extLst>
            </p:cNvPr>
            <p:cNvSpPr txBox="1"/>
            <p:nvPr/>
          </p:nvSpPr>
          <p:spPr>
            <a:xfrm>
              <a:off x="750545" y="1871262"/>
              <a:ext cx="565248" cy="215444"/>
            </a:xfrm>
            <a:prstGeom prst="rect">
              <a:avLst/>
            </a:prstGeom>
            <a:noFill/>
          </p:spPr>
          <p:txBody>
            <a:bodyPr wrap="square" lIns="0" tIns="0" rIns="0" bIns="0" rtlCol="0" anchor="ctr" anchorCtr="0">
              <a:spAutoFit/>
            </a:bodyPr>
            <a:lstStyle/>
            <a:p>
              <a:pPr algn="r">
                <a:defRPr/>
              </a:pPr>
              <a:r>
                <a:rPr lang="en-GB" altLang="en-US" sz="1400" dirty="0"/>
                <a:t>2cm</a:t>
              </a:r>
              <a:endParaRPr lang="en-GB" altLang="en-US" sz="1400" baseline="30000" dirty="0"/>
            </a:p>
          </p:txBody>
        </p:sp>
      </p:grpSp>
      <p:grpSp>
        <p:nvGrpSpPr>
          <p:cNvPr id="166" name="Group 165">
            <a:extLst>
              <a:ext uri="{FF2B5EF4-FFF2-40B4-BE49-F238E27FC236}">
                <a16:creationId xmlns:a16="http://schemas.microsoft.com/office/drawing/2014/main" id="{BD1D764C-0AF5-FB42-A70D-482D1251960B}"/>
              </a:ext>
            </a:extLst>
          </p:cNvPr>
          <p:cNvGrpSpPr/>
          <p:nvPr/>
        </p:nvGrpSpPr>
        <p:grpSpPr>
          <a:xfrm>
            <a:off x="2870273" y="1689333"/>
            <a:ext cx="1117454" cy="1119375"/>
            <a:chOff x="584273" y="1689333"/>
            <a:chExt cx="1117454" cy="1119375"/>
          </a:xfrm>
        </p:grpSpPr>
        <p:pic>
          <p:nvPicPr>
            <p:cNvPr id="167" name="Picture 166">
              <a:extLst>
                <a:ext uri="{FF2B5EF4-FFF2-40B4-BE49-F238E27FC236}">
                  <a16:creationId xmlns:a16="http://schemas.microsoft.com/office/drawing/2014/main" id="{400AB145-695C-7849-B82C-B2865D6A5FD0}"/>
                </a:ext>
              </a:extLst>
            </p:cNvPr>
            <p:cNvPicPr>
              <a:picLocks noChangeAspect="1"/>
            </p:cNvPicPr>
            <p:nvPr/>
          </p:nvPicPr>
          <p:blipFill>
            <a:blip r:embed="rId4"/>
            <a:stretch>
              <a:fillRect/>
            </a:stretch>
          </p:blipFill>
          <p:spPr>
            <a:xfrm>
              <a:off x="584273" y="1689333"/>
              <a:ext cx="1117454" cy="1119375"/>
            </a:xfrm>
            <a:prstGeom prst="rect">
              <a:avLst/>
            </a:prstGeom>
          </p:spPr>
        </p:pic>
        <p:cxnSp>
          <p:nvCxnSpPr>
            <p:cNvPr id="168" name="Straight Arrow Connector 167">
              <a:extLst>
                <a:ext uri="{FF2B5EF4-FFF2-40B4-BE49-F238E27FC236}">
                  <a16:creationId xmlns:a16="http://schemas.microsoft.com/office/drawing/2014/main" id="{5B34C7E5-AE44-FA48-AF1F-3FAB0FA50452}"/>
                </a:ext>
              </a:extLst>
            </p:cNvPr>
            <p:cNvCxnSpPr>
              <a:cxnSpLocks/>
            </p:cNvCxnSpPr>
            <p:nvPr/>
          </p:nvCxnSpPr>
          <p:spPr>
            <a:xfrm flipH="1" flipV="1">
              <a:off x="1142161" y="2245305"/>
              <a:ext cx="335765" cy="423467"/>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69" name="TextBox 168">
              <a:extLst>
                <a:ext uri="{FF2B5EF4-FFF2-40B4-BE49-F238E27FC236}">
                  <a16:creationId xmlns:a16="http://schemas.microsoft.com/office/drawing/2014/main" id="{60BA5A94-0895-F243-8720-39CCDA7F1A6D}"/>
                </a:ext>
              </a:extLst>
            </p:cNvPr>
            <p:cNvSpPr txBox="1"/>
            <p:nvPr/>
          </p:nvSpPr>
          <p:spPr>
            <a:xfrm>
              <a:off x="728655" y="2404723"/>
              <a:ext cx="565248" cy="215444"/>
            </a:xfrm>
            <a:prstGeom prst="rect">
              <a:avLst/>
            </a:prstGeom>
            <a:noFill/>
          </p:spPr>
          <p:txBody>
            <a:bodyPr wrap="square" lIns="0" tIns="0" rIns="0" bIns="0" rtlCol="0" anchor="ctr" anchorCtr="0">
              <a:spAutoFit/>
            </a:bodyPr>
            <a:lstStyle/>
            <a:p>
              <a:pPr algn="r">
                <a:defRPr/>
              </a:pPr>
              <a:r>
                <a:rPr lang="en-GB" altLang="en-US" sz="1400" dirty="0"/>
                <a:t>4ft</a:t>
              </a:r>
              <a:endParaRPr lang="en-GB" altLang="en-US" sz="1400" baseline="30000" dirty="0"/>
            </a:p>
          </p:txBody>
        </p:sp>
      </p:grpSp>
      <p:grpSp>
        <p:nvGrpSpPr>
          <p:cNvPr id="170" name="Group 169">
            <a:extLst>
              <a:ext uri="{FF2B5EF4-FFF2-40B4-BE49-F238E27FC236}">
                <a16:creationId xmlns:a16="http://schemas.microsoft.com/office/drawing/2014/main" id="{5067552A-7AB3-8045-865D-F0999D7FF7D9}"/>
              </a:ext>
            </a:extLst>
          </p:cNvPr>
          <p:cNvGrpSpPr/>
          <p:nvPr/>
        </p:nvGrpSpPr>
        <p:grpSpPr>
          <a:xfrm>
            <a:off x="5156273" y="1689333"/>
            <a:ext cx="1117454" cy="1119374"/>
            <a:chOff x="584273" y="1689333"/>
            <a:chExt cx="1117454" cy="1119374"/>
          </a:xfrm>
        </p:grpSpPr>
        <p:pic>
          <p:nvPicPr>
            <p:cNvPr id="171" name="Picture 170">
              <a:extLst>
                <a:ext uri="{FF2B5EF4-FFF2-40B4-BE49-F238E27FC236}">
                  <a16:creationId xmlns:a16="http://schemas.microsoft.com/office/drawing/2014/main" id="{10B68D2F-10FC-4948-9F5E-CD40096F32D5}"/>
                </a:ext>
              </a:extLst>
            </p:cNvPr>
            <p:cNvPicPr>
              <a:picLocks noChangeAspect="1"/>
            </p:cNvPicPr>
            <p:nvPr/>
          </p:nvPicPr>
          <p:blipFill>
            <a:blip r:embed="rId5"/>
            <a:stretch>
              <a:fillRect/>
            </a:stretch>
          </p:blipFill>
          <p:spPr>
            <a:xfrm>
              <a:off x="584273" y="1689333"/>
              <a:ext cx="1117454" cy="1119374"/>
            </a:xfrm>
            <a:prstGeom prst="rect">
              <a:avLst/>
            </a:prstGeom>
          </p:spPr>
        </p:pic>
        <p:cxnSp>
          <p:nvCxnSpPr>
            <p:cNvPr id="172" name="Straight Arrow Connector 171">
              <a:extLst>
                <a:ext uri="{FF2B5EF4-FFF2-40B4-BE49-F238E27FC236}">
                  <a16:creationId xmlns:a16="http://schemas.microsoft.com/office/drawing/2014/main" id="{FA448EB2-E117-3046-95E3-D2035B97BE14}"/>
                </a:ext>
              </a:extLst>
            </p:cNvPr>
            <p:cNvCxnSpPr>
              <a:cxnSpLocks/>
            </p:cNvCxnSpPr>
            <p:nvPr/>
          </p:nvCxnSpPr>
          <p:spPr>
            <a:xfrm flipH="1">
              <a:off x="1142163" y="2245306"/>
              <a:ext cx="522045" cy="0"/>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73" name="TextBox 172">
              <a:extLst>
                <a:ext uri="{FF2B5EF4-FFF2-40B4-BE49-F238E27FC236}">
                  <a16:creationId xmlns:a16="http://schemas.microsoft.com/office/drawing/2014/main" id="{535FBE1D-03DC-744F-A53B-1DF9480C3759}"/>
                </a:ext>
              </a:extLst>
            </p:cNvPr>
            <p:cNvSpPr txBox="1"/>
            <p:nvPr/>
          </p:nvSpPr>
          <p:spPr>
            <a:xfrm>
              <a:off x="1259154" y="1901390"/>
              <a:ext cx="288063" cy="215444"/>
            </a:xfrm>
            <a:prstGeom prst="rect">
              <a:avLst/>
            </a:prstGeom>
            <a:noFill/>
          </p:spPr>
          <p:txBody>
            <a:bodyPr wrap="square" lIns="0" tIns="0" rIns="0" bIns="0" rtlCol="0" anchor="ctr" anchorCtr="0">
              <a:spAutoFit/>
            </a:bodyPr>
            <a:lstStyle/>
            <a:p>
              <a:pPr algn="ctr">
                <a:defRPr/>
              </a:pPr>
              <a:r>
                <a:rPr lang="en-GB" altLang="en-US" sz="1400" dirty="0"/>
                <a:t>1m</a:t>
              </a:r>
              <a:endParaRPr lang="en-GB" altLang="en-US" sz="1400" baseline="30000" dirty="0"/>
            </a:p>
          </p:txBody>
        </p:sp>
      </p:grpSp>
      <p:grpSp>
        <p:nvGrpSpPr>
          <p:cNvPr id="174" name="Group 173">
            <a:extLst>
              <a:ext uri="{FF2B5EF4-FFF2-40B4-BE49-F238E27FC236}">
                <a16:creationId xmlns:a16="http://schemas.microsoft.com/office/drawing/2014/main" id="{ECFF3029-9ECA-084B-85C8-515427FC1E36}"/>
              </a:ext>
            </a:extLst>
          </p:cNvPr>
          <p:cNvGrpSpPr/>
          <p:nvPr/>
        </p:nvGrpSpPr>
        <p:grpSpPr>
          <a:xfrm>
            <a:off x="7481058" y="1689333"/>
            <a:ext cx="1117453" cy="1119374"/>
            <a:chOff x="584273" y="1689333"/>
            <a:chExt cx="1117453" cy="1119374"/>
          </a:xfrm>
        </p:grpSpPr>
        <p:pic>
          <p:nvPicPr>
            <p:cNvPr id="175" name="Picture 174">
              <a:extLst>
                <a:ext uri="{FF2B5EF4-FFF2-40B4-BE49-F238E27FC236}">
                  <a16:creationId xmlns:a16="http://schemas.microsoft.com/office/drawing/2014/main" id="{32BCB0E8-3C94-AB46-AF1C-B87352BD422F}"/>
                </a:ext>
              </a:extLst>
            </p:cNvPr>
            <p:cNvPicPr>
              <a:picLocks noChangeAspect="1"/>
            </p:cNvPicPr>
            <p:nvPr/>
          </p:nvPicPr>
          <p:blipFill>
            <a:blip r:embed="rId6"/>
            <a:stretch>
              <a:fillRect/>
            </a:stretch>
          </p:blipFill>
          <p:spPr>
            <a:xfrm>
              <a:off x="584273" y="1689333"/>
              <a:ext cx="1117453" cy="1119374"/>
            </a:xfrm>
            <a:prstGeom prst="rect">
              <a:avLst/>
            </a:prstGeom>
          </p:spPr>
        </p:pic>
        <p:cxnSp>
          <p:nvCxnSpPr>
            <p:cNvPr id="176" name="Straight Arrow Connector 175">
              <a:extLst>
                <a:ext uri="{FF2B5EF4-FFF2-40B4-BE49-F238E27FC236}">
                  <a16:creationId xmlns:a16="http://schemas.microsoft.com/office/drawing/2014/main" id="{1B52F7A5-1873-8D48-9234-F1EDCB9A877C}"/>
                </a:ext>
              </a:extLst>
            </p:cNvPr>
            <p:cNvCxnSpPr>
              <a:cxnSpLocks/>
            </p:cNvCxnSpPr>
            <p:nvPr/>
          </p:nvCxnSpPr>
          <p:spPr>
            <a:xfrm flipV="1">
              <a:off x="789400" y="2245306"/>
              <a:ext cx="352764" cy="398616"/>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77" name="TextBox 176">
              <a:extLst>
                <a:ext uri="{FF2B5EF4-FFF2-40B4-BE49-F238E27FC236}">
                  <a16:creationId xmlns:a16="http://schemas.microsoft.com/office/drawing/2014/main" id="{CDCBFDA5-C357-3149-B421-D5146A3C3083}"/>
                </a:ext>
              </a:extLst>
            </p:cNvPr>
            <p:cNvSpPr txBox="1"/>
            <p:nvPr/>
          </p:nvSpPr>
          <p:spPr>
            <a:xfrm>
              <a:off x="998132" y="2393350"/>
              <a:ext cx="439186" cy="215444"/>
            </a:xfrm>
            <a:prstGeom prst="rect">
              <a:avLst/>
            </a:prstGeom>
            <a:noFill/>
          </p:spPr>
          <p:txBody>
            <a:bodyPr wrap="square" lIns="0" tIns="0" rIns="0" bIns="0" rtlCol="0" anchor="ctr" anchorCtr="0">
              <a:spAutoFit/>
            </a:bodyPr>
            <a:lstStyle/>
            <a:p>
              <a:pPr>
                <a:defRPr/>
              </a:pPr>
              <a:r>
                <a:rPr lang="en-GB" altLang="en-US" sz="1400" dirty="0"/>
                <a:t>9mm</a:t>
              </a:r>
              <a:endParaRPr lang="en-GB" altLang="en-US" sz="1400" baseline="30000" dirty="0"/>
            </a:p>
          </p:txBody>
        </p:sp>
      </p:grpSp>
      <p:grpSp>
        <p:nvGrpSpPr>
          <p:cNvPr id="178" name="Group 177">
            <a:extLst>
              <a:ext uri="{FF2B5EF4-FFF2-40B4-BE49-F238E27FC236}">
                <a16:creationId xmlns:a16="http://schemas.microsoft.com/office/drawing/2014/main" id="{36382E86-61BA-5941-88A6-2CA72B8F547D}"/>
              </a:ext>
            </a:extLst>
          </p:cNvPr>
          <p:cNvGrpSpPr/>
          <p:nvPr/>
        </p:nvGrpSpPr>
        <p:grpSpPr>
          <a:xfrm>
            <a:off x="584273" y="3291712"/>
            <a:ext cx="1117454" cy="1119375"/>
            <a:chOff x="584273" y="1689333"/>
            <a:chExt cx="1117454" cy="1119375"/>
          </a:xfrm>
        </p:grpSpPr>
        <p:pic>
          <p:nvPicPr>
            <p:cNvPr id="179" name="Picture 178">
              <a:extLst>
                <a:ext uri="{FF2B5EF4-FFF2-40B4-BE49-F238E27FC236}">
                  <a16:creationId xmlns:a16="http://schemas.microsoft.com/office/drawing/2014/main" id="{C8AF2F7B-AFD6-5C4E-B81C-9CD2E83B98B7}"/>
                </a:ext>
              </a:extLst>
            </p:cNvPr>
            <p:cNvPicPr>
              <a:picLocks noChangeAspect="1"/>
            </p:cNvPicPr>
            <p:nvPr/>
          </p:nvPicPr>
          <p:blipFill>
            <a:blip r:embed="rId7"/>
            <a:stretch>
              <a:fillRect/>
            </a:stretch>
          </p:blipFill>
          <p:spPr>
            <a:xfrm>
              <a:off x="584273" y="1689333"/>
              <a:ext cx="1117454" cy="1119375"/>
            </a:xfrm>
            <a:prstGeom prst="rect">
              <a:avLst/>
            </a:prstGeom>
          </p:spPr>
        </p:pic>
        <p:cxnSp>
          <p:nvCxnSpPr>
            <p:cNvPr id="180" name="Straight Arrow Connector 179">
              <a:extLst>
                <a:ext uri="{FF2B5EF4-FFF2-40B4-BE49-F238E27FC236}">
                  <a16:creationId xmlns:a16="http://schemas.microsoft.com/office/drawing/2014/main" id="{1F060E4F-FCFF-684E-9679-0CAA494C1F3D}"/>
                </a:ext>
              </a:extLst>
            </p:cNvPr>
            <p:cNvCxnSpPr>
              <a:cxnSpLocks/>
            </p:cNvCxnSpPr>
            <p:nvPr/>
          </p:nvCxnSpPr>
          <p:spPr>
            <a:xfrm>
              <a:off x="721895" y="1920467"/>
              <a:ext cx="420266" cy="324838"/>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81" name="TextBox 180">
              <a:extLst>
                <a:ext uri="{FF2B5EF4-FFF2-40B4-BE49-F238E27FC236}">
                  <a16:creationId xmlns:a16="http://schemas.microsoft.com/office/drawing/2014/main" id="{2BC72386-A1A0-FC42-BF0F-78102B247231}"/>
                </a:ext>
              </a:extLst>
            </p:cNvPr>
            <p:cNvSpPr txBox="1"/>
            <p:nvPr/>
          </p:nvSpPr>
          <p:spPr>
            <a:xfrm>
              <a:off x="982720" y="1906351"/>
              <a:ext cx="565248" cy="215444"/>
            </a:xfrm>
            <a:prstGeom prst="rect">
              <a:avLst/>
            </a:prstGeom>
            <a:noFill/>
          </p:spPr>
          <p:txBody>
            <a:bodyPr wrap="square" lIns="0" tIns="0" rIns="0" bIns="0" rtlCol="0" anchor="ctr" anchorCtr="0">
              <a:spAutoFit/>
            </a:bodyPr>
            <a:lstStyle/>
            <a:p>
              <a:pPr>
                <a:defRPr/>
              </a:pPr>
              <a:r>
                <a:rPr lang="en-GB" altLang="en-US" sz="1400" dirty="0"/>
                <a:t>10yd</a:t>
              </a:r>
              <a:endParaRPr lang="en-GB" altLang="en-US" sz="1400" baseline="30000" dirty="0"/>
            </a:p>
          </p:txBody>
        </p:sp>
      </p:grpSp>
      <p:grpSp>
        <p:nvGrpSpPr>
          <p:cNvPr id="182" name="Group 181">
            <a:extLst>
              <a:ext uri="{FF2B5EF4-FFF2-40B4-BE49-F238E27FC236}">
                <a16:creationId xmlns:a16="http://schemas.microsoft.com/office/drawing/2014/main" id="{8ECD8C18-5CBB-A44A-A2D8-007E98E2DDF1}"/>
              </a:ext>
            </a:extLst>
          </p:cNvPr>
          <p:cNvGrpSpPr/>
          <p:nvPr/>
        </p:nvGrpSpPr>
        <p:grpSpPr>
          <a:xfrm>
            <a:off x="2830513" y="3291712"/>
            <a:ext cx="1157214" cy="1119374"/>
            <a:chOff x="544513" y="1689333"/>
            <a:chExt cx="1157214" cy="1119374"/>
          </a:xfrm>
        </p:grpSpPr>
        <p:pic>
          <p:nvPicPr>
            <p:cNvPr id="183" name="Picture 182">
              <a:extLst>
                <a:ext uri="{FF2B5EF4-FFF2-40B4-BE49-F238E27FC236}">
                  <a16:creationId xmlns:a16="http://schemas.microsoft.com/office/drawing/2014/main" id="{6520D81A-9754-074E-80BF-BA3762035CC3}"/>
                </a:ext>
              </a:extLst>
            </p:cNvPr>
            <p:cNvPicPr>
              <a:picLocks noChangeAspect="1"/>
            </p:cNvPicPr>
            <p:nvPr/>
          </p:nvPicPr>
          <p:blipFill>
            <a:blip r:embed="rId8"/>
            <a:stretch>
              <a:fillRect/>
            </a:stretch>
          </p:blipFill>
          <p:spPr>
            <a:xfrm>
              <a:off x="584273" y="1689333"/>
              <a:ext cx="1117454" cy="1119374"/>
            </a:xfrm>
            <a:prstGeom prst="rect">
              <a:avLst/>
            </a:prstGeom>
          </p:spPr>
        </p:pic>
        <p:cxnSp>
          <p:nvCxnSpPr>
            <p:cNvPr id="184" name="Straight Arrow Connector 183">
              <a:extLst>
                <a:ext uri="{FF2B5EF4-FFF2-40B4-BE49-F238E27FC236}">
                  <a16:creationId xmlns:a16="http://schemas.microsoft.com/office/drawing/2014/main" id="{C259A496-572A-1C46-A11A-12A1F04A013F}"/>
                </a:ext>
              </a:extLst>
            </p:cNvPr>
            <p:cNvCxnSpPr>
              <a:cxnSpLocks/>
            </p:cNvCxnSpPr>
            <p:nvPr/>
          </p:nvCxnSpPr>
          <p:spPr>
            <a:xfrm flipV="1">
              <a:off x="1142162" y="2245306"/>
              <a:ext cx="0" cy="541435"/>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85" name="TextBox 184">
              <a:extLst>
                <a:ext uri="{FF2B5EF4-FFF2-40B4-BE49-F238E27FC236}">
                  <a16:creationId xmlns:a16="http://schemas.microsoft.com/office/drawing/2014/main" id="{0128B0D6-EDEE-2543-80F1-5D5829BC7BCB}"/>
                </a:ext>
              </a:extLst>
            </p:cNvPr>
            <p:cNvSpPr txBox="1"/>
            <p:nvPr/>
          </p:nvSpPr>
          <p:spPr>
            <a:xfrm>
              <a:off x="544513" y="2408301"/>
              <a:ext cx="565248" cy="215444"/>
            </a:xfrm>
            <a:prstGeom prst="rect">
              <a:avLst/>
            </a:prstGeom>
            <a:noFill/>
          </p:spPr>
          <p:txBody>
            <a:bodyPr wrap="square" lIns="0" tIns="0" rIns="0" bIns="0" rtlCol="0" anchor="ctr" anchorCtr="0">
              <a:spAutoFit/>
            </a:bodyPr>
            <a:lstStyle/>
            <a:p>
              <a:pPr algn="r">
                <a:defRPr/>
              </a:pPr>
              <a:r>
                <a:rPr lang="en-GB" altLang="en-US" sz="1400" dirty="0"/>
                <a:t>5m</a:t>
              </a:r>
              <a:endParaRPr lang="en-GB" altLang="en-US" sz="1400" baseline="30000" dirty="0"/>
            </a:p>
          </p:txBody>
        </p:sp>
      </p:grpSp>
      <p:grpSp>
        <p:nvGrpSpPr>
          <p:cNvPr id="186" name="Group 185">
            <a:extLst>
              <a:ext uri="{FF2B5EF4-FFF2-40B4-BE49-F238E27FC236}">
                <a16:creationId xmlns:a16="http://schemas.microsoft.com/office/drawing/2014/main" id="{7AFF2652-0F70-234C-BE05-93BA106465EC}"/>
              </a:ext>
            </a:extLst>
          </p:cNvPr>
          <p:cNvGrpSpPr/>
          <p:nvPr/>
        </p:nvGrpSpPr>
        <p:grpSpPr>
          <a:xfrm>
            <a:off x="5156273" y="3291712"/>
            <a:ext cx="1117453" cy="1119374"/>
            <a:chOff x="584273" y="1689333"/>
            <a:chExt cx="1117453" cy="1119374"/>
          </a:xfrm>
        </p:grpSpPr>
        <p:pic>
          <p:nvPicPr>
            <p:cNvPr id="187" name="Picture 186">
              <a:extLst>
                <a:ext uri="{FF2B5EF4-FFF2-40B4-BE49-F238E27FC236}">
                  <a16:creationId xmlns:a16="http://schemas.microsoft.com/office/drawing/2014/main" id="{D467AE5E-268C-EF42-B36F-3AC5BBB098AC}"/>
                </a:ext>
              </a:extLst>
            </p:cNvPr>
            <p:cNvPicPr>
              <a:picLocks noChangeAspect="1"/>
            </p:cNvPicPr>
            <p:nvPr/>
          </p:nvPicPr>
          <p:blipFill>
            <a:blip r:embed="rId9"/>
            <a:stretch>
              <a:fillRect/>
            </a:stretch>
          </p:blipFill>
          <p:spPr>
            <a:xfrm>
              <a:off x="584273" y="1689333"/>
              <a:ext cx="1117453" cy="1119374"/>
            </a:xfrm>
            <a:prstGeom prst="rect">
              <a:avLst/>
            </a:prstGeom>
          </p:spPr>
        </p:pic>
        <p:cxnSp>
          <p:nvCxnSpPr>
            <p:cNvPr id="188" name="Straight Arrow Connector 187">
              <a:extLst>
                <a:ext uri="{FF2B5EF4-FFF2-40B4-BE49-F238E27FC236}">
                  <a16:creationId xmlns:a16="http://schemas.microsoft.com/office/drawing/2014/main" id="{6BE45609-17CC-5745-8402-D7A07887F90E}"/>
                </a:ext>
              </a:extLst>
            </p:cNvPr>
            <p:cNvCxnSpPr>
              <a:cxnSpLocks/>
            </p:cNvCxnSpPr>
            <p:nvPr/>
          </p:nvCxnSpPr>
          <p:spPr>
            <a:xfrm>
              <a:off x="608239" y="2245306"/>
              <a:ext cx="533925" cy="0"/>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89" name="TextBox 188">
              <a:extLst>
                <a:ext uri="{FF2B5EF4-FFF2-40B4-BE49-F238E27FC236}">
                  <a16:creationId xmlns:a16="http://schemas.microsoft.com/office/drawing/2014/main" id="{BE95E853-349E-E343-A770-E0F0E98762CA}"/>
                </a:ext>
              </a:extLst>
            </p:cNvPr>
            <p:cNvSpPr txBox="1"/>
            <p:nvPr/>
          </p:nvSpPr>
          <p:spPr>
            <a:xfrm>
              <a:off x="731169" y="1918195"/>
              <a:ext cx="288063" cy="215444"/>
            </a:xfrm>
            <a:prstGeom prst="rect">
              <a:avLst/>
            </a:prstGeom>
            <a:noFill/>
          </p:spPr>
          <p:txBody>
            <a:bodyPr wrap="square" lIns="0" tIns="0" rIns="0" bIns="0" rtlCol="0" anchor="ctr" anchorCtr="0">
              <a:spAutoFit/>
            </a:bodyPr>
            <a:lstStyle/>
            <a:p>
              <a:pPr algn="ctr">
                <a:defRPr/>
              </a:pPr>
              <a:r>
                <a:rPr lang="en-GB" altLang="en-US" sz="1400" dirty="0"/>
                <a:t>8in</a:t>
              </a:r>
              <a:endParaRPr lang="en-GB" altLang="en-US" sz="1400" baseline="30000" dirty="0"/>
            </a:p>
          </p:txBody>
        </p:sp>
      </p:grpSp>
      <p:grpSp>
        <p:nvGrpSpPr>
          <p:cNvPr id="190" name="Group 189">
            <a:extLst>
              <a:ext uri="{FF2B5EF4-FFF2-40B4-BE49-F238E27FC236}">
                <a16:creationId xmlns:a16="http://schemas.microsoft.com/office/drawing/2014/main" id="{5C67BE43-F982-2B4D-90C3-40DA8968B7DB}"/>
              </a:ext>
            </a:extLst>
          </p:cNvPr>
          <p:cNvGrpSpPr/>
          <p:nvPr/>
        </p:nvGrpSpPr>
        <p:grpSpPr>
          <a:xfrm>
            <a:off x="7481058" y="3291712"/>
            <a:ext cx="1117453" cy="1119373"/>
            <a:chOff x="584273" y="1689333"/>
            <a:chExt cx="1117453" cy="1119373"/>
          </a:xfrm>
        </p:grpSpPr>
        <p:pic>
          <p:nvPicPr>
            <p:cNvPr id="191" name="Picture 190">
              <a:extLst>
                <a:ext uri="{FF2B5EF4-FFF2-40B4-BE49-F238E27FC236}">
                  <a16:creationId xmlns:a16="http://schemas.microsoft.com/office/drawing/2014/main" id="{059192FF-1DE4-0344-8364-44D67D2E187E}"/>
                </a:ext>
              </a:extLst>
            </p:cNvPr>
            <p:cNvPicPr>
              <a:picLocks noChangeAspect="1"/>
            </p:cNvPicPr>
            <p:nvPr/>
          </p:nvPicPr>
          <p:blipFill>
            <a:blip r:embed="rId10"/>
            <a:stretch>
              <a:fillRect/>
            </a:stretch>
          </p:blipFill>
          <p:spPr>
            <a:xfrm>
              <a:off x="584273" y="1689333"/>
              <a:ext cx="1117453" cy="1119373"/>
            </a:xfrm>
            <a:prstGeom prst="rect">
              <a:avLst/>
            </a:prstGeom>
          </p:spPr>
        </p:pic>
        <p:cxnSp>
          <p:nvCxnSpPr>
            <p:cNvPr id="192" name="Straight Arrow Connector 191">
              <a:extLst>
                <a:ext uri="{FF2B5EF4-FFF2-40B4-BE49-F238E27FC236}">
                  <a16:creationId xmlns:a16="http://schemas.microsoft.com/office/drawing/2014/main" id="{F969AAFB-AD0A-5F4A-A62F-F3159471DEDA}"/>
                </a:ext>
              </a:extLst>
            </p:cNvPr>
            <p:cNvCxnSpPr>
              <a:cxnSpLocks/>
            </p:cNvCxnSpPr>
            <p:nvPr/>
          </p:nvCxnSpPr>
          <p:spPr>
            <a:xfrm>
              <a:off x="1142164" y="1712321"/>
              <a:ext cx="0" cy="532985"/>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93" name="TextBox 192">
              <a:extLst>
                <a:ext uri="{FF2B5EF4-FFF2-40B4-BE49-F238E27FC236}">
                  <a16:creationId xmlns:a16="http://schemas.microsoft.com/office/drawing/2014/main" id="{7D35634A-D863-1743-BB59-FE3C9F9458E8}"/>
                </a:ext>
              </a:extLst>
            </p:cNvPr>
            <p:cNvSpPr txBox="1"/>
            <p:nvPr/>
          </p:nvSpPr>
          <p:spPr>
            <a:xfrm>
              <a:off x="1171166" y="1907561"/>
              <a:ext cx="439186" cy="215444"/>
            </a:xfrm>
            <a:prstGeom prst="rect">
              <a:avLst/>
            </a:prstGeom>
            <a:noFill/>
          </p:spPr>
          <p:txBody>
            <a:bodyPr wrap="square" lIns="0" tIns="0" rIns="0" bIns="0" rtlCol="0" anchor="ctr" anchorCtr="0">
              <a:spAutoFit/>
            </a:bodyPr>
            <a:lstStyle/>
            <a:p>
              <a:pPr>
                <a:defRPr/>
              </a:pPr>
              <a:r>
                <a:rPr lang="en-GB" altLang="en-US" sz="1400" dirty="0"/>
                <a:t>½ft</a:t>
              </a:r>
              <a:endParaRPr lang="en-GB" altLang="en-US" sz="1400" baseline="30000" dirty="0"/>
            </a:p>
          </p:txBody>
        </p:sp>
      </p:grpSp>
    </p:spTree>
    <p:extLst>
      <p:ext uri="{BB962C8B-B14F-4D97-AF65-F5344CB8AC3E}">
        <p14:creationId xmlns:p14="http://schemas.microsoft.com/office/powerpoint/2010/main" val="321363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dissolve">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dissolve">
                                      <p:cBhvr>
                                        <p:cTn id="12" dur="500"/>
                                        <p:tgtEl>
                                          <p:spTgt spid="1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2"/>
                                        </p:tgtEl>
                                        <p:attrNameLst>
                                          <p:attrName>style.visibility</p:attrName>
                                        </p:attrNameLst>
                                      </p:cBhvr>
                                      <p:to>
                                        <p:strVal val="visible"/>
                                      </p:to>
                                    </p:set>
                                    <p:animEffect transition="in" filter="dissolve">
                                      <p:cBhvr>
                                        <p:cTn id="17" dur="500"/>
                                        <p:tgtEl>
                                          <p:spTgt spid="14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2"/>
                                        </p:tgtEl>
                                        <p:attrNameLst>
                                          <p:attrName>style.visibility</p:attrName>
                                        </p:attrNameLst>
                                      </p:cBhvr>
                                      <p:to>
                                        <p:strVal val="visible"/>
                                      </p:to>
                                    </p:set>
                                    <p:animEffect transition="in" filter="dissolve">
                                      <p:cBhvr>
                                        <p:cTn id="22" dur="500"/>
                                        <p:tgtEl>
                                          <p:spTgt spid="16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4"/>
                                        </p:tgtEl>
                                        <p:attrNameLst>
                                          <p:attrName>style.visibility</p:attrName>
                                        </p:attrNameLst>
                                      </p:cBhvr>
                                      <p:to>
                                        <p:strVal val="visible"/>
                                      </p:to>
                                    </p:set>
                                    <p:animEffect transition="in" filter="dissolve">
                                      <p:cBhvr>
                                        <p:cTn id="27" dur="500"/>
                                        <p:tgtEl>
                                          <p:spTgt spid="14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
                                        </p:tgtEl>
                                        <p:attrNameLst>
                                          <p:attrName>style.visibility</p:attrName>
                                        </p:attrNameLst>
                                      </p:cBhvr>
                                      <p:to>
                                        <p:strVal val="visible"/>
                                      </p:to>
                                    </p:set>
                                    <p:animEffect transition="in" filter="dissolve">
                                      <p:cBhvr>
                                        <p:cTn id="32" dur="500"/>
                                        <p:tgtEl>
                                          <p:spTgt spid="14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5"/>
                                        </p:tgtEl>
                                        <p:attrNameLst>
                                          <p:attrName>style.visibility</p:attrName>
                                        </p:attrNameLst>
                                      </p:cBhvr>
                                      <p:to>
                                        <p:strVal val="visible"/>
                                      </p:to>
                                    </p:set>
                                    <p:animEffect transition="in" filter="dissolve">
                                      <p:cBhvr>
                                        <p:cTn id="37" dur="500"/>
                                        <p:tgtEl>
                                          <p:spTgt spid="14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3"/>
                                        </p:tgtEl>
                                        <p:attrNameLst>
                                          <p:attrName>style.visibility</p:attrName>
                                        </p:attrNameLst>
                                      </p:cBhvr>
                                      <p:to>
                                        <p:strVal val="visible"/>
                                      </p:to>
                                    </p:set>
                                    <p:animEffect transition="in" filter="dissolve">
                                      <p:cBhvr>
                                        <p:cTn id="42" dur="5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1" grpId="0" animBg="1"/>
      <p:bldP spid="142" grpId="0" animBg="1"/>
      <p:bldP spid="143" grpId="0" animBg="1"/>
      <p:bldP spid="144" grpId="0" animBg="1"/>
      <p:bldP spid="145" grpId="0" animBg="1"/>
      <p:bldP spid="162" grpId="0" animBg="1"/>
      <p:bldP spid="16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76">
            <a:extLst>
              <a:ext uri="{FF2B5EF4-FFF2-40B4-BE49-F238E27FC236}">
                <a16:creationId xmlns:a16="http://schemas.microsoft.com/office/drawing/2014/main" id="{CFB31FD0-BC70-DB48-9695-5F56D4BD31DD}"/>
              </a:ext>
            </a:extLst>
          </p:cNvPr>
          <p:cNvSpPr txBox="1"/>
          <p:nvPr/>
        </p:nvSpPr>
        <p:spPr>
          <a:xfrm>
            <a:off x="53020" y="954671"/>
            <a:ext cx="513302" cy="276999"/>
          </a:xfrm>
          <a:prstGeom prst="rect">
            <a:avLst/>
          </a:prstGeom>
          <a:noFill/>
        </p:spPr>
        <p:txBody>
          <a:bodyPr wrap="square" lIns="36000" tIns="0" rIns="0" bIns="0" rtlCol="0">
            <a:spAutoFit/>
          </a:bodyPr>
          <a:lstStyle/>
          <a:p>
            <a:r>
              <a:rPr lang="en-GB" sz="1800" b="1" dirty="0"/>
              <a:t>Q2</a:t>
            </a:r>
          </a:p>
        </p:txBody>
      </p:sp>
      <p:sp>
        <p:nvSpPr>
          <p:cNvPr id="84" name="TextBox 83">
            <a:extLst>
              <a:ext uri="{FF2B5EF4-FFF2-40B4-BE49-F238E27FC236}">
                <a16:creationId xmlns:a16="http://schemas.microsoft.com/office/drawing/2014/main" id="{9D50AD35-6889-304A-A3DE-09E64F5D940F}"/>
              </a:ext>
            </a:extLst>
          </p:cNvPr>
          <p:cNvSpPr txBox="1"/>
          <p:nvPr/>
        </p:nvSpPr>
        <p:spPr>
          <a:xfrm>
            <a:off x="460173" y="954671"/>
            <a:ext cx="4071634" cy="830997"/>
          </a:xfrm>
          <a:prstGeom prst="rect">
            <a:avLst/>
          </a:prstGeom>
          <a:noFill/>
        </p:spPr>
        <p:txBody>
          <a:bodyPr wrap="square" lIns="36000" tIns="0" rIns="0" bIns="0" rtlCol="0">
            <a:spAutoFit/>
          </a:bodyPr>
          <a:lstStyle/>
          <a:p>
            <a:pPr>
              <a:defRPr/>
            </a:pPr>
            <a:r>
              <a:rPr lang="en-GB" altLang="en-US" sz="1800" dirty="0"/>
              <a:t>Work out the volume of each of the following hemispheres to three significant figures.</a:t>
            </a:r>
            <a:endParaRPr lang="en-GB" altLang="en-US" sz="1800" baseline="30000" dirty="0"/>
          </a:p>
        </p:txBody>
      </p:sp>
      <p:cxnSp>
        <p:nvCxnSpPr>
          <p:cNvPr id="85" name="Straight Connector 84">
            <a:extLst>
              <a:ext uri="{FF2B5EF4-FFF2-40B4-BE49-F238E27FC236}">
                <a16:creationId xmlns:a16="http://schemas.microsoft.com/office/drawing/2014/main" id="{927E555C-8DB1-2246-9949-773D52CBBBAB}"/>
              </a:ext>
            </a:extLst>
          </p:cNvPr>
          <p:cNvCxnSpPr>
            <a:cxnSpLocks/>
          </p:cNvCxnSpPr>
          <p:nvPr/>
        </p:nvCxnSpPr>
        <p:spPr>
          <a:xfrm>
            <a:off x="2286000" y="1859112"/>
            <a:ext cx="0" cy="2644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E9FA09A-5064-C741-9D19-FBA5BA832621}"/>
              </a:ext>
            </a:extLst>
          </p:cNvPr>
          <p:cNvCxnSpPr>
            <a:cxnSpLocks/>
          </p:cNvCxnSpPr>
          <p:nvPr/>
        </p:nvCxnSpPr>
        <p:spPr>
          <a:xfrm flipH="1">
            <a:off x="0" y="3187465"/>
            <a:ext cx="45781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B409D43-0E3B-FF4E-B6E4-3FF731E93137}"/>
              </a:ext>
            </a:extLst>
          </p:cNvPr>
          <p:cNvCxnSpPr>
            <a:cxnSpLocks/>
          </p:cNvCxnSpPr>
          <p:nvPr/>
        </p:nvCxnSpPr>
        <p:spPr>
          <a:xfrm flipH="1">
            <a:off x="0" y="1861071"/>
            <a:ext cx="45781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D6A0F744-0014-CA41-B494-CC7729E8A5AF}"/>
              </a:ext>
            </a:extLst>
          </p:cNvPr>
          <p:cNvSpPr txBox="1"/>
          <p:nvPr/>
        </p:nvSpPr>
        <p:spPr>
          <a:xfrm>
            <a:off x="11769" y="1886663"/>
            <a:ext cx="513302" cy="246221"/>
          </a:xfrm>
          <a:prstGeom prst="rect">
            <a:avLst/>
          </a:prstGeom>
          <a:noFill/>
        </p:spPr>
        <p:txBody>
          <a:bodyPr wrap="square" lIns="36000" tIns="0" rIns="0" bIns="0" rtlCol="0">
            <a:spAutoFit/>
          </a:bodyPr>
          <a:lstStyle/>
          <a:p>
            <a:r>
              <a:rPr lang="en-GB" sz="1600" b="1" dirty="0"/>
              <a:t>[a]</a:t>
            </a:r>
          </a:p>
        </p:txBody>
      </p:sp>
      <p:sp>
        <p:nvSpPr>
          <p:cNvPr id="90" name="TextBox 89">
            <a:extLst>
              <a:ext uri="{FF2B5EF4-FFF2-40B4-BE49-F238E27FC236}">
                <a16:creationId xmlns:a16="http://schemas.microsoft.com/office/drawing/2014/main" id="{C8CF769B-EFE4-2F49-BCCF-C78578E966DD}"/>
              </a:ext>
            </a:extLst>
          </p:cNvPr>
          <p:cNvSpPr txBox="1"/>
          <p:nvPr/>
        </p:nvSpPr>
        <p:spPr>
          <a:xfrm>
            <a:off x="2301836" y="1886663"/>
            <a:ext cx="513302" cy="246221"/>
          </a:xfrm>
          <a:prstGeom prst="rect">
            <a:avLst/>
          </a:prstGeom>
          <a:noFill/>
        </p:spPr>
        <p:txBody>
          <a:bodyPr wrap="square" lIns="36000" tIns="0" rIns="0" bIns="0" rtlCol="0">
            <a:spAutoFit/>
          </a:bodyPr>
          <a:lstStyle/>
          <a:p>
            <a:r>
              <a:rPr lang="en-GB" sz="1600" b="1" dirty="0"/>
              <a:t>[b]</a:t>
            </a:r>
          </a:p>
        </p:txBody>
      </p:sp>
      <p:sp>
        <p:nvSpPr>
          <p:cNvPr id="92" name="TextBox 91">
            <a:extLst>
              <a:ext uri="{FF2B5EF4-FFF2-40B4-BE49-F238E27FC236}">
                <a16:creationId xmlns:a16="http://schemas.microsoft.com/office/drawing/2014/main" id="{B381144E-C254-604F-A30E-1576ECAAE22B}"/>
              </a:ext>
            </a:extLst>
          </p:cNvPr>
          <p:cNvSpPr txBox="1"/>
          <p:nvPr/>
        </p:nvSpPr>
        <p:spPr>
          <a:xfrm>
            <a:off x="11769" y="3207952"/>
            <a:ext cx="513302" cy="246221"/>
          </a:xfrm>
          <a:prstGeom prst="rect">
            <a:avLst/>
          </a:prstGeom>
          <a:noFill/>
        </p:spPr>
        <p:txBody>
          <a:bodyPr wrap="square" lIns="36000" tIns="0" rIns="0" bIns="0" rtlCol="0">
            <a:spAutoFit/>
          </a:bodyPr>
          <a:lstStyle/>
          <a:p>
            <a:r>
              <a:rPr lang="en-GB" sz="1600" b="1" dirty="0"/>
              <a:t>[c]</a:t>
            </a:r>
          </a:p>
        </p:txBody>
      </p:sp>
      <p:sp>
        <p:nvSpPr>
          <p:cNvPr id="95" name="TextBox 94">
            <a:extLst>
              <a:ext uri="{FF2B5EF4-FFF2-40B4-BE49-F238E27FC236}">
                <a16:creationId xmlns:a16="http://schemas.microsoft.com/office/drawing/2014/main" id="{C0B0540C-862E-474E-8086-74E601B87995}"/>
              </a:ext>
            </a:extLst>
          </p:cNvPr>
          <p:cNvSpPr txBox="1"/>
          <p:nvPr/>
        </p:nvSpPr>
        <p:spPr>
          <a:xfrm>
            <a:off x="2301836" y="3207952"/>
            <a:ext cx="513302" cy="246221"/>
          </a:xfrm>
          <a:prstGeom prst="rect">
            <a:avLst/>
          </a:prstGeom>
          <a:noFill/>
        </p:spPr>
        <p:txBody>
          <a:bodyPr wrap="square" lIns="36000" tIns="0" rIns="0" bIns="0" rtlCol="0">
            <a:spAutoFit/>
          </a:bodyPr>
          <a:lstStyle/>
          <a:p>
            <a:r>
              <a:rPr lang="en-GB" sz="1600" b="1" dirty="0"/>
              <a:t>[d]</a:t>
            </a:r>
          </a:p>
        </p:txBody>
      </p:sp>
      <p:sp>
        <p:nvSpPr>
          <p:cNvPr id="110" name="TextBox 109">
            <a:extLst>
              <a:ext uri="{FF2B5EF4-FFF2-40B4-BE49-F238E27FC236}">
                <a16:creationId xmlns:a16="http://schemas.microsoft.com/office/drawing/2014/main" id="{4F6B7394-5C5C-1841-83FE-5C4C4D4B56B3}"/>
              </a:ext>
            </a:extLst>
          </p:cNvPr>
          <p:cNvSpPr txBox="1"/>
          <p:nvPr/>
        </p:nvSpPr>
        <p:spPr>
          <a:xfrm>
            <a:off x="2638337" y="1901903"/>
            <a:ext cx="716482" cy="228925"/>
          </a:xfrm>
          <a:prstGeom prst="rect">
            <a:avLst/>
          </a:prstGeom>
          <a:solidFill>
            <a:schemeClr val="accent3"/>
          </a:solidFill>
          <a:ln>
            <a:noFill/>
          </a:ln>
        </p:spPr>
        <p:txBody>
          <a:bodyPr wrap="square" lIns="0" tIns="0" rIns="0" bIns="0" rtlCol="0" anchor="ctr">
            <a:spAutoFit/>
          </a:bodyPr>
          <a:lstStyle/>
          <a:p>
            <a:pPr algn="ctr"/>
            <a:r>
              <a:rPr lang="en-GB" sz="1800" b="1" dirty="0"/>
              <a:t>32.7m</a:t>
            </a:r>
            <a:r>
              <a:rPr lang="en-GB" sz="1800" b="1" baseline="30000" dirty="0"/>
              <a:t>3</a:t>
            </a:r>
          </a:p>
        </p:txBody>
      </p:sp>
      <p:sp>
        <p:nvSpPr>
          <p:cNvPr id="111" name="TextBox 110">
            <a:extLst>
              <a:ext uri="{FF2B5EF4-FFF2-40B4-BE49-F238E27FC236}">
                <a16:creationId xmlns:a16="http://schemas.microsoft.com/office/drawing/2014/main" id="{99375456-BC56-9E4C-B816-A89ED6C219C3}"/>
              </a:ext>
            </a:extLst>
          </p:cNvPr>
          <p:cNvSpPr txBox="1"/>
          <p:nvPr/>
        </p:nvSpPr>
        <p:spPr>
          <a:xfrm>
            <a:off x="342345" y="1901903"/>
            <a:ext cx="809948" cy="228925"/>
          </a:xfrm>
          <a:prstGeom prst="rect">
            <a:avLst/>
          </a:prstGeom>
          <a:solidFill>
            <a:schemeClr val="accent3"/>
          </a:solidFill>
          <a:ln>
            <a:noFill/>
          </a:ln>
        </p:spPr>
        <p:txBody>
          <a:bodyPr wrap="square" lIns="0" tIns="0" rIns="0" bIns="0" rtlCol="0" anchor="ctr">
            <a:spAutoFit/>
          </a:bodyPr>
          <a:lstStyle/>
          <a:p>
            <a:pPr algn="ctr"/>
            <a:r>
              <a:rPr lang="en-GB" sz="1800" b="1" dirty="0"/>
              <a:t>56.5cm</a:t>
            </a:r>
            <a:r>
              <a:rPr lang="en-GB" sz="1800" b="1" baseline="30000" dirty="0"/>
              <a:t>3</a:t>
            </a:r>
          </a:p>
        </p:txBody>
      </p:sp>
      <p:sp>
        <p:nvSpPr>
          <p:cNvPr id="143" name="TextBox 142">
            <a:extLst>
              <a:ext uri="{FF2B5EF4-FFF2-40B4-BE49-F238E27FC236}">
                <a16:creationId xmlns:a16="http://schemas.microsoft.com/office/drawing/2014/main" id="{25403D4C-F575-924A-A60B-FF6AD7DFFF9E}"/>
              </a:ext>
            </a:extLst>
          </p:cNvPr>
          <p:cNvSpPr txBox="1"/>
          <p:nvPr/>
        </p:nvSpPr>
        <p:spPr>
          <a:xfrm>
            <a:off x="2591843" y="3226915"/>
            <a:ext cx="811421" cy="228925"/>
          </a:xfrm>
          <a:prstGeom prst="rect">
            <a:avLst/>
          </a:prstGeom>
          <a:solidFill>
            <a:schemeClr val="accent3"/>
          </a:solidFill>
          <a:ln>
            <a:noFill/>
          </a:ln>
        </p:spPr>
        <p:txBody>
          <a:bodyPr wrap="square" lIns="0" tIns="0" rIns="0" bIns="0" rtlCol="0" anchor="ctr">
            <a:spAutoFit/>
          </a:bodyPr>
          <a:lstStyle/>
          <a:p>
            <a:pPr algn="ctr"/>
            <a:r>
              <a:rPr lang="en-GB" sz="1800" b="1" dirty="0"/>
              <a:t>0.134ft</a:t>
            </a:r>
            <a:r>
              <a:rPr lang="en-GB" sz="1800" b="1" baseline="30000" dirty="0"/>
              <a:t>3</a:t>
            </a:r>
          </a:p>
        </p:txBody>
      </p:sp>
      <p:sp>
        <p:nvSpPr>
          <p:cNvPr id="144" name="TextBox 143">
            <a:extLst>
              <a:ext uri="{FF2B5EF4-FFF2-40B4-BE49-F238E27FC236}">
                <a16:creationId xmlns:a16="http://schemas.microsoft.com/office/drawing/2014/main" id="{3B39C54F-39E0-1C43-908C-AAA18C892D31}"/>
              </a:ext>
            </a:extLst>
          </p:cNvPr>
          <p:cNvSpPr txBox="1"/>
          <p:nvPr/>
        </p:nvSpPr>
        <p:spPr>
          <a:xfrm>
            <a:off x="334596" y="3226915"/>
            <a:ext cx="646416" cy="228925"/>
          </a:xfrm>
          <a:prstGeom prst="rect">
            <a:avLst/>
          </a:prstGeom>
          <a:solidFill>
            <a:schemeClr val="accent3"/>
          </a:solidFill>
          <a:ln>
            <a:noFill/>
          </a:ln>
        </p:spPr>
        <p:txBody>
          <a:bodyPr wrap="square" lIns="0" tIns="0" rIns="0" bIns="0" rtlCol="0" anchor="ctr">
            <a:spAutoFit/>
          </a:bodyPr>
          <a:lstStyle/>
          <a:p>
            <a:pPr algn="ctr"/>
            <a:r>
              <a:rPr lang="en-GB" sz="1800" b="1" dirty="0"/>
              <a:t>452in</a:t>
            </a:r>
            <a:r>
              <a:rPr lang="en-GB" sz="1800" b="1" baseline="30000" dirty="0"/>
              <a:t>3</a:t>
            </a:r>
          </a:p>
        </p:txBody>
      </p:sp>
      <p:cxnSp>
        <p:nvCxnSpPr>
          <p:cNvPr id="159" name="Straight Connector 158">
            <a:extLst>
              <a:ext uri="{FF2B5EF4-FFF2-40B4-BE49-F238E27FC236}">
                <a16:creationId xmlns:a16="http://schemas.microsoft.com/office/drawing/2014/main" id="{2663FEEC-48E5-6646-9BE4-3FAE85CC1A90}"/>
              </a:ext>
            </a:extLst>
          </p:cNvPr>
          <p:cNvCxnSpPr>
            <a:cxnSpLocks/>
          </p:cNvCxnSpPr>
          <p:nvPr/>
        </p:nvCxnSpPr>
        <p:spPr>
          <a:xfrm>
            <a:off x="4572000" y="890177"/>
            <a:ext cx="0" cy="36186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7D8546A5-E475-6646-B8D7-14E9984F777D}"/>
              </a:ext>
            </a:extLst>
          </p:cNvPr>
          <p:cNvGrpSpPr/>
          <p:nvPr/>
        </p:nvGrpSpPr>
        <p:grpSpPr>
          <a:xfrm>
            <a:off x="562169" y="2257106"/>
            <a:ext cx="1117456" cy="727690"/>
            <a:chOff x="584272" y="1885175"/>
            <a:chExt cx="1117456" cy="727690"/>
          </a:xfrm>
        </p:grpSpPr>
        <p:pic>
          <p:nvPicPr>
            <p:cNvPr id="3" name="Picture 2">
              <a:extLst>
                <a:ext uri="{FF2B5EF4-FFF2-40B4-BE49-F238E27FC236}">
                  <a16:creationId xmlns:a16="http://schemas.microsoft.com/office/drawing/2014/main" id="{A9590742-EE18-7947-AAEB-B4F18AAAF878}"/>
                </a:ext>
              </a:extLst>
            </p:cNvPr>
            <p:cNvPicPr>
              <a:picLocks noChangeAspect="1"/>
            </p:cNvPicPr>
            <p:nvPr/>
          </p:nvPicPr>
          <p:blipFill>
            <a:blip r:embed="rId3"/>
            <a:stretch>
              <a:fillRect/>
            </a:stretch>
          </p:blipFill>
          <p:spPr>
            <a:xfrm>
              <a:off x="584272" y="1885175"/>
              <a:ext cx="1117456" cy="727690"/>
            </a:xfrm>
            <a:prstGeom prst="rect">
              <a:avLst/>
            </a:prstGeom>
          </p:spPr>
        </p:pic>
        <p:cxnSp>
          <p:nvCxnSpPr>
            <p:cNvPr id="164" name="Straight Arrow Connector 163">
              <a:extLst>
                <a:ext uri="{FF2B5EF4-FFF2-40B4-BE49-F238E27FC236}">
                  <a16:creationId xmlns:a16="http://schemas.microsoft.com/office/drawing/2014/main" id="{285C5578-93DB-5549-B252-B8B0EC279140}"/>
                </a:ext>
              </a:extLst>
            </p:cNvPr>
            <p:cNvCxnSpPr>
              <a:cxnSpLocks/>
            </p:cNvCxnSpPr>
            <p:nvPr/>
          </p:nvCxnSpPr>
          <p:spPr>
            <a:xfrm flipH="1">
              <a:off x="1142161" y="2076899"/>
              <a:ext cx="368744" cy="378246"/>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65" name="TextBox 164">
              <a:extLst>
                <a:ext uri="{FF2B5EF4-FFF2-40B4-BE49-F238E27FC236}">
                  <a16:creationId xmlns:a16="http://schemas.microsoft.com/office/drawing/2014/main" id="{30E4BB99-53EF-9942-AF88-3F40B6B3EAC1}"/>
                </a:ext>
              </a:extLst>
            </p:cNvPr>
            <p:cNvSpPr txBox="1"/>
            <p:nvPr/>
          </p:nvSpPr>
          <p:spPr>
            <a:xfrm>
              <a:off x="746122" y="2080810"/>
              <a:ext cx="565248" cy="215444"/>
            </a:xfrm>
            <a:prstGeom prst="rect">
              <a:avLst/>
            </a:prstGeom>
            <a:noFill/>
          </p:spPr>
          <p:txBody>
            <a:bodyPr wrap="square" lIns="0" tIns="0" rIns="0" bIns="0" rtlCol="0" anchor="ctr" anchorCtr="0">
              <a:spAutoFit/>
            </a:bodyPr>
            <a:lstStyle/>
            <a:p>
              <a:pPr algn="r">
                <a:defRPr/>
              </a:pPr>
              <a:r>
                <a:rPr lang="en-GB" altLang="en-US" sz="1400" dirty="0"/>
                <a:t>3cm</a:t>
              </a:r>
              <a:endParaRPr lang="en-GB" altLang="en-US" sz="1400" baseline="30000" dirty="0"/>
            </a:p>
          </p:txBody>
        </p:sp>
      </p:grpSp>
      <p:grpSp>
        <p:nvGrpSpPr>
          <p:cNvPr id="182" name="Group 181">
            <a:extLst>
              <a:ext uri="{FF2B5EF4-FFF2-40B4-BE49-F238E27FC236}">
                <a16:creationId xmlns:a16="http://schemas.microsoft.com/office/drawing/2014/main" id="{8ECD8C18-5CBB-A44A-A2D8-007E98E2DDF1}"/>
              </a:ext>
            </a:extLst>
          </p:cNvPr>
          <p:cNvGrpSpPr/>
          <p:nvPr/>
        </p:nvGrpSpPr>
        <p:grpSpPr>
          <a:xfrm>
            <a:off x="2870273" y="2238990"/>
            <a:ext cx="1117454" cy="727689"/>
            <a:chOff x="584273" y="1885175"/>
            <a:chExt cx="1117454" cy="727689"/>
          </a:xfrm>
        </p:grpSpPr>
        <p:pic>
          <p:nvPicPr>
            <p:cNvPr id="183" name="Picture 182">
              <a:extLst>
                <a:ext uri="{FF2B5EF4-FFF2-40B4-BE49-F238E27FC236}">
                  <a16:creationId xmlns:a16="http://schemas.microsoft.com/office/drawing/2014/main" id="{6520D81A-9754-074E-80BF-BA3762035CC3}"/>
                </a:ext>
              </a:extLst>
            </p:cNvPr>
            <p:cNvPicPr>
              <a:picLocks noChangeAspect="1"/>
            </p:cNvPicPr>
            <p:nvPr/>
          </p:nvPicPr>
          <p:blipFill>
            <a:blip r:embed="rId4"/>
            <a:stretch>
              <a:fillRect/>
            </a:stretch>
          </p:blipFill>
          <p:spPr>
            <a:xfrm>
              <a:off x="584273" y="1885175"/>
              <a:ext cx="1117454" cy="727689"/>
            </a:xfrm>
            <a:prstGeom prst="rect">
              <a:avLst/>
            </a:prstGeom>
          </p:spPr>
        </p:pic>
        <p:cxnSp>
          <p:nvCxnSpPr>
            <p:cNvPr id="184" name="Straight Arrow Connector 183">
              <a:extLst>
                <a:ext uri="{FF2B5EF4-FFF2-40B4-BE49-F238E27FC236}">
                  <a16:creationId xmlns:a16="http://schemas.microsoft.com/office/drawing/2014/main" id="{C259A496-572A-1C46-A11A-12A1F04A013F}"/>
                </a:ext>
              </a:extLst>
            </p:cNvPr>
            <p:cNvCxnSpPr>
              <a:cxnSpLocks/>
            </p:cNvCxnSpPr>
            <p:nvPr/>
          </p:nvCxnSpPr>
          <p:spPr>
            <a:xfrm>
              <a:off x="926625" y="1963969"/>
              <a:ext cx="215537" cy="493874"/>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85" name="TextBox 184">
              <a:extLst>
                <a:ext uri="{FF2B5EF4-FFF2-40B4-BE49-F238E27FC236}">
                  <a16:creationId xmlns:a16="http://schemas.microsoft.com/office/drawing/2014/main" id="{0128B0D6-EDEE-2543-80F1-5D5829BC7BCB}"/>
                </a:ext>
              </a:extLst>
            </p:cNvPr>
            <p:cNvSpPr txBox="1"/>
            <p:nvPr/>
          </p:nvSpPr>
          <p:spPr>
            <a:xfrm>
              <a:off x="1090746" y="2089888"/>
              <a:ext cx="565248" cy="215444"/>
            </a:xfrm>
            <a:prstGeom prst="rect">
              <a:avLst/>
            </a:prstGeom>
            <a:noFill/>
          </p:spPr>
          <p:txBody>
            <a:bodyPr wrap="square" lIns="0" tIns="0" rIns="0" bIns="0" rtlCol="0" anchor="ctr" anchorCtr="0">
              <a:spAutoFit/>
            </a:bodyPr>
            <a:lstStyle/>
            <a:p>
              <a:pPr>
                <a:defRPr/>
              </a:pPr>
              <a:r>
                <a:rPr lang="en-GB" altLang="en-US" sz="1400" dirty="0"/>
                <a:t>2.5m</a:t>
              </a:r>
              <a:endParaRPr lang="en-GB" altLang="en-US" sz="1400" baseline="30000" dirty="0"/>
            </a:p>
          </p:txBody>
        </p:sp>
      </p:grpSp>
      <p:grpSp>
        <p:nvGrpSpPr>
          <p:cNvPr id="186" name="Group 185">
            <a:extLst>
              <a:ext uri="{FF2B5EF4-FFF2-40B4-BE49-F238E27FC236}">
                <a16:creationId xmlns:a16="http://schemas.microsoft.com/office/drawing/2014/main" id="{7AFF2652-0F70-234C-BE05-93BA106465EC}"/>
              </a:ext>
            </a:extLst>
          </p:cNvPr>
          <p:cNvGrpSpPr/>
          <p:nvPr/>
        </p:nvGrpSpPr>
        <p:grpSpPr>
          <a:xfrm>
            <a:off x="562171" y="3520465"/>
            <a:ext cx="1117453" cy="928666"/>
            <a:chOff x="584273" y="1885176"/>
            <a:chExt cx="1117453" cy="928666"/>
          </a:xfrm>
        </p:grpSpPr>
        <p:pic>
          <p:nvPicPr>
            <p:cNvPr id="187" name="Picture 186">
              <a:extLst>
                <a:ext uri="{FF2B5EF4-FFF2-40B4-BE49-F238E27FC236}">
                  <a16:creationId xmlns:a16="http://schemas.microsoft.com/office/drawing/2014/main" id="{D467AE5E-268C-EF42-B36F-3AC5BBB098AC}"/>
                </a:ext>
              </a:extLst>
            </p:cNvPr>
            <p:cNvPicPr>
              <a:picLocks noChangeAspect="1"/>
            </p:cNvPicPr>
            <p:nvPr/>
          </p:nvPicPr>
          <p:blipFill>
            <a:blip r:embed="rId5"/>
            <a:stretch>
              <a:fillRect/>
            </a:stretch>
          </p:blipFill>
          <p:spPr>
            <a:xfrm>
              <a:off x="584273" y="1885176"/>
              <a:ext cx="1117453" cy="727688"/>
            </a:xfrm>
            <a:prstGeom prst="rect">
              <a:avLst/>
            </a:prstGeom>
          </p:spPr>
        </p:pic>
        <p:cxnSp>
          <p:nvCxnSpPr>
            <p:cNvPr id="188" name="Straight Arrow Connector 187">
              <a:extLst>
                <a:ext uri="{FF2B5EF4-FFF2-40B4-BE49-F238E27FC236}">
                  <a16:creationId xmlns:a16="http://schemas.microsoft.com/office/drawing/2014/main" id="{6BE45609-17CC-5745-8402-D7A07887F90E}"/>
                </a:ext>
              </a:extLst>
            </p:cNvPr>
            <p:cNvCxnSpPr>
              <a:cxnSpLocks/>
            </p:cNvCxnSpPr>
            <p:nvPr/>
          </p:nvCxnSpPr>
          <p:spPr>
            <a:xfrm>
              <a:off x="614575" y="2448462"/>
              <a:ext cx="1056849" cy="0"/>
            </a:xfrm>
            <a:prstGeom prst="straightConnector1">
              <a:avLst/>
            </a:prstGeom>
            <a:ln w="1270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89" name="TextBox 188">
              <a:extLst>
                <a:ext uri="{FF2B5EF4-FFF2-40B4-BE49-F238E27FC236}">
                  <a16:creationId xmlns:a16="http://schemas.microsoft.com/office/drawing/2014/main" id="{BE95E853-349E-E343-A770-E0F0E98762CA}"/>
                </a:ext>
              </a:extLst>
            </p:cNvPr>
            <p:cNvSpPr txBox="1"/>
            <p:nvPr/>
          </p:nvSpPr>
          <p:spPr>
            <a:xfrm>
              <a:off x="984565" y="2598398"/>
              <a:ext cx="316869" cy="215444"/>
            </a:xfrm>
            <a:prstGeom prst="rect">
              <a:avLst/>
            </a:prstGeom>
            <a:noFill/>
          </p:spPr>
          <p:txBody>
            <a:bodyPr wrap="square" lIns="0" tIns="0" rIns="0" bIns="0" rtlCol="0" anchor="ctr" anchorCtr="0">
              <a:spAutoFit/>
            </a:bodyPr>
            <a:lstStyle/>
            <a:p>
              <a:pPr algn="ctr">
                <a:defRPr/>
              </a:pPr>
              <a:r>
                <a:rPr lang="en-GB" altLang="en-US" sz="1400" dirty="0"/>
                <a:t>12in</a:t>
              </a:r>
              <a:endParaRPr lang="en-GB" altLang="en-US" sz="1400" baseline="30000" dirty="0"/>
            </a:p>
          </p:txBody>
        </p:sp>
      </p:grpSp>
      <p:grpSp>
        <p:nvGrpSpPr>
          <p:cNvPr id="190" name="Group 189">
            <a:extLst>
              <a:ext uri="{FF2B5EF4-FFF2-40B4-BE49-F238E27FC236}">
                <a16:creationId xmlns:a16="http://schemas.microsoft.com/office/drawing/2014/main" id="{5C67BE43-F982-2B4D-90C3-40DA8968B7DB}"/>
              </a:ext>
            </a:extLst>
          </p:cNvPr>
          <p:cNvGrpSpPr/>
          <p:nvPr/>
        </p:nvGrpSpPr>
        <p:grpSpPr>
          <a:xfrm>
            <a:off x="2850394" y="3597966"/>
            <a:ext cx="1117453" cy="727688"/>
            <a:chOff x="584273" y="1885175"/>
            <a:chExt cx="1117453" cy="727688"/>
          </a:xfrm>
        </p:grpSpPr>
        <p:pic>
          <p:nvPicPr>
            <p:cNvPr id="191" name="Picture 190">
              <a:extLst>
                <a:ext uri="{FF2B5EF4-FFF2-40B4-BE49-F238E27FC236}">
                  <a16:creationId xmlns:a16="http://schemas.microsoft.com/office/drawing/2014/main" id="{059192FF-1DE4-0344-8364-44D67D2E187E}"/>
                </a:ext>
              </a:extLst>
            </p:cNvPr>
            <p:cNvPicPr>
              <a:picLocks noChangeAspect="1"/>
            </p:cNvPicPr>
            <p:nvPr/>
          </p:nvPicPr>
          <p:blipFill>
            <a:blip r:embed="rId6"/>
            <a:stretch>
              <a:fillRect/>
            </a:stretch>
          </p:blipFill>
          <p:spPr>
            <a:xfrm>
              <a:off x="584273" y="1885175"/>
              <a:ext cx="1117453" cy="727688"/>
            </a:xfrm>
            <a:prstGeom prst="rect">
              <a:avLst/>
            </a:prstGeom>
          </p:spPr>
        </p:pic>
        <p:cxnSp>
          <p:nvCxnSpPr>
            <p:cNvPr id="192" name="Straight Arrow Connector 191">
              <a:extLst>
                <a:ext uri="{FF2B5EF4-FFF2-40B4-BE49-F238E27FC236}">
                  <a16:creationId xmlns:a16="http://schemas.microsoft.com/office/drawing/2014/main" id="{F969AAFB-AD0A-5F4A-A62F-F3159471DEDA}"/>
                </a:ext>
              </a:extLst>
            </p:cNvPr>
            <p:cNvCxnSpPr>
              <a:cxnSpLocks/>
            </p:cNvCxnSpPr>
            <p:nvPr/>
          </p:nvCxnSpPr>
          <p:spPr>
            <a:xfrm>
              <a:off x="1142164" y="1910580"/>
              <a:ext cx="0" cy="547662"/>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93" name="TextBox 192">
              <a:extLst>
                <a:ext uri="{FF2B5EF4-FFF2-40B4-BE49-F238E27FC236}">
                  <a16:creationId xmlns:a16="http://schemas.microsoft.com/office/drawing/2014/main" id="{7D35634A-D863-1743-BB59-FE3C9F9458E8}"/>
                </a:ext>
              </a:extLst>
            </p:cNvPr>
            <p:cNvSpPr txBox="1"/>
            <p:nvPr/>
          </p:nvSpPr>
          <p:spPr>
            <a:xfrm>
              <a:off x="1173656" y="2099726"/>
              <a:ext cx="439186" cy="215444"/>
            </a:xfrm>
            <a:prstGeom prst="rect">
              <a:avLst/>
            </a:prstGeom>
            <a:noFill/>
          </p:spPr>
          <p:txBody>
            <a:bodyPr wrap="square" lIns="0" tIns="0" rIns="0" bIns="0" rtlCol="0" anchor="ctr" anchorCtr="0">
              <a:spAutoFit/>
            </a:bodyPr>
            <a:lstStyle/>
            <a:p>
              <a:pPr>
                <a:defRPr/>
              </a:pPr>
              <a:r>
                <a:rPr lang="en-GB" altLang="en-US" sz="1400" dirty="0"/>
                <a:t>0.4ft</a:t>
              </a:r>
              <a:endParaRPr lang="en-GB" altLang="en-US" sz="1400" baseline="30000" dirty="0"/>
            </a:p>
          </p:txBody>
        </p:sp>
      </p:grpSp>
      <p:sp>
        <p:nvSpPr>
          <p:cNvPr id="72" name="TextBox 71">
            <a:extLst>
              <a:ext uri="{FF2B5EF4-FFF2-40B4-BE49-F238E27FC236}">
                <a16:creationId xmlns:a16="http://schemas.microsoft.com/office/drawing/2014/main" id="{4DDB37BF-8296-FF44-957E-B96860772BC6}"/>
              </a:ext>
            </a:extLst>
          </p:cNvPr>
          <p:cNvSpPr txBox="1"/>
          <p:nvPr/>
        </p:nvSpPr>
        <p:spPr>
          <a:xfrm>
            <a:off x="4625020" y="954671"/>
            <a:ext cx="513302" cy="276999"/>
          </a:xfrm>
          <a:prstGeom prst="rect">
            <a:avLst/>
          </a:prstGeom>
          <a:noFill/>
        </p:spPr>
        <p:txBody>
          <a:bodyPr wrap="square" lIns="36000" tIns="0" rIns="0" bIns="0" rtlCol="0">
            <a:spAutoFit/>
          </a:bodyPr>
          <a:lstStyle/>
          <a:p>
            <a:r>
              <a:rPr lang="en-GB" sz="1800" b="1" dirty="0"/>
              <a:t>Q3</a:t>
            </a:r>
          </a:p>
        </p:txBody>
      </p:sp>
      <p:sp>
        <p:nvSpPr>
          <p:cNvPr id="73" name="TextBox 72">
            <a:extLst>
              <a:ext uri="{FF2B5EF4-FFF2-40B4-BE49-F238E27FC236}">
                <a16:creationId xmlns:a16="http://schemas.microsoft.com/office/drawing/2014/main" id="{1F7325A2-09F0-5244-BCAE-7317E252E9D2}"/>
              </a:ext>
            </a:extLst>
          </p:cNvPr>
          <p:cNvSpPr txBox="1"/>
          <p:nvPr/>
        </p:nvSpPr>
        <p:spPr>
          <a:xfrm>
            <a:off x="5032173" y="954671"/>
            <a:ext cx="4071634" cy="553998"/>
          </a:xfrm>
          <a:prstGeom prst="rect">
            <a:avLst/>
          </a:prstGeom>
          <a:noFill/>
        </p:spPr>
        <p:txBody>
          <a:bodyPr wrap="square" lIns="36000" tIns="0" rIns="0" bIns="0" rtlCol="0">
            <a:spAutoFit/>
          </a:bodyPr>
          <a:lstStyle/>
          <a:p>
            <a:pPr>
              <a:defRPr/>
            </a:pPr>
            <a:r>
              <a:rPr lang="en-GB" altLang="en-US" sz="1800" dirty="0"/>
              <a:t>Work out, correct to four significant figures, the volume of a sphere with:</a:t>
            </a:r>
            <a:endParaRPr lang="en-GB" altLang="en-US" sz="1800" baseline="30000" dirty="0"/>
          </a:p>
        </p:txBody>
      </p:sp>
      <p:sp>
        <p:nvSpPr>
          <p:cNvPr id="74" name="TextBox 73">
            <a:extLst>
              <a:ext uri="{FF2B5EF4-FFF2-40B4-BE49-F238E27FC236}">
                <a16:creationId xmlns:a16="http://schemas.microsoft.com/office/drawing/2014/main" id="{23489F57-08C3-F44E-A5C8-9568FD6C172F}"/>
              </a:ext>
            </a:extLst>
          </p:cNvPr>
          <p:cNvSpPr txBox="1"/>
          <p:nvPr/>
        </p:nvSpPr>
        <p:spPr>
          <a:xfrm>
            <a:off x="5032173" y="1648024"/>
            <a:ext cx="513302" cy="276999"/>
          </a:xfrm>
          <a:prstGeom prst="rect">
            <a:avLst/>
          </a:prstGeom>
          <a:noFill/>
        </p:spPr>
        <p:txBody>
          <a:bodyPr wrap="square" lIns="36000" tIns="0" rIns="0" bIns="0" rtlCol="0">
            <a:spAutoFit/>
          </a:bodyPr>
          <a:lstStyle/>
          <a:p>
            <a:r>
              <a:rPr lang="en-GB" sz="1800" b="1" dirty="0"/>
              <a:t>[a]</a:t>
            </a:r>
          </a:p>
        </p:txBody>
      </p:sp>
      <p:sp>
        <p:nvSpPr>
          <p:cNvPr id="75" name="TextBox 74">
            <a:extLst>
              <a:ext uri="{FF2B5EF4-FFF2-40B4-BE49-F238E27FC236}">
                <a16:creationId xmlns:a16="http://schemas.microsoft.com/office/drawing/2014/main" id="{7DB590A8-33F6-984E-BD65-F206A48CFCBA}"/>
              </a:ext>
            </a:extLst>
          </p:cNvPr>
          <p:cNvSpPr txBox="1"/>
          <p:nvPr/>
        </p:nvSpPr>
        <p:spPr>
          <a:xfrm>
            <a:off x="5032173" y="2124011"/>
            <a:ext cx="513302" cy="276999"/>
          </a:xfrm>
          <a:prstGeom prst="rect">
            <a:avLst/>
          </a:prstGeom>
          <a:noFill/>
        </p:spPr>
        <p:txBody>
          <a:bodyPr wrap="square" lIns="36000" tIns="0" rIns="0" bIns="0" rtlCol="0">
            <a:spAutoFit/>
          </a:bodyPr>
          <a:lstStyle/>
          <a:p>
            <a:r>
              <a:rPr lang="en-GB" sz="1800" b="1" dirty="0"/>
              <a:t>[b]</a:t>
            </a:r>
          </a:p>
        </p:txBody>
      </p:sp>
      <p:sp>
        <p:nvSpPr>
          <p:cNvPr id="76" name="TextBox 75">
            <a:extLst>
              <a:ext uri="{FF2B5EF4-FFF2-40B4-BE49-F238E27FC236}">
                <a16:creationId xmlns:a16="http://schemas.microsoft.com/office/drawing/2014/main" id="{A8835D4E-4798-4247-A3C8-57CE69F35DE9}"/>
              </a:ext>
            </a:extLst>
          </p:cNvPr>
          <p:cNvSpPr txBox="1"/>
          <p:nvPr/>
        </p:nvSpPr>
        <p:spPr>
          <a:xfrm>
            <a:off x="5032173" y="2599998"/>
            <a:ext cx="513302" cy="276999"/>
          </a:xfrm>
          <a:prstGeom prst="rect">
            <a:avLst/>
          </a:prstGeom>
          <a:noFill/>
        </p:spPr>
        <p:txBody>
          <a:bodyPr wrap="square" lIns="36000" tIns="0" rIns="0" bIns="0" rtlCol="0">
            <a:spAutoFit/>
          </a:bodyPr>
          <a:lstStyle/>
          <a:p>
            <a:r>
              <a:rPr lang="en-GB" sz="1800" b="1" dirty="0"/>
              <a:t>[c]</a:t>
            </a: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8F9558B7-0DD2-E541-9070-0E27DC11DE61}"/>
                  </a:ext>
                </a:extLst>
              </p:cNvPr>
              <p:cNvSpPr txBox="1"/>
              <p:nvPr/>
            </p:nvSpPr>
            <p:spPr>
              <a:xfrm>
                <a:off x="5469495" y="1648024"/>
                <a:ext cx="2203514" cy="276999"/>
              </a:xfrm>
              <a:prstGeom prst="rect">
                <a:avLst/>
              </a:prstGeom>
              <a:noFill/>
            </p:spPr>
            <p:txBody>
              <a:bodyPr wrap="square" lIns="36000" tIns="0" rIns="0" bIns="0" rtlCol="0">
                <a:spAutoFit/>
              </a:bodyPr>
              <a:lstStyle/>
              <a:p>
                <a:r>
                  <a:rPr lang="en-GB" sz="1800" dirty="0"/>
                  <a:t>Radius </a:t>
                </a:r>
                <a14:m>
                  <m:oMath xmlns:m="http://schemas.openxmlformats.org/officeDocument/2006/math">
                    <m:r>
                      <a:rPr lang="en-GB" sz="1800" b="0" i="1" smtClean="0">
                        <a:latin typeface="Cambria Math" panose="02040503050406030204" pitchFamily="18" charset="0"/>
                      </a:rPr>
                      <m:t>=</m:t>
                    </m:r>
                  </m:oMath>
                </a14:m>
                <a:r>
                  <a:rPr lang="en-GB" sz="1800" dirty="0"/>
                  <a:t> 7cm</a:t>
                </a:r>
              </a:p>
            </p:txBody>
          </p:sp>
        </mc:Choice>
        <mc:Fallback xmlns="">
          <p:sp>
            <p:nvSpPr>
              <p:cNvPr id="81" name="TextBox 80">
                <a:extLst>
                  <a:ext uri="{FF2B5EF4-FFF2-40B4-BE49-F238E27FC236}">
                    <a16:creationId xmlns:a16="http://schemas.microsoft.com/office/drawing/2014/main" id="{8F9558B7-0DD2-E541-9070-0E27DC11DE61}"/>
                  </a:ext>
                </a:extLst>
              </p:cNvPr>
              <p:cNvSpPr txBox="1">
                <a:spLocks noRot="1" noChangeAspect="1" noMove="1" noResize="1" noEditPoints="1" noAdjustHandles="1" noChangeArrowheads="1" noChangeShapeType="1" noTextEdit="1"/>
              </p:cNvSpPr>
              <p:nvPr/>
            </p:nvSpPr>
            <p:spPr>
              <a:xfrm>
                <a:off x="5469495" y="1648024"/>
                <a:ext cx="2203514" cy="276999"/>
              </a:xfrm>
              <a:prstGeom prst="rect">
                <a:avLst/>
              </a:prstGeom>
              <a:blipFill>
                <a:blip r:embed="rId7"/>
                <a:stretch>
                  <a:fillRect l="-4598" t="-26087" b="-478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B2D7F150-D729-B34D-B077-7B899A284962}"/>
                  </a:ext>
                </a:extLst>
              </p:cNvPr>
              <p:cNvSpPr txBox="1"/>
              <p:nvPr/>
            </p:nvSpPr>
            <p:spPr>
              <a:xfrm>
                <a:off x="5469495" y="2124011"/>
                <a:ext cx="2203514" cy="276999"/>
              </a:xfrm>
              <a:prstGeom prst="rect">
                <a:avLst/>
              </a:prstGeom>
              <a:noFill/>
            </p:spPr>
            <p:txBody>
              <a:bodyPr wrap="square" lIns="36000" tIns="0" rIns="0" bIns="0" rtlCol="0">
                <a:spAutoFit/>
              </a:bodyPr>
              <a:lstStyle/>
              <a:p>
                <a:r>
                  <a:rPr lang="en-GB" sz="1800" dirty="0"/>
                  <a:t>Radius </a:t>
                </a:r>
                <a14:m>
                  <m:oMath xmlns:m="http://schemas.openxmlformats.org/officeDocument/2006/math">
                    <m:r>
                      <a:rPr lang="en-GB" sz="1800" b="0" i="1" smtClean="0">
                        <a:latin typeface="Cambria Math" panose="02040503050406030204" pitchFamily="18" charset="0"/>
                      </a:rPr>
                      <m:t>=</m:t>
                    </m:r>
                  </m:oMath>
                </a14:m>
                <a:r>
                  <a:rPr lang="en-GB" sz="1800" dirty="0"/>
                  <a:t> 1.5mm</a:t>
                </a:r>
              </a:p>
            </p:txBody>
          </p:sp>
        </mc:Choice>
        <mc:Fallback xmlns="">
          <p:sp>
            <p:nvSpPr>
              <p:cNvPr id="82" name="TextBox 81">
                <a:extLst>
                  <a:ext uri="{FF2B5EF4-FFF2-40B4-BE49-F238E27FC236}">
                    <a16:creationId xmlns:a16="http://schemas.microsoft.com/office/drawing/2014/main" id="{B2D7F150-D729-B34D-B077-7B899A284962}"/>
                  </a:ext>
                </a:extLst>
              </p:cNvPr>
              <p:cNvSpPr txBox="1">
                <a:spLocks noRot="1" noChangeAspect="1" noMove="1" noResize="1" noEditPoints="1" noAdjustHandles="1" noChangeArrowheads="1" noChangeShapeType="1" noTextEdit="1"/>
              </p:cNvSpPr>
              <p:nvPr/>
            </p:nvSpPr>
            <p:spPr>
              <a:xfrm>
                <a:off x="5469495" y="2124011"/>
                <a:ext cx="2203514" cy="276999"/>
              </a:xfrm>
              <a:prstGeom prst="rect">
                <a:avLst/>
              </a:prstGeom>
              <a:blipFill>
                <a:blip r:embed="rId8"/>
                <a:stretch>
                  <a:fillRect l="-4598" t="-21739" b="-478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D81F34D4-0854-1741-AD3B-AC63E7EA2FE4}"/>
                  </a:ext>
                </a:extLst>
              </p:cNvPr>
              <p:cNvSpPr txBox="1"/>
              <p:nvPr/>
            </p:nvSpPr>
            <p:spPr>
              <a:xfrm>
                <a:off x="5469495" y="2599998"/>
                <a:ext cx="2203514" cy="276999"/>
              </a:xfrm>
              <a:prstGeom prst="rect">
                <a:avLst/>
              </a:prstGeom>
              <a:noFill/>
            </p:spPr>
            <p:txBody>
              <a:bodyPr wrap="square" lIns="36000" tIns="0" rIns="0" bIns="0" rtlCol="0">
                <a:spAutoFit/>
              </a:bodyPr>
              <a:lstStyle/>
              <a:p>
                <a:r>
                  <a:rPr lang="en-GB" sz="1800" dirty="0"/>
                  <a:t>Diameter </a:t>
                </a:r>
                <a14:m>
                  <m:oMath xmlns:m="http://schemas.openxmlformats.org/officeDocument/2006/math">
                    <m:r>
                      <a:rPr lang="en-GB" sz="1800" b="0" i="1" smtClean="0">
                        <a:latin typeface="Cambria Math" panose="02040503050406030204" pitchFamily="18" charset="0"/>
                      </a:rPr>
                      <m:t>=</m:t>
                    </m:r>
                  </m:oMath>
                </a14:m>
                <a:r>
                  <a:rPr lang="en-GB" sz="1800" dirty="0"/>
                  <a:t> 4.2yd</a:t>
                </a:r>
              </a:p>
            </p:txBody>
          </p:sp>
        </mc:Choice>
        <mc:Fallback xmlns="">
          <p:sp>
            <p:nvSpPr>
              <p:cNvPr id="83" name="TextBox 82">
                <a:extLst>
                  <a:ext uri="{FF2B5EF4-FFF2-40B4-BE49-F238E27FC236}">
                    <a16:creationId xmlns:a16="http://schemas.microsoft.com/office/drawing/2014/main" id="{D81F34D4-0854-1741-AD3B-AC63E7EA2FE4}"/>
                  </a:ext>
                </a:extLst>
              </p:cNvPr>
              <p:cNvSpPr txBox="1">
                <a:spLocks noRot="1" noChangeAspect="1" noMove="1" noResize="1" noEditPoints="1" noAdjustHandles="1" noChangeArrowheads="1" noChangeShapeType="1" noTextEdit="1"/>
              </p:cNvSpPr>
              <p:nvPr/>
            </p:nvSpPr>
            <p:spPr>
              <a:xfrm>
                <a:off x="5469495" y="2599998"/>
                <a:ext cx="2203514" cy="276999"/>
              </a:xfrm>
              <a:prstGeom prst="rect">
                <a:avLst/>
              </a:prstGeom>
              <a:blipFill>
                <a:blip r:embed="rId9"/>
                <a:stretch>
                  <a:fillRect l="-4598" t="-21739" b="-47826"/>
                </a:stretch>
              </a:blipFill>
            </p:spPr>
            <p:txBody>
              <a:bodyPr/>
              <a:lstStyle/>
              <a:p>
                <a:r>
                  <a:rPr lang="en-GB">
                    <a:noFill/>
                  </a:rPr>
                  <a:t> </a:t>
                </a:r>
              </a:p>
            </p:txBody>
          </p:sp>
        </mc:Fallback>
      </mc:AlternateContent>
      <p:sp>
        <p:nvSpPr>
          <p:cNvPr id="97" name="TextBox 96">
            <a:extLst>
              <a:ext uri="{FF2B5EF4-FFF2-40B4-BE49-F238E27FC236}">
                <a16:creationId xmlns:a16="http://schemas.microsoft.com/office/drawing/2014/main" id="{7A4914CB-4F70-FC44-BAB5-75C003F962A5}"/>
              </a:ext>
            </a:extLst>
          </p:cNvPr>
          <p:cNvSpPr txBox="1"/>
          <p:nvPr/>
        </p:nvSpPr>
        <p:spPr>
          <a:xfrm>
            <a:off x="6914365" y="1667623"/>
            <a:ext cx="894951" cy="228925"/>
          </a:xfrm>
          <a:prstGeom prst="rect">
            <a:avLst/>
          </a:prstGeom>
          <a:solidFill>
            <a:schemeClr val="accent3"/>
          </a:solidFill>
          <a:ln>
            <a:noFill/>
          </a:ln>
        </p:spPr>
        <p:txBody>
          <a:bodyPr wrap="square" lIns="0" tIns="0" rIns="0" bIns="0" rtlCol="0" anchor="ctr">
            <a:spAutoFit/>
          </a:bodyPr>
          <a:lstStyle/>
          <a:p>
            <a:pPr algn="ctr"/>
            <a:r>
              <a:rPr lang="en-GB" sz="1800" b="1" dirty="0"/>
              <a:t>1437cm</a:t>
            </a:r>
            <a:r>
              <a:rPr lang="en-GB" sz="1800" b="1" baseline="30000" dirty="0"/>
              <a:t>3</a:t>
            </a:r>
          </a:p>
        </p:txBody>
      </p:sp>
      <p:sp>
        <p:nvSpPr>
          <p:cNvPr id="99" name="TextBox 98">
            <a:extLst>
              <a:ext uri="{FF2B5EF4-FFF2-40B4-BE49-F238E27FC236}">
                <a16:creationId xmlns:a16="http://schemas.microsoft.com/office/drawing/2014/main" id="{57C1C505-8EC9-3E42-B632-93464F6778F9}"/>
              </a:ext>
            </a:extLst>
          </p:cNvPr>
          <p:cNvSpPr txBox="1"/>
          <p:nvPr/>
        </p:nvSpPr>
        <p:spPr>
          <a:xfrm>
            <a:off x="7169938" y="2143565"/>
            <a:ext cx="1059662" cy="228925"/>
          </a:xfrm>
          <a:prstGeom prst="rect">
            <a:avLst/>
          </a:prstGeom>
          <a:solidFill>
            <a:schemeClr val="accent3"/>
          </a:solidFill>
          <a:ln>
            <a:noFill/>
          </a:ln>
        </p:spPr>
        <p:txBody>
          <a:bodyPr wrap="square" lIns="0" tIns="0" rIns="0" bIns="0" rtlCol="0" anchor="ctr">
            <a:spAutoFit/>
          </a:bodyPr>
          <a:lstStyle/>
          <a:p>
            <a:pPr algn="ctr"/>
            <a:r>
              <a:rPr lang="en-GB" sz="1800" b="1" dirty="0"/>
              <a:t>14.14mm</a:t>
            </a:r>
            <a:r>
              <a:rPr lang="en-GB" sz="1800" b="1" baseline="30000" dirty="0"/>
              <a:t>3</a:t>
            </a:r>
          </a:p>
        </p:txBody>
      </p:sp>
      <p:sp>
        <p:nvSpPr>
          <p:cNvPr id="100" name="TextBox 99">
            <a:extLst>
              <a:ext uri="{FF2B5EF4-FFF2-40B4-BE49-F238E27FC236}">
                <a16:creationId xmlns:a16="http://schemas.microsoft.com/office/drawing/2014/main" id="{96329351-77A8-A841-9447-CF7966FEB85A}"/>
              </a:ext>
            </a:extLst>
          </p:cNvPr>
          <p:cNvSpPr txBox="1"/>
          <p:nvPr/>
        </p:nvSpPr>
        <p:spPr>
          <a:xfrm>
            <a:off x="7259589" y="2608061"/>
            <a:ext cx="896177" cy="251817"/>
          </a:xfrm>
          <a:prstGeom prst="rect">
            <a:avLst/>
          </a:prstGeom>
          <a:solidFill>
            <a:schemeClr val="accent3"/>
          </a:solidFill>
          <a:ln>
            <a:noFill/>
          </a:ln>
        </p:spPr>
        <p:txBody>
          <a:bodyPr wrap="square" lIns="0" tIns="0" rIns="0" bIns="0" rtlCol="0" anchor="ctr">
            <a:spAutoFit/>
          </a:bodyPr>
          <a:lstStyle/>
          <a:p>
            <a:pPr algn="ctr"/>
            <a:r>
              <a:rPr lang="en-GB" sz="1800" b="1" dirty="0"/>
              <a:t>38.79yd</a:t>
            </a:r>
            <a:r>
              <a:rPr lang="en-GB" sz="1800" b="1" baseline="30000" dirty="0"/>
              <a:t>3</a:t>
            </a:r>
          </a:p>
        </p:txBody>
      </p:sp>
      <p:cxnSp>
        <p:nvCxnSpPr>
          <p:cNvPr id="105" name="Straight Connector 104">
            <a:extLst>
              <a:ext uri="{FF2B5EF4-FFF2-40B4-BE49-F238E27FC236}">
                <a16:creationId xmlns:a16="http://schemas.microsoft.com/office/drawing/2014/main" id="{E4E12A5E-7BE7-2848-B2C4-5B6F20B40B5E}"/>
              </a:ext>
            </a:extLst>
          </p:cNvPr>
          <p:cNvCxnSpPr>
            <a:cxnSpLocks/>
          </p:cNvCxnSpPr>
          <p:nvPr/>
        </p:nvCxnSpPr>
        <p:spPr>
          <a:xfrm flipH="1">
            <a:off x="4565822" y="3073461"/>
            <a:ext cx="45781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48FAA746-5763-EC4B-9683-42BEF73D78C0}"/>
              </a:ext>
            </a:extLst>
          </p:cNvPr>
          <p:cNvSpPr txBox="1"/>
          <p:nvPr/>
        </p:nvSpPr>
        <p:spPr>
          <a:xfrm>
            <a:off x="4625020" y="3145350"/>
            <a:ext cx="513302" cy="276999"/>
          </a:xfrm>
          <a:prstGeom prst="rect">
            <a:avLst/>
          </a:prstGeom>
          <a:noFill/>
        </p:spPr>
        <p:txBody>
          <a:bodyPr wrap="square" lIns="36000" tIns="0" rIns="0" bIns="0" rtlCol="0">
            <a:spAutoFit/>
          </a:bodyPr>
          <a:lstStyle/>
          <a:p>
            <a:r>
              <a:rPr lang="en-GB" sz="1800" b="1" dirty="0"/>
              <a:t>Q4</a:t>
            </a:r>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C2ADF1B4-AFD1-1740-8819-14C549100D5B}"/>
                  </a:ext>
                </a:extLst>
              </p:cNvPr>
              <p:cNvSpPr txBox="1"/>
              <p:nvPr/>
            </p:nvSpPr>
            <p:spPr>
              <a:xfrm>
                <a:off x="5032173" y="3145350"/>
                <a:ext cx="4071634" cy="830997"/>
              </a:xfrm>
              <a:prstGeom prst="rect">
                <a:avLst/>
              </a:prstGeom>
              <a:noFill/>
            </p:spPr>
            <p:txBody>
              <a:bodyPr wrap="square" lIns="36000" tIns="0" rIns="0" bIns="0" rtlCol="0">
                <a:spAutoFit/>
              </a:bodyPr>
              <a:lstStyle/>
              <a:p>
                <a:pPr>
                  <a:defRPr/>
                </a:pPr>
                <a:r>
                  <a:rPr lang="en-GB" altLang="en-US" sz="1800" dirty="0"/>
                  <a:t>Given that the radius of Mars is approximately 3.4 </a:t>
                </a:r>
                <a14:m>
                  <m:oMath xmlns:m="http://schemas.openxmlformats.org/officeDocument/2006/math">
                    <m:r>
                      <a:rPr lang="en-GB" altLang="en-US" sz="1800" b="0" i="1" smtClean="0">
                        <a:latin typeface="Cambria Math" panose="02040503050406030204" pitchFamily="18" charset="0"/>
                      </a:rPr>
                      <m:t>×</m:t>
                    </m:r>
                  </m:oMath>
                </a14:m>
                <a:r>
                  <a:rPr lang="en-GB" altLang="en-US" sz="1800" dirty="0"/>
                  <a:t> 10</a:t>
                </a:r>
                <a:r>
                  <a:rPr lang="en-GB" altLang="en-US" sz="1800" baseline="30000" dirty="0"/>
                  <a:t>3</a:t>
                </a:r>
                <a:r>
                  <a:rPr lang="en-GB" altLang="en-US" sz="1800" dirty="0"/>
                  <a:t> kilometres.</a:t>
                </a:r>
                <a:br>
                  <a:rPr lang="en-GB" altLang="en-US" sz="1800" dirty="0"/>
                </a:br>
                <a:r>
                  <a:rPr lang="en-GB" altLang="en-US" sz="1800" dirty="0"/>
                  <a:t>Find its volume to three significant figures.</a:t>
                </a:r>
                <a:endParaRPr lang="en-GB" altLang="en-US" sz="1800" baseline="30000" dirty="0"/>
              </a:p>
            </p:txBody>
          </p:sp>
        </mc:Choice>
        <mc:Fallback xmlns="">
          <p:sp>
            <p:nvSpPr>
              <p:cNvPr id="107" name="TextBox 106">
                <a:extLst>
                  <a:ext uri="{FF2B5EF4-FFF2-40B4-BE49-F238E27FC236}">
                    <a16:creationId xmlns:a16="http://schemas.microsoft.com/office/drawing/2014/main" id="{C2ADF1B4-AFD1-1740-8819-14C549100D5B}"/>
                  </a:ext>
                </a:extLst>
              </p:cNvPr>
              <p:cNvSpPr txBox="1">
                <a:spLocks noRot="1" noChangeAspect="1" noMove="1" noResize="1" noEditPoints="1" noAdjustHandles="1" noChangeArrowheads="1" noChangeShapeType="1" noTextEdit="1"/>
              </p:cNvSpPr>
              <p:nvPr/>
            </p:nvSpPr>
            <p:spPr>
              <a:xfrm>
                <a:off x="5032173" y="3145350"/>
                <a:ext cx="4071634" cy="830997"/>
              </a:xfrm>
              <a:prstGeom prst="rect">
                <a:avLst/>
              </a:prstGeom>
              <a:blipFill>
                <a:blip r:embed="rId10"/>
                <a:stretch>
                  <a:fillRect l="-2804" t="-9091" r="-124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E405C206-7696-2340-A912-CA4CE5219CD4}"/>
                  </a:ext>
                </a:extLst>
              </p:cNvPr>
              <p:cNvSpPr txBox="1"/>
              <p:nvPr/>
            </p:nvSpPr>
            <p:spPr>
              <a:xfrm>
                <a:off x="6097131" y="3990984"/>
                <a:ext cx="1533739" cy="251817"/>
              </a:xfrm>
              <a:prstGeom prst="rect">
                <a:avLst/>
              </a:prstGeom>
              <a:solidFill>
                <a:schemeClr val="accent3"/>
              </a:solidFill>
              <a:ln>
                <a:noFill/>
              </a:ln>
            </p:spPr>
            <p:txBody>
              <a:bodyPr wrap="square" lIns="0" tIns="0" rIns="0" bIns="0" rtlCol="0" anchor="ctr">
                <a:spAutoFit/>
              </a:bodyPr>
              <a:lstStyle/>
              <a:p>
                <a:pPr algn="ctr"/>
                <a:r>
                  <a:rPr lang="en-GB" sz="1800" b="1" dirty="0"/>
                  <a:t>1.65 </a:t>
                </a:r>
                <a14:m>
                  <m:oMath xmlns:m="http://schemas.openxmlformats.org/officeDocument/2006/math">
                    <m:r>
                      <a:rPr lang="en-GB" sz="1800" b="1" i="1" smtClean="0">
                        <a:latin typeface="Cambria Math" panose="02040503050406030204" pitchFamily="18" charset="0"/>
                      </a:rPr>
                      <m:t>×</m:t>
                    </m:r>
                  </m:oMath>
                </a14:m>
                <a:r>
                  <a:rPr lang="en-GB" sz="1800" b="1" dirty="0"/>
                  <a:t> 10</a:t>
                </a:r>
                <a:r>
                  <a:rPr lang="en-GB" sz="1800" b="1" baseline="30000" dirty="0"/>
                  <a:t>11</a:t>
                </a:r>
                <a:r>
                  <a:rPr lang="en-GB" sz="1800" b="1" dirty="0"/>
                  <a:t> km</a:t>
                </a:r>
              </a:p>
            </p:txBody>
          </p:sp>
        </mc:Choice>
        <mc:Fallback xmlns="">
          <p:sp>
            <p:nvSpPr>
              <p:cNvPr id="108" name="TextBox 107">
                <a:extLst>
                  <a:ext uri="{FF2B5EF4-FFF2-40B4-BE49-F238E27FC236}">
                    <a16:creationId xmlns:a16="http://schemas.microsoft.com/office/drawing/2014/main" id="{E405C206-7696-2340-A912-CA4CE5219CD4}"/>
                  </a:ext>
                </a:extLst>
              </p:cNvPr>
              <p:cNvSpPr txBox="1">
                <a:spLocks noRot="1" noChangeAspect="1" noMove="1" noResize="1" noEditPoints="1" noAdjustHandles="1" noChangeArrowheads="1" noChangeShapeType="1" noTextEdit="1"/>
              </p:cNvSpPr>
              <p:nvPr/>
            </p:nvSpPr>
            <p:spPr>
              <a:xfrm>
                <a:off x="6097131" y="3990984"/>
                <a:ext cx="1533739" cy="251817"/>
              </a:xfrm>
              <a:prstGeom prst="rect">
                <a:avLst/>
              </a:prstGeom>
              <a:blipFill>
                <a:blip r:embed="rId11"/>
                <a:stretch>
                  <a:fillRect l="-5785" t="-28571" r="-4959" b="-57143"/>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4374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dissolve">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dissolve">
                                      <p:cBhvr>
                                        <p:cTn id="12" dur="500"/>
                                        <p:tgtEl>
                                          <p:spTgt spid="1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4"/>
                                        </p:tgtEl>
                                        <p:attrNameLst>
                                          <p:attrName>style.visibility</p:attrName>
                                        </p:attrNameLst>
                                      </p:cBhvr>
                                      <p:to>
                                        <p:strVal val="visible"/>
                                      </p:to>
                                    </p:set>
                                    <p:animEffect transition="in" filter="dissolve">
                                      <p:cBhvr>
                                        <p:cTn id="17" dur="500"/>
                                        <p:tgtEl>
                                          <p:spTgt spid="1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3"/>
                                        </p:tgtEl>
                                        <p:attrNameLst>
                                          <p:attrName>style.visibility</p:attrName>
                                        </p:attrNameLst>
                                      </p:cBhvr>
                                      <p:to>
                                        <p:strVal val="visible"/>
                                      </p:to>
                                    </p:set>
                                    <p:animEffect transition="in" filter="dissolve">
                                      <p:cBhvr>
                                        <p:cTn id="22" dur="500"/>
                                        <p:tgtEl>
                                          <p:spTgt spid="14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7"/>
                                        </p:tgtEl>
                                        <p:attrNameLst>
                                          <p:attrName>style.visibility</p:attrName>
                                        </p:attrNameLst>
                                      </p:cBhvr>
                                      <p:to>
                                        <p:strVal val="visible"/>
                                      </p:to>
                                    </p:set>
                                    <p:animEffect transition="in" filter="dissolve">
                                      <p:cBhvr>
                                        <p:cTn id="27" dur="500"/>
                                        <p:tgtEl>
                                          <p:spTgt spid="9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9"/>
                                        </p:tgtEl>
                                        <p:attrNameLst>
                                          <p:attrName>style.visibility</p:attrName>
                                        </p:attrNameLst>
                                      </p:cBhvr>
                                      <p:to>
                                        <p:strVal val="visible"/>
                                      </p:to>
                                    </p:set>
                                    <p:animEffect transition="in" filter="dissolve">
                                      <p:cBhvr>
                                        <p:cTn id="32" dur="500"/>
                                        <p:tgtEl>
                                          <p:spTgt spid="9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0"/>
                                        </p:tgtEl>
                                        <p:attrNameLst>
                                          <p:attrName>style.visibility</p:attrName>
                                        </p:attrNameLst>
                                      </p:cBhvr>
                                      <p:to>
                                        <p:strVal val="visible"/>
                                      </p:to>
                                    </p:set>
                                    <p:animEffect transition="in" filter="dissolve">
                                      <p:cBhvr>
                                        <p:cTn id="37" dur="500"/>
                                        <p:tgtEl>
                                          <p:spTgt spid="10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dissolve">
                                      <p:cBhvr>
                                        <p:cTn id="4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1" grpId="0" animBg="1"/>
      <p:bldP spid="143" grpId="0" animBg="1"/>
      <p:bldP spid="144" grpId="0" animBg="1"/>
      <p:bldP spid="97" grpId="0" animBg="1"/>
      <p:bldP spid="99" grpId="0" animBg="1"/>
      <p:bldP spid="100" grpId="0" animBg="1"/>
      <p:bldP spid="10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Box 122">
            <a:extLst>
              <a:ext uri="{FF2B5EF4-FFF2-40B4-BE49-F238E27FC236}">
                <a16:creationId xmlns:a16="http://schemas.microsoft.com/office/drawing/2014/main" id="{88F68324-D1E7-FF4C-BFB3-656F3A5B7B9C}"/>
              </a:ext>
            </a:extLst>
          </p:cNvPr>
          <p:cNvSpPr txBox="1"/>
          <p:nvPr/>
        </p:nvSpPr>
        <p:spPr>
          <a:xfrm>
            <a:off x="45916" y="953578"/>
            <a:ext cx="513302" cy="276999"/>
          </a:xfrm>
          <a:prstGeom prst="rect">
            <a:avLst/>
          </a:prstGeom>
          <a:noFill/>
        </p:spPr>
        <p:txBody>
          <a:bodyPr wrap="square" lIns="36000" tIns="0" rIns="0" bIns="0" rtlCol="0">
            <a:spAutoFit/>
          </a:bodyPr>
          <a:lstStyle/>
          <a:p>
            <a:r>
              <a:rPr lang="en-GB" sz="1800" b="1" dirty="0"/>
              <a:t>Ex3</a:t>
            </a:r>
          </a:p>
        </p:txBody>
      </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C55FC62E-F3FD-BC4E-8178-09A71A901A90}"/>
                  </a:ext>
                </a:extLst>
              </p:cNvPr>
              <p:cNvSpPr txBox="1"/>
              <p:nvPr/>
            </p:nvSpPr>
            <p:spPr>
              <a:xfrm>
                <a:off x="475271" y="953578"/>
                <a:ext cx="4030227" cy="553998"/>
              </a:xfrm>
              <a:prstGeom prst="rect">
                <a:avLst/>
              </a:prstGeom>
              <a:noFill/>
            </p:spPr>
            <p:txBody>
              <a:bodyPr wrap="square" lIns="36000" tIns="0" rIns="0" bIns="0" rtlCol="0">
                <a:spAutoFit/>
              </a:bodyPr>
              <a:lstStyle/>
              <a:p>
                <a:pPr>
                  <a:defRPr/>
                </a:pPr>
                <a:r>
                  <a:rPr lang="en-GB" altLang="en-US" sz="1800" dirty="0"/>
                  <a:t>The following sphere has a volume of</a:t>
                </a:r>
                <a:br>
                  <a:rPr lang="en-GB" altLang="en-US" sz="1800" dirty="0"/>
                </a:br>
                <a:r>
                  <a:rPr lang="en-GB" altLang="en-US" sz="1800" dirty="0"/>
                  <a:t>972</a:t>
                </a:r>
                <a14:m>
                  <m:oMath xmlns:m="http://schemas.openxmlformats.org/officeDocument/2006/math">
                    <m:r>
                      <a:rPr lang="en-GB" altLang="en-US" sz="1800" b="0" i="1" smtClean="0">
                        <a:latin typeface="Cambria Math" panose="02040503050406030204" pitchFamily="18" charset="0"/>
                      </a:rPr>
                      <m:t>𝜋</m:t>
                    </m:r>
                  </m:oMath>
                </a14:m>
                <a:r>
                  <a:rPr lang="en-GB" altLang="en-US" sz="1800" dirty="0"/>
                  <a:t>in</a:t>
                </a:r>
                <a:r>
                  <a:rPr lang="en-GB" altLang="en-US" sz="1800" baseline="30000" dirty="0"/>
                  <a:t>3</a:t>
                </a:r>
                <a:r>
                  <a:rPr lang="en-GB" altLang="en-US" sz="1800" dirty="0"/>
                  <a:t>. Find the length of its radius, </a:t>
                </a:r>
                <a14:m>
                  <m:oMath xmlns:m="http://schemas.openxmlformats.org/officeDocument/2006/math">
                    <m:r>
                      <a:rPr lang="en-GB" altLang="en-US" sz="1800" b="0" i="1" smtClean="0">
                        <a:latin typeface="Cambria Math" panose="02040503050406030204" pitchFamily="18" charset="0"/>
                      </a:rPr>
                      <m:t>𝑟</m:t>
                    </m:r>
                  </m:oMath>
                </a14:m>
                <a:r>
                  <a:rPr lang="en-GB" altLang="en-US" sz="1800" dirty="0"/>
                  <a:t>in.</a:t>
                </a:r>
              </a:p>
            </p:txBody>
          </p:sp>
        </mc:Choice>
        <mc:Fallback xmlns="">
          <p:sp>
            <p:nvSpPr>
              <p:cNvPr id="124" name="TextBox 123">
                <a:extLst>
                  <a:ext uri="{FF2B5EF4-FFF2-40B4-BE49-F238E27FC236}">
                    <a16:creationId xmlns:a16="http://schemas.microsoft.com/office/drawing/2014/main" id="{C55FC62E-F3FD-BC4E-8178-09A71A901A90}"/>
                  </a:ext>
                </a:extLst>
              </p:cNvPr>
              <p:cNvSpPr txBox="1">
                <a:spLocks noRot="1" noChangeAspect="1" noMove="1" noResize="1" noEditPoints="1" noAdjustHandles="1" noChangeArrowheads="1" noChangeShapeType="1" noTextEdit="1"/>
              </p:cNvSpPr>
              <p:nvPr/>
            </p:nvSpPr>
            <p:spPr>
              <a:xfrm>
                <a:off x="475271" y="953578"/>
                <a:ext cx="4030227" cy="553998"/>
              </a:xfrm>
              <a:prstGeom prst="rect">
                <a:avLst/>
              </a:prstGeom>
              <a:blipFill>
                <a:blip r:embed="rId3"/>
                <a:stretch>
                  <a:fillRect l="-2508" t="-11111" b="-24444"/>
                </a:stretch>
              </a:blipFill>
            </p:spPr>
            <p:txBody>
              <a:bodyPr/>
              <a:lstStyle/>
              <a:p>
                <a:r>
                  <a:rPr lang="en-GB">
                    <a:noFill/>
                  </a:rPr>
                  <a:t> </a:t>
                </a:r>
              </a:p>
            </p:txBody>
          </p:sp>
        </mc:Fallback>
      </mc:AlternateContent>
      <p:cxnSp>
        <p:nvCxnSpPr>
          <p:cNvPr id="7" name="Straight Connector 6">
            <a:extLst>
              <a:ext uri="{FF2B5EF4-FFF2-40B4-BE49-F238E27FC236}">
                <a16:creationId xmlns:a16="http://schemas.microsoft.com/office/drawing/2014/main" id="{E958C6B4-897E-C347-8CAD-D11A3B1A9F2E}"/>
              </a:ext>
            </a:extLst>
          </p:cNvPr>
          <p:cNvCxnSpPr>
            <a:cxnSpLocks/>
          </p:cNvCxnSpPr>
          <p:nvPr/>
        </p:nvCxnSpPr>
        <p:spPr>
          <a:xfrm flipV="1">
            <a:off x="4572000" y="889362"/>
            <a:ext cx="0" cy="36120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59B68E-EC19-0C42-8D64-0516AC96CDE9}"/>
              </a:ext>
            </a:extLst>
          </p:cNvPr>
          <p:cNvSpPr txBox="1"/>
          <p:nvPr/>
        </p:nvSpPr>
        <p:spPr>
          <a:xfrm>
            <a:off x="4617916" y="953578"/>
            <a:ext cx="513302" cy="276999"/>
          </a:xfrm>
          <a:prstGeom prst="rect">
            <a:avLst/>
          </a:prstGeom>
          <a:noFill/>
        </p:spPr>
        <p:txBody>
          <a:bodyPr wrap="square" lIns="36000" tIns="0" rIns="0" bIns="0" rtlCol="0">
            <a:spAutoFit/>
          </a:bodyPr>
          <a:lstStyle/>
          <a:p>
            <a:r>
              <a:rPr lang="en-GB" sz="1800" b="1" dirty="0"/>
              <a:t>Q5</a:t>
            </a:r>
          </a:p>
        </p:txBody>
      </p:sp>
      <p:sp>
        <p:nvSpPr>
          <p:cNvPr id="14" name="Rectangle 13">
            <a:extLst>
              <a:ext uri="{FF2B5EF4-FFF2-40B4-BE49-F238E27FC236}">
                <a16:creationId xmlns:a16="http://schemas.microsoft.com/office/drawing/2014/main" id="{0BB4AC7E-89D2-0B47-8B00-E3C205C996C4}"/>
              </a:ext>
            </a:extLst>
          </p:cNvPr>
          <p:cNvSpPr/>
          <p:nvPr/>
        </p:nvSpPr>
        <p:spPr>
          <a:xfrm rot="16200000">
            <a:off x="-96068" y="1471029"/>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6" name="Rectangle 15">
            <a:extLst>
              <a:ext uri="{FF2B5EF4-FFF2-40B4-BE49-F238E27FC236}">
                <a16:creationId xmlns:a16="http://schemas.microsoft.com/office/drawing/2014/main" id="{827DF7C0-66B3-C44D-84F6-8FEEA928B278}"/>
              </a:ext>
            </a:extLst>
          </p:cNvPr>
          <p:cNvSpPr/>
          <p:nvPr/>
        </p:nvSpPr>
        <p:spPr>
          <a:xfrm rot="16200000">
            <a:off x="4448649" y="1471029"/>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32C7569-A076-C74B-B318-15B76D50E606}"/>
                  </a:ext>
                </a:extLst>
              </p:cNvPr>
              <p:cNvSpPr txBox="1"/>
              <p:nvPr/>
            </p:nvSpPr>
            <p:spPr>
              <a:xfrm>
                <a:off x="5002307" y="953578"/>
                <a:ext cx="4056852" cy="553998"/>
              </a:xfrm>
              <a:prstGeom prst="rect">
                <a:avLst/>
              </a:prstGeom>
              <a:noFill/>
            </p:spPr>
            <p:txBody>
              <a:bodyPr wrap="square" lIns="36000" tIns="0" rIns="0" bIns="0" rtlCol="0">
                <a:spAutoFit/>
              </a:bodyPr>
              <a:lstStyle/>
              <a:p>
                <a:pPr>
                  <a:defRPr/>
                </a:pPr>
                <a:r>
                  <a:rPr lang="en-GB" altLang="en-US" sz="1800" dirty="0"/>
                  <a:t>The following sphere has a volume of</a:t>
                </a:r>
                <a:br>
                  <a:rPr lang="en-GB" altLang="en-US" sz="1800" dirty="0"/>
                </a:br>
                <a:r>
                  <a:rPr lang="en-GB" altLang="en-US" sz="1800" dirty="0"/>
                  <a:t>4500</a:t>
                </a:r>
                <a14:m>
                  <m:oMath xmlns:m="http://schemas.openxmlformats.org/officeDocument/2006/math">
                    <m:r>
                      <a:rPr lang="en-GB" altLang="en-US" sz="1800" i="1">
                        <a:latin typeface="Cambria Math" panose="02040503050406030204" pitchFamily="18" charset="0"/>
                      </a:rPr>
                      <m:t>𝜋</m:t>
                    </m:r>
                  </m:oMath>
                </a14:m>
                <a:r>
                  <a:rPr lang="en-GB" altLang="en-US" sz="1800" dirty="0"/>
                  <a:t>m</a:t>
                </a:r>
                <a:r>
                  <a:rPr lang="en-GB" altLang="en-US" sz="1800" baseline="30000" dirty="0"/>
                  <a:t>3</a:t>
                </a:r>
                <a:r>
                  <a:rPr lang="en-GB" altLang="en-US" sz="1800" dirty="0"/>
                  <a:t>. Find the length of its radius, </a:t>
                </a:r>
                <a14:m>
                  <m:oMath xmlns:m="http://schemas.openxmlformats.org/officeDocument/2006/math">
                    <m:r>
                      <a:rPr lang="en-GB" altLang="en-US" sz="1800" i="1" smtClean="0">
                        <a:latin typeface="Cambria Math" panose="02040503050406030204" pitchFamily="18" charset="0"/>
                      </a:rPr>
                      <m:t>𝑟</m:t>
                    </m:r>
                  </m:oMath>
                </a14:m>
                <a:r>
                  <a:rPr lang="en-GB" altLang="en-US" sz="1800" dirty="0"/>
                  <a:t>m.</a:t>
                </a:r>
              </a:p>
            </p:txBody>
          </p:sp>
        </mc:Choice>
        <mc:Fallback xmlns="">
          <p:sp>
            <p:nvSpPr>
              <p:cNvPr id="42" name="TextBox 41">
                <a:extLst>
                  <a:ext uri="{FF2B5EF4-FFF2-40B4-BE49-F238E27FC236}">
                    <a16:creationId xmlns:a16="http://schemas.microsoft.com/office/drawing/2014/main" id="{232C7569-A076-C74B-B318-15B76D50E606}"/>
                  </a:ext>
                </a:extLst>
              </p:cNvPr>
              <p:cNvSpPr txBox="1">
                <a:spLocks noRot="1" noChangeAspect="1" noMove="1" noResize="1" noEditPoints="1" noAdjustHandles="1" noChangeArrowheads="1" noChangeShapeType="1" noTextEdit="1"/>
              </p:cNvSpPr>
              <p:nvPr/>
            </p:nvSpPr>
            <p:spPr>
              <a:xfrm>
                <a:off x="5002307" y="953578"/>
                <a:ext cx="4056852" cy="553998"/>
              </a:xfrm>
              <a:prstGeom prst="rect">
                <a:avLst/>
              </a:prstGeom>
              <a:blipFill>
                <a:blip r:embed="rId4"/>
                <a:stretch>
                  <a:fillRect l="-2500" t="-11111" r="-2188" b="-24444"/>
                </a:stretch>
              </a:blipFill>
            </p:spPr>
            <p:txBody>
              <a:bodyPr/>
              <a:lstStyle/>
              <a:p>
                <a:r>
                  <a:rPr lang="en-GB">
                    <a:noFill/>
                  </a:rPr>
                  <a:t> </a:t>
                </a:r>
              </a:p>
            </p:txBody>
          </p:sp>
        </mc:Fallback>
      </mc:AlternateContent>
      <p:grpSp>
        <p:nvGrpSpPr>
          <p:cNvPr id="3" name="Group 2">
            <a:extLst>
              <a:ext uri="{FF2B5EF4-FFF2-40B4-BE49-F238E27FC236}">
                <a16:creationId xmlns:a16="http://schemas.microsoft.com/office/drawing/2014/main" id="{E40FE91D-C68F-7D4C-9E12-8CFCB3668B05}"/>
              </a:ext>
            </a:extLst>
          </p:cNvPr>
          <p:cNvGrpSpPr/>
          <p:nvPr/>
        </p:nvGrpSpPr>
        <p:grpSpPr>
          <a:xfrm>
            <a:off x="1601332" y="1622885"/>
            <a:ext cx="1610532" cy="1613299"/>
            <a:chOff x="1601332" y="1572178"/>
            <a:chExt cx="1610532" cy="1613299"/>
          </a:xfrm>
        </p:grpSpPr>
        <p:grpSp>
          <p:nvGrpSpPr>
            <p:cNvPr id="47" name="Group 46">
              <a:extLst>
                <a:ext uri="{FF2B5EF4-FFF2-40B4-BE49-F238E27FC236}">
                  <a16:creationId xmlns:a16="http://schemas.microsoft.com/office/drawing/2014/main" id="{B1154790-351B-D44B-9579-FCAD366CD97E}"/>
                </a:ext>
              </a:extLst>
            </p:cNvPr>
            <p:cNvGrpSpPr/>
            <p:nvPr/>
          </p:nvGrpSpPr>
          <p:grpSpPr>
            <a:xfrm>
              <a:off x="1601332" y="1572178"/>
              <a:ext cx="1610532" cy="1613299"/>
              <a:chOff x="1478063" y="1858057"/>
              <a:chExt cx="1771585" cy="1774629"/>
            </a:xfrm>
          </p:grpSpPr>
          <p:pic>
            <p:nvPicPr>
              <p:cNvPr id="48" name="Picture 47">
                <a:extLst>
                  <a:ext uri="{FF2B5EF4-FFF2-40B4-BE49-F238E27FC236}">
                    <a16:creationId xmlns:a16="http://schemas.microsoft.com/office/drawing/2014/main" id="{D5D87D4F-BBE2-7A41-AE11-044E1DF5BD06}"/>
                  </a:ext>
                </a:extLst>
              </p:cNvPr>
              <p:cNvPicPr>
                <a:picLocks noChangeAspect="1"/>
              </p:cNvPicPr>
              <p:nvPr/>
            </p:nvPicPr>
            <p:blipFill>
              <a:blip r:embed="rId5"/>
              <a:stretch>
                <a:fillRect/>
              </a:stretch>
            </p:blipFill>
            <p:spPr>
              <a:xfrm>
                <a:off x="1478063" y="1858057"/>
                <a:ext cx="1771585" cy="1774629"/>
              </a:xfrm>
              <a:prstGeom prst="rect">
                <a:avLst/>
              </a:prstGeom>
            </p:spPr>
          </p:pic>
          <p:cxnSp>
            <p:nvCxnSpPr>
              <p:cNvPr id="49" name="Straight Arrow Connector 48">
                <a:extLst>
                  <a:ext uri="{FF2B5EF4-FFF2-40B4-BE49-F238E27FC236}">
                    <a16:creationId xmlns:a16="http://schemas.microsoft.com/office/drawing/2014/main" id="{4522064B-4E68-AB44-A82A-F877AD978214}"/>
                  </a:ext>
                </a:extLst>
              </p:cNvPr>
              <p:cNvCxnSpPr>
                <a:cxnSpLocks/>
              </p:cNvCxnSpPr>
              <p:nvPr/>
            </p:nvCxnSpPr>
            <p:spPr>
              <a:xfrm flipH="1">
                <a:off x="2363855" y="2126386"/>
                <a:ext cx="592166" cy="607423"/>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8F6FB2D-89B3-4C43-81C3-B3D964C4D1D0}"/>
                      </a:ext>
                    </a:extLst>
                  </p:cNvPr>
                  <p:cNvSpPr txBox="1"/>
                  <p:nvPr/>
                </p:nvSpPr>
                <p:spPr>
                  <a:xfrm>
                    <a:off x="2027693" y="2216744"/>
                    <a:ext cx="621773" cy="236988"/>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400" i="1" dirty="0" smtClean="0">
                            <a:latin typeface="Cambria Math" panose="02040503050406030204" pitchFamily="18" charset="0"/>
                          </a:rPr>
                          <m:t>𝑟</m:t>
                        </m:r>
                      </m:oMath>
                    </a14:m>
                    <a:r>
                      <a:rPr lang="en-GB" altLang="en-US" sz="1400" dirty="0"/>
                      <a:t>in</a:t>
                    </a:r>
                    <a:endParaRPr lang="en-GB" altLang="en-US" sz="1400" baseline="30000" dirty="0"/>
                  </a:p>
                </p:txBody>
              </p:sp>
            </mc:Choice>
            <mc:Fallback xmlns="">
              <p:sp>
                <p:nvSpPr>
                  <p:cNvPr id="50" name="TextBox 49">
                    <a:extLst>
                      <a:ext uri="{FF2B5EF4-FFF2-40B4-BE49-F238E27FC236}">
                        <a16:creationId xmlns:a16="http://schemas.microsoft.com/office/drawing/2014/main" id="{98F6FB2D-89B3-4C43-81C3-B3D964C4D1D0}"/>
                      </a:ext>
                    </a:extLst>
                  </p:cNvPr>
                  <p:cNvSpPr txBox="1">
                    <a:spLocks noRot="1" noChangeAspect="1" noMove="1" noResize="1" noEditPoints="1" noAdjustHandles="1" noChangeArrowheads="1" noChangeShapeType="1" noTextEdit="1"/>
                  </p:cNvSpPr>
                  <p:nvPr/>
                </p:nvSpPr>
                <p:spPr>
                  <a:xfrm>
                    <a:off x="2027693" y="2216744"/>
                    <a:ext cx="621773" cy="236988"/>
                  </a:xfrm>
                  <a:prstGeom prst="rect">
                    <a:avLst/>
                  </a:prstGeom>
                  <a:blipFill>
                    <a:blip r:embed="rId6"/>
                    <a:stretch>
                      <a:fillRect t="-16667" r="-17391" b="-50000"/>
                    </a:stretch>
                  </a:blipFill>
                </p:spPr>
                <p:txBody>
                  <a:bodyPr/>
                  <a:lstStyle/>
                  <a:p>
                    <a:r>
                      <a:rPr lang="en-GB">
                        <a:noFill/>
                      </a:rPr>
                      <a:t> </a:t>
                    </a:r>
                  </a:p>
                </p:txBody>
              </p:sp>
            </mc:Fallback>
          </mc:AlternateContent>
        </p:grpSp>
        <p:sp>
          <p:nvSpPr>
            <p:cNvPr id="51" name="TextBox 50">
              <a:extLst>
                <a:ext uri="{FF2B5EF4-FFF2-40B4-BE49-F238E27FC236}">
                  <a16:creationId xmlns:a16="http://schemas.microsoft.com/office/drawing/2014/main" id="{0D582C9E-324C-7B40-BB38-4C775DFEAA5B}"/>
                </a:ext>
              </a:extLst>
            </p:cNvPr>
            <p:cNvSpPr txBox="1"/>
            <p:nvPr/>
          </p:nvSpPr>
          <p:spPr>
            <a:xfrm>
              <a:off x="2030426" y="2621028"/>
              <a:ext cx="752345" cy="246221"/>
            </a:xfrm>
            <a:prstGeom prst="rect">
              <a:avLst/>
            </a:prstGeom>
            <a:noFill/>
          </p:spPr>
          <p:txBody>
            <a:bodyPr wrap="square" lIns="0" tIns="0" rIns="0" bIns="0" rtlCol="0" anchor="ctr" anchorCtr="0">
              <a:spAutoFit/>
            </a:bodyPr>
            <a:lstStyle/>
            <a:p>
              <a:pPr algn="ctr">
                <a:defRPr/>
              </a:pPr>
              <a:r>
                <a:rPr lang="en-GB" altLang="en-US" sz="1600" b="1" dirty="0"/>
                <a:t>Volume</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498234F-540A-6C45-98AC-B81E53AE012B}"/>
                    </a:ext>
                  </a:extLst>
                </p:cNvPr>
                <p:cNvSpPr txBox="1"/>
                <p:nvPr/>
              </p:nvSpPr>
              <p:spPr>
                <a:xfrm>
                  <a:off x="2030426" y="2819557"/>
                  <a:ext cx="752345" cy="246221"/>
                </a:xfrm>
                <a:prstGeom prst="rect">
                  <a:avLst/>
                </a:prstGeom>
                <a:noFill/>
              </p:spPr>
              <p:txBody>
                <a:bodyPr wrap="square" lIns="0" tIns="0" rIns="0" bIns="0" rtlCol="0" anchor="ctr" anchorCtr="0">
                  <a:spAutoFit/>
                </a:bodyPr>
                <a:lstStyle/>
                <a:p>
                  <a:pPr algn="ctr">
                    <a:defRPr/>
                  </a:pPr>
                  <a:r>
                    <a:rPr lang="en-GB" altLang="en-US" sz="1600" dirty="0"/>
                    <a:t>972</a:t>
                  </a:r>
                  <a14:m>
                    <m:oMath xmlns:m="http://schemas.openxmlformats.org/officeDocument/2006/math">
                      <m:r>
                        <a:rPr lang="en-GB" altLang="en-US" sz="1600" i="1">
                          <a:latin typeface="Cambria Math" panose="02040503050406030204" pitchFamily="18" charset="0"/>
                        </a:rPr>
                        <m:t>𝜋</m:t>
                      </m:r>
                    </m:oMath>
                  </a14:m>
                  <a:r>
                    <a:rPr lang="en-GB" altLang="en-US" sz="1600" dirty="0"/>
                    <a:t>in</a:t>
                  </a:r>
                  <a:r>
                    <a:rPr lang="en-GB" altLang="en-US" sz="1600" baseline="30000" dirty="0"/>
                    <a:t>3</a:t>
                  </a:r>
                </a:p>
              </p:txBody>
            </p:sp>
          </mc:Choice>
          <mc:Fallback xmlns="">
            <p:sp>
              <p:nvSpPr>
                <p:cNvPr id="52" name="TextBox 51">
                  <a:extLst>
                    <a:ext uri="{FF2B5EF4-FFF2-40B4-BE49-F238E27FC236}">
                      <a16:creationId xmlns:a16="http://schemas.microsoft.com/office/drawing/2014/main" id="{2498234F-540A-6C45-98AC-B81E53AE012B}"/>
                    </a:ext>
                  </a:extLst>
                </p:cNvPr>
                <p:cNvSpPr txBox="1">
                  <a:spLocks noRot="1" noChangeAspect="1" noMove="1" noResize="1" noEditPoints="1" noAdjustHandles="1" noChangeArrowheads="1" noChangeShapeType="1" noTextEdit="1"/>
                </p:cNvSpPr>
                <p:nvPr/>
              </p:nvSpPr>
              <p:spPr>
                <a:xfrm>
                  <a:off x="2030426" y="2819557"/>
                  <a:ext cx="752345" cy="246221"/>
                </a:xfrm>
                <a:prstGeom prst="rect">
                  <a:avLst/>
                </a:prstGeom>
                <a:blipFill>
                  <a:blip r:embed="rId7"/>
                  <a:stretch>
                    <a:fillRect l="-8333" t="-20000" r="-5000" b="-45000"/>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FD1C5505-2A7D-5A47-92B2-DC6EC9ED5AA8}"/>
                  </a:ext>
                </a:extLst>
              </p:cNvPr>
              <p:cNvSpPr/>
              <p:nvPr/>
            </p:nvSpPr>
            <p:spPr>
              <a:xfrm>
                <a:off x="978024" y="3900811"/>
                <a:ext cx="1013106" cy="1738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dirty="0">
                    <a:solidFill>
                      <a:schemeClr val="tx1"/>
                    </a:solidFill>
                  </a:rPr>
                  <a:t>Radius </a:t>
                </a:r>
                <a14:m>
                  <m:oMath xmlns:m="http://schemas.openxmlformats.org/officeDocument/2006/math">
                    <m:r>
                      <a:rPr lang="en-GB" sz="1400" b="1" i="1" smtClean="0">
                        <a:solidFill>
                          <a:schemeClr val="tx1"/>
                        </a:solidFill>
                        <a:latin typeface="Cambria Math" panose="02040503050406030204" pitchFamily="18" charset="0"/>
                      </a:rPr>
                      <m:t>=</m:t>
                    </m:r>
                  </m:oMath>
                </a14:m>
                <a:r>
                  <a:rPr lang="en-GB" sz="1400" b="1" dirty="0">
                    <a:solidFill>
                      <a:schemeClr val="tx1"/>
                    </a:solidFill>
                  </a:rPr>
                  <a:t> 9in</a:t>
                </a:r>
              </a:p>
            </p:txBody>
          </p:sp>
        </mc:Choice>
        <mc:Fallback xmlns="">
          <p:sp>
            <p:nvSpPr>
              <p:cNvPr id="54" name="Rectangle 53">
                <a:extLst>
                  <a:ext uri="{FF2B5EF4-FFF2-40B4-BE49-F238E27FC236}">
                    <a16:creationId xmlns:a16="http://schemas.microsoft.com/office/drawing/2014/main" id="{FD1C5505-2A7D-5A47-92B2-DC6EC9ED5AA8}"/>
                  </a:ext>
                </a:extLst>
              </p:cNvPr>
              <p:cNvSpPr>
                <a:spLocks noRot="1" noChangeAspect="1" noMove="1" noResize="1" noEditPoints="1" noAdjustHandles="1" noChangeArrowheads="1" noChangeShapeType="1" noTextEdit="1"/>
              </p:cNvSpPr>
              <p:nvPr/>
            </p:nvSpPr>
            <p:spPr>
              <a:xfrm>
                <a:off x="978024" y="3900811"/>
                <a:ext cx="1013106" cy="173895"/>
              </a:xfrm>
              <a:prstGeom prst="rect">
                <a:avLst/>
              </a:prstGeom>
              <a:blipFill>
                <a:blip r:embed="rId8"/>
                <a:stretch>
                  <a:fillRect l="-6173" t="-40000" r="-6173" b="-6666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27D29CE-1C1A-3C4A-8499-824063D43CD1}"/>
                  </a:ext>
                </a:extLst>
              </p:cNvPr>
              <p:cNvSpPr txBox="1"/>
              <p:nvPr/>
            </p:nvSpPr>
            <p:spPr>
              <a:xfrm>
                <a:off x="716414" y="1825853"/>
                <a:ext cx="1951989" cy="246221"/>
              </a:xfrm>
              <a:prstGeom prst="rect">
                <a:avLst/>
              </a:prstGeom>
              <a:noFill/>
            </p:spPr>
            <p:txBody>
              <a:bodyPr wrap="square" lIns="0" tIns="0" rIns="0" bIns="0" rtlCol="0" anchor="ctr" anchorCtr="0">
                <a:spAutoFit/>
              </a:bodyPr>
              <a:lstStyle/>
              <a:p>
                <a:pPr>
                  <a:defRPr/>
                </a:pPr>
                <a:r>
                  <a:rPr lang="en-GB" altLang="en-US" sz="1600" b="1" dirty="0"/>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r>
                  <a:rPr lang="en-GB" sz="1600" baseline="30000" dirty="0"/>
                  <a:t>4</a:t>
                </a:r>
                <a:r>
                  <a:rPr lang="en-GB" sz="1600" spc="-300" dirty="0"/>
                  <a:t>⁄</a:t>
                </a:r>
                <a:r>
                  <a:rPr lang="en-GB" sz="1600" baseline="-25000" dirty="0"/>
                  <a:t>3</a:t>
                </a:r>
                <a:r>
                  <a:rPr lang="en-GB" sz="1600" b="1" dirty="0"/>
                  <a:t> </a:t>
                </a:r>
                <a14:m>
                  <m:oMath xmlns:m="http://schemas.openxmlformats.org/officeDocument/2006/math">
                    <m:r>
                      <a:rPr lang="en-GB" sz="1600" b="1" i="1" smtClean="0">
                        <a:latin typeface="Cambria Math" panose="02040503050406030204" pitchFamily="18" charset="0"/>
                      </a:rPr>
                      <m:t>×</m:t>
                    </m:r>
                  </m:oMath>
                </a14:m>
                <a:r>
                  <a:rPr lang="en-GB" altLang="en-US" sz="1600" dirty="0"/>
                  <a:t> </a:t>
                </a:r>
                <a14:m>
                  <m:oMath xmlns:m="http://schemas.openxmlformats.org/officeDocument/2006/math">
                    <m:r>
                      <a:rPr lang="en-GB" altLang="en-US" sz="1600" b="0" i="1" dirty="0" smtClean="0">
                        <a:latin typeface="Cambria Math" panose="02040503050406030204" pitchFamily="18" charset="0"/>
                      </a:rPr>
                      <m:t>𝜋</m:t>
                    </m:r>
                  </m:oMath>
                </a14:m>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14:m>
                  <m:oMath xmlns:m="http://schemas.openxmlformats.org/officeDocument/2006/math">
                    <m:r>
                      <a:rPr lang="en-GB" altLang="en-US" sz="1600" b="0" i="1" dirty="0" smtClean="0">
                        <a:latin typeface="Cambria Math" panose="02040503050406030204" pitchFamily="18" charset="0"/>
                      </a:rPr>
                      <m:t>𝑟</m:t>
                    </m:r>
                  </m:oMath>
                </a14:m>
                <a:r>
                  <a:rPr lang="en-GB" altLang="en-US" sz="1600" baseline="30000" dirty="0"/>
                  <a:t>3</a:t>
                </a:r>
                <a:r>
                  <a:rPr lang="en-GB" altLang="en-US" sz="1600" dirty="0"/>
                  <a:t> </a:t>
                </a:r>
              </a:p>
            </p:txBody>
          </p:sp>
        </mc:Choice>
        <mc:Fallback xmlns="">
          <p:sp>
            <p:nvSpPr>
              <p:cNvPr id="59" name="TextBox 58">
                <a:extLst>
                  <a:ext uri="{FF2B5EF4-FFF2-40B4-BE49-F238E27FC236}">
                    <a16:creationId xmlns:a16="http://schemas.microsoft.com/office/drawing/2014/main" id="{227D29CE-1C1A-3C4A-8499-824063D43CD1}"/>
                  </a:ext>
                </a:extLst>
              </p:cNvPr>
              <p:cNvSpPr txBox="1">
                <a:spLocks noRot="1" noChangeAspect="1" noMove="1" noResize="1" noEditPoints="1" noAdjustHandles="1" noChangeArrowheads="1" noChangeShapeType="1" noTextEdit="1"/>
              </p:cNvSpPr>
              <p:nvPr/>
            </p:nvSpPr>
            <p:spPr>
              <a:xfrm>
                <a:off x="716414" y="1825853"/>
                <a:ext cx="1951989" cy="246221"/>
              </a:xfrm>
              <a:prstGeom prst="rect">
                <a:avLst/>
              </a:prstGeom>
              <a:blipFill>
                <a:blip r:embed="rId9"/>
                <a:stretch>
                  <a:fillRect l="-5806" t="-31579" b="-473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A7C32761-E88D-6E44-AA5A-DB7587AEFDC0}"/>
                  </a:ext>
                </a:extLst>
              </p:cNvPr>
              <p:cNvSpPr txBox="1"/>
              <p:nvPr/>
            </p:nvSpPr>
            <p:spPr>
              <a:xfrm>
                <a:off x="893250" y="2106656"/>
                <a:ext cx="1185397" cy="246221"/>
              </a:xfrm>
              <a:prstGeom prst="rect">
                <a:avLst/>
              </a:prstGeom>
              <a:noFill/>
            </p:spPr>
            <p:txBody>
              <a:bodyPr wrap="square" lIns="0" tIns="0" rIns="0" bIns="0" rtlCol="0" anchor="ctr" anchorCtr="0">
                <a:spAutoFit/>
              </a:bodyPr>
              <a:lstStyle/>
              <a:p>
                <a:pPr algn="ctr">
                  <a:defRPr/>
                </a:pPr>
                <a:r>
                  <a:rPr lang="en-GB" altLang="en-US" sz="1600" b="1" dirty="0"/>
                  <a:t>972</a:t>
                </a:r>
                <a14:m>
                  <m:oMath xmlns:m="http://schemas.openxmlformats.org/officeDocument/2006/math">
                    <m:r>
                      <a:rPr lang="en-GB" altLang="en-US" sz="1600" b="1" i="1" smtClean="0">
                        <a:latin typeface="Cambria Math" panose="02040503050406030204" pitchFamily="18" charset="0"/>
                      </a:rPr>
                      <m:t>𝝅</m:t>
                    </m:r>
                  </m:oMath>
                </a14:m>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r>
                  <a:rPr lang="en-GB" sz="1600" baseline="30000" dirty="0"/>
                  <a:t>4</a:t>
                </a:r>
                <a:r>
                  <a:rPr lang="en-GB" sz="1600" spc="-300" dirty="0"/>
                  <a:t>⁄</a:t>
                </a:r>
                <a:r>
                  <a:rPr lang="en-GB" sz="1600" baseline="-25000" dirty="0"/>
                  <a:t>3</a:t>
                </a:r>
                <a14:m>
                  <m:oMath xmlns:m="http://schemas.openxmlformats.org/officeDocument/2006/math">
                    <m:r>
                      <a:rPr lang="en-GB" altLang="en-US" sz="1600" b="0" i="1" dirty="0" smtClean="0">
                        <a:latin typeface="Cambria Math" panose="02040503050406030204" pitchFamily="18" charset="0"/>
                      </a:rPr>
                      <m:t>𝜋</m:t>
                    </m:r>
                    <m:r>
                      <a:rPr lang="en-GB" altLang="en-US" sz="1600" b="0" i="1" dirty="0" smtClean="0">
                        <a:latin typeface="Cambria Math" panose="02040503050406030204" pitchFamily="18" charset="0"/>
                      </a:rPr>
                      <m:t>𝑟</m:t>
                    </m:r>
                  </m:oMath>
                </a14:m>
                <a:r>
                  <a:rPr lang="en-GB" altLang="en-US" sz="1600" baseline="30000" dirty="0"/>
                  <a:t>3</a:t>
                </a:r>
              </a:p>
            </p:txBody>
          </p:sp>
        </mc:Choice>
        <mc:Fallback xmlns="">
          <p:sp>
            <p:nvSpPr>
              <p:cNvPr id="60" name="TextBox 59">
                <a:extLst>
                  <a:ext uri="{FF2B5EF4-FFF2-40B4-BE49-F238E27FC236}">
                    <a16:creationId xmlns:a16="http://schemas.microsoft.com/office/drawing/2014/main" id="{A7C32761-E88D-6E44-AA5A-DB7587AEFDC0}"/>
                  </a:ext>
                </a:extLst>
              </p:cNvPr>
              <p:cNvSpPr txBox="1">
                <a:spLocks noRot="1" noChangeAspect="1" noMove="1" noResize="1" noEditPoints="1" noAdjustHandles="1" noChangeArrowheads="1" noChangeShapeType="1" noTextEdit="1"/>
              </p:cNvSpPr>
              <p:nvPr/>
            </p:nvSpPr>
            <p:spPr>
              <a:xfrm>
                <a:off x="893250" y="2106656"/>
                <a:ext cx="1185397" cy="246221"/>
              </a:xfrm>
              <a:prstGeom prst="rect">
                <a:avLst/>
              </a:prstGeom>
              <a:blipFill>
                <a:blip r:embed="rId10"/>
                <a:stretch>
                  <a:fillRect l="-8421" t="-25000" r="-4211" b="-45000"/>
                </a:stretch>
              </a:blipFill>
            </p:spPr>
            <p:txBody>
              <a:bodyPr/>
              <a:lstStyle/>
              <a:p>
                <a:r>
                  <a:rPr lang="en-GB">
                    <a:noFill/>
                  </a:rPr>
                  <a:t> </a:t>
                </a:r>
              </a:p>
            </p:txBody>
          </p:sp>
        </mc:Fallback>
      </mc:AlternateContent>
      <p:cxnSp>
        <p:nvCxnSpPr>
          <p:cNvPr id="61" name="Straight Connector 60">
            <a:extLst>
              <a:ext uri="{FF2B5EF4-FFF2-40B4-BE49-F238E27FC236}">
                <a16:creationId xmlns:a16="http://schemas.microsoft.com/office/drawing/2014/main" id="{F4E723DF-6856-9243-94C5-CB7898D2DCE4}"/>
              </a:ext>
            </a:extLst>
          </p:cNvPr>
          <p:cNvCxnSpPr>
            <a:cxnSpLocks/>
          </p:cNvCxnSpPr>
          <p:nvPr/>
        </p:nvCxnSpPr>
        <p:spPr>
          <a:xfrm>
            <a:off x="1479111" y="2096259"/>
            <a:ext cx="0" cy="1710849"/>
          </a:xfrm>
          <a:prstGeom prst="line">
            <a:avLst/>
          </a:prstGeom>
          <a:ln w="127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F532A83-CFA3-5B4D-B360-B42852F446E2}"/>
                  </a:ext>
                </a:extLst>
              </p:cNvPr>
              <p:cNvSpPr txBox="1"/>
              <p:nvPr/>
            </p:nvSpPr>
            <p:spPr>
              <a:xfrm>
                <a:off x="1592555" y="2345329"/>
                <a:ext cx="428790"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smtClean="0">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3</a:t>
                </a:r>
              </a:p>
            </p:txBody>
          </p:sp>
        </mc:Choice>
        <mc:Fallback xmlns="">
          <p:sp>
            <p:nvSpPr>
              <p:cNvPr id="62" name="TextBox 61">
                <a:extLst>
                  <a:ext uri="{FF2B5EF4-FFF2-40B4-BE49-F238E27FC236}">
                    <a16:creationId xmlns:a16="http://schemas.microsoft.com/office/drawing/2014/main" id="{6F532A83-CFA3-5B4D-B360-B42852F446E2}"/>
                  </a:ext>
                </a:extLst>
              </p:cNvPr>
              <p:cNvSpPr txBox="1">
                <a:spLocks noRot="1" noChangeAspect="1" noMove="1" noResize="1" noEditPoints="1" noAdjustHandles="1" noChangeArrowheads="1" noChangeShapeType="1" noTextEdit="1"/>
              </p:cNvSpPr>
              <p:nvPr/>
            </p:nvSpPr>
            <p:spPr>
              <a:xfrm>
                <a:off x="1592555" y="2345329"/>
                <a:ext cx="428790" cy="246221"/>
              </a:xfrm>
              <a:prstGeom prst="rect">
                <a:avLst/>
              </a:prstGeom>
              <a:blipFill>
                <a:blip r:embed="rId11"/>
                <a:stretch>
                  <a:fillRect l="-11429" t="-20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257AFC98-693A-0C49-8397-FEAD5297C0E6}"/>
                  </a:ext>
                </a:extLst>
              </p:cNvPr>
              <p:cNvSpPr txBox="1"/>
              <p:nvPr/>
            </p:nvSpPr>
            <p:spPr>
              <a:xfrm>
                <a:off x="926958" y="2345329"/>
                <a:ext cx="428790"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3</a:t>
                </a:r>
              </a:p>
            </p:txBody>
          </p:sp>
        </mc:Choice>
        <mc:Fallback xmlns="">
          <p:sp>
            <p:nvSpPr>
              <p:cNvPr id="63" name="TextBox 62">
                <a:extLst>
                  <a:ext uri="{FF2B5EF4-FFF2-40B4-BE49-F238E27FC236}">
                    <a16:creationId xmlns:a16="http://schemas.microsoft.com/office/drawing/2014/main" id="{257AFC98-693A-0C49-8397-FEAD5297C0E6}"/>
                  </a:ext>
                </a:extLst>
              </p:cNvPr>
              <p:cNvSpPr txBox="1">
                <a:spLocks noRot="1" noChangeAspect="1" noMove="1" noResize="1" noEditPoints="1" noAdjustHandles="1" noChangeArrowheads="1" noChangeShapeType="1" noTextEdit="1"/>
              </p:cNvSpPr>
              <p:nvPr/>
            </p:nvSpPr>
            <p:spPr>
              <a:xfrm>
                <a:off x="926958" y="2345329"/>
                <a:ext cx="428790" cy="246221"/>
              </a:xfrm>
              <a:prstGeom prst="rect">
                <a:avLst/>
              </a:prstGeom>
              <a:blipFill>
                <a:blip r:embed="rId12"/>
                <a:stretch>
                  <a:fillRect t="-20000" r="-25714"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4392730B-628C-F34C-9670-A9613DD2246E}"/>
                  </a:ext>
                </a:extLst>
              </p:cNvPr>
              <p:cNvSpPr txBox="1"/>
              <p:nvPr/>
            </p:nvSpPr>
            <p:spPr>
              <a:xfrm>
                <a:off x="792457" y="2546667"/>
                <a:ext cx="1223922" cy="246221"/>
              </a:xfrm>
              <a:prstGeom prst="rect">
                <a:avLst/>
              </a:prstGeom>
              <a:noFill/>
            </p:spPr>
            <p:txBody>
              <a:bodyPr wrap="square" lIns="0" tIns="0" rIns="0" bIns="0" rtlCol="0" anchor="ctr" anchorCtr="0">
                <a:spAutoFit/>
              </a:bodyPr>
              <a:lstStyle/>
              <a:p>
                <a:pPr algn="ctr">
                  <a:defRPr/>
                </a:pPr>
                <a:r>
                  <a:rPr lang="en-GB" altLang="en-US" sz="1600" b="1" dirty="0"/>
                  <a:t>2916</a:t>
                </a:r>
                <a14:m>
                  <m:oMath xmlns:m="http://schemas.openxmlformats.org/officeDocument/2006/math">
                    <m:r>
                      <a:rPr lang="en-GB" altLang="en-US" sz="1600" b="1" i="1" smtClean="0">
                        <a:latin typeface="Cambria Math" panose="02040503050406030204" pitchFamily="18" charset="0"/>
                      </a:rPr>
                      <m:t>𝝅</m:t>
                    </m:r>
                  </m:oMath>
                </a14:m>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r>
                  <a:rPr lang="en-GB" altLang="en-US" sz="1600" dirty="0"/>
                  <a:t>4</a:t>
                </a:r>
                <a14:m>
                  <m:oMath xmlns:m="http://schemas.openxmlformats.org/officeDocument/2006/math">
                    <m:r>
                      <a:rPr lang="en-GB" altLang="en-US" sz="1600" b="0" i="1" dirty="0" smtClean="0">
                        <a:latin typeface="Cambria Math" panose="02040503050406030204" pitchFamily="18" charset="0"/>
                      </a:rPr>
                      <m:t>𝜋</m:t>
                    </m:r>
                    <m:r>
                      <a:rPr lang="en-GB" altLang="en-US" sz="1600" b="0" i="1" dirty="0" smtClean="0">
                        <a:latin typeface="Cambria Math" panose="02040503050406030204" pitchFamily="18" charset="0"/>
                      </a:rPr>
                      <m:t>𝑟</m:t>
                    </m:r>
                  </m:oMath>
                </a14:m>
                <a:r>
                  <a:rPr lang="en-GB" altLang="en-US" sz="1600" baseline="30000" dirty="0"/>
                  <a:t>3</a:t>
                </a:r>
                <a:r>
                  <a:rPr lang="en-GB" altLang="en-US" sz="1600" dirty="0"/>
                  <a:t> </a:t>
                </a:r>
              </a:p>
            </p:txBody>
          </p:sp>
        </mc:Choice>
        <mc:Fallback xmlns="">
          <p:sp>
            <p:nvSpPr>
              <p:cNvPr id="64" name="TextBox 63">
                <a:extLst>
                  <a:ext uri="{FF2B5EF4-FFF2-40B4-BE49-F238E27FC236}">
                    <a16:creationId xmlns:a16="http://schemas.microsoft.com/office/drawing/2014/main" id="{4392730B-628C-F34C-9670-A9613DD2246E}"/>
                  </a:ext>
                </a:extLst>
              </p:cNvPr>
              <p:cNvSpPr txBox="1">
                <a:spLocks noRot="1" noChangeAspect="1" noMove="1" noResize="1" noEditPoints="1" noAdjustHandles="1" noChangeArrowheads="1" noChangeShapeType="1" noTextEdit="1"/>
              </p:cNvSpPr>
              <p:nvPr/>
            </p:nvSpPr>
            <p:spPr>
              <a:xfrm>
                <a:off x="792457" y="2546667"/>
                <a:ext cx="1223922" cy="246221"/>
              </a:xfrm>
              <a:prstGeom prst="rect">
                <a:avLst/>
              </a:prstGeom>
              <a:blipFill>
                <a:blip r:embed="rId13"/>
                <a:stretch>
                  <a:fillRect l="-8163" t="-25000" r="-5102"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430A0071-556B-C344-AEB0-FB14A8B5AD70}"/>
                  </a:ext>
                </a:extLst>
              </p:cNvPr>
              <p:cNvSpPr txBox="1"/>
              <p:nvPr/>
            </p:nvSpPr>
            <p:spPr>
              <a:xfrm>
                <a:off x="1592555" y="2765107"/>
                <a:ext cx="428790"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i="1">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4</a:t>
                </a:r>
                <a14:m>
                  <m:oMath xmlns:m="http://schemas.openxmlformats.org/officeDocument/2006/math">
                    <m:r>
                      <a:rPr lang="en-GB" altLang="en-US" sz="1600" i="1" dirty="0">
                        <a:solidFill>
                          <a:schemeClr val="accent6">
                            <a:lumMod val="50000"/>
                          </a:schemeClr>
                        </a:solidFill>
                        <a:latin typeface="Cambria Math" panose="02040503050406030204" pitchFamily="18" charset="0"/>
                      </a:rPr>
                      <m:t>𝜋</m:t>
                    </m:r>
                  </m:oMath>
                </a14:m>
                <a:endParaRPr lang="en-GB" altLang="en-US" sz="1600" dirty="0">
                  <a:solidFill>
                    <a:schemeClr val="accent6">
                      <a:lumMod val="50000"/>
                    </a:schemeClr>
                  </a:solidFill>
                </a:endParaRPr>
              </a:p>
            </p:txBody>
          </p:sp>
        </mc:Choice>
        <mc:Fallback xmlns="">
          <p:sp>
            <p:nvSpPr>
              <p:cNvPr id="65" name="TextBox 64">
                <a:extLst>
                  <a:ext uri="{FF2B5EF4-FFF2-40B4-BE49-F238E27FC236}">
                    <a16:creationId xmlns:a16="http://schemas.microsoft.com/office/drawing/2014/main" id="{430A0071-556B-C344-AEB0-FB14A8B5AD70}"/>
                  </a:ext>
                </a:extLst>
              </p:cNvPr>
              <p:cNvSpPr txBox="1">
                <a:spLocks noRot="1" noChangeAspect="1" noMove="1" noResize="1" noEditPoints="1" noAdjustHandles="1" noChangeArrowheads="1" noChangeShapeType="1" noTextEdit="1"/>
              </p:cNvSpPr>
              <p:nvPr/>
            </p:nvSpPr>
            <p:spPr>
              <a:xfrm>
                <a:off x="1592555" y="2765107"/>
                <a:ext cx="428790" cy="246221"/>
              </a:xfrm>
              <a:prstGeom prst="rect">
                <a:avLst/>
              </a:prstGeom>
              <a:blipFill>
                <a:blip r:embed="rId14"/>
                <a:stretch>
                  <a:fillRect l="-11429" t="-25000" r="-8571"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22EA05CD-47F8-3F4F-BAFF-3D1D3919013D}"/>
                  </a:ext>
                </a:extLst>
              </p:cNvPr>
              <p:cNvSpPr txBox="1"/>
              <p:nvPr/>
            </p:nvSpPr>
            <p:spPr>
              <a:xfrm>
                <a:off x="926958" y="2765107"/>
                <a:ext cx="428790"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4</a:t>
                </a:r>
                <a14:m>
                  <m:oMath xmlns:m="http://schemas.openxmlformats.org/officeDocument/2006/math">
                    <m:r>
                      <a:rPr lang="en-GB" altLang="en-US" sz="1600" b="0" i="1" dirty="0" smtClean="0">
                        <a:solidFill>
                          <a:schemeClr val="accent6">
                            <a:lumMod val="50000"/>
                          </a:schemeClr>
                        </a:solidFill>
                        <a:latin typeface="Cambria Math" panose="02040503050406030204" pitchFamily="18" charset="0"/>
                      </a:rPr>
                      <m:t>𝜋</m:t>
                    </m:r>
                  </m:oMath>
                </a14:m>
                <a:endParaRPr lang="en-GB" altLang="en-US" sz="1600" dirty="0">
                  <a:solidFill>
                    <a:schemeClr val="accent6">
                      <a:lumMod val="50000"/>
                    </a:schemeClr>
                  </a:solidFill>
                </a:endParaRPr>
              </a:p>
            </p:txBody>
          </p:sp>
        </mc:Choice>
        <mc:Fallback xmlns="">
          <p:sp>
            <p:nvSpPr>
              <p:cNvPr id="66" name="TextBox 65">
                <a:extLst>
                  <a:ext uri="{FF2B5EF4-FFF2-40B4-BE49-F238E27FC236}">
                    <a16:creationId xmlns:a16="http://schemas.microsoft.com/office/drawing/2014/main" id="{22EA05CD-47F8-3F4F-BAFF-3D1D3919013D}"/>
                  </a:ext>
                </a:extLst>
              </p:cNvPr>
              <p:cNvSpPr txBox="1">
                <a:spLocks noRot="1" noChangeAspect="1" noMove="1" noResize="1" noEditPoints="1" noAdjustHandles="1" noChangeArrowheads="1" noChangeShapeType="1" noTextEdit="1"/>
              </p:cNvSpPr>
              <p:nvPr/>
            </p:nvSpPr>
            <p:spPr>
              <a:xfrm>
                <a:off x="926958" y="2765107"/>
                <a:ext cx="428790" cy="246221"/>
              </a:xfrm>
              <a:prstGeom prst="rect">
                <a:avLst/>
              </a:prstGeom>
              <a:blipFill>
                <a:blip r:embed="rId15"/>
                <a:stretch>
                  <a:fillRect l="-8571" t="-25000" r="-5714"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F3C701F-3FF7-4E49-9440-26D4823C5323}"/>
                  </a:ext>
                </a:extLst>
              </p:cNvPr>
              <p:cNvSpPr txBox="1"/>
              <p:nvPr/>
            </p:nvSpPr>
            <p:spPr>
              <a:xfrm>
                <a:off x="802219" y="2989224"/>
                <a:ext cx="1223922" cy="246221"/>
              </a:xfrm>
              <a:prstGeom prst="rect">
                <a:avLst/>
              </a:prstGeom>
              <a:noFill/>
            </p:spPr>
            <p:txBody>
              <a:bodyPr wrap="square" lIns="0" tIns="0" rIns="0" bIns="0" rtlCol="0" anchor="ctr" anchorCtr="0">
                <a:spAutoFit/>
              </a:bodyPr>
              <a:lstStyle/>
              <a:p>
                <a:pPr algn="ctr">
                  <a:defRPr/>
                </a:pPr>
                <a:r>
                  <a:rPr lang="en-GB" altLang="en-US" sz="1600" b="1" dirty="0"/>
                  <a:t>729</a:t>
                </a:r>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14:m>
                  <m:oMath xmlns:m="http://schemas.openxmlformats.org/officeDocument/2006/math">
                    <m:r>
                      <a:rPr lang="en-GB" altLang="en-US" sz="1600" b="0" i="1" dirty="0" smtClean="0">
                        <a:latin typeface="Cambria Math" panose="02040503050406030204" pitchFamily="18" charset="0"/>
                      </a:rPr>
                      <m:t>𝑟</m:t>
                    </m:r>
                  </m:oMath>
                </a14:m>
                <a:r>
                  <a:rPr lang="en-GB" altLang="en-US" sz="1600" baseline="30000" dirty="0"/>
                  <a:t>3</a:t>
                </a:r>
                <a:r>
                  <a:rPr lang="en-GB" altLang="en-US" sz="1600" dirty="0"/>
                  <a:t> </a:t>
                </a:r>
              </a:p>
            </p:txBody>
          </p:sp>
        </mc:Choice>
        <mc:Fallback xmlns="">
          <p:sp>
            <p:nvSpPr>
              <p:cNvPr id="67" name="TextBox 66">
                <a:extLst>
                  <a:ext uri="{FF2B5EF4-FFF2-40B4-BE49-F238E27FC236}">
                    <a16:creationId xmlns:a16="http://schemas.microsoft.com/office/drawing/2014/main" id="{2F3C701F-3FF7-4E49-9440-26D4823C5323}"/>
                  </a:ext>
                </a:extLst>
              </p:cNvPr>
              <p:cNvSpPr txBox="1">
                <a:spLocks noRot="1" noChangeAspect="1" noMove="1" noResize="1" noEditPoints="1" noAdjustHandles="1" noChangeArrowheads="1" noChangeShapeType="1" noTextEdit="1"/>
              </p:cNvSpPr>
              <p:nvPr/>
            </p:nvSpPr>
            <p:spPr>
              <a:xfrm>
                <a:off x="802219" y="2989224"/>
                <a:ext cx="1223922" cy="246221"/>
              </a:xfrm>
              <a:prstGeom prst="rect">
                <a:avLst/>
              </a:prstGeom>
              <a:blipFill>
                <a:blip r:embed="rId16"/>
                <a:stretch>
                  <a:fillRect t="-19048" b="-4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A8DD1AF4-F940-254F-A933-583CAB385DDE}"/>
                  </a:ext>
                </a:extLst>
              </p:cNvPr>
              <p:cNvSpPr txBox="1"/>
              <p:nvPr/>
            </p:nvSpPr>
            <p:spPr>
              <a:xfrm>
                <a:off x="1592555" y="3210100"/>
                <a:ext cx="428790" cy="280398"/>
              </a:xfrm>
              <a:prstGeom prst="rect">
                <a:avLst/>
              </a:prstGeom>
              <a:noFill/>
            </p:spPr>
            <p:txBody>
              <a:bodyPr wrap="square" lIns="0" tIns="0" rIns="0" bIns="0" rtlCol="0" anchor="ctr" anchorCtr="0">
                <a:spAutoFit/>
              </a:bodyPr>
              <a:lstStyle/>
              <a:p>
                <a:pPr>
                  <a:defRPr/>
                </a:pPr>
                <a14:m>
                  <m:oMathPara xmlns:m="http://schemas.openxmlformats.org/officeDocument/2006/math">
                    <m:oMathParaPr>
                      <m:jc m:val="left"/>
                    </m:oMathParaPr>
                    <m:oMath xmlns:m="http://schemas.openxmlformats.org/officeDocument/2006/math">
                      <m:rad>
                        <m:radPr>
                          <m:ctrlPr>
                            <a:rPr lang="en-GB" altLang="en-US" sz="1600" b="0" i="1" smtClean="0">
                              <a:solidFill>
                                <a:schemeClr val="accent6">
                                  <a:lumMod val="50000"/>
                                </a:schemeClr>
                              </a:solidFill>
                              <a:latin typeface="Cambria Math" panose="02040503050406030204" pitchFamily="18" charset="0"/>
                            </a:rPr>
                          </m:ctrlPr>
                        </m:radPr>
                        <m:deg>
                          <m:r>
                            <a:rPr lang="en-GB">
                              <a:solidFill>
                                <a:schemeClr val="accent6">
                                  <a:lumMod val="50000"/>
                                </a:schemeClr>
                              </a:solidFill>
                              <a:latin typeface="Cambria Math" panose="02040503050406030204" pitchFamily="18" charset="0"/>
                            </a:rPr>
                            <m:t>3</m:t>
                          </m:r>
                        </m:deg>
                        <m:e>
                          <m:r>
                            <a:rPr lang="en-GB" b="0" i="1" smtClean="0">
                              <a:solidFill>
                                <a:schemeClr val="accent6">
                                  <a:lumMod val="50000"/>
                                </a:schemeClr>
                              </a:solidFill>
                              <a:latin typeface="Cambria Math" panose="02040503050406030204" pitchFamily="18" charset="0"/>
                            </a:rPr>
                            <m:t>   </m:t>
                          </m:r>
                        </m:e>
                      </m:rad>
                    </m:oMath>
                  </m:oMathPara>
                </a14:m>
                <a:endParaRPr lang="en-GB" altLang="en-US" sz="1600" dirty="0">
                  <a:solidFill>
                    <a:schemeClr val="accent6">
                      <a:lumMod val="50000"/>
                    </a:schemeClr>
                  </a:solidFill>
                </a:endParaRPr>
              </a:p>
            </p:txBody>
          </p:sp>
        </mc:Choice>
        <mc:Fallback xmlns="">
          <p:sp>
            <p:nvSpPr>
              <p:cNvPr id="68" name="TextBox 67">
                <a:extLst>
                  <a:ext uri="{FF2B5EF4-FFF2-40B4-BE49-F238E27FC236}">
                    <a16:creationId xmlns:a16="http://schemas.microsoft.com/office/drawing/2014/main" id="{A8DD1AF4-F940-254F-A933-583CAB385DDE}"/>
                  </a:ext>
                </a:extLst>
              </p:cNvPr>
              <p:cNvSpPr txBox="1">
                <a:spLocks noRot="1" noChangeAspect="1" noMove="1" noResize="1" noEditPoints="1" noAdjustHandles="1" noChangeArrowheads="1" noChangeShapeType="1" noTextEdit="1"/>
              </p:cNvSpPr>
              <p:nvPr/>
            </p:nvSpPr>
            <p:spPr>
              <a:xfrm>
                <a:off x="1592555" y="3210100"/>
                <a:ext cx="428790" cy="280398"/>
              </a:xfrm>
              <a:prstGeom prst="rect">
                <a:avLst/>
              </a:prstGeom>
              <a:blipFill>
                <a:blip r:embed="rId17"/>
                <a:stretch>
                  <a:fillRect l="-2857"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AD5CC94-9B3E-E54A-9144-A842FF5E3DDD}"/>
                  </a:ext>
                </a:extLst>
              </p:cNvPr>
              <p:cNvSpPr txBox="1"/>
              <p:nvPr/>
            </p:nvSpPr>
            <p:spPr>
              <a:xfrm>
                <a:off x="926958" y="3192564"/>
                <a:ext cx="428790" cy="315471"/>
              </a:xfrm>
              <a:prstGeom prst="rect">
                <a:avLst/>
              </a:prstGeom>
              <a:noFill/>
            </p:spPr>
            <p:txBody>
              <a:bodyPr wrap="square" lIns="0" tIns="0" rIns="0" bIns="0" rtlCol="0" anchor="ctr" anchorCtr="0">
                <a:spAutoFit/>
              </a:bodyPr>
              <a:lstStyle/>
              <a:p>
                <a:pPr>
                  <a:defRPr/>
                </a:pPr>
                <a14:m>
                  <m:oMathPara xmlns:m="http://schemas.openxmlformats.org/officeDocument/2006/math">
                    <m:oMathParaPr>
                      <m:jc m:val="right"/>
                    </m:oMathParaPr>
                    <m:oMath xmlns:m="http://schemas.openxmlformats.org/officeDocument/2006/math">
                      <m:rad>
                        <m:radPr>
                          <m:ctrlPr>
                            <a:rPr lang="en-GB" altLang="en-US" sz="1800" i="1">
                              <a:solidFill>
                                <a:schemeClr val="accent6">
                                  <a:lumMod val="50000"/>
                                </a:schemeClr>
                              </a:solidFill>
                              <a:latin typeface="Cambria Math" panose="02040503050406030204" pitchFamily="18" charset="0"/>
                            </a:rPr>
                          </m:ctrlPr>
                        </m:radPr>
                        <m:deg>
                          <m:r>
                            <a:rPr lang="en-GB" sz="1600">
                              <a:solidFill>
                                <a:schemeClr val="accent6">
                                  <a:lumMod val="50000"/>
                                </a:schemeClr>
                              </a:solidFill>
                              <a:latin typeface="Cambria Math" panose="02040503050406030204" pitchFamily="18" charset="0"/>
                            </a:rPr>
                            <m:t>3</m:t>
                          </m:r>
                        </m:deg>
                        <m:e>
                          <m:r>
                            <a:rPr lang="en-GB" sz="1600" i="1">
                              <a:solidFill>
                                <a:schemeClr val="accent6">
                                  <a:lumMod val="50000"/>
                                </a:schemeClr>
                              </a:solidFill>
                              <a:latin typeface="Cambria Math" panose="02040503050406030204" pitchFamily="18" charset="0"/>
                            </a:rPr>
                            <m:t>   </m:t>
                          </m:r>
                        </m:e>
                      </m:rad>
                    </m:oMath>
                  </m:oMathPara>
                </a14:m>
                <a:endParaRPr lang="en-GB" altLang="en-US" sz="1800" dirty="0">
                  <a:solidFill>
                    <a:schemeClr val="accent6">
                      <a:lumMod val="50000"/>
                    </a:schemeClr>
                  </a:solidFill>
                </a:endParaRPr>
              </a:p>
            </p:txBody>
          </p:sp>
        </mc:Choice>
        <mc:Fallback xmlns="">
          <p:sp>
            <p:nvSpPr>
              <p:cNvPr id="71" name="TextBox 70">
                <a:extLst>
                  <a:ext uri="{FF2B5EF4-FFF2-40B4-BE49-F238E27FC236}">
                    <a16:creationId xmlns:a16="http://schemas.microsoft.com/office/drawing/2014/main" id="{FAD5CC94-9B3E-E54A-9144-A842FF5E3DDD}"/>
                  </a:ext>
                </a:extLst>
              </p:cNvPr>
              <p:cNvSpPr txBox="1">
                <a:spLocks noRot="1" noChangeAspect="1" noMove="1" noResize="1" noEditPoints="1" noAdjustHandles="1" noChangeArrowheads="1" noChangeShapeType="1" noTextEdit="1"/>
              </p:cNvSpPr>
              <p:nvPr/>
            </p:nvSpPr>
            <p:spPr>
              <a:xfrm>
                <a:off x="926958" y="3192564"/>
                <a:ext cx="428790" cy="315471"/>
              </a:xfrm>
              <a:prstGeom prst="rect">
                <a:avLst/>
              </a:prstGeom>
              <a:blipFill>
                <a:blip r:embed="rId18"/>
                <a:stretch>
                  <a:fillRect r="-22857" b="-153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722617D-AC0E-D141-9546-F458BB671340}"/>
                  </a:ext>
                </a:extLst>
              </p:cNvPr>
              <p:cNvSpPr txBox="1"/>
              <p:nvPr/>
            </p:nvSpPr>
            <p:spPr>
              <a:xfrm>
                <a:off x="870404" y="3529842"/>
                <a:ext cx="1223922" cy="246221"/>
              </a:xfrm>
              <a:prstGeom prst="rect">
                <a:avLst/>
              </a:prstGeom>
              <a:noFill/>
            </p:spPr>
            <p:txBody>
              <a:bodyPr wrap="square" lIns="0" tIns="0" rIns="0" bIns="0" rtlCol="0" anchor="ctr" anchorCtr="0">
                <a:spAutoFit/>
              </a:bodyPr>
              <a:lstStyle/>
              <a:p>
                <a:pPr algn="ctr">
                  <a:defRPr/>
                </a:pPr>
                <a:r>
                  <a:rPr lang="en-GB" altLang="en-US" sz="1600" b="1" dirty="0"/>
                  <a:t>9</a:t>
                </a:r>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14:m>
                  <m:oMath xmlns:m="http://schemas.openxmlformats.org/officeDocument/2006/math">
                    <m:r>
                      <a:rPr lang="en-GB" altLang="en-US" sz="1600" b="0" i="1" dirty="0" smtClean="0">
                        <a:latin typeface="Cambria Math" panose="02040503050406030204" pitchFamily="18" charset="0"/>
                      </a:rPr>
                      <m:t>𝑟</m:t>
                    </m:r>
                  </m:oMath>
                </a14:m>
                <a:r>
                  <a:rPr lang="en-GB" altLang="en-US" sz="1600" dirty="0"/>
                  <a:t> </a:t>
                </a:r>
              </a:p>
            </p:txBody>
          </p:sp>
        </mc:Choice>
        <mc:Fallback xmlns="">
          <p:sp>
            <p:nvSpPr>
              <p:cNvPr id="72" name="TextBox 71">
                <a:extLst>
                  <a:ext uri="{FF2B5EF4-FFF2-40B4-BE49-F238E27FC236}">
                    <a16:creationId xmlns:a16="http://schemas.microsoft.com/office/drawing/2014/main" id="{8722617D-AC0E-D141-9546-F458BB671340}"/>
                  </a:ext>
                </a:extLst>
              </p:cNvPr>
              <p:cNvSpPr txBox="1">
                <a:spLocks noRot="1" noChangeAspect="1" noMove="1" noResize="1" noEditPoints="1" noAdjustHandles="1" noChangeArrowheads="1" noChangeShapeType="1" noTextEdit="1"/>
              </p:cNvSpPr>
              <p:nvPr/>
            </p:nvSpPr>
            <p:spPr>
              <a:xfrm>
                <a:off x="870404" y="3529842"/>
                <a:ext cx="1223922" cy="246221"/>
              </a:xfrm>
              <a:prstGeom prst="rect">
                <a:avLst/>
              </a:prstGeom>
              <a:blipFill>
                <a:blip r:embed="rId19"/>
                <a:stretch>
                  <a:fillRect t="-20000" b="-45000"/>
                </a:stretch>
              </a:blipFill>
            </p:spPr>
            <p:txBody>
              <a:bodyPr/>
              <a:lstStyle/>
              <a:p>
                <a:r>
                  <a:rPr lang="en-GB">
                    <a:noFill/>
                  </a:rPr>
                  <a:t> </a:t>
                </a:r>
              </a:p>
            </p:txBody>
          </p:sp>
        </mc:Fallback>
      </mc:AlternateContent>
      <p:grpSp>
        <p:nvGrpSpPr>
          <p:cNvPr id="92" name="Group 91">
            <a:extLst>
              <a:ext uri="{FF2B5EF4-FFF2-40B4-BE49-F238E27FC236}">
                <a16:creationId xmlns:a16="http://schemas.microsoft.com/office/drawing/2014/main" id="{82507C3F-605E-354F-B52B-49CA919A83F4}"/>
              </a:ext>
            </a:extLst>
          </p:cNvPr>
          <p:cNvGrpSpPr/>
          <p:nvPr/>
        </p:nvGrpSpPr>
        <p:grpSpPr>
          <a:xfrm>
            <a:off x="6084122" y="1622885"/>
            <a:ext cx="1610532" cy="1613299"/>
            <a:chOff x="1601332" y="1572178"/>
            <a:chExt cx="1610532" cy="1613299"/>
          </a:xfrm>
        </p:grpSpPr>
        <p:grpSp>
          <p:nvGrpSpPr>
            <p:cNvPr id="93" name="Group 92">
              <a:extLst>
                <a:ext uri="{FF2B5EF4-FFF2-40B4-BE49-F238E27FC236}">
                  <a16:creationId xmlns:a16="http://schemas.microsoft.com/office/drawing/2014/main" id="{EA44C2F6-CA62-CD41-9395-B18336F2493A}"/>
                </a:ext>
              </a:extLst>
            </p:cNvPr>
            <p:cNvGrpSpPr/>
            <p:nvPr/>
          </p:nvGrpSpPr>
          <p:grpSpPr>
            <a:xfrm>
              <a:off x="1601332" y="1572178"/>
              <a:ext cx="1610532" cy="1613299"/>
              <a:chOff x="1478063" y="1858057"/>
              <a:chExt cx="1771585" cy="1774629"/>
            </a:xfrm>
          </p:grpSpPr>
          <p:pic>
            <p:nvPicPr>
              <p:cNvPr id="96" name="Picture 95">
                <a:extLst>
                  <a:ext uri="{FF2B5EF4-FFF2-40B4-BE49-F238E27FC236}">
                    <a16:creationId xmlns:a16="http://schemas.microsoft.com/office/drawing/2014/main" id="{C24DA0C5-7613-0944-8EDF-61304A47354A}"/>
                  </a:ext>
                </a:extLst>
              </p:cNvPr>
              <p:cNvPicPr>
                <a:picLocks noChangeAspect="1"/>
              </p:cNvPicPr>
              <p:nvPr/>
            </p:nvPicPr>
            <p:blipFill>
              <a:blip r:embed="rId5"/>
              <a:stretch>
                <a:fillRect/>
              </a:stretch>
            </p:blipFill>
            <p:spPr>
              <a:xfrm>
                <a:off x="1478063" y="1858057"/>
                <a:ext cx="1771585" cy="1774629"/>
              </a:xfrm>
              <a:prstGeom prst="rect">
                <a:avLst/>
              </a:prstGeom>
            </p:spPr>
          </p:pic>
          <p:cxnSp>
            <p:nvCxnSpPr>
              <p:cNvPr id="97" name="Straight Arrow Connector 96">
                <a:extLst>
                  <a:ext uri="{FF2B5EF4-FFF2-40B4-BE49-F238E27FC236}">
                    <a16:creationId xmlns:a16="http://schemas.microsoft.com/office/drawing/2014/main" id="{0467647B-531F-6E4B-9431-95A5131D53A0}"/>
                  </a:ext>
                </a:extLst>
              </p:cNvPr>
              <p:cNvCxnSpPr>
                <a:cxnSpLocks/>
              </p:cNvCxnSpPr>
              <p:nvPr/>
            </p:nvCxnSpPr>
            <p:spPr>
              <a:xfrm flipH="1">
                <a:off x="2363855" y="2126386"/>
                <a:ext cx="592166" cy="607423"/>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F6F39A30-1429-944F-8527-66F6E8356F7A}"/>
                      </a:ext>
                    </a:extLst>
                  </p:cNvPr>
                  <p:cNvSpPr txBox="1"/>
                  <p:nvPr/>
                </p:nvSpPr>
                <p:spPr>
                  <a:xfrm>
                    <a:off x="2027693" y="2216744"/>
                    <a:ext cx="621773" cy="236988"/>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400" i="1" dirty="0" smtClean="0">
                            <a:latin typeface="Cambria Math" panose="02040503050406030204" pitchFamily="18" charset="0"/>
                          </a:rPr>
                          <m:t>𝑟</m:t>
                        </m:r>
                      </m:oMath>
                    </a14:m>
                    <a:r>
                      <a:rPr lang="en-GB" altLang="en-US" sz="1400" dirty="0"/>
                      <a:t>m</a:t>
                    </a:r>
                    <a:endParaRPr lang="en-GB" altLang="en-US" sz="1400" baseline="30000" dirty="0"/>
                  </a:p>
                </p:txBody>
              </p:sp>
            </mc:Choice>
            <mc:Fallback xmlns="">
              <p:sp>
                <p:nvSpPr>
                  <p:cNvPr id="98" name="TextBox 97">
                    <a:extLst>
                      <a:ext uri="{FF2B5EF4-FFF2-40B4-BE49-F238E27FC236}">
                        <a16:creationId xmlns:a16="http://schemas.microsoft.com/office/drawing/2014/main" id="{F6F39A30-1429-944F-8527-66F6E8356F7A}"/>
                      </a:ext>
                    </a:extLst>
                  </p:cNvPr>
                  <p:cNvSpPr txBox="1">
                    <a:spLocks noRot="1" noChangeAspect="1" noMove="1" noResize="1" noEditPoints="1" noAdjustHandles="1" noChangeArrowheads="1" noChangeShapeType="1" noTextEdit="1"/>
                  </p:cNvSpPr>
                  <p:nvPr/>
                </p:nvSpPr>
                <p:spPr>
                  <a:xfrm>
                    <a:off x="2027693" y="2216744"/>
                    <a:ext cx="621773" cy="236988"/>
                  </a:xfrm>
                  <a:prstGeom prst="rect">
                    <a:avLst/>
                  </a:prstGeom>
                  <a:blipFill>
                    <a:blip r:embed="rId20"/>
                    <a:stretch>
                      <a:fillRect t="-16667" r="-17391" b="-50000"/>
                    </a:stretch>
                  </a:blipFill>
                </p:spPr>
                <p:txBody>
                  <a:bodyPr/>
                  <a:lstStyle/>
                  <a:p>
                    <a:r>
                      <a:rPr lang="en-GB">
                        <a:noFill/>
                      </a:rPr>
                      <a:t> </a:t>
                    </a:r>
                  </a:p>
                </p:txBody>
              </p:sp>
            </mc:Fallback>
          </mc:AlternateContent>
        </p:grpSp>
        <p:sp>
          <p:nvSpPr>
            <p:cNvPr id="94" name="TextBox 93">
              <a:extLst>
                <a:ext uri="{FF2B5EF4-FFF2-40B4-BE49-F238E27FC236}">
                  <a16:creationId xmlns:a16="http://schemas.microsoft.com/office/drawing/2014/main" id="{6A34EF5B-1AD0-6244-827A-C52087E90F7F}"/>
                </a:ext>
              </a:extLst>
            </p:cNvPr>
            <p:cNvSpPr txBox="1"/>
            <p:nvPr/>
          </p:nvSpPr>
          <p:spPr>
            <a:xfrm>
              <a:off x="2030426" y="2621028"/>
              <a:ext cx="752345" cy="246221"/>
            </a:xfrm>
            <a:prstGeom prst="rect">
              <a:avLst/>
            </a:prstGeom>
            <a:noFill/>
          </p:spPr>
          <p:txBody>
            <a:bodyPr wrap="square" lIns="0" tIns="0" rIns="0" bIns="0" rtlCol="0" anchor="ctr" anchorCtr="0">
              <a:spAutoFit/>
            </a:bodyPr>
            <a:lstStyle/>
            <a:p>
              <a:pPr algn="ctr">
                <a:defRPr/>
              </a:pPr>
              <a:r>
                <a:rPr lang="en-GB" altLang="en-US" sz="1600" b="1" dirty="0"/>
                <a:t>Volume</a:t>
              </a:r>
            </a:p>
          </p:txBody>
        </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3729B38-5D4A-E940-96D6-E4D6F2CD62C4}"/>
                    </a:ext>
                  </a:extLst>
                </p:cNvPr>
                <p:cNvSpPr txBox="1"/>
                <p:nvPr/>
              </p:nvSpPr>
              <p:spPr>
                <a:xfrm>
                  <a:off x="1992808" y="2819557"/>
                  <a:ext cx="827580" cy="246221"/>
                </a:xfrm>
                <a:prstGeom prst="rect">
                  <a:avLst/>
                </a:prstGeom>
                <a:noFill/>
              </p:spPr>
              <p:txBody>
                <a:bodyPr wrap="square" lIns="0" tIns="0" rIns="0" bIns="0" rtlCol="0" anchor="ctr" anchorCtr="0">
                  <a:spAutoFit/>
                </a:bodyPr>
                <a:lstStyle/>
                <a:p>
                  <a:pPr algn="ctr">
                    <a:defRPr/>
                  </a:pPr>
                  <a:r>
                    <a:rPr lang="en-GB" altLang="en-US" sz="1600" dirty="0"/>
                    <a:t>4500</a:t>
                  </a:r>
                  <a14:m>
                    <m:oMath xmlns:m="http://schemas.openxmlformats.org/officeDocument/2006/math">
                      <m:r>
                        <a:rPr lang="en-GB" altLang="en-US" sz="1600" i="1">
                          <a:latin typeface="Cambria Math" panose="02040503050406030204" pitchFamily="18" charset="0"/>
                        </a:rPr>
                        <m:t>𝜋</m:t>
                      </m:r>
                    </m:oMath>
                  </a14:m>
                  <a:r>
                    <a:rPr lang="en-GB" altLang="en-US" sz="1600" dirty="0"/>
                    <a:t>m</a:t>
                  </a:r>
                  <a:r>
                    <a:rPr lang="en-GB" altLang="en-US" sz="1600" baseline="30000" dirty="0"/>
                    <a:t>3</a:t>
                  </a:r>
                </a:p>
              </p:txBody>
            </p:sp>
          </mc:Choice>
          <mc:Fallback xmlns="">
            <p:sp>
              <p:nvSpPr>
                <p:cNvPr id="95" name="TextBox 94">
                  <a:extLst>
                    <a:ext uri="{FF2B5EF4-FFF2-40B4-BE49-F238E27FC236}">
                      <a16:creationId xmlns:a16="http://schemas.microsoft.com/office/drawing/2014/main" id="{83729B38-5D4A-E940-96D6-E4D6F2CD62C4}"/>
                    </a:ext>
                  </a:extLst>
                </p:cNvPr>
                <p:cNvSpPr txBox="1">
                  <a:spLocks noRot="1" noChangeAspect="1" noMove="1" noResize="1" noEditPoints="1" noAdjustHandles="1" noChangeArrowheads="1" noChangeShapeType="1" noTextEdit="1"/>
                </p:cNvSpPr>
                <p:nvPr/>
              </p:nvSpPr>
              <p:spPr>
                <a:xfrm>
                  <a:off x="1992808" y="2819557"/>
                  <a:ext cx="827580" cy="246221"/>
                </a:xfrm>
                <a:prstGeom prst="rect">
                  <a:avLst/>
                </a:prstGeom>
                <a:blipFill>
                  <a:blip r:embed="rId21"/>
                  <a:stretch>
                    <a:fillRect l="-10606" t="-20000" r="-6061" b="-45000"/>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4CC6E59F-FF7B-4546-8F0E-7B92E406F36A}"/>
                  </a:ext>
                </a:extLst>
              </p:cNvPr>
              <p:cNvSpPr/>
              <p:nvPr/>
            </p:nvSpPr>
            <p:spPr>
              <a:xfrm>
                <a:off x="5424249" y="3900811"/>
                <a:ext cx="1086236" cy="1738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dirty="0">
                    <a:solidFill>
                      <a:schemeClr val="tx1"/>
                    </a:solidFill>
                  </a:rPr>
                  <a:t>Radius </a:t>
                </a:r>
                <a14:m>
                  <m:oMath xmlns:m="http://schemas.openxmlformats.org/officeDocument/2006/math">
                    <m:r>
                      <a:rPr lang="en-GB" sz="1400" b="1" i="1" smtClean="0">
                        <a:solidFill>
                          <a:schemeClr val="tx1"/>
                        </a:solidFill>
                        <a:latin typeface="Cambria Math" panose="02040503050406030204" pitchFamily="18" charset="0"/>
                      </a:rPr>
                      <m:t>=</m:t>
                    </m:r>
                  </m:oMath>
                </a14:m>
                <a:r>
                  <a:rPr lang="en-GB" sz="1400" b="1" dirty="0">
                    <a:solidFill>
                      <a:schemeClr val="tx1"/>
                    </a:solidFill>
                  </a:rPr>
                  <a:t> 15m</a:t>
                </a:r>
              </a:p>
            </p:txBody>
          </p:sp>
        </mc:Choice>
        <mc:Fallback xmlns="">
          <p:sp>
            <p:nvSpPr>
              <p:cNvPr id="99" name="Rectangle 98">
                <a:extLst>
                  <a:ext uri="{FF2B5EF4-FFF2-40B4-BE49-F238E27FC236}">
                    <a16:creationId xmlns:a16="http://schemas.microsoft.com/office/drawing/2014/main" id="{4CC6E59F-FF7B-4546-8F0E-7B92E406F36A}"/>
                  </a:ext>
                </a:extLst>
              </p:cNvPr>
              <p:cNvSpPr>
                <a:spLocks noRot="1" noChangeAspect="1" noMove="1" noResize="1" noEditPoints="1" noAdjustHandles="1" noChangeArrowheads="1" noChangeShapeType="1" noTextEdit="1"/>
              </p:cNvSpPr>
              <p:nvPr/>
            </p:nvSpPr>
            <p:spPr>
              <a:xfrm>
                <a:off x="5424249" y="3900811"/>
                <a:ext cx="1086236" cy="173895"/>
              </a:xfrm>
              <a:prstGeom prst="rect">
                <a:avLst/>
              </a:prstGeom>
              <a:blipFill>
                <a:blip r:embed="rId22"/>
                <a:stretch>
                  <a:fillRect l="-6897" t="-40000" r="-6897" b="-6666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6FFC1A70-3B33-0F41-9AB1-A7D5AD315F89}"/>
                  </a:ext>
                </a:extLst>
              </p:cNvPr>
              <p:cNvSpPr txBox="1"/>
              <p:nvPr/>
            </p:nvSpPr>
            <p:spPr>
              <a:xfrm>
                <a:off x="5199204" y="1825853"/>
                <a:ext cx="1951989" cy="246221"/>
              </a:xfrm>
              <a:prstGeom prst="rect">
                <a:avLst/>
              </a:prstGeom>
              <a:noFill/>
            </p:spPr>
            <p:txBody>
              <a:bodyPr wrap="square" lIns="0" tIns="0" rIns="0" bIns="0" rtlCol="0" anchor="ctr" anchorCtr="0">
                <a:spAutoFit/>
              </a:bodyPr>
              <a:lstStyle/>
              <a:p>
                <a:pPr>
                  <a:defRPr/>
                </a:pPr>
                <a:r>
                  <a:rPr lang="en-GB" altLang="en-US" sz="1600" b="1" dirty="0"/>
                  <a:t>Volume</a:t>
                </a:r>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r>
                  <a:rPr lang="en-GB" sz="1600" baseline="30000" dirty="0"/>
                  <a:t>4</a:t>
                </a:r>
                <a:r>
                  <a:rPr lang="en-GB" sz="1600" spc="-300" dirty="0"/>
                  <a:t>⁄</a:t>
                </a:r>
                <a:r>
                  <a:rPr lang="en-GB" sz="1600" baseline="-25000" dirty="0"/>
                  <a:t>3</a:t>
                </a:r>
                <a:r>
                  <a:rPr lang="en-GB" sz="1600" b="1" dirty="0"/>
                  <a:t> </a:t>
                </a:r>
                <a14:m>
                  <m:oMath xmlns:m="http://schemas.openxmlformats.org/officeDocument/2006/math">
                    <m:r>
                      <a:rPr lang="en-GB" sz="1600" b="1" i="1" smtClean="0">
                        <a:latin typeface="Cambria Math" panose="02040503050406030204" pitchFamily="18" charset="0"/>
                      </a:rPr>
                      <m:t>×</m:t>
                    </m:r>
                  </m:oMath>
                </a14:m>
                <a:r>
                  <a:rPr lang="en-GB" altLang="en-US" sz="1600" dirty="0"/>
                  <a:t> </a:t>
                </a:r>
                <a14:m>
                  <m:oMath xmlns:m="http://schemas.openxmlformats.org/officeDocument/2006/math">
                    <m:r>
                      <a:rPr lang="en-GB" altLang="en-US" sz="1600" b="0" i="1" dirty="0" smtClean="0">
                        <a:latin typeface="Cambria Math" panose="02040503050406030204" pitchFamily="18" charset="0"/>
                      </a:rPr>
                      <m:t>𝜋</m:t>
                    </m:r>
                  </m:oMath>
                </a14:m>
                <a:r>
                  <a:rPr lang="en-GB" altLang="en-US" sz="1600" dirty="0"/>
                  <a:t> </a:t>
                </a:r>
                <a14:m>
                  <m:oMath xmlns:m="http://schemas.openxmlformats.org/officeDocument/2006/math">
                    <m:r>
                      <a:rPr lang="en-GB" altLang="en-US" sz="1600" b="0" i="1" smtClean="0">
                        <a:latin typeface="Cambria Math" panose="02040503050406030204" pitchFamily="18" charset="0"/>
                      </a:rPr>
                      <m:t>×</m:t>
                    </m:r>
                  </m:oMath>
                </a14:m>
                <a:r>
                  <a:rPr lang="en-GB" altLang="en-US" sz="1600" dirty="0"/>
                  <a:t> </a:t>
                </a:r>
                <a14:m>
                  <m:oMath xmlns:m="http://schemas.openxmlformats.org/officeDocument/2006/math">
                    <m:r>
                      <a:rPr lang="en-GB" altLang="en-US" sz="1600" b="0" i="1" dirty="0" smtClean="0">
                        <a:latin typeface="Cambria Math" panose="02040503050406030204" pitchFamily="18" charset="0"/>
                      </a:rPr>
                      <m:t>𝑟</m:t>
                    </m:r>
                  </m:oMath>
                </a14:m>
                <a:r>
                  <a:rPr lang="en-GB" altLang="en-US" sz="1600" baseline="30000" dirty="0"/>
                  <a:t>3</a:t>
                </a:r>
                <a:r>
                  <a:rPr lang="en-GB" altLang="en-US" sz="1600" dirty="0"/>
                  <a:t> </a:t>
                </a:r>
              </a:p>
            </p:txBody>
          </p:sp>
        </mc:Choice>
        <mc:Fallback xmlns="">
          <p:sp>
            <p:nvSpPr>
              <p:cNvPr id="100" name="TextBox 99">
                <a:extLst>
                  <a:ext uri="{FF2B5EF4-FFF2-40B4-BE49-F238E27FC236}">
                    <a16:creationId xmlns:a16="http://schemas.microsoft.com/office/drawing/2014/main" id="{6FFC1A70-3B33-0F41-9AB1-A7D5AD315F89}"/>
                  </a:ext>
                </a:extLst>
              </p:cNvPr>
              <p:cNvSpPr txBox="1">
                <a:spLocks noRot="1" noChangeAspect="1" noMove="1" noResize="1" noEditPoints="1" noAdjustHandles="1" noChangeArrowheads="1" noChangeShapeType="1" noTextEdit="1"/>
              </p:cNvSpPr>
              <p:nvPr/>
            </p:nvSpPr>
            <p:spPr>
              <a:xfrm>
                <a:off x="5199204" y="1825853"/>
                <a:ext cx="1951989" cy="246221"/>
              </a:xfrm>
              <a:prstGeom prst="rect">
                <a:avLst/>
              </a:prstGeom>
              <a:blipFill>
                <a:blip r:embed="rId23"/>
                <a:stretch>
                  <a:fillRect l="-5806" t="-31579" b="-473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91A3D9E1-1A86-4445-812E-ED644FBDA9FD}"/>
                  </a:ext>
                </a:extLst>
              </p:cNvPr>
              <p:cNvSpPr txBox="1"/>
              <p:nvPr/>
            </p:nvSpPr>
            <p:spPr>
              <a:xfrm>
                <a:off x="5202167" y="2106656"/>
                <a:ext cx="1434331" cy="246221"/>
              </a:xfrm>
              <a:prstGeom prst="rect">
                <a:avLst/>
              </a:prstGeom>
              <a:noFill/>
            </p:spPr>
            <p:txBody>
              <a:bodyPr wrap="square" lIns="0" tIns="0" rIns="0" bIns="0" rtlCol="0" anchor="ctr" anchorCtr="0">
                <a:spAutoFit/>
              </a:bodyPr>
              <a:lstStyle/>
              <a:p>
                <a:pPr algn="ctr">
                  <a:defRPr/>
                </a:pPr>
                <a:r>
                  <a:rPr lang="en-GB" altLang="en-US" sz="1600" b="1" dirty="0"/>
                  <a:t>4500</a:t>
                </a:r>
                <a14:m>
                  <m:oMath xmlns:m="http://schemas.openxmlformats.org/officeDocument/2006/math">
                    <m:r>
                      <a:rPr lang="en-GB" altLang="en-US" sz="1600" b="1" i="1" smtClean="0">
                        <a:latin typeface="Cambria Math" panose="02040503050406030204" pitchFamily="18" charset="0"/>
                      </a:rPr>
                      <m:t>𝝅</m:t>
                    </m:r>
                  </m:oMath>
                </a14:m>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r>
                  <a:rPr lang="en-GB" sz="1600" baseline="30000" dirty="0"/>
                  <a:t>4</a:t>
                </a:r>
                <a:r>
                  <a:rPr lang="en-GB" sz="1600" spc="-300" dirty="0"/>
                  <a:t>⁄</a:t>
                </a:r>
                <a:r>
                  <a:rPr lang="en-GB" sz="1600" baseline="-25000" dirty="0"/>
                  <a:t>3</a:t>
                </a:r>
                <a14:m>
                  <m:oMath xmlns:m="http://schemas.openxmlformats.org/officeDocument/2006/math">
                    <m:r>
                      <a:rPr lang="en-GB" altLang="en-US" sz="1600" b="0" i="1" dirty="0" smtClean="0">
                        <a:latin typeface="Cambria Math" panose="02040503050406030204" pitchFamily="18" charset="0"/>
                      </a:rPr>
                      <m:t>𝜋</m:t>
                    </m:r>
                    <m:r>
                      <a:rPr lang="en-GB" altLang="en-US" sz="1600" b="0" i="1" dirty="0" smtClean="0">
                        <a:latin typeface="Cambria Math" panose="02040503050406030204" pitchFamily="18" charset="0"/>
                      </a:rPr>
                      <m:t>𝑟</m:t>
                    </m:r>
                  </m:oMath>
                </a14:m>
                <a:r>
                  <a:rPr lang="en-GB" altLang="en-US" sz="1600" baseline="30000" dirty="0"/>
                  <a:t>3</a:t>
                </a:r>
              </a:p>
            </p:txBody>
          </p:sp>
        </mc:Choice>
        <mc:Fallback xmlns="">
          <p:sp>
            <p:nvSpPr>
              <p:cNvPr id="101" name="TextBox 100">
                <a:extLst>
                  <a:ext uri="{FF2B5EF4-FFF2-40B4-BE49-F238E27FC236}">
                    <a16:creationId xmlns:a16="http://schemas.microsoft.com/office/drawing/2014/main" id="{91A3D9E1-1A86-4445-812E-ED644FBDA9FD}"/>
                  </a:ext>
                </a:extLst>
              </p:cNvPr>
              <p:cNvSpPr txBox="1">
                <a:spLocks noRot="1" noChangeAspect="1" noMove="1" noResize="1" noEditPoints="1" noAdjustHandles="1" noChangeArrowheads="1" noChangeShapeType="1" noTextEdit="1"/>
              </p:cNvSpPr>
              <p:nvPr/>
            </p:nvSpPr>
            <p:spPr>
              <a:xfrm>
                <a:off x="5202167" y="2106656"/>
                <a:ext cx="1434331" cy="246221"/>
              </a:xfrm>
              <a:prstGeom prst="rect">
                <a:avLst/>
              </a:prstGeom>
              <a:blipFill>
                <a:blip r:embed="rId24"/>
                <a:stretch>
                  <a:fillRect l="-1754" t="-25000" b="-45000"/>
                </a:stretch>
              </a:blipFill>
            </p:spPr>
            <p:txBody>
              <a:bodyPr/>
              <a:lstStyle/>
              <a:p>
                <a:r>
                  <a:rPr lang="en-GB">
                    <a:noFill/>
                  </a:rPr>
                  <a:t> </a:t>
                </a:r>
              </a:p>
            </p:txBody>
          </p:sp>
        </mc:Fallback>
      </mc:AlternateContent>
      <p:cxnSp>
        <p:nvCxnSpPr>
          <p:cNvPr id="102" name="Straight Connector 101">
            <a:extLst>
              <a:ext uri="{FF2B5EF4-FFF2-40B4-BE49-F238E27FC236}">
                <a16:creationId xmlns:a16="http://schemas.microsoft.com/office/drawing/2014/main" id="{37560789-7D03-0546-8164-2220B6A2B50F}"/>
              </a:ext>
            </a:extLst>
          </p:cNvPr>
          <p:cNvCxnSpPr>
            <a:cxnSpLocks/>
          </p:cNvCxnSpPr>
          <p:nvPr/>
        </p:nvCxnSpPr>
        <p:spPr>
          <a:xfrm>
            <a:off x="5961901" y="2096259"/>
            <a:ext cx="0" cy="1710849"/>
          </a:xfrm>
          <a:prstGeom prst="line">
            <a:avLst/>
          </a:prstGeom>
          <a:ln w="127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0063C962-F2CE-AC4F-8304-FB8D7EA6607D}"/>
                  </a:ext>
                </a:extLst>
              </p:cNvPr>
              <p:cNvSpPr txBox="1"/>
              <p:nvPr/>
            </p:nvSpPr>
            <p:spPr>
              <a:xfrm>
                <a:off x="6075345" y="2345329"/>
                <a:ext cx="428790"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b="0" i="1" smtClean="0">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3</a:t>
                </a:r>
              </a:p>
            </p:txBody>
          </p:sp>
        </mc:Choice>
        <mc:Fallback xmlns="">
          <p:sp>
            <p:nvSpPr>
              <p:cNvPr id="103" name="TextBox 102">
                <a:extLst>
                  <a:ext uri="{FF2B5EF4-FFF2-40B4-BE49-F238E27FC236}">
                    <a16:creationId xmlns:a16="http://schemas.microsoft.com/office/drawing/2014/main" id="{0063C962-F2CE-AC4F-8304-FB8D7EA6607D}"/>
                  </a:ext>
                </a:extLst>
              </p:cNvPr>
              <p:cNvSpPr txBox="1">
                <a:spLocks noRot="1" noChangeAspect="1" noMove="1" noResize="1" noEditPoints="1" noAdjustHandles="1" noChangeArrowheads="1" noChangeShapeType="1" noTextEdit="1"/>
              </p:cNvSpPr>
              <p:nvPr/>
            </p:nvSpPr>
            <p:spPr>
              <a:xfrm>
                <a:off x="6075345" y="2345329"/>
                <a:ext cx="428790" cy="246221"/>
              </a:xfrm>
              <a:prstGeom prst="rect">
                <a:avLst/>
              </a:prstGeom>
              <a:blipFill>
                <a:blip r:embed="rId11"/>
                <a:stretch>
                  <a:fillRect l="-11429" t="-20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FE34938-EB2D-204B-B3EF-EB39AE3C1E74}"/>
                  </a:ext>
                </a:extLst>
              </p:cNvPr>
              <p:cNvSpPr txBox="1"/>
              <p:nvPr/>
            </p:nvSpPr>
            <p:spPr>
              <a:xfrm>
                <a:off x="5409748" y="2345329"/>
                <a:ext cx="428790"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3</a:t>
                </a:r>
              </a:p>
            </p:txBody>
          </p:sp>
        </mc:Choice>
        <mc:Fallback xmlns="">
          <p:sp>
            <p:nvSpPr>
              <p:cNvPr id="104" name="TextBox 103">
                <a:extLst>
                  <a:ext uri="{FF2B5EF4-FFF2-40B4-BE49-F238E27FC236}">
                    <a16:creationId xmlns:a16="http://schemas.microsoft.com/office/drawing/2014/main" id="{AFE34938-EB2D-204B-B3EF-EB39AE3C1E74}"/>
                  </a:ext>
                </a:extLst>
              </p:cNvPr>
              <p:cNvSpPr txBox="1">
                <a:spLocks noRot="1" noChangeAspect="1" noMove="1" noResize="1" noEditPoints="1" noAdjustHandles="1" noChangeArrowheads="1" noChangeShapeType="1" noTextEdit="1"/>
              </p:cNvSpPr>
              <p:nvPr/>
            </p:nvSpPr>
            <p:spPr>
              <a:xfrm>
                <a:off x="5409748" y="2345329"/>
                <a:ext cx="428790" cy="246221"/>
              </a:xfrm>
              <a:prstGeom prst="rect">
                <a:avLst/>
              </a:prstGeom>
              <a:blipFill>
                <a:blip r:embed="rId12"/>
                <a:stretch>
                  <a:fillRect t="-20000" r="-25714"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088E23AD-A995-184E-B625-B21363F7EDE1}"/>
                  </a:ext>
                </a:extLst>
              </p:cNvPr>
              <p:cNvSpPr txBox="1"/>
              <p:nvPr/>
            </p:nvSpPr>
            <p:spPr>
              <a:xfrm>
                <a:off x="5164171" y="2546667"/>
                <a:ext cx="1346314" cy="246221"/>
              </a:xfrm>
              <a:prstGeom prst="rect">
                <a:avLst/>
              </a:prstGeom>
              <a:noFill/>
            </p:spPr>
            <p:txBody>
              <a:bodyPr wrap="square" lIns="0" tIns="0" rIns="0" bIns="0" rtlCol="0" anchor="ctr" anchorCtr="0">
                <a:spAutoFit/>
              </a:bodyPr>
              <a:lstStyle/>
              <a:p>
                <a:pPr algn="ctr">
                  <a:defRPr/>
                </a:pPr>
                <a:r>
                  <a:rPr lang="en-GB" altLang="en-US" sz="1600" b="1" dirty="0"/>
                  <a:t>13500</a:t>
                </a:r>
                <a14:m>
                  <m:oMath xmlns:m="http://schemas.openxmlformats.org/officeDocument/2006/math">
                    <m:r>
                      <a:rPr lang="en-GB" altLang="en-US" sz="1600" b="1" i="1" smtClean="0">
                        <a:latin typeface="Cambria Math" panose="02040503050406030204" pitchFamily="18" charset="0"/>
                      </a:rPr>
                      <m:t>𝝅</m:t>
                    </m:r>
                  </m:oMath>
                </a14:m>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r>
                  <a:rPr lang="en-GB" altLang="en-US" sz="1600" dirty="0"/>
                  <a:t>4</a:t>
                </a:r>
                <a14:m>
                  <m:oMath xmlns:m="http://schemas.openxmlformats.org/officeDocument/2006/math">
                    <m:r>
                      <a:rPr lang="en-GB" altLang="en-US" sz="1600" b="0" i="1" dirty="0" smtClean="0">
                        <a:latin typeface="Cambria Math" panose="02040503050406030204" pitchFamily="18" charset="0"/>
                      </a:rPr>
                      <m:t>𝜋</m:t>
                    </m:r>
                    <m:r>
                      <a:rPr lang="en-GB" altLang="en-US" sz="1600" b="0" i="1" dirty="0" smtClean="0">
                        <a:latin typeface="Cambria Math" panose="02040503050406030204" pitchFamily="18" charset="0"/>
                      </a:rPr>
                      <m:t>𝑟</m:t>
                    </m:r>
                  </m:oMath>
                </a14:m>
                <a:r>
                  <a:rPr lang="en-GB" altLang="en-US" sz="1600" baseline="30000" dirty="0"/>
                  <a:t>3</a:t>
                </a:r>
                <a:r>
                  <a:rPr lang="en-GB" altLang="en-US" sz="1600" dirty="0"/>
                  <a:t> </a:t>
                </a:r>
              </a:p>
            </p:txBody>
          </p:sp>
        </mc:Choice>
        <mc:Fallback xmlns="">
          <p:sp>
            <p:nvSpPr>
              <p:cNvPr id="105" name="TextBox 104">
                <a:extLst>
                  <a:ext uri="{FF2B5EF4-FFF2-40B4-BE49-F238E27FC236}">
                    <a16:creationId xmlns:a16="http://schemas.microsoft.com/office/drawing/2014/main" id="{088E23AD-A995-184E-B625-B21363F7EDE1}"/>
                  </a:ext>
                </a:extLst>
              </p:cNvPr>
              <p:cNvSpPr txBox="1">
                <a:spLocks noRot="1" noChangeAspect="1" noMove="1" noResize="1" noEditPoints="1" noAdjustHandles="1" noChangeArrowheads="1" noChangeShapeType="1" noTextEdit="1"/>
              </p:cNvSpPr>
              <p:nvPr/>
            </p:nvSpPr>
            <p:spPr>
              <a:xfrm>
                <a:off x="5164171" y="2546667"/>
                <a:ext cx="1346314" cy="246221"/>
              </a:xfrm>
              <a:prstGeom prst="rect">
                <a:avLst/>
              </a:prstGeom>
              <a:blipFill>
                <a:blip r:embed="rId25"/>
                <a:stretch>
                  <a:fillRect l="-7477" t="-25000" r="-3738"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6E106993-82E8-7747-AB09-90CE5CFCCF94}"/>
                  </a:ext>
                </a:extLst>
              </p:cNvPr>
              <p:cNvSpPr txBox="1"/>
              <p:nvPr/>
            </p:nvSpPr>
            <p:spPr>
              <a:xfrm>
                <a:off x="6075345" y="2765107"/>
                <a:ext cx="428790" cy="246221"/>
              </a:xfrm>
              <a:prstGeom prst="rect">
                <a:avLst/>
              </a:prstGeom>
              <a:noFill/>
            </p:spPr>
            <p:txBody>
              <a:bodyPr wrap="square" lIns="0" tIns="0" rIns="0" bIns="0" rtlCol="0" anchor="ctr" anchorCtr="0">
                <a:spAutoFit/>
              </a:bodyPr>
              <a:lstStyle/>
              <a:p>
                <a:pPr>
                  <a:defRPr/>
                </a:pPr>
                <a14:m>
                  <m:oMath xmlns:m="http://schemas.openxmlformats.org/officeDocument/2006/math">
                    <m:r>
                      <a:rPr lang="en-GB" altLang="en-US" sz="1600" i="1">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4</a:t>
                </a:r>
                <a14:m>
                  <m:oMath xmlns:m="http://schemas.openxmlformats.org/officeDocument/2006/math">
                    <m:r>
                      <a:rPr lang="en-GB" altLang="en-US" sz="1600" i="1" dirty="0">
                        <a:solidFill>
                          <a:schemeClr val="accent6">
                            <a:lumMod val="50000"/>
                          </a:schemeClr>
                        </a:solidFill>
                        <a:latin typeface="Cambria Math" panose="02040503050406030204" pitchFamily="18" charset="0"/>
                      </a:rPr>
                      <m:t>𝜋</m:t>
                    </m:r>
                  </m:oMath>
                </a14:m>
                <a:endParaRPr lang="en-GB" altLang="en-US" sz="1600" dirty="0">
                  <a:solidFill>
                    <a:schemeClr val="accent6">
                      <a:lumMod val="50000"/>
                    </a:schemeClr>
                  </a:solidFill>
                </a:endParaRPr>
              </a:p>
            </p:txBody>
          </p:sp>
        </mc:Choice>
        <mc:Fallback xmlns="">
          <p:sp>
            <p:nvSpPr>
              <p:cNvPr id="106" name="TextBox 105">
                <a:extLst>
                  <a:ext uri="{FF2B5EF4-FFF2-40B4-BE49-F238E27FC236}">
                    <a16:creationId xmlns:a16="http://schemas.microsoft.com/office/drawing/2014/main" id="{6E106993-82E8-7747-AB09-90CE5CFCCF94}"/>
                  </a:ext>
                </a:extLst>
              </p:cNvPr>
              <p:cNvSpPr txBox="1">
                <a:spLocks noRot="1" noChangeAspect="1" noMove="1" noResize="1" noEditPoints="1" noAdjustHandles="1" noChangeArrowheads="1" noChangeShapeType="1" noTextEdit="1"/>
              </p:cNvSpPr>
              <p:nvPr/>
            </p:nvSpPr>
            <p:spPr>
              <a:xfrm>
                <a:off x="6075345" y="2765107"/>
                <a:ext cx="428790" cy="246221"/>
              </a:xfrm>
              <a:prstGeom prst="rect">
                <a:avLst/>
              </a:prstGeom>
              <a:blipFill>
                <a:blip r:embed="rId26"/>
                <a:stretch>
                  <a:fillRect l="-8571" t="-25000" r="-8571"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D79DC7A1-2B8B-C84C-ABEC-4A5EBB152251}"/>
                  </a:ext>
                </a:extLst>
              </p:cNvPr>
              <p:cNvSpPr txBox="1"/>
              <p:nvPr/>
            </p:nvSpPr>
            <p:spPr>
              <a:xfrm>
                <a:off x="5409748" y="2765107"/>
                <a:ext cx="428790" cy="246221"/>
              </a:xfrm>
              <a:prstGeom prst="rect">
                <a:avLst/>
              </a:prstGeom>
              <a:noFill/>
            </p:spPr>
            <p:txBody>
              <a:bodyPr wrap="square" lIns="0" tIns="0" rIns="0" bIns="0" rtlCol="0" anchor="ctr" anchorCtr="0">
                <a:spAutoFit/>
              </a:bodyPr>
              <a:lstStyle/>
              <a:p>
                <a:pPr algn="r">
                  <a:defRPr/>
                </a:pPr>
                <a14:m>
                  <m:oMath xmlns:m="http://schemas.openxmlformats.org/officeDocument/2006/math">
                    <m:r>
                      <a:rPr lang="en-GB" altLang="en-US" sz="1600" b="0" i="1" smtClean="0">
                        <a:solidFill>
                          <a:schemeClr val="accent6">
                            <a:lumMod val="50000"/>
                          </a:schemeClr>
                        </a:solidFill>
                        <a:latin typeface="Cambria Math" panose="02040503050406030204" pitchFamily="18" charset="0"/>
                      </a:rPr>
                      <m:t>÷</m:t>
                    </m:r>
                  </m:oMath>
                </a14:m>
                <a:r>
                  <a:rPr lang="en-GB" altLang="en-US" sz="1600" dirty="0">
                    <a:solidFill>
                      <a:schemeClr val="accent6">
                        <a:lumMod val="50000"/>
                      </a:schemeClr>
                    </a:solidFill>
                  </a:rPr>
                  <a:t> 4</a:t>
                </a:r>
                <a14:m>
                  <m:oMath xmlns:m="http://schemas.openxmlformats.org/officeDocument/2006/math">
                    <m:r>
                      <a:rPr lang="en-GB" altLang="en-US" sz="1600" b="0" i="1" dirty="0" smtClean="0">
                        <a:solidFill>
                          <a:schemeClr val="accent6">
                            <a:lumMod val="50000"/>
                          </a:schemeClr>
                        </a:solidFill>
                        <a:latin typeface="Cambria Math" panose="02040503050406030204" pitchFamily="18" charset="0"/>
                      </a:rPr>
                      <m:t>𝜋</m:t>
                    </m:r>
                  </m:oMath>
                </a14:m>
                <a:endParaRPr lang="en-GB" altLang="en-US" sz="1600" dirty="0">
                  <a:solidFill>
                    <a:schemeClr val="accent6">
                      <a:lumMod val="50000"/>
                    </a:schemeClr>
                  </a:solidFill>
                </a:endParaRPr>
              </a:p>
            </p:txBody>
          </p:sp>
        </mc:Choice>
        <mc:Fallback xmlns="">
          <p:sp>
            <p:nvSpPr>
              <p:cNvPr id="107" name="TextBox 106">
                <a:extLst>
                  <a:ext uri="{FF2B5EF4-FFF2-40B4-BE49-F238E27FC236}">
                    <a16:creationId xmlns:a16="http://schemas.microsoft.com/office/drawing/2014/main" id="{D79DC7A1-2B8B-C84C-ABEC-4A5EBB152251}"/>
                  </a:ext>
                </a:extLst>
              </p:cNvPr>
              <p:cNvSpPr txBox="1">
                <a:spLocks noRot="1" noChangeAspect="1" noMove="1" noResize="1" noEditPoints="1" noAdjustHandles="1" noChangeArrowheads="1" noChangeShapeType="1" noTextEdit="1"/>
              </p:cNvSpPr>
              <p:nvPr/>
            </p:nvSpPr>
            <p:spPr>
              <a:xfrm>
                <a:off x="5409748" y="2765107"/>
                <a:ext cx="428790" cy="246221"/>
              </a:xfrm>
              <a:prstGeom prst="rect">
                <a:avLst/>
              </a:prstGeom>
              <a:blipFill>
                <a:blip r:embed="rId27"/>
                <a:stretch>
                  <a:fillRect l="-11429" t="-25000" r="-8571"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510AF70-7550-7F4C-810C-9DC70CCE7AF2}"/>
                  </a:ext>
                </a:extLst>
              </p:cNvPr>
              <p:cNvSpPr txBox="1"/>
              <p:nvPr/>
            </p:nvSpPr>
            <p:spPr>
              <a:xfrm>
                <a:off x="5234340" y="2989224"/>
                <a:ext cx="1223922" cy="246221"/>
              </a:xfrm>
              <a:prstGeom prst="rect">
                <a:avLst/>
              </a:prstGeom>
              <a:noFill/>
            </p:spPr>
            <p:txBody>
              <a:bodyPr wrap="square" lIns="0" tIns="0" rIns="0" bIns="0" rtlCol="0" anchor="ctr" anchorCtr="0">
                <a:spAutoFit/>
              </a:bodyPr>
              <a:lstStyle/>
              <a:p>
                <a:pPr algn="ctr">
                  <a:defRPr/>
                </a:pPr>
                <a:r>
                  <a:rPr lang="en-GB" altLang="en-US" sz="1600" b="1" dirty="0"/>
                  <a:t>3375</a:t>
                </a:r>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14:m>
                  <m:oMath xmlns:m="http://schemas.openxmlformats.org/officeDocument/2006/math">
                    <m:r>
                      <a:rPr lang="en-GB" altLang="en-US" sz="1600" b="0" i="1" dirty="0" smtClean="0">
                        <a:latin typeface="Cambria Math" panose="02040503050406030204" pitchFamily="18" charset="0"/>
                      </a:rPr>
                      <m:t>𝑟</m:t>
                    </m:r>
                  </m:oMath>
                </a14:m>
                <a:r>
                  <a:rPr lang="en-GB" altLang="en-US" sz="1600" baseline="30000" dirty="0"/>
                  <a:t>3</a:t>
                </a:r>
                <a:r>
                  <a:rPr lang="en-GB" altLang="en-US" sz="1600" dirty="0"/>
                  <a:t> </a:t>
                </a:r>
              </a:p>
            </p:txBody>
          </p:sp>
        </mc:Choice>
        <mc:Fallback xmlns="">
          <p:sp>
            <p:nvSpPr>
              <p:cNvPr id="108" name="TextBox 107">
                <a:extLst>
                  <a:ext uri="{FF2B5EF4-FFF2-40B4-BE49-F238E27FC236}">
                    <a16:creationId xmlns:a16="http://schemas.microsoft.com/office/drawing/2014/main" id="{0510AF70-7550-7F4C-810C-9DC70CCE7AF2}"/>
                  </a:ext>
                </a:extLst>
              </p:cNvPr>
              <p:cNvSpPr txBox="1">
                <a:spLocks noRot="1" noChangeAspect="1" noMove="1" noResize="1" noEditPoints="1" noAdjustHandles="1" noChangeArrowheads="1" noChangeShapeType="1" noTextEdit="1"/>
              </p:cNvSpPr>
              <p:nvPr/>
            </p:nvSpPr>
            <p:spPr>
              <a:xfrm>
                <a:off x="5234340" y="2989224"/>
                <a:ext cx="1223922" cy="246221"/>
              </a:xfrm>
              <a:prstGeom prst="rect">
                <a:avLst/>
              </a:prstGeom>
              <a:blipFill>
                <a:blip r:embed="rId28"/>
                <a:stretch>
                  <a:fillRect t="-19048" b="-4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AC743B47-730B-A742-B566-95ACDB7E4769}"/>
                  </a:ext>
                </a:extLst>
              </p:cNvPr>
              <p:cNvSpPr txBox="1"/>
              <p:nvPr/>
            </p:nvSpPr>
            <p:spPr>
              <a:xfrm>
                <a:off x="6075345" y="3210100"/>
                <a:ext cx="428790" cy="280398"/>
              </a:xfrm>
              <a:prstGeom prst="rect">
                <a:avLst/>
              </a:prstGeom>
              <a:noFill/>
            </p:spPr>
            <p:txBody>
              <a:bodyPr wrap="square" lIns="0" tIns="0" rIns="0" bIns="0" rtlCol="0" anchor="ctr" anchorCtr="0">
                <a:spAutoFit/>
              </a:bodyPr>
              <a:lstStyle/>
              <a:p>
                <a:pPr>
                  <a:defRPr/>
                </a:pPr>
                <a14:m>
                  <m:oMathPara xmlns:m="http://schemas.openxmlformats.org/officeDocument/2006/math">
                    <m:oMathParaPr>
                      <m:jc m:val="left"/>
                    </m:oMathParaPr>
                    <m:oMath xmlns:m="http://schemas.openxmlformats.org/officeDocument/2006/math">
                      <m:rad>
                        <m:radPr>
                          <m:ctrlPr>
                            <a:rPr lang="en-GB" altLang="en-US" sz="1600" b="0" i="1" smtClean="0">
                              <a:solidFill>
                                <a:schemeClr val="accent6">
                                  <a:lumMod val="50000"/>
                                </a:schemeClr>
                              </a:solidFill>
                              <a:latin typeface="Cambria Math" panose="02040503050406030204" pitchFamily="18" charset="0"/>
                            </a:rPr>
                          </m:ctrlPr>
                        </m:radPr>
                        <m:deg>
                          <m:r>
                            <a:rPr lang="en-GB">
                              <a:solidFill>
                                <a:schemeClr val="accent6">
                                  <a:lumMod val="50000"/>
                                </a:schemeClr>
                              </a:solidFill>
                              <a:latin typeface="Cambria Math" panose="02040503050406030204" pitchFamily="18" charset="0"/>
                            </a:rPr>
                            <m:t>3</m:t>
                          </m:r>
                        </m:deg>
                        <m:e>
                          <m:r>
                            <a:rPr lang="en-GB" b="0" i="1" smtClean="0">
                              <a:solidFill>
                                <a:schemeClr val="accent6">
                                  <a:lumMod val="50000"/>
                                </a:schemeClr>
                              </a:solidFill>
                              <a:latin typeface="Cambria Math" panose="02040503050406030204" pitchFamily="18" charset="0"/>
                            </a:rPr>
                            <m:t>   </m:t>
                          </m:r>
                        </m:e>
                      </m:rad>
                    </m:oMath>
                  </m:oMathPara>
                </a14:m>
                <a:endParaRPr lang="en-GB" altLang="en-US" sz="1600" dirty="0">
                  <a:solidFill>
                    <a:schemeClr val="accent6">
                      <a:lumMod val="50000"/>
                    </a:schemeClr>
                  </a:solidFill>
                </a:endParaRPr>
              </a:p>
            </p:txBody>
          </p:sp>
        </mc:Choice>
        <mc:Fallback xmlns="">
          <p:sp>
            <p:nvSpPr>
              <p:cNvPr id="109" name="TextBox 108">
                <a:extLst>
                  <a:ext uri="{FF2B5EF4-FFF2-40B4-BE49-F238E27FC236}">
                    <a16:creationId xmlns:a16="http://schemas.microsoft.com/office/drawing/2014/main" id="{AC743B47-730B-A742-B566-95ACDB7E4769}"/>
                  </a:ext>
                </a:extLst>
              </p:cNvPr>
              <p:cNvSpPr txBox="1">
                <a:spLocks noRot="1" noChangeAspect="1" noMove="1" noResize="1" noEditPoints="1" noAdjustHandles="1" noChangeArrowheads="1" noChangeShapeType="1" noTextEdit="1"/>
              </p:cNvSpPr>
              <p:nvPr/>
            </p:nvSpPr>
            <p:spPr>
              <a:xfrm>
                <a:off x="6075345" y="3210100"/>
                <a:ext cx="428790" cy="280398"/>
              </a:xfrm>
              <a:prstGeom prst="rect">
                <a:avLst/>
              </a:prstGeom>
              <a:blipFill>
                <a:blip r:embed="rId29"/>
                <a:stretch>
                  <a:fillRect l="-2857"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636C0DB6-10FE-3E42-8DF0-0596385344CF}"/>
                  </a:ext>
                </a:extLst>
              </p:cNvPr>
              <p:cNvSpPr txBox="1"/>
              <p:nvPr/>
            </p:nvSpPr>
            <p:spPr>
              <a:xfrm>
                <a:off x="5409748" y="3192564"/>
                <a:ext cx="428790" cy="315471"/>
              </a:xfrm>
              <a:prstGeom prst="rect">
                <a:avLst/>
              </a:prstGeom>
              <a:noFill/>
            </p:spPr>
            <p:txBody>
              <a:bodyPr wrap="square" lIns="0" tIns="0" rIns="0" bIns="0" rtlCol="0" anchor="ctr" anchorCtr="0">
                <a:spAutoFit/>
              </a:bodyPr>
              <a:lstStyle/>
              <a:p>
                <a:pPr>
                  <a:defRPr/>
                </a:pPr>
                <a14:m>
                  <m:oMathPara xmlns:m="http://schemas.openxmlformats.org/officeDocument/2006/math">
                    <m:oMathParaPr>
                      <m:jc m:val="right"/>
                    </m:oMathParaPr>
                    <m:oMath xmlns:m="http://schemas.openxmlformats.org/officeDocument/2006/math">
                      <m:rad>
                        <m:radPr>
                          <m:ctrlPr>
                            <a:rPr lang="en-GB" altLang="en-US" sz="1800" i="1">
                              <a:solidFill>
                                <a:schemeClr val="accent6">
                                  <a:lumMod val="50000"/>
                                </a:schemeClr>
                              </a:solidFill>
                              <a:latin typeface="Cambria Math" panose="02040503050406030204" pitchFamily="18" charset="0"/>
                            </a:rPr>
                          </m:ctrlPr>
                        </m:radPr>
                        <m:deg>
                          <m:r>
                            <a:rPr lang="en-GB" sz="1600">
                              <a:solidFill>
                                <a:schemeClr val="accent6">
                                  <a:lumMod val="50000"/>
                                </a:schemeClr>
                              </a:solidFill>
                              <a:latin typeface="Cambria Math" panose="02040503050406030204" pitchFamily="18" charset="0"/>
                            </a:rPr>
                            <m:t>3</m:t>
                          </m:r>
                        </m:deg>
                        <m:e>
                          <m:r>
                            <a:rPr lang="en-GB" sz="1600" i="1">
                              <a:solidFill>
                                <a:schemeClr val="accent6">
                                  <a:lumMod val="50000"/>
                                </a:schemeClr>
                              </a:solidFill>
                              <a:latin typeface="Cambria Math" panose="02040503050406030204" pitchFamily="18" charset="0"/>
                            </a:rPr>
                            <m:t>   </m:t>
                          </m:r>
                        </m:e>
                      </m:rad>
                    </m:oMath>
                  </m:oMathPara>
                </a14:m>
                <a:endParaRPr lang="en-GB" altLang="en-US" sz="1800" dirty="0">
                  <a:solidFill>
                    <a:schemeClr val="accent6">
                      <a:lumMod val="50000"/>
                    </a:schemeClr>
                  </a:solidFill>
                </a:endParaRPr>
              </a:p>
            </p:txBody>
          </p:sp>
        </mc:Choice>
        <mc:Fallback xmlns="">
          <p:sp>
            <p:nvSpPr>
              <p:cNvPr id="110" name="TextBox 109">
                <a:extLst>
                  <a:ext uri="{FF2B5EF4-FFF2-40B4-BE49-F238E27FC236}">
                    <a16:creationId xmlns:a16="http://schemas.microsoft.com/office/drawing/2014/main" id="{636C0DB6-10FE-3E42-8DF0-0596385344CF}"/>
                  </a:ext>
                </a:extLst>
              </p:cNvPr>
              <p:cNvSpPr txBox="1">
                <a:spLocks noRot="1" noChangeAspect="1" noMove="1" noResize="1" noEditPoints="1" noAdjustHandles="1" noChangeArrowheads="1" noChangeShapeType="1" noTextEdit="1"/>
              </p:cNvSpPr>
              <p:nvPr/>
            </p:nvSpPr>
            <p:spPr>
              <a:xfrm>
                <a:off x="5409748" y="3192564"/>
                <a:ext cx="428790" cy="315471"/>
              </a:xfrm>
              <a:prstGeom prst="rect">
                <a:avLst/>
              </a:prstGeom>
              <a:blipFill>
                <a:blip r:embed="rId30"/>
                <a:stretch>
                  <a:fillRect r="-22857" b="-153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3C36514B-DA4F-4F40-8FA5-74F214575106}"/>
                  </a:ext>
                </a:extLst>
              </p:cNvPr>
              <p:cNvSpPr txBox="1"/>
              <p:nvPr/>
            </p:nvSpPr>
            <p:spPr>
              <a:xfrm>
                <a:off x="5304196" y="3529842"/>
                <a:ext cx="1223922" cy="246221"/>
              </a:xfrm>
              <a:prstGeom prst="rect">
                <a:avLst/>
              </a:prstGeom>
              <a:noFill/>
            </p:spPr>
            <p:txBody>
              <a:bodyPr wrap="square" lIns="0" tIns="0" rIns="0" bIns="0" rtlCol="0" anchor="ctr" anchorCtr="0">
                <a:spAutoFit/>
              </a:bodyPr>
              <a:lstStyle/>
              <a:p>
                <a:pPr algn="ctr">
                  <a:defRPr/>
                </a:pPr>
                <a:r>
                  <a:rPr lang="en-GB" altLang="en-US" sz="1600" b="1" dirty="0"/>
                  <a:t>15</a:t>
                </a:r>
                <a:r>
                  <a:rPr lang="en-GB" altLang="en-US" sz="1600" b="0" dirty="0"/>
                  <a:t> </a:t>
                </a:r>
                <a14:m>
                  <m:oMath xmlns:m="http://schemas.openxmlformats.org/officeDocument/2006/math">
                    <m:r>
                      <a:rPr lang="en-GB" altLang="en-US" sz="1600" b="0" i="1" smtClean="0">
                        <a:latin typeface="Cambria Math" panose="02040503050406030204" pitchFamily="18" charset="0"/>
                      </a:rPr>
                      <m:t>=</m:t>
                    </m:r>
                  </m:oMath>
                </a14:m>
                <a:r>
                  <a:rPr lang="en-GB" altLang="en-US" sz="1600" b="1" dirty="0"/>
                  <a:t> </a:t>
                </a:r>
                <a14:m>
                  <m:oMath xmlns:m="http://schemas.openxmlformats.org/officeDocument/2006/math">
                    <m:r>
                      <a:rPr lang="en-GB" altLang="en-US" sz="1600" b="0" i="1" dirty="0" smtClean="0">
                        <a:latin typeface="Cambria Math" panose="02040503050406030204" pitchFamily="18" charset="0"/>
                      </a:rPr>
                      <m:t>𝑟</m:t>
                    </m:r>
                  </m:oMath>
                </a14:m>
                <a:r>
                  <a:rPr lang="en-GB" altLang="en-US" sz="1600" dirty="0"/>
                  <a:t> </a:t>
                </a:r>
              </a:p>
            </p:txBody>
          </p:sp>
        </mc:Choice>
        <mc:Fallback xmlns="">
          <p:sp>
            <p:nvSpPr>
              <p:cNvPr id="111" name="TextBox 110">
                <a:extLst>
                  <a:ext uri="{FF2B5EF4-FFF2-40B4-BE49-F238E27FC236}">
                    <a16:creationId xmlns:a16="http://schemas.microsoft.com/office/drawing/2014/main" id="{3C36514B-DA4F-4F40-8FA5-74F214575106}"/>
                  </a:ext>
                </a:extLst>
              </p:cNvPr>
              <p:cNvSpPr txBox="1">
                <a:spLocks noRot="1" noChangeAspect="1" noMove="1" noResize="1" noEditPoints="1" noAdjustHandles="1" noChangeArrowheads="1" noChangeShapeType="1" noTextEdit="1"/>
              </p:cNvSpPr>
              <p:nvPr/>
            </p:nvSpPr>
            <p:spPr>
              <a:xfrm>
                <a:off x="5304196" y="3529842"/>
                <a:ext cx="1223922" cy="246221"/>
              </a:xfrm>
              <a:prstGeom prst="rect">
                <a:avLst/>
              </a:prstGeom>
              <a:blipFill>
                <a:blip r:embed="rId31"/>
                <a:stretch>
                  <a:fillRect t="-20000" b="-45000"/>
                </a:stretch>
              </a:blipFill>
            </p:spPr>
            <p:txBody>
              <a:bodyPr/>
              <a:lstStyle/>
              <a:p>
                <a:r>
                  <a:rPr lang="en-GB">
                    <a:noFill/>
                  </a:rPr>
                  <a:t> </a:t>
                </a:r>
              </a:p>
            </p:txBody>
          </p:sp>
        </mc:Fallback>
      </mc:AlternateContent>
    </p:spTree>
    <p:extLst>
      <p:ext uri="{BB962C8B-B14F-4D97-AF65-F5344CB8AC3E}">
        <p14:creationId xmlns:p14="http://schemas.microsoft.com/office/powerpoint/2010/main" val="44297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44444E-6 -2.22222E-6 L 0.12761 -2.22222E-6 " pathEditMode="relative" rAng="0" ptsTypes="AA">
                                      <p:cBhvr>
                                        <p:cTn id="6" dur="1000" fill="hold"/>
                                        <p:tgtEl>
                                          <p:spTgt spid="3"/>
                                        </p:tgtEl>
                                        <p:attrNameLst>
                                          <p:attrName>ppt_x</p:attrName>
                                          <p:attrName>ppt_y</p:attrName>
                                        </p:attrNameLst>
                                      </p:cBhvr>
                                      <p:rCtr x="6372" y="0"/>
                                    </p:animMotion>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dissolve">
                                      <p:cBhvr>
                                        <p:cTn id="11" dur="500"/>
                                        <p:tgtEl>
                                          <p:spTgt spid="5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dissolve">
                                      <p:cBhvr>
                                        <p:cTn id="16" dur="500"/>
                                        <p:tgtEl>
                                          <p:spTgt spid="6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wipe(up)">
                                      <p:cBhvr>
                                        <p:cTn id="21" dur="500"/>
                                        <p:tgtEl>
                                          <p:spTgt spid="61"/>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dissolve">
                                      <p:cBhvr>
                                        <p:cTn id="26" dur="500"/>
                                        <p:tgtEl>
                                          <p:spTgt spid="63"/>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dissolve">
                                      <p:cBhvr>
                                        <p:cTn id="29" dur="500"/>
                                        <p:tgtEl>
                                          <p:spTgt spid="6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dissolve">
                                      <p:cBhvr>
                                        <p:cTn id="34" dur="500"/>
                                        <p:tgtEl>
                                          <p:spTgt spid="6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dissolve">
                                      <p:cBhvr>
                                        <p:cTn id="39" dur="500"/>
                                        <p:tgtEl>
                                          <p:spTgt spid="66"/>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dissolve">
                                      <p:cBhvr>
                                        <p:cTn id="42" dur="500"/>
                                        <p:tgtEl>
                                          <p:spTgt spid="6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dissolve">
                                      <p:cBhvr>
                                        <p:cTn id="47" dur="5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dissolve">
                                      <p:cBhvr>
                                        <p:cTn id="52" dur="500"/>
                                        <p:tgtEl>
                                          <p:spTgt spid="71"/>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8"/>
                                        </p:tgtEl>
                                        <p:attrNameLst>
                                          <p:attrName>style.visibility</p:attrName>
                                        </p:attrNameLst>
                                      </p:cBhvr>
                                      <p:to>
                                        <p:strVal val="visible"/>
                                      </p:to>
                                    </p:set>
                                    <p:animEffect transition="in" filter="dissolve">
                                      <p:cBhvr>
                                        <p:cTn id="55" dur="500"/>
                                        <p:tgtEl>
                                          <p:spTgt spid="68"/>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72"/>
                                        </p:tgtEl>
                                        <p:attrNameLst>
                                          <p:attrName>style.visibility</p:attrName>
                                        </p:attrNameLst>
                                      </p:cBhvr>
                                      <p:to>
                                        <p:strVal val="visible"/>
                                      </p:to>
                                    </p:set>
                                    <p:animEffect transition="in" filter="dissolve">
                                      <p:cBhvr>
                                        <p:cTn id="60" dur="500"/>
                                        <p:tgtEl>
                                          <p:spTgt spid="72"/>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dissolve">
                                      <p:cBhvr>
                                        <p:cTn id="65" dur="500"/>
                                        <p:tgtEl>
                                          <p:spTgt spid="5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wipe(up)">
                                      <p:cBhvr>
                                        <p:cTn id="70" dur="500"/>
                                        <p:tgtEl>
                                          <p:spTgt spid="7"/>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dissolve">
                                      <p:cBhvr>
                                        <p:cTn id="73" dur="500"/>
                                        <p:tgtEl>
                                          <p:spTgt spid="41"/>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dissolve">
                                      <p:cBhvr>
                                        <p:cTn id="76" dur="500"/>
                                        <p:tgtEl>
                                          <p:spTgt spid="42"/>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dissolve">
                                      <p:cBhvr>
                                        <p:cTn id="79" dur="500"/>
                                        <p:tgtEl>
                                          <p:spTgt spid="16"/>
                                        </p:tgtEl>
                                      </p:cBhvr>
                                    </p:animEffect>
                                  </p:childTnLst>
                                </p:cTn>
                              </p:par>
                              <p:par>
                                <p:cTn id="80" presetID="9" presetClass="entr" presetSubtype="0" fill="hold" nodeType="withEffect">
                                  <p:stCondLst>
                                    <p:cond delay="0"/>
                                  </p:stCondLst>
                                  <p:childTnLst>
                                    <p:set>
                                      <p:cBhvr>
                                        <p:cTn id="81" dur="1" fill="hold">
                                          <p:stCondLst>
                                            <p:cond delay="0"/>
                                          </p:stCondLst>
                                        </p:cTn>
                                        <p:tgtEl>
                                          <p:spTgt spid="92"/>
                                        </p:tgtEl>
                                        <p:attrNameLst>
                                          <p:attrName>style.visibility</p:attrName>
                                        </p:attrNameLst>
                                      </p:cBhvr>
                                      <p:to>
                                        <p:strVal val="visible"/>
                                      </p:to>
                                    </p:set>
                                    <p:animEffect transition="in" filter="dissolve">
                                      <p:cBhvr>
                                        <p:cTn id="82" dur="500"/>
                                        <p:tgtEl>
                                          <p:spTgt spid="92"/>
                                        </p:tgtEl>
                                      </p:cBhvr>
                                    </p:animEffect>
                                  </p:childTnLst>
                                </p:cTn>
                              </p:par>
                            </p:childTnLst>
                          </p:cTn>
                        </p:par>
                      </p:childTnLst>
                    </p:cTn>
                  </p:par>
                  <p:par>
                    <p:cTn id="83" fill="hold">
                      <p:stCondLst>
                        <p:cond delay="indefinite"/>
                      </p:stCondLst>
                      <p:childTnLst>
                        <p:par>
                          <p:cTn id="84" fill="hold">
                            <p:stCondLst>
                              <p:cond delay="0"/>
                            </p:stCondLst>
                            <p:childTnLst>
                              <p:par>
                                <p:cTn id="85" presetID="42" presetClass="path" presetSubtype="0" accel="50000" decel="50000" fill="hold" nodeType="clickEffect">
                                  <p:stCondLst>
                                    <p:cond delay="0"/>
                                  </p:stCondLst>
                                  <p:childTnLst>
                                    <p:animMotion origin="layout" path="M -2.22222E-6 -2.22222E-6 L 0.12761 -2.22222E-6 " pathEditMode="relative" rAng="0" ptsTypes="AA">
                                      <p:cBhvr>
                                        <p:cTn id="86" dur="1000" fill="hold"/>
                                        <p:tgtEl>
                                          <p:spTgt spid="92"/>
                                        </p:tgtEl>
                                        <p:attrNameLst>
                                          <p:attrName>ppt_x</p:attrName>
                                          <p:attrName>ppt_y</p:attrName>
                                        </p:attrNameLst>
                                      </p:cBhvr>
                                      <p:rCtr x="6372" y="0"/>
                                    </p:animMotion>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100"/>
                                        </p:tgtEl>
                                        <p:attrNameLst>
                                          <p:attrName>style.visibility</p:attrName>
                                        </p:attrNameLst>
                                      </p:cBhvr>
                                      <p:to>
                                        <p:strVal val="visible"/>
                                      </p:to>
                                    </p:set>
                                    <p:animEffect transition="in" filter="dissolve">
                                      <p:cBhvr>
                                        <p:cTn id="91" dur="500"/>
                                        <p:tgtEl>
                                          <p:spTgt spid="100"/>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101"/>
                                        </p:tgtEl>
                                        <p:attrNameLst>
                                          <p:attrName>style.visibility</p:attrName>
                                        </p:attrNameLst>
                                      </p:cBhvr>
                                      <p:to>
                                        <p:strVal val="visible"/>
                                      </p:to>
                                    </p:set>
                                    <p:animEffect transition="in" filter="dissolve">
                                      <p:cBhvr>
                                        <p:cTn id="96" dur="500"/>
                                        <p:tgtEl>
                                          <p:spTgt spid="10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102"/>
                                        </p:tgtEl>
                                        <p:attrNameLst>
                                          <p:attrName>style.visibility</p:attrName>
                                        </p:attrNameLst>
                                      </p:cBhvr>
                                      <p:to>
                                        <p:strVal val="visible"/>
                                      </p:to>
                                    </p:set>
                                    <p:animEffect transition="in" filter="wipe(up)">
                                      <p:cBhvr>
                                        <p:cTn id="101" dur="500"/>
                                        <p:tgtEl>
                                          <p:spTgt spid="102"/>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grpId="0" nodeType="clickEffect">
                                  <p:stCondLst>
                                    <p:cond delay="0"/>
                                  </p:stCondLst>
                                  <p:childTnLst>
                                    <p:set>
                                      <p:cBhvr>
                                        <p:cTn id="105" dur="1" fill="hold">
                                          <p:stCondLst>
                                            <p:cond delay="0"/>
                                          </p:stCondLst>
                                        </p:cTn>
                                        <p:tgtEl>
                                          <p:spTgt spid="104"/>
                                        </p:tgtEl>
                                        <p:attrNameLst>
                                          <p:attrName>style.visibility</p:attrName>
                                        </p:attrNameLst>
                                      </p:cBhvr>
                                      <p:to>
                                        <p:strVal val="visible"/>
                                      </p:to>
                                    </p:set>
                                    <p:animEffect transition="in" filter="dissolve">
                                      <p:cBhvr>
                                        <p:cTn id="106" dur="500"/>
                                        <p:tgtEl>
                                          <p:spTgt spid="104"/>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103"/>
                                        </p:tgtEl>
                                        <p:attrNameLst>
                                          <p:attrName>style.visibility</p:attrName>
                                        </p:attrNameLst>
                                      </p:cBhvr>
                                      <p:to>
                                        <p:strVal val="visible"/>
                                      </p:to>
                                    </p:set>
                                    <p:animEffect transition="in" filter="dissolve">
                                      <p:cBhvr>
                                        <p:cTn id="109" dur="500"/>
                                        <p:tgtEl>
                                          <p:spTgt spid="103"/>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105"/>
                                        </p:tgtEl>
                                        <p:attrNameLst>
                                          <p:attrName>style.visibility</p:attrName>
                                        </p:attrNameLst>
                                      </p:cBhvr>
                                      <p:to>
                                        <p:strVal val="visible"/>
                                      </p:to>
                                    </p:set>
                                    <p:animEffect transition="in" filter="dissolve">
                                      <p:cBhvr>
                                        <p:cTn id="114" dur="500"/>
                                        <p:tgtEl>
                                          <p:spTgt spid="105"/>
                                        </p:tgtEl>
                                      </p:cBhvr>
                                    </p:animEffect>
                                  </p:childTnLst>
                                </p:cTn>
                              </p:par>
                            </p:childTnLst>
                          </p:cTn>
                        </p:par>
                      </p:childTnLst>
                    </p:cTn>
                  </p:par>
                  <p:par>
                    <p:cTn id="115" fill="hold">
                      <p:stCondLst>
                        <p:cond delay="indefinite"/>
                      </p:stCondLst>
                      <p:childTnLst>
                        <p:par>
                          <p:cTn id="116" fill="hold">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107"/>
                                        </p:tgtEl>
                                        <p:attrNameLst>
                                          <p:attrName>style.visibility</p:attrName>
                                        </p:attrNameLst>
                                      </p:cBhvr>
                                      <p:to>
                                        <p:strVal val="visible"/>
                                      </p:to>
                                    </p:set>
                                    <p:animEffect transition="in" filter="dissolve">
                                      <p:cBhvr>
                                        <p:cTn id="119" dur="500"/>
                                        <p:tgtEl>
                                          <p:spTgt spid="107"/>
                                        </p:tgtEl>
                                      </p:cBhvr>
                                    </p:animEffect>
                                  </p:childTnLst>
                                </p:cTn>
                              </p:par>
                              <p:par>
                                <p:cTn id="120" presetID="9" presetClass="entr" presetSubtype="0" fill="hold" grpId="0" nodeType="withEffect">
                                  <p:stCondLst>
                                    <p:cond delay="0"/>
                                  </p:stCondLst>
                                  <p:childTnLst>
                                    <p:set>
                                      <p:cBhvr>
                                        <p:cTn id="121" dur="1" fill="hold">
                                          <p:stCondLst>
                                            <p:cond delay="0"/>
                                          </p:stCondLst>
                                        </p:cTn>
                                        <p:tgtEl>
                                          <p:spTgt spid="106"/>
                                        </p:tgtEl>
                                        <p:attrNameLst>
                                          <p:attrName>style.visibility</p:attrName>
                                        </p:attrNameLst>
                                      </p:cBhvr>
                                      <p:to>
                                        <p:strVal val="visible"/>
                                      </p:to>
                                    </p:set>
                                    <p:animEffect transition="in" filter="dissolve">
                                      <p:cBhvr>
                                        <p:cTn id="122" dur="500"/>
                                        <p:tgtEl>
                                          <p:spTgt spid="106"/>
                                        </p:tgtEl>
                                      </p:cBhvr>
                                    </p:animEffect>
                                  </p:childTnLst>
                                </p:cTn>
                              </p:par>
                            </p:childTnLst>
                          </p:cTn>
                        </p:par>
                      </p:childTnLst>
                    </p:cTn>
                  </p:par>
                  <p:par>
                    <p:cTn id="123" fill="hold">
                      <p:stCondLst>
                        <p:cond delay="indefinite"/>
                      </p:stCondLst>
                      <p:childTnLst>
                        <p:par>
                          <p:cTn id="124" fill="hold">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108"/>
                                        </p:tgtEl>
                                        <p:attrNameLst>
                                          <p:attrName>style.visibility</p:attrName>
                                        </p:attrNameLst>
                                      </p:cBhvr>
                                      <p:to>
                                        <p:strVal val="visible"/>
                                      </p:to>
                                    </p:set>
                                    <p:animEffect transition="in" filter="dissolve">
                                      <p:cBhvr>
                                        <p:cTn id="127" dur="500"/>
                                        <p:tgtEl>
                                          <p:spTgt spid="108"/>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grpId="0" nodeType="clickEffect">
                                  <p:stCondLst>
                                    <p:cond delay="0"/>
                                  </p:stCondLst>
                                  <p:childTnLst>
                                    <p:set>
                                      <p:cBhvr>
                                        <p:cTn id="131" dur="1" fill="hold">
                                          <p:stCondLst>
                                            <p:cond delay="0"/>
                                          </p:stCondLst>
                                        </p:cTn>
                                        <p:tgtEl>
                                          <p:spTgt spid="110"/>
                                        </p:tgtEl>
                                        <p:attrNameLst>
                                          <p:attrName>style.visibility</p:attrName>
                                        </p:attrNameLst>
                                      </p:cBhvr>
                                      <p:to>
                                        <p:strVal val="visible"/>
                                      </p:to>
                                    </p:set>
                                    <p:animEffect transition="in" filter="dissolve">
                                      <p:cBhvr>
                                        <p:cTn id="132" dur="500"/>
                                        <p:tgtEl>
                                          <p:spTgt spid="110"/>
                                        </p:tgtEl>
                                      </p:cBhvr>
                                    </p:animEffect>
                                  </p:childTnLst>
                                </p:cTn>
                              </p:par>
                              <p:par>
                                <p:cTn id="133" presetID="9" presetClass="entr" presetSubtype="0" fill="hold" grpId="0" nodeType="withEffect">
                                  <p:stCondLst>
                                    <p:cond delay="0"/>
                                  </p:stCondLst>
                                  <p:childTnLst>
                                    <p:set>
                                      <p:cBhvr>
                                        <p:cTn id="134" dur="1" fill="hold">
                                          <p:stCondLst>
                                            <p:cond delay="0"/>
                                          </p:stCondLst>
                                        </p:cTn>
                                        <p:tgtEl>
                                          <p:spTgt spid="109"/>
                                        </p:tgtEl>
                                        <p:attrNameLst>
                                          <p:attrName>style.visibility</p:attrName>
                                        </p:attrNameLst>
                                      </p:cBhvr>
                                      <p:to>
                                        <p:strVal val="visible"/>
                                      </p:to>
                                    </p:set>
                                    <p:animEffect transition="in" filter="dissolve">
                                      <p:cBhvr>
                                        <p:cTn id="135" dur="500"/>
                                        <p:tgtEl>
                                          <p:spTgt spid="109"/>
                                        </p:tgtEl>
                                      </p:cBhvr>
                                    </p:animEffec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grpId="0" nodeType="clickEffect">
                                  <p:stCondLst>
                                    <p:cond delay="0"/>
                                  </p:stCondLst>
                                  <p:childTnLst>
                                    <p:set>
                                      <p:cBhvr>
                                        <p:cTn id="139" dur="1" fill="hold">
                                          <p:stCondLst>
                                            <p:cond delay="0"/>
                                          </p:stCondLst>
                                        </p:cTn>
                                        <p:tgtEl>
                                          <p:spTgt spid="111"/>
                                        </p:tgtEl>
                                        <p:attrNameLst>
                                          <p:attrName>style.visibility</p:attrName>
                                        </p:attrNameLst>
                                      </p:cBhvr>
                                      <p:to>
                                        <p:strVal val="visible"/>
                                      </p:to>
                                    </p:set>
                                    <p:animEffect transition="in" filter="dissolve">
                                      <p:cBhvr>
                                        <p:cTn id="140" dur="500"/>
                                        <p:tgtEl>
                                          <p:spTgt spid="111"/>
                                        </p:tgtEl>
                                      </p:cBhvr>
                                    </p:animEffec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grpId="0" nodeType="clickEffect">
                                  <p:stCondLst>
                                    <p:cond delay="0"/>
                                  </p:stCondLst>
                                  <p:childTnLst>
                                    <p:set>
                                      <p:cBhvr>
                                        <p:cTn id="144" dur="1" fill="hold">
                                          <p:stCondLst>
                                            <p:cond delay="0"/>
                                          </p:stCondLst>
                                        </p:cTn>
                                        <p:tgtEl>
                                          <p:spTgt spid="99"/>
                                        </p:tgtEl>
                                        <p:attrNameLst>
                                          <p:attrName>style.visibility</p:attrName>
                                        </p:attrNameLst>
                                      </p:cBhvr>
                                      <p:to>
                                        <p:strVal val="visible"/>
                                      </p:to>
                                    </p:set>
                                    <p:animEffect transition="in" filter="dissolve">
                                      <p:cBhvr>
                                        <p:cTn id="145"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6" grpId="0" animBg="1"/>
      <p:bldP spid="42" grpId="0"/>
      <p:bldP spid="54" grpId="0" animBg="1"/>
      <p:bldP spid="59" grpId="0"/>
      <p:bldP spid="60" grpId="0"/>
      <p:bldP spid="62" grpId="0"/>
      <p:bldP spid="63" grpId="0"/>
      <p:bldP spid="64" grpId="0"/>
      <p:bldP spid="65" grpId="0"/>
      <p:bldP spid="66" grpId="0"/>
      <p:bldP spid="67" grpId="0"/>
      <p:bldP spid="68" grpId="0"/>
      <p:bldP spid="71" grpId="0"/>
      <p:bldP spid="72" grpId="0"/>
      <p:bldP spid="99" grpId="0" animBg="1"/>
      <p:bldP spid="100" grpId="0"/>
      <p:bldP spid="101" grpId="0"/>
      <p:bldP spid="103" grpId="0"/>
      <p:bldP spid="104" grpId="0"/>
      <p:bldP spid="105" grpId="0"/>
      <p:bldP spid="106" grpId="0"/>
      <p:bldP spid="107" grpId="0"/>
      <p:bldP spid="108" grpId="0"/>
      <p:bldP spid="109" grpId="0"/>
      <p:bldP spid="110" grpId="0"/>
      <p:bldP spid="1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76">
            <a:extLst>
              <a:ext uri="{FF2B5EF4-FFF2-40B4-BE49-F238E27FC236}">
                <a16:creationId xmlns:a16="http://schemas.microsoft.com/office/drawing/2014/main" id="{CFB31FD0-BC70-DB48-9695-5F56D4BD31DD}"/>
              </a:ext>
            </a:extLst>
          </p:cNvPr>
          <p:cNvSpPr txBox="1"/>
          <p:nvPr/>
        </p:nvSpPr>
        <p:spPr>
          <a:xfrm>
            <a:off x="53020" y="954671"/>
            <a:ext cx="513302" cy="276999"/>
          </a:xfrm>
          <a:prstGeom prst="rect">
            <a:avLst/>
          </a:prstGeom>
          <a:noFill/>
        </p:spPr>
        <p:txBody>
          <a:bodyPr wrap="square" lIns="36000" tIns="0" rIns="0" bIns="0" rtlCol="0">
            <a:spAutoFit/>
          </a:bodyPr>
          <a:lstStyle/>
          <a:p>
            <a:r>
              <a:rPr lang="en-GB" sz="1800" b="1" dirty="0"/>
              <a:t>Q6</a:t>
            </a:r>
          </a:p>
        </p:txBody>
      </p:sp>
      <p:sp>
        <p:nvSpPr>
          <p:cNvPr id="84" name="TextBox 83">
            <a:extLst>
              <a:ext uri="{FF2B5EF4-FFF2-40B4-BE49-F238E27FC236}">
                <a16:creationId xmlns:a16="http://schemas.microsoft.com/office/drawing/2014/main" id="{9D50AD35-6889-304A-A3DE-09E64F5D940F}"/>
              </a:ext>
            </a:extLst>
          </p:cNvPr>
          <p:cNvSpPr txBox="1"/>
          <p:nvPr/>
        </p:nvSpPr>
        <p:spPr>
          <a:xfrm>
            <a:off x="460173" y="954671"/>
            <a:ext cx="3871075" cy="553998"/>
          </a:xfrm>
          <a:prstGeom prst="rect">
            <a:avLst/>
          </a:prstGeom>
          <a:noFill/>
        </p:spPr>
        <p:txBody>
          <a:bodyPr wrap="square" lIns="36000" tIns="0" rIns="0" bIns="0" rtlCol="0">
            <a:spAutoFit/>
          </a:bodyPr>
          <a:lstStyle/>
          <a:p>
            <a:pPr>
              <a:defRPr/>
            </a:pPr>
            <a:r>
              <a:rPr lang="en-GB" altLang="en-US" sz="1800" dirty="0"/>
              <a:t>Work out the radius of the following spheres given their volume.</a:t>
            </a:r>
            <a:endParaRPr lang="en-GB" altLang="en-US" sz="1800" baseline="30000" dirty="0"/>
          </a:p>
        </p:txBody>
      </p:sp>
      <p:cxnSp>
        <p:nvCxnSpPr>
          <p:cNvPr id="85" name="Straight Connector 84">
            <a:extLst>
              <a:ext uri="{FF2B5EF4-FFF2-40B4-BE49-F238E27FC236}">
                <a16:creationId xmlns:a16="http://schemas.microsoft.com/office/drawing/2014/main" id="{927E555C-8DB1-2246-9949-773D52CBBBAB}"/>
              </a:ext>
            </a:extLst>
          </p:cNvPr>
          <p:cNvCxnSpPr>
            <a:cxnSpLocks/>
          </p:cNvCxnSpPr>
          <p:nvPr/>
        </p:nvCxnSpPr>
        <p:spPr>
          <a:xfrm>
            <a:off x="2286000" y="1581255"/>
            <a:ext cx="0" cy="29228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B409D43-0E3B-FF4E-B6E4-3FF731E93137}"/>
              </a:ext>
            </a:extLst>
          </p:cNvPr>
          <p:cNvCxnSpPr>
            <a:cxnSpLocks/>
          </p:cNvCxnSpPr>
          <p:nvPr/>
        </p:nvCxnSpPr>
        <p:spPr>
          <a:xfrm flipH="1">
            <a:off x="0" y="1583165"/>
            <a:ext cx="45781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D6A0F744-0014-CA41-B494-CC7729E8A5AF}"/>
              </a:ext>
            </a:extLst>
          </p:cNvPr>
          <p:cNvSpPr txBox="1"/>
          <p:nvPr/>
        </p:nvSpPr>
        <p:spPr>
          <a:xfrm>
            <a:off x="11769" y="1608773"/>
            <a:ext cx="513302" cy="246221"/>
          </a:xfrm>
          <a:prstGeom prst="rect">
            <a:avLst/>
          </a:prstGeom>
          <a:noFill/>
        </p:spPr>
        <p:txBody>
          <a:bodyPr wrap="square" lIns="36000" tIns="0" rIns="0" bIns="0" rtlCol="0">
            <a:spAutoFit/>
          </a:bodyPr>
          <a:lstStyle/>
          <a:p>
            <a:r>
              <a:rPr lang="en-GB" sz="1600" b="1" dirty="0"/>
              <a:t>[a]</a:t>
            </a:r>
          </a:p>
        </p:txBody>
      </p:sp>
      <p:sp>
        <p:nvSpPr>
          <p:cNvPr id="90" name="TextBox 89">
            <a:extLst>
              <a:ext uri="{FF2B5EF4-FFF2-40B4-BE49-F238E27FC236}">
                <a16:creationId xmlns:a16="http://schemas.microsoft.com/office/drawing/2014/main" id="{C8CF769B-EFE4-2F49-BCCF-C78578E966DD}"/>
              </a:ext>
            </a:extLst>
          </p:cNvPr>
          <p:cNvSpPr txBox="1"/>
          <p:nvPr/>
        </p:nvSpPr>
        <p:spPr>
          <a:xfrm>
            <a:off x="2301836" y="1608773"/>
            <a:ext cx="513302" cy="246221"/>
          </a:xfrm>
          <a:prstGeom prst="rect">
            <a:avLst/>
          </a:prstGeom>
          <a:noFill/>
        </p:spPr>
        <p:txBody>
          <a:bodyPr wrap="square" lIns="36000" tIns="0" rIns="0" bIns="0" rtlCol="0">
            <a:spAutoFit/>
          </a:bodyPr>
          <a:lstStyle/>
          <a:p>
            <a:r>
              <a:rPr lang="en-GB" sz="1600" b="1" dirty="0"/>
              <a:t>[b]</a:t>
            </a:r>
          </a:p>
        </p:txBody>
      </p:sp>
      <p:sp>
        <p:nvSpPr>
          <p:cNvPr id="111" name="TextBox 110">
            <a:extLst>
              <a:ext uri="{FF2B5EF4-FFF2-40B4-BE49-F238E27FC236}">
                <a16:creationId xmlns:a16="http://schemas.microsoft.com/office/drawing/2014/main" id="{99375456-BC56-9E4C-B816-A89ED6C219C3}"/>
              </a:ext>
            </a:extLst>
          </p:cNvPr>
          <p:cNvSpPr txBox="1"/>
          <p:nvPr/>
        </p:nvSpPr>
        <p:spPr>
          <a:xfrm>
            <a:off x="342345" y="1624013"/>
            <a:ext cx="588531" cy="228925"/>
          </a:xfrm>
          <a:prstGeom prst="rect">
            <a:avLst/>
          </a:prstGeom>
          <a:solidFill>
            <a:schemeClr val="accent3"/>
          </a:solidFill>
          <a:ln>
            <a:noFill/>
          </a:ln>
        </p:spPr>
        <p:txBody>
          <a:bodyPr wrap="square" lIns="0" tIns="0" rIns="0" bIns="0" rtlCol="0" anchor="ctr">
            <a:spAutoFit/>
          </a:bodyPr>
          <a:lstStyle/>
          <a:p>
            <a:pPr algn="ctr"/>
            <a:r>
              <a:rPr lang="en-GB" sz="1800" b="1" dirty="0"/>
              <a:t>12cm</a:t>
            </a:r>
            <a:endParaRPr lang="en-GB" sz="1800" b="1" baseline="30000" dirty="0"/>
          </a:p>
        </p:txBody>
      </p:sp>
      <p:cxnSp>
        <p:nvCxnSpPr>
          <p:cNvPr id="159" name="Straight Connector 158">
            <a:extLst>
              <a:ext uri="{FF2B5EF4-FFF2-40B4-BE49-F238E27FC236}">
                <a16:creationId xmlns:a16="http://schemas.microsoft.com/office/drawing/2014/main" id="{2663FEEC-48E5-6646-9BE4-3FAE85CC1A90}"/>
              </a:ext>
            </a:extLst>
          </p:cNvPr>
          <p:cNvCxnSpPr>
            <a:cxnSpLocks/>
          </p:cNvCxnSpPr>
          <p:nvPr/>
        </p:nvCxnSpPr>
        <p:spPr>
          <a:xfrm>
            <a:off x="4572000" y="890177"/>
            <a:ext cx="0" cy="36186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4DDB37BF-8296-FF44-957E-B96860772BC6}"/>
              </a:ext>
            </a:extLst>
          </p:cNvPr>
          <p:cNvSpPr txBox="1"/>
          <p:nvPr/>
        </p:nvSpPr>
        <p:spPr>
          <a:xfrm>
            <a:off x="4625020" y="954671"/>
            <a:ext cx="513302" cy="276999"/>
          </a:xfrm>
          <a:prstGeom prst="rect">
            <a:avLst/>
          </a:prstGeom>
          <a:noFill/>
        </p:spPr>
        <p:txBody>
          <a:bodyPr wrap="square" lIns="36000" tIns="0" rIns="0" bIns="0" rtlCol="0">
            <a:spAutoFit/>
          </a:bodyPr>
          <a:lstStyle/>
          <a:p>
            <a:r>
              <a:rPr lang="en-GB" sz="1800" b="1" dirty="0"/>
              <a:t>Q7</a:t>
            </a:r>
          </a:p>
        </p:txBody>
      </p:sp>
      <p:sp>
        <p:nvSpPr>
          <p:cNvPr id="73" name="TextBox 72">
            <a:extLst>
              <a:ext uri="{FF2B5EF4-FFF2-40B4-BE49-F238E27FC236}">
                <a16:creationId xmlns:a16="http://schemas.microsoft.com/office/drawing/2014/main" id="{1F7325A2-09F0-5244-BCAE-7317E252E9D2}"/>
              </a:ext>
            </a:extLst>
          </p:cNvPr>
          <p:cNvSpPr txBox="1"/>
          <p:nvPr/>
        </p:nvSpPr>
        <p:spPr>
          <a:xfrm>
            <a:off x="5032173" y="954671"/>
            <a:ext cx="3949267" cy="830997"/>
          </a:xfrm>
          <a:prstGeom prst="rect">
            <a:avLst/>
          </a:prstGeom>
          <a:noFill/>
        </p:spPr>
        <p:txBody>
          <a:bodyPr wrap="square" lIns="36000" tIns="0" rIns="0" bIns="0" rtlCol="0">
            <a:spAutoFit/>
          </a:bodyPr>
          <a:lstStyle/>
          <a:p>
            <a:pPr>
              <a:defRPr/>
            </a:pPr>
            <a:r>
              <a:rPr lang="en-GB" altLang="en-US" sz="1800" dirty="0"/>
              <a:t>The following cylinder and sphere have the same volume.</a:t>
            </a:r>
            <a:br>
              <a:rPr lang="en-GB" altLang="en-US" sz="1800" dirty="0"/>
            </a:br>
            <a:r>
              <a:rPr lang="en-GB" altLang="en-US" sz="1800" dirty="0"/>
              <a:t>Find the diameter of the sphere.</a:t>
            </a:r>
            <a:endParaRPr lang="en-GB" altLang="en-US" sz="1800" baseline="30000" dirty="0"/>
          </a:p>
        </p:txBody>
      </p:sp>
      <p:grpSp>
        <p:nvGrpSpPr>
          <p:cNvPr id="5" name="Group 4">
            <a:extLst>
              <a:ext uri="{FF2B5EF4-FFF2-40B4-BE49-F238E27FC236}">
                <a16:creationId xmlns:a16="http://schemas.microsoft.com/office/drawing/2014/main" id="{5ED8760D-D147-EE4D-B2F2-BADD578F5F66}"/>
              </a:ext>
            </a:extLst>
          </p:cNvPr>
          <p:cNvGrpSpPr/>
          <p:nvPr/>
        </p:nvGrpSpPr>
        <p:grpSpPr>
          <a:xfrm>
            <a:off x="228806" y="1918622"/>
            <a:ext cx="1799670" cy="1802763"/>
            <a:chOff x="536962" y="1863786"/>
            <a:chExt cx="1117454" cy="1119374"/>
          </a:xfrm>
        </p:grpSpPr>
        <p:pic>
          <p:nvPicPr>
            <p:cNvPr id="53" name="Picture 52">
              <a:extLst>
                <a:ext uri="{FF2B5EF4-FFF2-40B4-BE49-F238E27FC236}">
                  <a16:creationId xmlns:a16="http://schemas.microsoft.com/office/drawing/2014/main" id="{FB8C1FAB-6704-3B46-8942-3E3D46D57D68}"/>
                </a:ext>
              </a:extLst>
            </p:cNvPr>
            <p:cNvPicPr>
              <a:picLocks noChangeAspect="1"/>
            </p:cNvPicPr>
            <p:nvPr/>
          </p:nvPicPr>
          <p:blipFill>
            <a:blip r:embed="rId3"/>
            <a:stretch>
              <a:fillRect/>
            </a:stretch>
          </p:blipFill>
          <p:spPr>
            <a:xfrm>
              <a:off x="536962" y="1863786"/>
              <a:ext cx="1117454" cy="1119374"/>
            </a:xfrm>
            <a:prstGeom prst="rect">
              <a:avLst/>
            </a:prstGeom>
          </p:spPr>
        </p:pic>
        <p:sp>
          <p:nvSpPr>
            <p:cNvPr id="71" name="TextBox 70">
              <a:extLst>
                <a:ext uri="{FF2B5EF4-FFF2-40B4-BE49-F238E27FC236}">
                  <a16:creationId xmlns:a16="http://schemas.microsoft.com/office/drawing/2014/main" id="{A0899130-3360-2144-8157-CE003BB58770}"/>
                </a:ext>
              </a:extLst>
            </p:cNvPr>
            <p:cNvSpPr txBox="1"/>
            <p:nvPr/>
          </p:nvSpPr>
          <p:spPr>
            <a:xfrm>
              <a:off x="719517" y="2577869"/>
              <a:ext cx="752345" cy="171995"/>
            </a:xfrm>
            <a:prstGeom prst="rect">
              <a:avLst/>
            </a:prstGeom>
            <a:noFill/>
          </p:spPr>
          <p:txBody>
            <a:bodyPr wrap="square" lIns="0" tIns="0" rIns="0" bIns="0" rtlCol="0" anchor="ctr" anchorCtr="0">
              <a:spAutoFit/>
            </a:bodyPr>
            <a:lstStyle/>
            <a:p>
              <a:pPr algn="ctr">
                <a:defRPr/>
              </a:pPr>
              <a:r>
                <a:rPr lang="en-GB" altLang="en-US" sz="1800" b="1" dirty="0"/>
                <a:t>Volume</a:t>
              </a:r>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B9A3B62D-F33D-414C-A3DC-802E193F8CD5}"/>
                    </a:ext>
                  </a:extLst>
                </p:cNvPr>
                <p:cNvSpPr txBox="1"/>
                <p:nvPr/>
              </p:nvSpPr>
              <p:spPr>
                <a:xfrm>
                  <a:off x="719517" y="2725518"/>
                  <a:ext cx="752345" cy="171995"/>
                </a:xfrm>
                <a:prstGeom prst="rect">
                  <a:avLst/>
                </a:prstGeom>
                <a:noFill/>
              </p:spPr>
              <p:txBody>
                <a:bodyPr wrap="square" lIns="0" tIns="0" rIns="0" bIns="0" rtlCol="0" anchor="ctr" anchorCtr="0">
                  <a:spAutoFit/>
                </a:bodyPr>
                <a:lstStyle/>
                <a:p>
                  <a:pPr algn="ctr">
                    <a:defRPr/>
                  </a:pPr>
                  <a:r>
                    <a:rPr lang="en-GB" altLang="en-US" sz="1800" dirty="0"/>
                    <a:t>2304</a:t>
                  </a:r>
                  <a14:m>
                    <m:oMath xmlns:m="http://schemas.openxmlformats.org/officeDocument/2006/math">
                      <m:r>
                        <a:rPr lang="en-GB" altLang="en-US" sz="1800" b="0" i="1" smtClean="0">
                          <a:latin typeface="Cambria Math" panose="02040503050406030204" pitchFamily="18" charset="0"/>
                        </a:rPr>
                        <m:t>𝜋</m:t>
                      </m:r>
                    </m:oMath>
                  </a14:m>
                  <a:r>
                    <a:rPr lang="en-GB" altLang="en-US" sz="1800" dirty="0"/>
                    <a:t>cm</a:t>
                  </a:r>
                  <a:r>
                    <a:rPr lang="en-GB" altLang="en-US" sz="1800" baseline="30000" dirty="0"/>
                    <a:t>3</a:t>
                  </a:r>
                </a:p>
              </p:txBody>
            </p:sp>
          </mc:Choice>
          <mc:Fallback xmlns="">
            <p:sp>
              <p:nvSpPr>
                <p:cNvPr id="86" name="TextBox 85">
                  <a:extLst>
                    <a:ext uri="{FF2B5EF4-FFF2-40B4-BE49-F238E27FC236}">
                      <a16:creationId xmlns:a16="http://schemas.microsoft.com/office/drawing/2014/main" id="{B9A3B62D-F33D-414C-A3DC-802E193F8CD5}"/>
                    </a:ext>
                  </a:extLst>
                </p:cNvPr>
                <p:cNvSpPr txBox="1">
                  <a:spLocks noRot="1" noChangeAspect="1" noMove="1" noResize="1" noEditPoints="1" noAdjustHandles="1" noChangeArrowheads="1" noChangeShapeType="1" noTextEdit="1"/>
                </p:cNvSpPr>
                <p:nvPr/>
              </p:nvSpPr>
              <p:spPr>
                <a:xfrm>
                  <a:off x="719517" y="2725518"/>
                  <a:ext cx="752345" cy="171995"/>
                </a:xfrm>
                <a:prstGeom prst="rect">
                  <a:avLst/>
                </a:prstGeom>
                <a:blipFill>
                  <a:blip r:embed="rId4"/>
                  <a:stretch>
                    <a:fillRect l="-1031" t="-21739" b="-47826"/>
                  </a:stretch>
                </a:blipFill>
              </p:spPr>
              <p:txBody>
                <a:bodyPr/>
                <a:lstStyle/>
                <a:p>
                  <a:r>
                    <a:rPr lang="en-GB">
                      <a:noFill/>
                    </a:rPr>
                    <a:t> </a:t>
                  </a:r>
                </a:p>
              </p:txBody>
            </p:sp>
          </mc:Fallback>
        </mc:AlternateContent>
      </p:grpSp>
      <p:sp>
        <p:nvSpPr>
          <p:cNvPr id="110" name="TextBox 109">
            <a:extLst>
              <a:ext uri="{FF2B5EF4-FFF2-40B4-BE49-F238E27FC236}">
                <a16:creationId xmlns:a16="http://schemas.microsoft.com/office/drawing/2014/main" id="{4F6B7394-5C5C-1841-83FE-5C4C4D4B56B3}"/>
              </a:ext>
            </a:extLst>
          </p:cNvPr>
          <p:cNvSpPr txBox="1"/>
          <p:nvPr/>
        </p:nvSpPr>
        <p:spPr>
          <a:xfrm>
            <a:off x="2638336" y="1624013"/>
            <a:ext cx="566183" cy="228925"/>
          </a:xfrm>
          <a:prstGeom prst="rect">
            <a:avLst/>
          </a:prstGeom>
          <a:solidFill>
            <a:schemeClr val="accent3"/>
          </a:solidFill>
          <a:ln>
            <a:noFill/>
          </a:ln>
        </p:spPr>
        <p:txBody>
          <a:bodyPr wrap="square" lIns="0" tIns="0" rIns="0" bIns="0" rtlCol="0" anchor="ctr">
            <a:spAutoFit/>
          </a:bodyPr>
          <a:lstStyle/>
          <a:p>
            <a:pPr algn="ctr"/>
            <a:r>
              <a:rPr lang="en-GB" sz="1800" b="1" dirty="0"/>
              <a:t>6.2in</a:t>
            </a:r>
            <a:endParaRPr lang="en-GB" sz="1800" b="1" baseline="30000" dirty="0"/>
          </a:p>
        </p:txBody>
      </p:sp>
      <p:grpSp>
        <p:nvGrpSpPr>
          <p:cNvPr id="7" name="Group 6">
            <a:extLst>
              <a:ext uri="{FF2B5EF4-FFF2-40B4-BE49-F238E27FC236}">
                <a16:creationId xmlns:a16="http://schemas.microsoft.com/office/drawing/2014/main" id="{2A672AEB-8F3C-864E-88D6-E93182EF0186}"/>
              </a:ext>
            </a:extLst>
          </p:cNvPr>
          <p:cNvGrpSpPr/>
          <p:nvPr/>
        </p:nvGrpSpPr>
        <p:grpSpPr>
          <a:xfrm>
            <a:off x="2531588" y="1918623"/>
            <a:ext cx="1799670" cy="1802761"/>
            <a:chOff x="2880934" y="1863786"/>
            <a:chExt cx="1117454" cy="1119373"/>
          </a:xfrm>
        </p:grpSpPr>
        <p:pic>
          <p:nvPicPr>
            <p:cNvPr id="57" name="Picture 56">
              <a:extLst>
                <a:ext uri="{FF2B5EF4-FFF2-40B4-BE49-F238E27FC236}">
                  <a16:creationId xmlns:a16="http://schemas.microsoft.com/office/drawing/2014/main" id="{C0AB12A7-86F7-DA46-9520-D2157E744834}"/>
                </a:ext>
              </a:extLst>
            </p:cNvPr>
            <p:cNvPicPr>
              <a:picLocks noChangeAspect="1"/>
            </p:cNvPicPr>
            <p:nvPr/>
          </p:nvPicPr>
          <p:blipFill>
            <a:blip r:embed="rId5"/>
            <a:stretch>
              <a:fillRect/>
            </a:stretch>
          </p:blipFill>
          <p:spPr>
            <a:xfrm>
              <a:off x="2880934" y="1863786"/>
              <a:ext cx="1117454" cy="1119373"/>
            </a:xfrm>
            <a:prstGeom prst="rect">
              <a:avLst/>
            </a:prstGeom>
          </p:spPr>
        </p:pic>
        <p:sp>
          <p:nvSpPr>
            <p:cNvPr id="91" name="TextBox 90">
              <a:extLst>
                <a:ext uri="{FF2B5EF4-FFF2-40B4-BE49-F238E27FC236}">
                  <a16:creationId xmlns:a16="http://schemas.microsoft.com/office/drawing/2014/main" id="{2D93250C-FC25-AC4F-84E5-67AFF03CFA01}"/>
                </a:ext>
              </a:extLst>
            </p:cNvPr>
            <p:cNvSpPr txBox="1"/>
            <p:nvPr/>
          </p:nvSpPr>
          <p:spPr>
            <a:xfrm>
              <a:off x="3063489" y="2577868"/>
              <a:ext cx="752345" cy="171995"/>
            </a:xfrm>
            <a:prstGeom prst="rect">
              <a:avLst/>
            </a:prstGeom>
            <a:noFill/>
          </p:spPr>
          <p:txBody>
            <a:bodyPr wrap="square" lIns="0" tIns="0" rIns="0" bIns="0" rtlCol="0" anchor="ctr" anchorCtr="0">
              <a:spAutoFit/>
            </a:bodyPr>
            <a:lstStyle/>
            <a:p>
              <a:pPr algn="ctr">
                <a:defRPr/>
              </a:pPr>
              <a:r>
                <a:rPr lang="en-GB" altLang="en-US" sz="1800" b="1" dirty="0"/>
                <a:t>Volume</a:t>
              </a:r>
            </a:p>
          </p:txBody>
        </p:sp>
        <p:sp>
          <p:nvSpPr>
            <p:cNvPr id="98" name="TextBox 97">
              <a:extLst>
                <a:ext uri="{FF2B5EF4-FFF2-40B4-BE49-F238E27FC236}">
                  <a16:creationId xmlns:a16="http://schemas.microsoft.com/office/drawing/2014/main" id="{3CAE5D1F-DF41-EE4A-AF3E-13F18CAFEB3A}"/>
                </a:ext>
              </a:extLst>
            </p:cNvPr>
            <p:cNvSpPr txBox="1"/>
            <p:nvPr/>
          </p:nvSpPr>
          <p:spPr>
            <a:xfrm>
              <a:off x="3063489" y="2725517"/>
              <a:ext cx="752345" cy="171995"/>
            </a:xfrm>
            <a:prstGeom prst="rect">
              <a:avLst/>
            </a:prstGeom>
            <a:noFill/>
          </p:spPr>
          <p:txBody>
            <a:bodyPr wrap="square" lIns="0" tIns="0" rIns="0" bIns="0" rtlCol="0" anchor="ctr" anchorCtr="0">
              <a:spAutoFit/>
            </a:bodyPr>
            <a:lstStyle/>
            <a:p>
              <a:pPr algn="ctr">
                <a:defRPr/>
              </a:pPr>
              <a:r>
                <a:rPr lang="en-GB" altLang="en-US" sz="1800" dirty="0"/>
                <a:t>1000in</a:t>
              </a:r>
              <a:r>
                <a:rPr lang="en-GB" altLang="en-US" sz="1800" baseline="30000" dirty="0"/>
                <a:t>3</a:t>
              </a:r>
            </a:p>
          </p:txBody>
        </p:sp>
      </p:grpSp>
      <p:grpSp>
        <p:nvGrpSpPr>
          <p:cNvPr id="13" name="Group 12">
            <a:extLst>
              <a:ext uri="{FF2B5EF4-FFF2-40B4-BE49-F238E27FC236}">
                <a16:creationId xmlns:a16="http://schemas.microsoft.com/office/drawing/2014/main" id="{93C555A3-5A2B-9242-BAED-8969B8CE0E3B}"/>
              </a:ext>
            </a:extLst>
          </p:cNvPr>
          <p:cNvGrpSpPr/>
          <p:nvPr/>
        </p:nvGrpSpPr>
        <p:grpSpPr>
          <a:xfrm>
            <a:off x="5207138" y="1918623"/>
            <a:ext cx="1799668" cy="1802761"/>
            <a:chOff x="5000469" y="2141286"/>
            <a:chExt cx="1799668" cy="1802761"/>
          </a:xfrm>
        </p:grpSpPr>
        <p:pic>
          <p:nvPicPr>
            <p:cNvPr id="126" name="Picture 125">
              <a:extLst>
                <a:ext uri="{FF2B5EF4-FFF2-40B4-BE49-F238E27FC236}">
                  <a16:creationId xmlns:a16="http://schemas.microsoft.com/office/drawing/2014/main" id="{42E1A2CB-0E30-6D43-8173-E7B8109E21B1}"/>
                </a:ext>
              </a:extLst>
            </p:cNvPr>
            <p:cNvPicPr>
              <a:picLocks noChangeAspect="1"/>
            </p:cNvPicPr>
            <p:nvPr/>
          </p:nvPicPr>
          <p:blipFill>
            <a:blip r:embed="rId6"/>
            <a:stretch>
              <a:fillRect/>
            </a:stretch>
          </p:blipFill>
          <p:spPr>
            <a:xfrm>
              <a:off x="5000469" y="2141286"/>
              <a:ext cx="1799668" cy="1802761"/>
            </a:xfrm>
            <a:prstGeom prst="rect">
              <a:avLst/>
            </a:prstGeom>
          </p:spPr>
        </p:pic>
        <p:cxnSp>
          <p:nvCxnSpPr>
            <p:cNvPr id="129" name="Straight Arrow Connector 128">
              <a:extLst>
                <a:ext uri="{FF2B5EF4-FFF2-40B4-BE49-F238E27FC236}">
                  <a16:creationId xmlns:a16="http://schemas.microsoft.com/office/drawing/2014/main" id="{98BC0D34-FD1E-C24D-A7C2-063920B48081}"/>
                </a:ext>
              </a:extLst>
            </p:cNvPr>
            <p:cNvCxnSpPr>
              <a:cxnSpLocks/>
            </p:cNvCxnSpPr>
            <p:nvPr/>
          </p:nvCxnSpPr>
          <p:spPr>
            <a:xfrm flipH="1">
              <a:off x="5049564" y="3042666"/>
              <a:ext cx="1701478" cy="0"/>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Group 11">
            <a:extLst>
              <a:ext uri="{FF2B5EF4-FFF2-40B4-BE49-F238E27FC236}">
                <a16:creationId xmlns:a16="http://schemas.microsoft.com/office/drawing/2014/main" id="{05C3B36C-DAFC-D040-8346-497E4AC6A2AD}"/>
              </a:ext>
            </a:extLst>
          </p:cNvPr>
          <p:cNvGrpSpPr/>
          <p:nvPr/>
        </p:nvGrpSpPr>
        <p:grpSpPr>
          <a:xfrm>
            <a:off x="7340129" y="2104389"/>
            <a:ext cx="1725334" cy="2205540"/>
            <a:chOff x="7164022" y="1852938"/>
            <a:chExt cx="1725334" cy="2205540"/>
          </a:xfrm>
        </p:grpSpPr>
        <p:pic>
          <p:nvPicPr>
            <p:cNvPr id="122" name="Picture 121">
              <a:extLst>
                <a:ext uri="{FF2B5EF4-FFF2-40B4-BE49-F238E27FC236}">
                  <a16:creationId xmlns:a16="http://schemas.microsoft.com/office/drawing/2014/main" id="{3ECCE056-1FD7-5242-9041-DC8DCD996561}"/>
                </a:ext>
              </a:extLst>
            </p:cNvPr>
            <p:cNvPicPr>
              <a:picLocks noChangeAspect="1"/>
            </p:cNvPicPr>
            <p:nvPr/>
          </p:nvPicPr>
          <p:blipFill>
            <a:blip r:embed="rId7"/>
            <a:stretch>
              <a:fillRect/>
            </a:stretch>
          </p:blipFill>
          <p:spPr>
            <a:xfrm rot="5400000">
              <a:off x="6726660" y="2516203"/>
              <a:ext cx="1979637" cy="1104913"/>
            </a:xfrm>
            <a:prstGeom prst="rect">
              <a:avLst/>
            </a:prstGeom>
          </p:spPr>
        </p:pic>
        <p:sp>
          <p:nvSpPr>
            <p:cNvPr id="130" name="TextBox 129">
              <a:extLst>
                <a:ext uri="{FF2B5EF4-FFF2-40B4-BE49-F238E27FC236}">
                  <a16:creationId xmlns:a16="http://schemas.microsoft.com/office/drawing/2014/main" id="{5CD492E1-4F1E-1844-BDD4-23C7BBBE34C3}"/>
                </a:ext>
              </a:extLst>
            </p:cNvPr>
            <p:cNvSpPr txBox="1"/>
            <p:nvPr/>
          </p:nvSpPr>
          <p:spPr>
            <a:xfrm>
              <a:off x="7239615" y="1852938"/>
              <a:ext cx="467147" cy="277000"/>
            </a:xfrm>
            <a:prstGeom prst="rect">
              <a:avLst/>
            </a:prstGeom>
            <a:noFill/>
          </p:spPr>
          <p:txBody>
            <a:bodyPr wrap="square" lIns="0" tIns="0" rIns="0" bIns="0" rtlCol="0" anchor="ctr" anchorCtr="0">
              <a:spAutoFit/>
            </a:bodyPr>
            <a:lstStyle/>
            <a:p>
              <a:pPr algn="ctr">
                <a:defRPr/>
              </a:pPr>
              <a:r>
                <a:rPr lang="en-GB" altLang="en-US" sz="1800" dirty="0"/>
                <a:t>3cm</a:t>
              </a:r>
              <a:endParaRPr lang="en-GB" altLang="en-US" sz="1800" baseline="30000" dirty="0"/>
            </a:p>
          </p:txBody>
        </p:sp>
        <p:sp>
          <p:nvSpPr>
            <p:cNvPr id="131" name="TextBox 130">
              <a:extLst>
                <a:ext uri="{FF2B5EF4-FFF2-40B4-BE49-F238E27FC236}">
                  <a16:creationId xmlns:a16="http://schemas.microsoft.com/office/drawing/2014/main" id="{F7E63419-C655-DA4D-AB09-F1AAC7F355E4}"/>
                </a:ext>
              </a:extLst>
            </p:cNvPr>
            <p:cNvSpPr txBox="1"/>
            <p:nvPr/>
          </p:nvSpPr>
          <p:spPr>
            <a:xfrm>
              <a:off x="8241613" y="2998831"/>
              <a:ext cx="647743" cy="277000"/>
            </a:xfrm>
            <a:prstGeom prst="rect">
              <a:avLst/>
            </a:prstGeom>
            <a:noFill/>
          </p:spPr>
          <p:txBody>
            <a:bodyPr wrap="square" lIns="0" tIns="0" rIns="0" bIns="0" rtlCol="0" anchor="ctr" anchorCtr="0">
              <a:spAutoFit/>
            </a:bodyPr>
            <a:lstStyle/>
            <a:p>
              <a:pPr>
                <a:defRPr/>
              </a:pPr>
              <a:r>
                <a:rPr lang="en-GB" altLang="en-US" sz="1800" dirty="0"/>
                <a:t>11cm</a:t>
              </a:r>
              <a:endParaRPr lang="en-GB" altLang="en-US" sz="1800" baseline="30000" dirty="0"/>
            </a:p>
          </p:txBody>
        </p:sp>
      </p:grpSp>
      <p:sp>
        <p:nvSpPr>
          <p:cNvPr id="132" name="TextBox 131">
            <a:extLst>
              <a:ext uri="{FF2B5EF4-FFF2-40B4-BE49-F238E27FC236}">
                <a16:creationId xmlns:a16="http://schemas.microsoft.com/office/drawing/2014/main" id="{1052FCC1-75CC-814E-83B1-D1CE32853F7F}"/>
              </a:ext>
            </a:extLst>
          </p:cNvPr>
          <p:cNvSpPr txBox="1"/>
          <p:nvPr/>
        </p:nvSpPr>
        <p:spPr>
          <a:xfrm>
            <a:off x="5773878" y="2472780"/>
            <a:ext cx="666188" cy="251817"/>
          </a:xfrm>
          <a:prstGeom prst="rect">
            <a:avLst/>
          </a:prstGeom>
          <a:solidFill>
            <a:schemeClr val="accent3"/>
          </a:solidFill>
          <a:ln>
            <a:noFill/>
          </a:ln>
        </p:spPr>
        <p:txBody>
          <a:bodyPr wrap="square" lIns="0" tIns="0" rIns="0" bIns="0" rtlCol="0" anchor="ctr">
            <a:spAutoFit/>
          </a:bodyPr>
          <a:lstStyle/>
          <a:p>
            <a:pPr algn="ctr"/>
            <a:r>
              <a:rPr lang="en-GB" sz="1800" b="1" dirty="0"/>
              <a:t>8.4cm</a:t>
            </a:r>
            <a:endParaRPr lang="en-GB" sz="1800" b="1" baseline="30000" dirty="0"/>
          </a:p>
        </p:txBody>
      </p:sp>
    </p:spTree>
    <p:extLst>
      <p:ext uri="{BB962C8B-B14F-4D97-AF65-F5344CB8AC3E}">
        <p14:creationId xmlns:p14="http://schemas.microsoft.com/office/powerpoint/2010/main" val="124997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dissolve">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dissolve">
                                      <p:cBhvr>
                                        <p:cTn id="12" dur="500"/>
                                        <p:tgtEl>
                                          <p:spTgt spid="1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2"/>
                                        </p:tgtEl>
                                        <p:attrNameLst>
                                          <p:attrName>style.visibility</p:attrName>
                                        </p:attrNameLst>
                                      </p:cBhvr>
                                      <p:to>
                                        <p:strVal val="visible"/>
                                      </p:to>
                                    </p:set>
                                    <p:animEffect transition="in" filter="dissolve">
                                      <p:cBhvr>
                                        <p:cTn id="17"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10" grpId="0" animBg="1"/>
      <p:bldP spid="1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FFFCE591-8CA4-3746-A9C1-CCBDA337BE06}"/>
              </a:ext>
            </a:extLst>
          </p:cNvPr>
          <p:cNvGrpSpPr/>
          <p:nvPr/>
        </p:nvGrpSpPr>
        <p:grpSpPr>
          <a:xfrm>
            <a:off x="5876337" y="2957875"/>
            <a:ext cx="1979641" cy="1268738"/>
            <a:chOff x="584272" y="1890939"/>
            <a:chExt cx="1117456" cy="716170"/>
          </a:xfrm>
        </p:grpSpPr>
        <p:pic>
          <p:nvPicPr>
            <p:cNvPr id="22" name="Picture 21">
              <a:extLst>
                <a:ext uri="{FF2B5EF4-FFF2-40B4-BE49-F238E27FC236}">
                  <a16:creationId xmlns:a16="http://schemas.microsoft.com/office/drawing/2014/main" id="{8CEE8F36-9B26-4840-B0BC-63962AF5C9AE}"/>
                </a:ext>
              </a:extLst>
            </p:cNvPr>
            <p:cNvPicPr>
              <a:picLocks noChangeAspect="1"/>
            </p:cNvPicPr>
            <p:nvPr/>
          </p:nvPicPr>
          <p:blipFill>
            <a:blip r:embed="rId3"/>
            <a:stretch>
              <a:fillRect/>
            </a:stretch>
          </p:blipFill>
          <p:spPr>
            <a:xfrm>
              <a:off x="584272" y="1890939"/>
              <a:ext cx="1117456" cy="716170"/>
            </a:xfrm>
            <a:prstGeom prst="rect">
              <a:avLst/>
            </a:prstGeom>
          </p:spPr>
        </p:pic>
        <p:cxnSp>
          <p:nvCxnSpPr>
            <p:cNvPr id="23" name="Straight Arrow Connector 22">
              <a:extLst>
                <a:ext uri="{FF2B5EF4-FFF2-40B4-BE49-F238E27FC236}">
                  <a16:creationId xmlns:a16="http://schemas.microsoft.com/office/drawing/2014/main" id="{01AD6BAD-0689-5345-A06C-4D43EC5D94C1}"/>
                </a:ext>
              </a:extLst>
            </p:cNvPr>
            <p:cNvCxnSpPr>
              <a:cxnSpLocks/>
            </p:cNvCxnSpPr>
            <p:nvPr/>
          </p:nvCxnSpPr>
          <p:spPr>
            <a:xfrm flipH="1" flipV="1">
              <a:off x="1143000" y="2043146"/>
              <a:ext cx="251543" cy="475647"/>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E18357E0-91F8-7145-A3C7-422DE15CDFB4}"/>
                </a:ext>
              </a:extLst>
            </p:cNvPr>
            <p:cNvSpPr txBox="1"/>
            <p:nvPr/>
          </p:nvSpPr>
          <p:spPr>
            <a:xfrm>
              <a:off x="684646" y="2221854"/>
              <a:ext cx="565248" cy="189194"/>
            </a:xfrm>
            <a:prstGeom prst="rect">
              <a:avLst/>
            </a:prstGeom>
            <a:noFill/>
          </p:spPr>
          <p:txBody>
            <a:bodyPr wrap="square" lIns="0" tIns="0" rIns="0" bIns="0" rtlCol="0" anchor="ctr" anchorCtr="0">
              <a:spAutoFit/>
            </a:bodyPr>
            <a:lstStyle/>
            <a:p>
              <a:pPr algn="r">
                <a:defRPr/>
              </a:pPr>
              <a:r>
                <a:rPr lang="en-GB" altLang="en-US" sz="1800" dirty="0"/>
                <a:t>14cm</a:t>
              </a:r>
              <a:endParaRPr lang="en-GB" altLang="en-US" sz="1400" baseline="30000" dirty="0"/>
            </a:p>
          </p:txBody>
        </p:sp>
      </p:grpSp>
      <p:sp>
        <p:nvSpPr>
          <p:cNvPr id="123" name="TextBox 122">
            <a:extLst>
              <a:ext uri="{FF2B5EF4-FFF2-40B4-BE49-F238E27FC236}">
                <a16:creationId xmlns:a16="http://schemas.microsoft.com/office/drawing/2014/main" id="{88F68324-D1E7-FF4C-BFB3-656F3A5B7B9C}"/>
              </a:ext>
            </a:extLst>
          </p:cNvPr>
          <p:cNvSpPr txBox="1"/>
          <p:nvPr/>
        </p:nvSpPr>
        <p:spPr>
          <a:xfrm>
            <a:off x="45916" y="958109"/>
            <a:ext cx="513302" cy="276999"/>
          </a:xfrm>
          <a:prstGeom prst="rect">
            <a:avLst/>
          </a:prstGeom>
          <a:noFill/>
          <a:ln>
            <a:noFill/>
          </a:ln>
        </p:spPr>
        <p:txBody>
          <a:bodyPr wrap="square" lIns="36000" tIns="0" rIns="0" bIns="0" rtlCol="0">
            <a:spAutoFit/>
          </a:bodyPr>
          <a:lstStyle/>
          <a:p>
            <a:r>
              <a:rPr lang="en-GB" sz="1800" b="1" dirty="0"/>
              <a:t>Q8</a:t>
            </a:r>
          </a:p>
        </p:txBody>
      </p:sp>
      <p:sp>
        <p:nvSpPr>
          <p:cNvPr id="124" name="TextBox 123">
            <a:extLst>
              <a:ext uri="{FF2B5EF4-FFF2-40B4-BE49-F238E27FC236}">
                <a16:creationId xmlns:a16="http://schemas.microsoft.com/office/drawing/2014/main" id="{C55FC62E-F3FD-BC4E-8178-09A71A901A90}"/>
              </a:ext>
            </a:extLst>
          </p:cNvPr>
          <p:cNvSpPr txBox="1"/>
          <p:nvPr/>
        </p:nvSpPr>
        <p:spPr>
          <a:xfrm>
            <a:off x="407073" y="958109"/>
            <a:ext cx="4093490" cy="1661993"/>
          </a:xfrm>
          <a:prstGeom prst="rect">
            <a:avLst/>
          </a:prstGeom>
          <a:noFill/>
        </p:spPr>
        <p:txBody>
          <a:bodyPr wrap="square" lIns="36000" tIns="0" rIns="0" bIns="0" rtlCol="0">
            <a:spAutoFit/>
          </a:bodyPr>
          <a:lstStyle/>
          <a:p>
            <a:pPr fontAlgn="base">
              <a:spcBef>
                <a:spcPct val="0"/>
              </a:spcBef>
              <a:spcAft>
                <a:spcPts val="800"/>
              </a:spcAft>
            </a:pPr>
            <a:r>
              <a:rPr lang="en-GB" sz="1800" dirty="0">
                <a:solidFill>
                  <a:srgbClr val="000000"/>
                </a:solidFill>
              </a:rPr>
              <a:t>Craig buys two tennis balls which fit inside a cylindrical container of the same diameter. The tennis ball’s diameter is 6cm.</a:t>
            </a:r>
            <a:br>
              <a:rPr lang="en-GB" sz="1800" dirty="0">
                <a:solidFill>
                  <a:srgbClr val="000000"/>
                </a:solidFill>
              </a:rPr>
            </a:br>
            <a:r>
              <a:rPr lang="en-GB" sz="1800" dirty="0">
                <a:solidFill>
                  <a:srgbClr val="000000"/>
                </a:solidFill>
              </a:rPr>
              <a:t>What fraction of the</a:t>
            </a:r>
            <a:br>
              <a:rPr lang="en-GB" sz="1800" dirty="0">
                <a:solidFill>
                  <a:srgbClr val="000000"/>
                </a:solidFill>
              </a:rPr>
            </a:br>
            <a:r>
              <a:rPr lang="en-GB" sz="1800" dirty="0">
                <a:solidFill>
                  <a:srgbClr val="000000"/>
                </a:solidFill>
              </a:rPr>
              <a:t>container’s volume do</a:t>
            </a:r>
            <a:br>
              <a:rPr lang="en-GB" sz="1800" dirty="0">
                <a:solidFill>
                  <a:srgbClr val="000000"/>
                </a:solidFill>
              </a:rPr>
            </a:br>
            <a:r>
              <a:rPr lang="en-GB" sz="1800" dirty="0">
                <a:solidFill>
                  <a:srgbClr val="000000"/>
                </a:solidFill>
              </a:rPr>
              <a:t>the tennis balls take up?</a:t>
            </a:r>
          </a:p>
        </p:txBody>
      </p:sp>
      <p:cxnSp>
        <p:nvCxnSpPr>
          <p:cNvPr id="7" name="Straight Connector 6">
            <a:extLst>
              <a:ext uri="{FF2B5EF4-FFF2-40B4-BE49-F238E27FC236}">
                <a16:creationId xmlns:a16="http://schemas.microsoft.com/office/drawing/2014/main" id="{E958C6B4-897E-C347-8CAD-D11A3B1A9F2E}"/>
              </a:ext>
            </a:extLst>
          </p:cNvPr>
          <p:cNvCxnSpPr>
            <a:cxnSpLocks/>
          </p:cNvCxnSpPr>
          <p:nvPr/>
        </p:nvCxnSpPr>
        <p:spPr>
          <a:xfrm flipV="1">
            <a:off x="4572000" y="893893"/>
            <a:ext cx="0" cy="361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59B68E-EC19-0C42-8D64-0516AC96CDE9}"/>
              </a:ext>
            </a:extLst>
          </p:cNvPr>
          <p:cNvSpPr txBox="1"/>
          <p:nvPr/>
        </p:nvSpPr>
        <p:spPr>
          <a:xfrm>
            <a:off x="4617916" y="958109"/>
            <a:ext cx="513302" cy="276999"/>
          </a:xfrm>
          <a:prstGeom prst="rect">
            <a:avLst/>
          </a:prstGeom>
          <a:noFill/>
        </p:spPr>
        <p:txBody>
          <a:bodyPr wrap="square" lIns="36000" tIns="0" rIns="0" bIns="0" rtlCol="0">
            <a:spAutoFit/>
          </a:bodyPr>
          <a:lstStyle/>
          <a:p>
            <a:r>
              <a:rPr lang="en-GB" sz="1800" b="1" dirty="0"/>
              <a:t>Q9</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32C7569-A076-C74B-B318-15B76D50E606}"/>
                  </a:ext>
                </a:extLst>
              </p:cNvPr>
              <p:cNvSpPr txBox="1"/>
              <p:nvPr/>
            </p:nvSpPr>
            <p:spPr>
              <a:xfrm>
                <a:off x="4977581" y="958109"/>
                <a:ext cx="4061387" cy="1938992"/>
              </a:xfrm>
              <a:prstGeom prst="rect">
                <a:avLst/>
              </a:prstGeom>
              <a:noFill/>
            </p:spPr>
            <p:txBody>
              <a:bodyPr wrap="square" lIns="36000" tIns="0" rIns="0" bIns="0" rtlCol="0">
                <a:spAutoFit/>
              </a:bodyPr>
              <a:lstStyle/>
              <a:p>
                <a:pPr fontAlgn="base">
                  <a:spcBef>
                    <a:spcPct val="0"/>
                  </a:spcBef>
                  <a:spcAft>
                    <a:spcPts val="800"/>
                  </a:spcAft>
                </a:pPr>
                <a:r>
                  <a:rPr lang="en-GB" sz="1800" dirty="0">
                    <a:solidFill>
                      <a:srgbClr val="000000"/>
                    </a:solidFill>
                  </a:rPr>
                  <a:t>Marie has some hanging flower baskets in the shape of hemispheres with radius 14cm. Marie is going to fill the flower baskets completely with soil. She has 50 litres of compost. </a:t>
                </a:r>
                <a:r>
                  <a:rPr lang="en-GB" sz="1800" b="1" dirty="0">
                    <a:solidFill>
                      <a:srgbClr val="000000"/>
                    </a:solidFill>
                  </a:rPr>
                  <a:t>1 litre </a:t>
                </a:r>
                <a14:m>
                  <m:oMath xmlns:m="http://schemas.openxmlformats.org/officeDocument/2006/math">
                    <m:r>
                      <a:rPr lang="en-GB" sz="1800" b="1" i="1">
                        <a:solidFill>
                          <a:srgbClr val="000000"/>
                        </a:solidFill>
                        <a:latin typeface="Cambria Math" panose="02040503050406030204" pitchFamily="18" charset="0"/>
                      </a:rPr>
                      <m:t>=</m:t>
                    </m:r>
                  </m:oMath>
                </a14:m>
                <a:r>
                  <a:rPr lang="en-GB" sz="1800" dirty="0">
                    <a:solidFill>
                      <a:srgbClr val="000000"/>
                    </a:solidFill>
                  </a:rPr>
                  <a:t> </a:t>
                </a:r>
                <a:r>
                  <a:rPr lang="en-GB" sz="1800" b="1" dirty="0">
                    <a:solidFill>
                      <a:srgbClr val="000000"/>
                    </a:solidFill>
                  </a:rPr>
                  <a:t>1000cm</a:t>
                </a:r>
                <a:r>
                  <a:rPr lang="en-GB" sz="1800" b="1" baseline="30000" dirty="0">
                    <a:solidFill>
                      <a:srgbClr val="000000"/>
                    </a:solidFill>
                  </a:rPr>
                  <a:t>3</a:t>
                </a:r>
                <a:r>
                  <a:rPr lang="en-GB" sz="1800" dirty="0">
                    <a:solidFill>
                      <a:srgbClr val="000000"/>
                    </a:solidFill>
                  </a:rPr>
                  <a:t>.</a:t>
                </a:r>
                <a:br>
                  <a:rPr lang="en-GB" sz="1800" dirty="0">
                    <a:solidFill>
                      <a:srgbClr val="000000"/>
                    </a:solidFill>
                  </a:rPr>
                </a:br>
                <a:r>
                  <a:rPr lang="en-GB" sz="1800" dirty="0">
                    <a:solidFill>
                      <a:srgbClr val="000000"/>
                    </a:solidFill>
                  </a:rPr>
                  <a:t>Work out how many flower baskets Marie can fill completely with compost.</a:t>
                </a:r>
              </a:p>
            </p:txBody>
          </p:sp>
        </mc:Choice>
        <mc:Fallback xmlns="">
          <p:sp>
            <p:nvSpPr>
              <p:cNvPr id="42" name="TextBox 41">
                <a:extLst>
                  <a:ext uri="{FF2B5EF4-FFF2-40B4-BE49-F238E27FC236}">
                    <a16:creationId xmlns:a16="http://schemas.microsoft.com/office/drawing/2014/main" id="{232C7569-A076-C74B-B318-15B76D50E606}"/>
                  </a:ext>
                </a:extLst>
              </p:cNvPr>
              <p:cNvSpPr txBox="1">
                <a:spLocks noRot="1" noChangeAspect="1" noMove="1" noResize="1" noEditPoints="1" noAdjustHandles="1" noChangeArrowheads="1" noChangeShapeType="1" noTextEdit="1"/>
              </p:cNvSpPr>
              <p:nvPr/>
            </p:nvSpPr>
            <p:spPr>
              <a:xfrm>
                <a:off x="4977581" y="958109"/>
                <a:ext cx="4061387" cy="1938992"/>
              </a:xfrm>
              <a:prstGeom prst="rect">
                <a:avLst/>
              </a:prstGeom>
              <a:blipFill>
                <a:blip r:embed="rId4"/>
                <a:stretch>
                  <a:fillRect l="-2492" t="-3247" r="-1246" b="-5844"/>
                </a:stretch>
              </a:blipFill>
            </p:spPr>
            <p:txBody>
              <a:bodyPr/>
              <a:lstStyle/>
              <a:p>
                <a:r>
                  <a:rPr lang="en-GB">
                    <a:noFill/>
                  </a:rPr>
                  <a:t> </a:t>
                </a:r>
              </a:p>
            </p:txBody>
          </p:sp>
        </mc:Fallback>
      </mc:AlternateContent>
      <p:sp>
        <p:nvSpPr>
          <p:cNvPr id="14" name="Rectangle 13">
            <a:extLst>
              <a:ext uri="{FF2B5EF4-FFF2-40B4-BE49-F238E27FC236}">
                <a16:creationId xmlns:a16="http://schemas.microsoft.com/office/drawing/2014/main" id="{0BB4AC7E-89D2-0B47-8B00-E3C205C996C4}"/>
              </a:ext>
            </a:extLst>
          </p:cNvPr>
          <p:cNvSpPr/>
          <p:nvPr/>
        </p:nvSpPr>
        <p:spPr>
          <a:xfrm rot="16200000">
            <a:off x="-120344" y="147556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6" name="Rectangle 15">
            <a:extLst>
              <a:ext uri="{FF2B5EF4-FFF2-40B4-BE49-F238E27FC236}">
                <a16:creationId xmlns:a16="http://schemas.microsoft.com/office/drawing/2014/main" id="{827DF7C0-66B3-C44D-84F6-8FEEA928B278}"/>
              </a:ext>
            </a:extLst>
          </p:cNvPr>
          <p:cNvSpPr/>
          <p:nvPr/>
        </p:nvSpPr>
        <p:spPr>
          <a:xfrm rot="16200000">
            <a:off x="4458680" y="147556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pic>
        <p:nvPicPr>
          <p:cNvPr id="2" name="Picture 1">
            <a:extLst>
              <a:ext uri="{FF2B5EF4-FFF2-40B4-BE49-F238E27FC236}">
                <a16:creationId xmlns:a16="http://schemas.microsoft.com/office/drawing/2014/main" id="{591B5EB6-0A86-C645-A1FF-201387C4DE88}"/>
              </a:ext>
            </a:extLst>
          </p:cNvPr>
          <p:cNvPicPr>
            <a:picLocks noChangeAspect="1"/>
          </p:cNvPicPr>
          <p:nvPr/>
        </p:nvPicPr>
        <p:blipFill>
          <a:blip r:embed="rId5"/>
          <a:stretch>
            <a:fillRect/>
          </a:stretch>
        </p:blipFill>
        <p:spPr>
          <a:xfrm>
            <a:off x="3100283" y="1918310"/>
            <a:ext cx="1072665" cy="2399480"/>
          </a:xfrm>
          <a:prstGeom prst="rect">
            <a:avLst/>
          </a:prstGeom>
        </p:spPr>
      </p:pic>
      <p:grpSp>
        <p:nvGrpSpPr>
          <p:cNvPr id="40" name="Group 39">
            <a:extLst>
              <a:ext uri="{FF2B5EF4-FFF2-40B4-BE49-F238E27FC236}">
                <a16:creationId xmlns:a16="http://schemas.microsoft.com/office/drawing/2014/main" id="{C6891CD2-386A-264D-9BAA-BD63459C01FC}"/>
              </a:ext>
            </a:extLst>
          </p:cNvPr>
          <p:cNvGrpSpPr/>
          <p:nvPr/>
        </p:nvGrpSpPr>
        <p:grpSpPr>
          <a:xfrm>
            <a:off x="549921" y="2633098"/>
            <a:ext cx="269358" cy="532492"/>
            <a:chOff x="1593019" y="1466176"/>
            <a:chExt cx="269358" cy="532492"/>
          </a:xfrm>
        </p:grpSpPr>
        <p:sp>
          <p:nvSpPr>
            <p:cNvPr id="43" name="Rectangle 42">
              <a:extLst>
                <a:ext uri="{FF2B5EF4-FFF2-40B4-BE49-F238E27FC236}">
                  <a16:creationId xmlns:a16="http://schemas.microsoft.com/office/drawing/2014/main" id="{18829C4E-1B1D-6B44-87EF-1136200E51D0}"/>
                </a:ext>
              </a:extLst>
            </p:cNvPr>
            <p:cNvSpPr/>
            <p:nvPr/>
          </p:nvSpPr>
          <p:spPr>
            <a:xfrm>
              <a:off x="1593019" y="1466176"/>
              <a:ext cx="269358" cy="5118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7622127B-17AC-B644-B7E4-F5C12E8DA008}"/>
                </a:ext>
              </a:extLst>
            </p:cNvPr>
            <p:cNvGrpSpPr/>
            <p:nvPr/>
          </p:nvGrpSpPr>
          <p:grpSpPr>
            <a:xfrm>
              <a:off x="1630884" y="1466176"/>
              <a:ext cx="189598" cy="532492"/>
              <a:chOff x="1630884" y="1466176"/>
              <a:chExt cx="189598" cy="532492"/>
            </a:xfrm>
          </p:grpSpPr>
          <p:sp>
            <p:nvSpPr>
              <p:cNvPr id="45" name="TextBox 44">
                <a:extLst>
                  <a:ext uri="{FF2B5EF4-FFF2-40B4-BE49-F238E27FC236}">
                    <a16:creationId xmlns:a16="http://schemas.microsoft.com/office/drawing/2014/main" id="{EA4E269B-EEAB-5247-A91C-804777338482}"/>
                  </a:ext>
                </a:extLst>
              </p:cNvPr>
              <p:cNvSpPr txBox="1"/>
              <p:nvPr/>
            </p:nvSpPr>
            <p:spPr>
              <a:xfrm>
                <a:off x="1630884" y="1466176"/>
                <a:ext cx="189598" cy="276999"/>
              </a:xfrm>
              <a:prstGeom prst="rect">
                <a:avLst/>
              </a:prstGeom>
              <a:noFill/>
            </p:spPr>
            <p:txBody>
              <a:bodyPr wrap="square" lIns="0" tIns="0" rIns="0" bIns="0" rtlCol="0" anchor="ctr" anchorCtr="0">
                <a:spAutoFit/>
              </a:bodyPr>
              <a:lstStyle/>
              <a:p>
                <a:pPr algn="ctr">
                  <a:defRPr/>
                </a:pPr>
                <a:r>
                  <a:rPr lang="en-GB" altLang="en-US" sz="1800" dirty="0"/>
                  <a:t>2</a:t>
                </a:r>
              </a:p>
            </p:txBody>
          </p:sp>
          <p:sp>
            <p:nvSpPr>
              <p:cNvPr id="46" name="TextBox 45">
                <a:extLst>
                  <a:ext uri="{FF2B5EF4-FFF2-40B4-BE49-F238E27FC236}">
                    <a16:creationId xmlns:a16="http://schemas.microsoft.com/office/drawing/2014/main" id="{248C6BF4-2771-3A4F-B85A-34D0144268B6}"/>
                  </a:ext>
                </a:extLst>
              </p:cNvPr>
              <p:cNvSpPr txBox="1"/>
              <p:nvPr/>
            </p:nvSpPr>
            <p:spPr>
              <a:xfrm>
                <a:off x="1630884" y="1721669"/>
                <a:ext cx="189598" cy="276999"/>
              </a:xfrm>
              <a:prstGeom prst="rect">
                <a:avLst/>
              </a:prstGeom>
              <a:noFill/>
            </p:spPr>
            <p:txBody>
              <a:bodyPr wrap="square" lIns="0" tIns="0" rIns="0" bIns="0" rtlCol="0" anchor="ctr" anchorCtr="0">
                <a:spAutoFit/>
              </a:bodyPr>
              <a:lstStyle/>
              <a:p>
                <a:pPr algn="ctr">
                  <a:defRPr/>
                </a:pPr>
                <a:r>
                  <a:rPr lang="en-GB" altLang="en-US" sz="1800" dirty="0"/>
                  <a:t>3</a:t>
                </a:r>
              </a:p>
            </p:txBody>
          </p:sp>
          <p:cxnSp>
            <p:nvCxnSpPr>
              <p:cNvPr id="47" name="Straight Connector 46">
                <a:extLst>
                  <a:ext uri="{FF2B5EF4-FFF2-40B4-BE49-F238E27FC236}">
                    <a16:creationId xmlns:a16="http://schemas.microsoft.com/office/drawing/2014/main" id="{0D9BC3C0-CB4A-F846-A1EB-10E3E16D2146}"/>
                  </a:ext>
                </a:extLst>
              </p:cNvPr>
              <p:cNvCxnSpPr/>
              <p:nvPr/>
            </p:nvCxnSpPr>
            <p:spPr>
              <a:xfrm>
                <a:off x="1630884" y="1739146"/>
                <a:ext cx="189598" cy="0"/>
              </a:xfrm>
              <a:prstGeom prst="line">
                <a:avLst/>
              </a:prstGeom>
              <a:ln w="19050" cap="sq">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145" name="TextBox 144">
            <a:extLst>
              <a:ext uri="{FF2B5EF4-FFF2-40B4-BE49-F238E27FC236}">
                <a16:creationId xmlns:a16="http://schemas.microsoft.com/office/drawing/2014/main" id="{D026E905-5444-CC4D-B43D-BF7C3EDE84F2}"/>
              </a:ext>
            </a:extLst>
          </p:cNvPr>
          <p:cNvSpPr txBox="1"/>
          <p:nvPr/>
        </p:nvSpPr>
        <p:spPr>
          <a:xfrm>
            <a:off x="5093439" y="3879279"/>
            <a:ext cx="1660294" cy="276999"/>
          </a:xfrm>
          <a:prstGeom prst="rect">
            <a:avLst/>
          </a:prstGeom>
          <a:solidFill>
            <a:schemeClr val="accent3"/>
          </a:solidFill>
          <a:ln>
            <a:noFill/>
          </a:ln>
        </p:spPr>
        <p:txBody>
          <a:bodyPr wrap="square" lIns="0" tIns="0" rIns="0" bIns="0" rtlCol="0" anchor="ctr">
            <a:spAutoFit/>
          </a:bodyPr>
          <a:lstStyle/>
          <a:p>
            <a:pPr algn="ctr"/>
            <a:r>
              <a:rPr lang="en-GB" sz="1800" b="1" dirty="0"/>
              <a:t>8 flower baskets</a:t>
            </a:r>
            <a:endParaRPr lang="en-GB" sz="1800" b="1" baseline="30000" dirty="0"/>
          </a:p>
        </p:txBody>
      </p:sp>
    </p:spTree>
    <p:extLst>
      <p:ext uri="{BB962C8B-B14F-4D97-AF65-F5344CB8AC3E}">
        <p14:creationId xmlns:p14="http://schemas.microsoft.com/office/powerpoint/2010/main" val="2466963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dissolve">
                                      <p:cBhvr>
                                        <p:cTn id="12"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Box 122">
            <a:extLst>
              <a:ext uri="{FF2B5EF4-FFF2-40B4-BE49-F238E27FC236}">
                <a16:creationId xmlns:a16="http://schemas.microsoft.com/office/drawing/2014/main" id="{88F68324-D1E7-FF4C-BFB3-656F3A5B7B9C}"/>
              </a:ext>
            </a:extLst>
          </p:cNvPr>
          <p:cNvSpPr txBox="1"/>
          <p:nvPr/>
        </p:nvSpPr>
        <p:spPr>
          <a:xfrm>
            <a:off x="45916" y="958109"/>
            <a:ext cx="513302" cy="276999"/>
          </a:xfrm>
          <a:prstGeom prst="rect">
            <a:avLst/>
          </a:prstGeom>
          <a:noFill/>
          <a:ln>
            <a:noFill/>
          </a:ln>
        </p:spPr>
        <p:txBody>
          <a:bodyPr wrap="square" lIns="36000" tIns="0" rIns="0" bIns="0" rtlCol="0">
            <a:spAutoFit/>
          </a:bodyPr>
          <a:lstStyle/>
          <a:p>
            <a:r>
              <a:rPr lang="en-GB" sz="1800" b="1" dirty="0"/>
              <a:t>Q10</a:t>
            </a:r>
          </a:p>
        </p:txBody>
      </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C55FC62E-F3FD-BC4E-8178-09A71A901A90}"/>
                  </a:ext>
                </a:extLst>
              </p:cNvPr>
              <p:cNvSpPr txBox="1"/>
              <p:nvPr/>
            </p:nvSpPr>
            <p:spPr>
              <a:xfrm>
                <a:off x="528145" y="958109"/>
                <a:ext cx="3988098" cy="1107996"/>
              </a:xfrm>
              <a:prstGeom prst="rect">
                <a:avLst/>
              </a:prstGeom>
              <a:noFill/>
            </p:spPr>
            <p:txBody>
              <a:bodyPr wrap="square" lIns="36000" tIns="0" rIns="0" bIns="0" rtlCol="0">
                <a:spAutoFit/>
              </a:bodyPr>
              <a:lstStyle/>
              <a:p>
                <a:pPr fontAlgn="base">
                  <a:spcBef>
                    <a:spcPct val="0"/>
                  </a:spcBef>
                  <a:spcAft>
                    <a:spcPts val="800"/>
                  </a:spcAft>
                </a:pPr>
                <a:r>
                  <a:rPr lang="en-GB" sz="1800" dirty="0">
                    <a:solidFill>
                      <a:srgbClr val="000000"/>
                    </a:solidFill>
                  </a:rPr>
                  <a:t>The following composite solid is made by joining a cylinder and hemisphere.</a:t>
                </a:r>
                <a:br>
                  <a:rPr lang="en-GB" sz="1800" dirty="0">
                    <a:solidFill>
                      <a:srgbClr val="000000"/>
                    </a:solidFill>
                  </a:rPr>
                </a:br>
                <a:r>
                  <a:rPr lang="en-GB" sz="1800" dirty="0">
                    <a:solidFill>
                      <a:srgbClr val="000000"/>
                    </a:solidFill>
                  </a:rPr>
                  <a:t>Calculate the volume of the solid leaving your answer in terms of </a:t>
                </a:r>
                <a14:m>
                  <m:oMath xmlns:m="http://schemas.openxmlformats.org/officeDocument/2006/math">
                    <m:r>
                      <a:rPr lang="en-GB" sz="1800" b="0" i="1" smtClean="0">
                        <a:solidFill>
                          <a:srgbClr val="000000"/>
                        </a:solidFill>
                        <a:latin typeface="Cambria Math" panose="02040503050406030204" pitchFamily="18" charset="0"/>
                      </a:rPr>
                      <m:t>𝜋</m:t>
                    </m:r>
                  </m:oMath>
                </a14:m>
                <a:r>
                  <a:rPr lang="en-GB" sz="1800" dirty="0">
                    <a:solidFill>
                      <a:srgbClr val="000000"/>
                    </a:solidFill>
                  </a:rPr>
                  <a:t>.</a:t>
                </a:r>
              </a:p>
            </p:txBody>
          </p:sp>
        </mc:Choice>
        <mc:Fallback xmlns="">
          <p:sp>
            <p:nvSpPr>
              <p:cNvPr id="124" name="TextBox 123">
                <a:extLst>
                  <a:ext uri="{FF2B5EF4-FFF2-40B4-BE49-F238E27FC236}">
                    <a16:creationId xmlns:a16="http://schemas.microsoft.com/office/drawing/2014/main" id="{C55FC62E-F3FD-BC4E-8178-09A71A901A90}"/>
                  </a:ext>
                </a:extLst>
              </p:cNvPr>
              <p:cNvSpPr txBox="1">
                <a:spLocks noRot="1" noChangeAspect="1" noMove="1" noResize="1" noEditPoints="1" noAdjustHandles="1" noChangeArrowheads="1" noChangeShapeType="1" noTextEdit="1"/>
              </p:cNvSpPr>
              <p:nvPr/>
            </p:nvSpPr>
            <p:spPr>
              <a:xfrm>
                <a:off x="528145" y="958109"/>
                <a:ext cx="3988098" cy="1107996"/>
              </a:xfrm>
              <a:prstGeom prst="rect">
                <a:avLst/>
              </a:prstGeom>
              <a:blipFill>
                <a:blip r:embed="rId3"/>
                <a:stretch>
                  <a:fillRect l="-2540" t="-5618" r="-1270" b="-11236"/>
                </a:stretch>
              </a:blipFill>
            </p:spPr>
            <p:txBody>
              <a:bodyPr/>
              <a:lstStyle/>
              <a:p>
                <a:r>
                  <a:rPr lang="en-GB">
                    <a:noFill/>
                  </a:rPr>
                  <a:t> </a:t>
                </a:r>
              </a:p>
            </p:txBody>
          </p:sp>
        </mc:Fallback>
      </mc:AlternateContent>
      <p:cxnSp>
        <p:nvCxnSpPr>
          <p:cNvPr id="7" name="Straight Connector 6">
            <a:extLst>
              <a:ext uri="{FF2B5EF4-FFF2-40B4-BE49-F238E27FC236}">
                <a16:creationId xmlns:a16="http://schemas.microsoft.com/office/drawing/2014/main" id="{E958C6B4-897E-C347-8CAD-D11A3B1A9F2E}"/>
              </a:ext>
            </a:extLst>
          </p:cNvPr>
          <p:cNvCxnSpPr>
            <a:cxnSpLocks/>
          </p:cNvCxnSpPr>
          <p:nvPr/>
        </p:nvCxnSpPr>
        <p:spPr>
          <a:xfrm flipV="1">
            <a:off x="4572000" y="893893"/>
            <a:ext cx="0" cy="361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C59B68E-EC19-0C42-8D64-0516AC96CDE9}"/>
              </a:ext>
            </a:extLst>
          </p:cNvPr>
          <p:cNvSpPr txBox="1"/>
          <p:nvPr/>
        </p:nvSpPr>
        <p:spPr>
          <a:xfrm>
            <a:off x="4617916" y="958109"/>
            <a:ext cx="513302" cy="276999"/>
          </a:xfrm>
          <a:prstGeom prst="rect">
            <a:avLst/>
          </a:prstGeom>
          <a:noFill/>
        </p:spPr>
        <p:txBody>
          <a:bodyPr wrap="square" lIns="36000" tIns="0" rIns="0" bIns="0" rtlCol="0">
            <a:spAutoFit/>
          </a:bodyPr>
          <a:lstStyle/>
          <a:p>
            <a:r>
              <a:rPr lang="en-GB" sz="1800" b="1" dirty="0"/>
              <a:t>Q11</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32C7569-A076-C74B-B318-15B76D50E606}"/>
                  </a:ext>
                </a:extLst>
              </p:cNvPr>
              <p:cNvSpPr txBox="1"/>
              <p:nvPr/>
            </p:nvSpPr>
            <p:spPr>
              <a:xfrm>
                <a:off x="5100320" y="958109"/>
                <a:ext cx="3917300" cy="2215991"/>
              </a:xfrm>
              <a:prstGeom prst="rect">
                <a:avLst/>
              </a:prstGeom>
              <a:noFill/>
            </p:spPr>
            <p:txBody>
              <a:bodyPr wrap="square" lIns="36000" tIns="0" rIns="0" bIns="0" rtlCol="0">
                <a:spAutoFit/>
              </a:bodyPr>
              <a:lstStyle/>
              <a:p>
                <a:pPr>
                  <a:defRPr/>
                </a:pPr>
                <a:r>
                  <a:rPr lang="en-GB" altLang="en-US" sz="1800" dirty="0"/>
                  <a:t>A child’s toy is made from joining a cone and a hemisphere. The cone and the hemisphere both have a radius of 3cm. The ratio of the height of the</a:t>
                </a:r>
                <a:br>
                  <a:rPr lang="en-GB" altLang="en-US" sz="1800" dirty="0"/>
                </a:br>
                <a:r>
                  <a:rPr lang="en-GB" altLang="en-US" sz="1800" dirty="0"/>
                  <a:t>toy to the radius of the</a:t>
                </a:r>
                <a:br>
                  <a:rPr lang="en-GB" altLang="en-US" sz="1800" dirty="0"/>
                </a:br>
                <a:r>
                  <a:rPr lang="en-GB" altLang="en-US" sz="1800" dirty="0"/>
                  <a:t>hemisphere is 3:1.</a:t>
                </a:r>
                <a:br>
                  <a:rPr lang="en-GB" altLang="en-US" sz="1800" dirty="0"/>
                </a:br>
                <a:r>
                  <a:rPr lang="en-GB" altLang="en-US" sz="1800" dirty="0"/>
                  <a:t>Calculate the volume of</a:t>
                </a:r>
                <a:br>
                  <a:rPr lang="en-GB" altLang="en-US" sz="1800" dirty="0"/>
                </a:br>
                <a:r>
                  <a:rPr lang="en-GB" altLang="en-US" sz="1800" dirty="0"/>
                  <a:t>the toy in terms of </a:t>
                </a:r>
                <a14:m>
                  <m:oMath xmlns:m="http://schemas.openxmlformats.org/officeDocument/2006/math">
                    <m:r>
                      <a:rPr lang="en-GB" altLang="en-US" sz="1800" b="0" i="1" smtClean="0">
                        <a:latin typeface="Cambria Math" panose="02040503050406030204" pitchFamily="18" charset="0"/>
                      </a:rPr>
                      <m:t>𝜋</m:t>
                    </m:r>
                  </m:oMath>
                </a14:m>
                <a:r>
                  <a:rPr lang="en-GB" altLang="en-US" sz="1800" dirty="0"/>
                  <a:t>.</a:t>
                </a:r>
                <a:endParaRPr lang="en-GB" altLang="en-US" sz="1800" baseline="30000" dirty="0"/>
              </a:p>
            </p:txBody>
          </p:sp>
        </mc:Choice>
        <mc:Fallback xmlns="">
          <p:sp>
            <p:nvSpPr>
              <p:cNvPr id="42" name="TextBox 41">
                <a:extLst>
                  <a:ext uri="{FF2B5EF4-FFF2-40B4-BE49-F238E27FC236}">
                    <a16:creationId xmlns:a16="http://schemas.microsoft.com/office/drawing/2014/main" id="{232C7569-A076-C74B-B318-15B76D50E606}"/>
                  </a:ext>
                </a:extLst>
              </p:cNvPr>
              <p:cNvSpPr txBox="1">
                <a:spLocks noRot="1" noChangeAspect="1" noMove="1" noResize="1" noEditPoints="1" noAdjustHandles="1" noChangeArrowheads="1" noChangeShapeType="1" noTextEdit="1"/>
              </p:cNvSpPr>
              <p:nvPr/>
            </p:nvSpPr>
            <p:spPr>
              <a:xfrm>
                <a:off x="5100320" y="958109"/>
                <a:ext cx="3917300" cy="2215991"/>
              </a:xfrm>
              <a:prstGeom prst="rect">
                <a:avLst/>
              </a:prstGeom>
              <a:blipFill>
                <a:blip r:embed="rId4"/>
                <a:stretch>
                  <a:fillRect l="-2589" t="-2841" r="-971" b="-5114"/>
                </a:stretch>
              </a:blipFill>
            </p:spPr>
            <p:txBody>
              <a:bodyPr/>
              <a:lstStyle/>
              <a:p>
                <a:r>
                  <a:rPr lang="en-GB">
                    <a:noFill/>
                  </a:rPr>
                  <a:t> </a:t>
                </a:r>
              </a:p>
            </p:txBody>
          </p:sp>
        </mc:Fallback>
      </mc:AlternateContent>
      <p:sp>
        <p:nvSpPr>
          <p:cNvPr id="14" name="Rectangle 13">
            <a:extLst>
              <a:ext uri="{FF2B5EF4-FFF2-40B4-BE49-F238E27FC236}">
                <a16:creationId xmlns:a16="http://schemas.microsoft.com/office/drawing/2014/main" id="{0BB4AC7E-89D2-0B47-8B00-E3C205C996C4}"/>
              </a:ext>
            </a:extLst>
          </p:cNvPr>
          <p:cNvSpPr/>
          <p:nvPr/>
        </p:nvSpPr>
        <p:spPr>
          <a:xfrm rot="16200000">
            <a:off x="-56771" y="147556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6" name="Rectangle 15">
            <a:extLst>
              <a:ext uri="{FF2B5EF4-FFF2-40B4-BE49-F238E27FC236}">
                <a16:creationId xmlns:a16="http://schemas.microsoft.com/office/drawing/2014/main" id="{827DF7C0-66B3-C44D-84F6-8FEEA928B278}"/>
              </a:ext>
            </a:extLst>
          </p:cNvPr>
          <p:cNvSpPr/>
          <p:nvPr/>
        </p:nvSpPr>
        <p:spPr>
          <a:xfrm rot="16200000">
            <a:off x="4506004" y="147556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5" name="Group 4">
            <a:extLst>
              <a:ext uri="{FF2B5EF4-FFF2-40B4-BE49-F238E27FC236}">
                <a16:creationId xmlns:a16="http://schemas.microsoft.com/office/drawing/2014/main" id="{A944E5EF-BFA3-8B43-8338-4330DA8804F5}"/>
              </a:ext>
            </a:extLst>
          </p:cNvPr>
          <p:cNvGrpSpPr/>
          <p:nvPr/>
        </p:nvGrpSpPr>
        <p:grpSpPr>
          <a:xfrm>
            <a:off x="786288" y="2122841"/>
            <a:ext cx="3027533" cy="1987445"/>
            <a:chOff x="786288" y="2168679"/>
            <a:chExt cx="3027533" cy="1987445"/>
          </a:xfrm>
        </p:grpSpPr>
        <p:grpSp>
          <p:nvGrpSpPr>
            <p:cNvPr id="33" name="Group 32">
              <a:extLst>
                <a:ext uri="{FF2B5EF4-FFF2-40B4-BE49-F238E27FC236}">
                  <a16:creationId xmlns:a16="http://schemas.microsoft.com/office/drawing/2014/main" id="{D7B860E2-C8F2-8E47-B1C5-73157710C5D7}"/>
                </a:ext>
              </a:extLst>
            </p:cNvPr>
            <p:cNvGrpSpPr/>
            <p:nvPr/>
          </p:nvGrpSpPr>
          <p:grpSpPr>
            <a:xfrm>
              <a:off x="786288" y="2168679"/>
              <a:ext cx="3027533" cy="1987445"/>
              <a:chOff x="2879957" y="2428513"/>
              <a:chExt cx="2502094" cy="1642516"/>
            </a:xfrm>
          </p:grpSpPr>
          <p:pic>
            <p:nvPicPr>
              <p:cNvPr id="34" name="Picture 33">
                <a:extLst>
                  <a:ext uri="{FF2B5EF4-FFF2-40B4-BE49-F238E27FC236}">
                    <a16:creationId xmlns:a16="http://schemas.microsoft.com/office/drawing/2014/main" id="{EF23445A-F512-D443-AA88-A449273B0B12}"/>
                  </a:ext>
                </a:extLst>
              </p:cNvPr>
              <p:cNvPicPr>
                <a:picLocks noChangeAspect="1"/>
              </p:cNvPicPr>
              <p:nvPr/>
            </p:nvPicPr>
            <p:blipFill>
              <a:blip r:embed="rId5"/>
              <a:stretch>
                <a:fillRect/>
              </a:stretch>
            </p:blipFill>
            <p:spPr>
              <a:xfrm>
                <a:off x="3398670" y="2428513"/>
                <a:ext cx="1554381" cy="1642516"/>
              </a:xfrm>
              <a:prstGeom prst="rect">
                <a:avLst/>
              </a:prstGeom>
            </p:spPr>
          </p:pic>
          <p:sp>
            <p:nvSpPr>
              <p:cNvPr id="54" name="TextBox 53">
                <a:extLst>
                  <a:ext uri="{FF2B5EF4-FFF2-40B4-BE49-F238E27FC236}">
                    <a16:creationId xmlns:a16="http://schemas.microsoft.com/office/drawing/2014/main" id="{CD1385C2-DADC-D84D-A4BE-27D2ACCA8E68}"/>
                  </a:ext>
                </a:extLst>
              </p:cNvPr>
              <p:cNvSpPr txBox="1"/>
              <p:nvPr/>
            </p:nvSpPr>
            <p:spPr>
              <a:xfrm>
                <a:off x="5063472" y="3425657"/>
                <a:ext cx="318579" cy="203488"/>
              </a:xfrm>
              <a:prstGeom prst="rect">
                <a:avLst/>
              </a:prstGeom>
              <a:noFill/>
            </p:spPr>
            <p:txBody>
              <a:bodyPr wrap="square" lIns="0" tIns="0" rIns="0" bIns="0" rtlCol="0" anchor="ctr" anchorCtr="0">
                <a:spAutoFit/>
              </a:bodyPr>
              <a:lstStyle/>
              <a:p>
                <a:pPr>
                  <a:defRPr/>
                </a:pPr>
                <a:r>
                  <a:rPr lang="en-GB" altLang="en-US" sz="1600" dirty="0"/>
                  <a:t>5cm</a:t>
                </a:r>
                <a:endParaRPr lang="en-GB" altLang="en-US" sz="1600" baseline="30000" dirty="0"/>
              </a:p>
            </p:txBody>
          </p:sp>
          <p:sp>
            <p:nvSpPr>
              <p:cNvPr id="32" name="TextBox 31">
                <a:extLst>
                  <a:ext uri="{FF2B5EF4-FFF2-40B4-BE49-F238E27FC236}">
                    <a16:creationId xmlns:a16="http://schemas.microsoft.com/office/drawing/2014/main" id="{B5A6012C-7DCF-894C-A69D-39F66D49CB50}"/>
                  </a:ext>
                </a:extLst>
              </p:cNvPr>
              <p:cNvSpPr txBox="1"/>
              <p:nvPr/>
            </p:nvSpPr>
            <p:spPr>
              <a:xfrm>
                <a:off x="2879957" y="3053619"/>
                <a:ext cx="413342" cy="203488"/>
              </a:xfrm>
              <a:prstGeom prst="rect">
                <a:avLst/>
              </a:prstGeom>
              <a:noFill/>
            </p:spPr>
            <p:txBody>
              <a:bodyPr wrap="square" lIns="0" tIns="0" rIns="0" bIns="0" rtlCol="0" anchor="ctr" anchorCtr="0">
                <a:spAutoFit/>
              </a:bodyPr>
              <a:lstStyle/>
              <a:p>
                <a:pPr algn="r">
                  <a:defRPr/>
                </a:pPr>
                <a:r>
                  <a:rPr lang="en-GB" altLang="en-US" sz="1600" dirty="0"/>
                  <a:t>11cm</a:t>
                </a:r>
                <a:endParaRPr lang="en-GB" altLang="en-US" sz="1600" baseline="30000" dirty="0"/>
              </a:p>
            </p:txBody>
          </p:sp>
        </p:grpSp>
        <p:cxnSp>
          <p:nvCxnSpPr>
            <p:cNvPr id="29" name="Straight Arrow Connector 28">
              <a:extLst>
                <a:ext uri="{FF2B5EF4-FFF2-40B4-BE49-F238E27FC236}">
                  <a16:creationId xmlns:a16="http://schemas.microsoft.com/office/drawing/2014/main" id="{955A41C8-7E76-BD4C-BA54-553B4FD4816D}"/>
                </a:ext>
              </a:extLst>
            </p:cNvPr>
            <p:cNvCxnSpPr>
              <a:cxnSpLocks/>
            </p:cNvCxnSpPr>
            <p:nvPr/>
          </p:nvCxnSpPr>
          <p:spPr>
            <a:xfrm>
              <a:off x="1347196" y="2197072"/>
              <a:ext cx="0" cy="1702191"/>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Arrow Connector 29">
              <a:extLst>
                <a:ext uri="{FF2B5EF4-FFF2-40B4-BE49-F238E27FC236}">
                  <a16:creationId xmlns:a16="http://schemas.microsoft.com/office/drawing/2014/main" id="{6390BE81-DA5B-D04D-8E83-C751A7F3F1FD}"/>
                </a:ext>
              </a:extLst>
            </p:cNvPr>
            <p:cNvCxnSpPr>
              <a:cxnSpLocks/>
            </p:cNvCxnSpPr>
            <p:nvPr/>
          </p:nvCxnSpPr>
          <p:spPr>
            <a:xfrm>
              <a:off x="3354737" y="3097405"/>
              <a:ext cx="0" cy="801858"/>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36" name="Rectangle 35">
            <a:extLst>
              <a:ext uri="{FF2B5EF4-FFF2-40B4-BE49-F238E27FC236}">
                <a16:creationId xmlns:a16="http://schemas.microsoft.com/office/drawing/2014/main" id="{CA08B038-9835-9841-8AE2-E60CA42A4DB2}"/>
              </a:ext>
            </a:extLst>
          </p:cNvPr>
          <p:cNvSpPr/>
          <p:nvPr/>
        </p:nvSpPr>
        <p:spPr>
          <a:xfrm>
            <a:off x="1220992" y="4187982"/>
            <a:ext cx="822002" cy="21041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5F6FF94-F38B-D740-A645-FF3399EB5415}"/>
                  </a:ext>
                </a:extLst>
              </p:cNvPr>
              <p:cNvSpPr txBox="1"/>
              <p:nvPr/>
            </p:nvSpPr>
            <p:spPr>
              <a:xfrm>
                <a:off x="309182" y="4160140"/>
                <a:ext cx="1719595" cy="246221"/>
              </a:xfrm>
              <a:prstGeom prst="rect">
                <a:avLst/>
              </a:prstGeom>
              <a:noFill/>
            </p:spPr>
            <p:txBody>
              <a:bodyPr wrap="square" lIns="0" tIns="0" rIns="0" bIns="0" rtlCol="0" anchor="ctr" anchorCtr="0">
                <a:spAutoFit/>
              </a:bodyPr>
              <a:lstStyle/>
              <a:p>
                <a:pPr>
                  <a:defRPr/>
                </a:pPr>
                <a:r>
                  <a:rPr lang="en-GB" altLang="en-US" sz="1600" b="1" dirty="0">
                    <a:solidFill>
                      <a:schemeClr val="tx1"/>
                    </a:solidFill>
                  </a:rPr>
                  <a:t>Cylinder</a:t>
                </a:r>
                <a:r>
                  <a:rPr lang="en-GB" altLang="en-US" sz="1600" dirty="0">
                    <a:solidFill>
                      <a:schemeClr val="tx1"/>
                    </a:solidFill>
                  </a:rPr>
                  <a:t> </a:t>
                </a:r>
                <a14:m>
                  <m:oMath xmlns:m="http://schemas.openxmlformats.org/officeDocument/2006/math">
                    <m:r>
                      <a:rPr lang="en-GB" altLang="en-US" sz="1600" b="0" i="1" smtClean="0">
                        <a:solidFill>
                          <a:schemeClr val="tx1"/>
                        </a:solidFill>
                        <a:latin typeface="Cambria Math" panose="02040503050406030204" pitchFamily="18" charset="0"/>
                      </a:rPr>
                      <m:t>=</m:t>
                    </m:r>
                  </m:oMath>
                </a14:m>
                <a:r>
                  <a:rPr lang="en-GB" altLang="en-US" sz="1600" dirty="0">
                    <a:solidFill>
                      <a:schemeClr val="tx1"/>
                    </a:solidFill>
                  </a:rPr>
                  <a:t> </a:t>
                </a:r>
                <a:r>
                  <a:rPr lang="en-GB" altLang="en-US" sz="1600" b="1" dirty="0">
                    <a:solidFill>
                      <a:schemeClr val="tx1"/>
                    </a:solidFill>
                  </a:rPr>
                  <a:t>180</a:t>
                </a:r>
                <a14:m>
                  <m:oMath xmlns:m="http://schemas.openxmlformats.org/officeDocument/2006/math">
                    <m:r>
                      <a:rPr lang="en-GB" altLang="en-US" sz="1600" b="1" i="1" dirty="0" smtClean="0">
                        <a:solidFill>
                          <a:schemeClr val="tx1"/>
                        </a:solidFill>
                        <a:latin typeface="Cambria Math" panose="02040503050406030204" pitchFamily="18" charset="0"/>
                      </a:rPr>
                      <m:t>𝝅</m:t>
                    </m:r>
                  </m:oMath>
                </a14:m>
                <a:r>
                  <a:rPr lang="en-GB" altLang="en-US" sz="1600" b="1" dirty="0">
                    <a:solidFill>
                      <a:schemeClr val="tx1"/>
                    </a:solidFill>
                  </a:rPr>
                  <a:t>cm</a:t>
                </a:r>
                <a:r>
                  <a:rPr lang="en-GB" altLang="en-US" sz="1600" b="1" baseline="30000" dirty="0">
                    <a:solidFill>
                      <a:schemeClr val="tx1"/>
                    </a:solidFill>
                  </a:rPr>
                  <a:t>2</a:t>
                </a:r>
              </a:p>
            </p:txBody>
          </p:sp>
        </mc:Choice>
        <mc:Fallback xmlns="">
          <p:sp>
            <p:nvSpPr>
              <p:cNvPr id="38" name="TextBox 37">
                <a:extLst>
                  <a:ext uri="{FF2B5EF4-FFF2-40B4-BE49-F238E27FC236}">
                    <a16:creationId xmlns:a16="http://schemas.microsoft.com/office/drawing/2014/main" id="{C5F6FF94-F38B-D740-A645-FF3399EB5415}"/>
                  </a:ext>
                </a:extLst>
              </p:cNvPr>
              <p:cNvSpPr txBox="1">
                <a:spLocks noRot="1" noChangeAspect="1" noMove="1" noResize="1" noEditPoints="1" noAdjustHandles="1" noChangeArrowheads="1" noChangeShapeType="1" noTextEdit="1"/>
              </p:cNvSpPr>
              <p:nvPr/>
            </p:nvSpPr>
            <p:spPr>
              <a:xfrm>
                <a:off x="309182" y="4160140"/>
                <a:ext cx="1719595" cy="246221"/>
              </a:xfrm>
              <a:prstGeom prst="rect">
                <a:avLst/>
              </a:prstGeom>
              <a:blipFill>
                <a:blip r:embed="rId6"/>
                <a:stretch>
                  <a:fillRect l="-7353" t="-25000" r="-3676"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96E4B4-B387-814E-AB79-3B1E33E5578F}"/>
                  </a:ext>
                </a:extLst>
              </p:cNvPr>
              <p:cNvSpPr txBox="1"/>
              <p:nvPr/>
            </p:nvSpPr>
            <p:spPr>
              <a:xfrm>
                <a:off x="1500037" y="3354413"/>
                <a:ext cx="1708587" cy="223837"/>
              </a:xfrm>
              <a:prstGeom prst="rect">
                <a:avLst/>
              </a:prstGeom>
              <a:solidFill>
                <a:schemeClr val="accent3"/>
              </a:solidFill>
            </p:spPr>
            <p:txBody>
              <a:bodyPr wrap="square" lIns="0" tIns="0" rIns="0" bIns="0" rtlCol="0" anchor="ctr" anchorCtr="0">
                <a:spAutoFit/>
              </a:bodyPr>
              <a:lstStyle/>
              <a:p>
                <a:pPr algn="ctr">
                  <a:defRPr/>
                </a:pPr>
                <a:r>
                  <a:rPr lang="en-GB" altLang="en-US" sz="1600" b="1" dirty="0"/>
                  <a:t>V</a:t>
                </a:r>
                <a:r>
                  <a:rPr lang="en-GB" altLang="en-US" sz="1600" b="1" dirty="0">
                    <a:solidFill>
                      <a:schemeClr val="tx1"/>
                    </a:solidFill>
                  </a:rPr>
                  <a:t>olume </a:t>
                </a:r>
                <a14:m>
                  <m:oMath xmlns:m="http://schemas.openxmlformats.org/officeDocument/2006/math">
                    <m:r>
                      <a:rPr lang="en-GB" altLang="en-US" sz="1600" b="1" i="1" smtClean="0">
                        <a:solidFill>
                          <a:schemeClr val="tx1"/>
                        </a:solidFill>
                        <a:latin typeface="Cambria Math" panose="02040503050406030204" pitchFamily="18" charset="0"/>
                      </a:rPr>
                      <m:t>=</m:t>
                    </m:r>
                  </m:oMath>
                </a14:m>
                <a:r>
                  <a:rPr lang="en-GB" altLang="en-US" sz="1600" b="1" baseline="30000" dirty="0">
                    <a:solidFill>
                      <a:schemeClr val="tx1"/>
                    </a:solidFill>
                  </a:rPr>
                  <a:t> </a:t>
                </a:r>
                <a:r>
                  <a:rPr lang="en-GB" altLang="en-US" sz="1600" b="1" dirty="0">
                    <a:solidFill>
                      <a:schemeClr val="tx1"/>
                    </a:solidFill>
                  </a:rPr>
                  <a:t>324</a:t>
                </a:r>
                <a14:m>
                  <m:oMath xmlns:m="http://schemas.openxmlformats.org/officeDocument/2006/math">
                    <m:r>
                      <a:rPr lang="en-GB" altLang="en-US" sz="1600" b="1" i="1" dirty="0" smtClean="0">
                        <a:solidFill>
                          <a:schemeClr val="tx1"/>
                        </a:solidFill>
                        <a:latin typeface="Cambria Math" panose="02040503050406030204" pitchFamily="18" charset="0"/>
                      </a:rPr>
                      <m:t>𝝅</m:t>
                    </m:r>
                  </m:oMath>
                </a14:m>
                <a:r>
                  <a:rPr lang="en-GB" altLang="en-US" sz="1600" b="1" dirty="0">
                    <a:solidFill>
                      <a:schemeClr val="tx1"/>
                    </a:solidFill>
                  </a:rPr>
                  <a:t>cm</a:t>
                </a:r>
                <a:r>
                  <a:rPr lang="en-GB" altLang="en-US" sz="1600" b="1" baseline="30000" dirty="0">
                    <a:solidFill>
                      <a:schemeClr val="tx1"/>
                    </a:solidFill>
                  </a:rPr>
                  <a:t>3</a:t>
                </a:r>
              </a:p>
            </p:txBody>
          </p:sp>
        </mc:Choice>
        <mc:Fallback xmlns="">
          <p:sp>
            <p:nvSpPr>
              <p:cNvPr id="43" name="TextBox 42">
                <a:extLst>
                  <a:ext uri="{FF2B5EF4-FFF2-40B4-BE49-F238E27FC236}">
                    <a16:creationId xmlns:a16="http://schemas.microsoft.com/office/drawing/2014/main" id="{B196E4B4-B387-814E-AB79-3B1E33E5578F}"/>
                  </a:ext>
                </a:extLst>
              </p:cNvPr>
              <p:cNvSpPr txBox="1">
                <a:spLocks noRot="1" noChangeAspect="1" noMove="1" noResize="1" noEditPoints="1" noAdjustHandles="1" noChangeArrowheads="1" noChangeShapeType="1" noTextEdit="1"/>
              </p:cNvSpPr>
              <p:nvPr/>
            </p:nvSpPr>
            <p:spPr>
              <a:xfrm>
                <a:off x="1500037" y="3354413"/>
                <a:ext cx="1708587" cy="223837"/>
              </a:xfrm>
              <a:prstGeom prst="rect">
                <a:avLst/>
              </a:prstGeom>
              <a:blipFill>
                <a:blip r:embed="rId7"/>
                <a:stretch>
                  <a:fillRect l="-5147" t="-33333" r="-2206" b="-50000"/>
                </a:stretch>
              </a:blipFill>
            </p:spPr>
            <p:txBody>
              <a:bodyPr/>
              <a:lstStyle/>
              <a:p>
                <a:r>
                  <a:rPr lang="en-GB">
                    <a:noFill/>
                  </a:rPr>
                  <a:t> </a:t>
                </a:r>
              </a:p>
            </p:txBody>
          </p:sp>
        </mc:Fallback>
      </mc:AlternateContent>
      <p:sp>
        <p:nvSpPr>
          <p:cNvPr id="44" name="Rectangle 43">
            <a:extLst>
              <a:ext uri="{FF2B5EF4-FFF2-40B4-BE49-F238E27FC236}">
                <a16:creationId xmlns:a16="http://schemas.microsoft.com/office/drawing/2014/main" id="{A466CCB0-A33A-1349-BF98-441707C15BFD}"/>
              </a:ext>
            </a:extLst>
          </p:cNvPr>
          <p:cNvSpPr/>
          <p:nvPr/>
        </p:nvSpPr>
        <p:spPr>
          <a:xfrm>
            <a:off x="3407165" y="4187982"/>
            <a:ext cx="810530" cy="21041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B837A3A-888E-1748-81A7-09A2205E7098}"/>
                  </a:ext>
                </a:extLst>
              </p:cNvPr>
              <p:cNvSpPr txBox="1"/>
              <p:nvPr/>
            </p:nvSpPr>
            <p:spPr>
              <a:xfrm>
                <a:off x="2167793" y="4170079"/>
                <a:ext cx="2146202" cy="246221"/>
              </a:xfrm>
              <a:prstGeom prst="rect">
                <a:avLst/>
              </a:prstGeom>
              <a:noFill/>
            </p:spPr>
            <p:txBody>
              <a:bodyPr wrap="square" lIns="0" tIns="0" rIns="0" bIns="0" rtlCol="0" anchor="ctr" anchorCtr="0">
                <a:spAutoFit/>
              </a:bodyPr>
              <a:lstStyle/>
              <a:p>
                <a:pPr>
                  <a:defRPr/>
                </a:pPr>
                <a:r>
                  <a:rPr lang="en-GB" altLang="en-US" sz="1600" b="1" dirty="0">
                    <a:solidFill>
                      <a:schemeClr val="tx1"/>
                    </a:solidFill>
                  </a:rPr>
                  <a:t>Hemisphere</a:t>
                </a:r>
                <a:r>
                  <a:rPr lang="en-GB" altLang="en-US" sz="1600" dirty="0">
                    <a:solidFill>
                      <a:schemeClr val="tx1"/>
                    </a:solidFill>
                  </a:rPr>
                  <a:t> </a:t>
                </a:r>
                <a14:m>
                  <m:oMath xmlns:m="http://schemas.openxmlformats.org/officeDocument/2006/math">
                    <m:r>
                      <a:rPr lang="en-GB" altLang="en-US" sz="1600" b="0" i="1" smtClean="0">
                        <a:solidFill>
                          <a:schemeClr val="tx1"/>
                        </a:solidFill>
                        <a:latin typeface="Cambria Math" panose="02040503050406030204" pitchFamily="18" charset="0"/>
                      </a:rPr>
                      <m:t>=</m:t>
                    </m:r>
                  </m:oMath>
                </a14:m>
                <a:r>
                  <a:rPr lang="en-GB" altLang="en-US" sz="1600" dirty="0">
                    <a:solidFill>
                      <a:schemeClr val="tx1"/>
                    </a:solidFill>
                  </a:rPr>
                  <a:t> </a:t>
                </a:r>
                <a:r>
                  <a:rPr lang="en-GB" altLang="en-US" sz="1600" b="1" dirty="0">
                    <a:solidFill>
                      <a:schemeClr val="tx1"/>
                    </a:solidFill>
                  </a:rPr>
                  <a:t>144</a:t>
                </a:r>
                <a14:m>
                  <m:oMath xmlns:m="http://schemas.openxmlformats.org/officeDocument/2006/math">
                    <m:r>
                      <a:rPr lang="en-GB" altLang="en-US" sz="1600" b="1" i="1" dirty="0" smtClean="0">
                        <a:solidFill>
                          <a:schemeClr val="tx1"/>
                        </a:solidFill>
                        <a:latin typeface="Cambria Math" panose="02040503050406030204" pitchFamily="18" charset="0"/>
                      </a:rPr>
                      <m:t>𝝅</m:t>
                    </m:r>
                  </m:oMath>
                </a14:m>
                <a:r>
                  <a:rPr lang="en-GB" altLang="en-US" sz="1600" b="1" dirty="0">
                    <a:solidFill>
                      <a:schemeClr val="tx1"/>
                    </a:solidFill>
                  </a:rPr>
                  <a:t>cm</a:t>
                </a:r>
                <a:r>
                  <a:rPr lang="en-GB" altLang="en-US" sz="1600" b="1" baseline="30000" dirty="0">
                    <a:solidFill>
                      <a:schemeClr val="tx1"/>
                    </a:solidFill>
                  </a:rPr>
                  <a:t>2</a:t>
                </a:r>
              </a:p>
            </p:txBody>
          </p:sp>
        </mc:Choice>
        <mc:Fallback xmlns="">
          <p:sp>
            <p:nvSpPr>
              <p:cNvPr id="45" name="TextBox 44">
                <a:extLst>
                  <a:ext uri="{FF2B5EF4-FFF2-40B4-BE49-F238E27FC236}">
                    <a16:creationId xmlns:a16="http://schemas.microsoft.com/office/drawing/2014/main" id="{DB837A3A-888E-1748-81A7-09A2205E7098}"/>
                  </a:ext>
                </a:extLst>
              </p:cNvPr>
              <p:cNvSpPr txBox="1">
                <a:spLocks noRot="1" noChangeAspect="1" noMove="1" noResize="1" noEditPoints="1" noAdjustHandles="1" noChangeArrowheads="1" noChangeShapeType="1" noTextEdit="1"/>
              </p:cNvSpPr>
              <p:nvPr/>
            </p:nvSpPr>
            <p:spPr>
              <a:xfrm>
                <a:off x="2167793" y="4170079"/>
                <a:ext cx="2146202" cy="246221"/>
              </a:xfrm>
              <a:prstGeom prst="rect">
                <a:avLst/>
              </a:prstGeom>
              <a:blipFill>
                <a:blip r:embed="rId8"/>
                <a:stretch>
                  <a:fillRect l="-5882" t="-19048" b="-4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7548B00-ABF0-DF4C-802C-5B7693725FEE}"/>
                  </a:ext>
                </a:extLst>
              </p:cNvPr>
              <p:cNvSpPr txBox="1"/>
              <p:nvPr/>
            </p:nvSpPr>
            <p:spPr>
              <a:xfrm>
                <a:off x="5442528" y="3862244"/>
                <a:ext cx="1651089" cy="246221"/>
              </a:xfrm>
              <a:prstGeom prst="rect">
                <a:avLst/>
              </a:prstGeom>
              <a:solidFill>
                <a:schemeClr val="accent3"/>
              </a:solidFill>
            </p:spPr>
            <p:txBody>
              <a:bodyPr wrap="square" lIns="0" tIns="0" rIns="0" bIns="0" rtlCol="0" anchor="ctr" anchorCtr="0">
                <a:spAutoFit/>
              </a:bodyPr>
              <a:lstStyle/>
              <a:p>
                <a:pPr algn="ctr">
                  <a:defRPr/>
                </a:pPr>
                <a:r>
                  <a:rPr lang="en-GB" altLang="en-US" sz="1600" b="1" dirty="0">
                    <a:solidFill>
                      <a:schemeClr val="tx1"/>
                    </a:solidFill>
                  </a:rPr>
                  <a:t>Volume </a:t>
                </a:r>
                <a14:m>
                  <m:oMath xmlns:m="http://schemas.openxmlformats.org/officeDocument/2006/math">
                    <m:r>
                      <a:rPr lang="en-GB" altLang="en-US" sz="1600" b="1" i="1" smtClean="0">
                        <a:solidFill>
                          <a:schemeClr val="tx1"/>
                        </a:solidFill>
                        <a:latin typeface="Cambria Math" panose="02040503050406030204" pitchFamily="18" charset="0"/>
                      </a:rPr>
                      <m:t>=</m:t>
                    </m:r>
                  </m:oMath>
                </a14:m>
                <a:r>
                  <a:rPr lang="en-GB" altLang="en-US" sz="1600" b="1" dirty="0">
                    <a:solidFill>
                      <a:schemeClr val="tx1"/>
                    </a:solidFill>
                  </a:rPr>
                  <a:t> 72</a:t>
                </a:r>
                <a14:m>
                  <m:oMath xmlns:m="http://schemas.openxmlformats.org/officeDocument/2006/math">
                    <m:r>
                      <a:rPr lang="en-GB" altLang="en-US" sz="1600" b="1" i="1" dirty="0" smtClean="0">
                        <a:solidFill>
                          <a:schemeClr val="tx1"/>
                        </a:solidFill>
                        <a:latin typeface="Cambria Math" panose="02040503050406030204" pitchFamily="18" charset="0"/>
                      </a:rPr>
                      <m:t>𝝅</m:t>
                    </m:r>
                  </m:oMath>
                </a14:m>
                <a:r>
                  <a:rPr lang="en-GB" altLang="en-US" sz="1600" b="1" dirty="0">
                    <a:solidFill>
                      <a:schemeClr val="tx1"/>
                    </a:solidFill>
                  </a:rPr>
                  <a:t>cm</a:t>
                </a:r>
                <a:r>
                  <a:rPr lang="en-GB" altLang="en-US" sz="1600" b="1" baseline="30000" dirty="0">
                    <a:solidFill>
                      <a:schemeClr val="tx1"/>
                    </a:solidFill>
                  </a:rPr>
                  <a:t>3</a:t>
                </a:r>
              </a:p>
            </p:txBody>
          </p:sp>
        </mc:Choice>
        <mc:Fallback xmlns="">
          <p:sp>
            <p:nvSpPr>
              <p:cNvPr id="62" name="TextBox 61">
                <a:extLst>
                  <a:ext uri="{FF2B5EF4-FFF2-40B4-BE49-F238E27FC236}">
                    <a16:creationId xmlns:a16="http://schemas.microsoft.com/office/drawing/2014/main" id="{67548B00-ABF0-DF4C-802C-5B7693725FEE}"/>
                  </a:ext>
                </a:extLst>
              </p:cNvPr>
              <p:cNvSpPr txBox="1">
                <a:spLocks noRot="1" noChangeAspect="1" noMove="1" noResize="1" noEditPoints="1" noAdjustHandles="1" noChangeArrowheads="1" noChangeShapeType="1" noTextEdit="1"/>
              </p:cNvSpPr>
              <p:nvPr/>
            </p:nvSpPr>
            <p:spPr>
              <a:xfrm>
                <a:off x="5442528" y="3862244"/>
                <a:ext cx="1651089" cy="246221"/>
              </a:xfrm>
              <a:prstGeom prst="rect">
                <a:avLst/>
              </a:prstGeom>
              <a:blipFill>
                <a:blip r:embed="rId9"/>
                <a:stretch>
                  <a:fillRect l="-4580" t="-19048" r="-1527" b="-42857"/>
                </a:stretch>
              </a:blipFill>
            </p:spPr>
            <p:txBody>
              <a:bodyPr/>
              <a:lstStyle/>
              <a:p>
                <a:r>
                  <a:rPr lang="en-GB">
                    <a:noFill/>
                  </a:rPr>
                  <a:t> </a:t>
                </a:r>
              </a:p>
            </p:txBody>
          </p:sp>
        </mc:Fallback>
      </mc:AlternateContent>
      <p:grpSp>
        <p:nvGrpSpPr>
          <p:cNvPr id="13" name="Group 12">
            <a:extLst>
              <a:ext uri="{FF2B5EF4-FFF2-40B4-BE49-F238E27FC236}">
                <a16:creationId xmlns:a16="http://schemas.microsoft.com/office/drawing/2014/main" id="{8B1A3A92-A188-E242-8C01-9336A7DDBBF6}"/>
              </a:ext>
            </a:extLst>
          </p:cNvPr>
          <p:cNvGrpSpPr/>
          <p:nvPr/>
        </p:nvGrpSpPr>
        <p:grpSpPr>
          <a:xfrm>
            <a:off x="7469020" y="1972707"/>
            <a:ext cx="1365798" cy="2287711"/>
            <a:chOff x="7446857" y="1981585"/>
            <a:chExt cx="1365798" cy="2287711"/>
          </a:xfrm>
        </p:grpSpPr>
        <p:pic>
          <p:nvPicPr>
            <p:cNvPr id="6" name="Picture 5">
              <a:extLst>
                <a:ext uri="{FF2B5EF4-FFF2-40B4-BE49-F238E27FC236}">
                  <a16:creationId xmlns:a16="http://schemas.microsoft.com/office/drawing/2014/main" id="{685450E9-9C5E-CA47-84B7-D78A429410F5}"/>
                </a:ext>
              </a:extLst>
            </p:cNvPr>
            <p:cNvPicPr>
              <a:picLocks noChangeAspect="1"/>
            </p:cNvPicPr>
            <p:nvPr/>
          </p:nvPicPr>
          <p:blipFill>
            <a:blip r:embed="rId10"/>
            <a:stretch>
              <a:fillRect/>
            </a:stretch>
          </p:blipFill>
          <p:spPr>
            <a:xfrm>
              <a:off x="7446857" y="1981585"/>
              <a:ext cx="1365798" cy="2287711"/>
            </a:xfrm>
            <a:prstGeom prst="rect">
              <a:avLst/>
            </a:prstGeom>
          </p:spPr>
        </p:pic>
        <p:sp>
          <p:nvSpPr>
            <p:cNvPr id="51" name="TextBox 50">
              <a:extLst>
                <a:ext uri="{FF2B5EF4-FFF2-40B4-BE49-F238E27FC236}">
                  <a16:creationId xmlns:a16="http://schemas.microsoft.com/office/drawing/2014/main" id="{2B668BF8-D667-6649-A7B4-FEFCD79195EB}"/>
                </a:ext>
              </a:extLst>
            </p:cNvPr>
            <p:cNvSpPr txBox="1"/>
            <p:nvPr/>
          </p:nvSpPr>
          <p:spPr>
            <a:xfrm>
              <a:off x="7978150" y="3804669"/>
              <a:ext cx="385480" cy="246221"/>
            </a:xfrm>
            <a:prstGeom prst="rect">
              <a:avLst/>
            </a:prstGeom>
            <a:noFill/>
          </p:spPr>
          <p:txBody>
            <a:bodyPr wrap="square" lIns="0" tIns="0" rIns="0" bIns="0" rtlCol="0" anchor="ctr" anchorCtr="0">
              <a:spAutoFit/>
            </a:bodyPr>
            <a:lstStyle/>
            <a:p>
              <a:pPr>
                <a:defRPr/>
              </a:pPr>
              <a:r>
                <a:rPr lang="en-GB" altLang="en-US" sz="1600" dirty="0"/>
                <a:t>3cm</a:t>
              </a:r>
              <a:endParaRPr lang="en-GB" altLang="en-US" sz="1600" baseline="30000" dirty="0"/>
            </a:p>
          </p:txBody>
        </p:sp>
        <p:cxnSp>
          <p:nvCxnSpPr>
            <p:cNvPr id="52" name="Straight Arrow Connector 51">
              <a:extLst>
                <a:ext uri="{FF2B5EF4-FFF2-40B4-BE49-F238E27FC236}">
                  <a16:creationId xmlns:a16="http://schemas.microsoft.com/office/drawing/2014/main" id="{C6C22237-C089-A44B-A99F-A6496D51C438}"/>
                </a:ext>
              </a:extLst>
            </p:cNvPr>
            <p:cNvCxnSpPr>
              <a:cxnSpLocks/>
            </p:cNvCxnSpPr>
            <p:nvPr/>
          </p:nvCxnSpPr>
          <p:spPr>
            <a:xfrm flipH="1">
              <a:off x="7754353" y="3590094"/>
              <a:ext cx="375403" cy="512674"/>
            </a:xfrm>
            <a:prstGeom prst="straightConnector1">
              <a:avLst/>
            </a:prstGeom>
            <a:ln w="19050" cap="rnd">
              <a:solidFill>
                <a:schemeClr val="tx1"/>
              </a:solidFill>
              <a:prstDash val="sysDash"/>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53" name="Rectangle 52">
            <a:extLst>
              <a:ext uri="{FF2B5EF4-FFF2-40B4-BE49-F238E27FC236}">
                <a16:creationId xmlns:a16="http://schemas.microsoft.com/office/drawing/2014/main" id="{063121D8-E6AA-FF48-A431-4EA06AD22CCD}"/>
              </a:ext>
            </a:extLst>
          </p:cNvPr>
          <p:cNvSpPr/>
          <p:nvPr/>
        </p:nvSpPr>
        <p:spPr>
          <a:xfrm>
            <a:off x="6483936" y="3273582"/>
            <a:ext cx="712991" cy="21041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B1954C8-B562-9B46-91C8-DF131D981527}"/>
                  </a:ext>
                </a:extLst>
              </p:cNvPr>
              <p:cNvSpPr txBox="1"/>
              <p:nvPr/>
            </p:nvSpPr>
            <p:spPr>
              <a:xfrm>
                <a:off x="5240477" y="3255679"/>
                <a:ext cx="2082480" cy="246221"/>
              </a:xfrm>
              <a:prstGeom prst="rect">
                <a:avLst/>
              </a:prstGeom>
              <a:noFill/>
            </p:spPr>
            <p:txBody>
              <a:bodyPr wrap="square" lIns="0" tIns="0" rIns="0" bIns="0" rtlCol="0" anchor="ctr" anchorCtr="0">
                <a:spAutoFit/>
              </a:bodyPr>
              <a:lstStyle/>
              <a:p>
                <a:pPr>
                  <a:defRPr/>
                </a:pPr>
                <a:r>
                  <a:rPr lang="en-GB" altLang="en-US" sz="1600" b="1" dirty="0">
                    <a:solidFill>
                      <a:schemeClr val="tx1"/>
                    </a:solidFill>
                  </a:rPr>
                  <a:t>Hemisphere</a:t>
                </a:r>
                <a:r>
                  <a:rPr lang="en-GB" altLang="en-US" sz="1600" dirty="0">
                    <a:solidFill>
                      <a:schemeClr val="tx1"/>
                    </a:solidFill>
                  </a:rPr>
                  <a:t> </a:t>
                </a:r>
                <a14:m>
                  <m:oMath xmlns:m="http://schemas.openxmlformats.org/officeDocument/2006/math">
                    <m:r>
                      <a:rPr lang="en-GB" altLang="en-US" sz="1600" b="0" i="1" smtClean="0">
                        <a:solidFill>
                          <a:schemeClr val="tx1"/>
                        </a:solidFill>
                        <a:latin typeface="Cambria Math" panose="02040503050406030204" pitchFamily="18" charset="0"/>
                      </a:rPr>
                      <m:t>=</m:t>
                    </m:r>
                  </m:oMath>
                </a14:m>
                <a:r>
                  <a:rPr lang="en-GB" altLang="en-US" sz="1600" dirty="0">
                    <a:solidFill>
                      <a:schemeClr val="tx1"/>
                    </a:solidFill>
                  </a:rPr>
                  <a:t> </a:t>
                </a:r>
                <a:r>
                  <a:rPr lang="en-GB" altLang="en-US" sz="1600" b="1" dirty="0">
                    <a:solidFill>
                      <a:schemeClr val="tx1"/>
                    </a:solidFill>
                  </a:rPr>
                  <a:t>18</a:t>
                </a:r>
                <a14:m>
                  <m:oMath xmlns:m="http://schemas.openxmlformats.org/officeDocument/2006/math">
                    <m:r>
                      <a:rPr lang="en-GB" altLang="en-US" sz="1600" b="1" i="1" dirty="0" smtClean="0">
                        <a:solidFill>
                          <a:schemeClr val="tx1"/>
                        </a:solidFill>
                        <a:latin typeface="Cambria Math" panose="02040503050406030204" pitchFamily="18" charset="0"/>
                      </a:rPr>
                      <m:t>𝝅</m:t>
                    </m:r>
                  </m:oMath>
                </a14:m>
                <a:r>
                  <a:rPr lang="en-GB" altLang="en-US" sz="1600" b="1" dirty="0">
                    <a:solidFill>
                      <a:schemeClr val="tx1"/>
                    </a:solidFill>
                  </a:rPr>
                  <a:t>cm</a:t>
                </a:r>
                <a:r>
                  <a:rPr lang="en-GB" altLang="en-US" sz="1600" b="1" baseline="30000" dirty="0">
                    <a:solidFill>
                      <a:schemeClr val="tx1"/>
                    </a:solidFill>
                  </a:rPr>
                  <a:t>2</a:t>
                </a:r>
              </a:p>
            </p:txBody>
          </p:sp>
        </mc:Choice>
        <mc:Fallback xmlns="">
          <p:sp>
            <p:nvSpPr>
              <p:cNvPr id="55" name="TextBox 54">
                <a:extLst>
                  <a:ext uri="{FF2B5EF4-FFF2-40B4-BE49-F238E27FC236}">
                    <a16:creationId xmlns:a16="http://schemas.microsoft.com/office/drawing/2014/main" id="{4B1954C8-B562-9B46-91C8-DF131D981527}"/>
                  </a:ext>
                </a:extLst>
              </p:cNvPr>
              <p:cNvSpPr txBox="1">
                <a:spLocks noRot="1" noChangeAspect="1" noMove="1" noResize="1" noEditPoints="1" noAdjustHandles="1" noChangeArrowheads="1" noChangeShapeType="1" noTextEdit="1"/>
              </p:cNvSpPr>
              <p:nvPr/>
            </p:nvSpPr>
            <p:spPr>
              <a:xfrm>
                <a:off x="5240477" y="3255679"/>
                <a:ext cx="2082480" cy="246221"/>
              </a:xfrm>
              <a:prstGeom prst="rect">
                <a:avLst/>
              </a:prstGeom>
              <a:blipFill>
                <a:blip r:embed="rId11"/>
                <a:stretch>
                  <a:fillRect l="-6061" t="-19048" b="-42857"/>
                </a:stretch>
              </a:blipFill>
            </p:spPr>
            <p:txBody>
              <a:bodyPr/>
              <a:lstStyle/>
              <a:p>
                <a:r>
                  <a:rPr lang="en-GB">
                    <a:noFill/>
                  </a:rPr>
                  <a:t> </a:t>
                </a:r>
              </a:p>
            </p:txBody>
          </p:sp>
        </mc:Fallback>
      </mc:AlternateContent>
      <p:sp>
        <p:nvSpPr>
          <p:cNvPr id="56" name="Rectangle 55">
            <a:extLst>
              <a:ext uri="{FF2B5EF4-FFF2-40B4-BE49-F238E27FC236}">
                <a16:creationId xmlns:a16="http://schemas.microsoft.com/office/drawing/2014/main" id="{573B98EE-A7F5-2449-826D-6CF7548EE31D}"/>
              </a:ext>
            </a:extLst>
          </p:cNvPr>
          <p:cNvSpPr/>
          <p:nvPr/>
        </p:nvSpPr>
        <p:spPr>
          <a:xfrm>
            <a:off x="6483936" y="3558329"/>
            <a:ext cx="712991" cy="21041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F932DDB-8116-B841-A90E-8706B2080AED}"/>
                  </a:ext>
                </a:extLst>
              </p:cNvPr>
              <p:cNvSpPr txBox="1"/>
              <p:nvPr/>
            </p:nvSpPr>
            <p:spPr>
              <a:xfrm>
                <a:off x="5828220" y="3540424"/>
                <a:ext cx="1494729" cy="246221"/>
              </a:xfrm>
              <a:prstGeom prst="rect">
                <a:avLst/>
              </a:prstGeom>
              <a:noFill/>
            </p:spPr>
            <p:txBody>
              <a:bodyPr wrap="square" lIns="0" tIns="0" rIns="0" bIns="0" rtlCol="0" anchor="ctr" anchorCtr="0">
                <a:spAutoFit/>
              </a:bodyPr>
              <a:lstStyle/>
              <a:p>
                <a:pPr>
                  <a:defRPr/>
                </a:pPr>
                <a:r>
                  <a:rPr lang="en-GB" altLang="en-US" sz="1600" b="1" dirty="0">
                    <a:solidFill>
                      <a:schemeClr val="tx1"/>
                    </a:solidFill>
                  </a:rPr>
                  <a:t>Cone</a:t>
                </a:r>
                <a:r>
                  <a:rPr lang="en-GB" altLang="en-US" sz="1600" dirty="0">
                    <a:solidFill>
                      <a:schemeClr val="tx1"/>
                    </a:solidFill>
                  </a:rPr>
                  <a:t> </a:t>
                </a:r>
                <a14:m>
                  <m:oMath xmlns:m="http://schemas.openxmlformats.org/officeDocument/2006/math">
                    <m:r>
                      <a:rPr lang="en-GB" altLang="en-US" sz="1600" b="0" i="1" smtClean="0">
                        <a:solidFill>
                          <a:schemeClr val="tx1"/>
                        </a:solidFill>
                        <a:latin typeface="Cambria Math" panose="02040503050406030204" pitchFamily="18" charset="0"/>
                      </a:rPr>
                      <m:t>=</m:t>
                    </m:r>
                  </m:oMath>
                </a14:m>
                <a:r>
                  <a:rPr lang="en-GB" altLang="en-US" sz="1600" dirty="0">
                    <a:solidFill>
                      <a:schemeClr val="tx1"/>
                    </a:solidFill>
                  </a:rPr>
                  <a:t> </a:t>
                </a:r>
                <a:r>
                  <a:rPr lang="en-GB" altLang="en-US" sz="1600" b="1" dirty="0">
                    <a:solidFill>
                      <a:schemeClr val="tx1"/>
                    </a:solidFill>
                  </a:rPr>
                  <a:t>54</a:t>
                </a:r>
                <a14:m>
                  <m:oMath xmlns:m="http://schemas.openxmlformats.org/officeDocument/2006/math">
                    <m:r>
                      <a:rPr lang="en-GB" altLang="en-US" sz="1600" b="1" i="1" dirty="0" smtClean="0">
                        <a:solidFill>
                          <a:schemeClr val="tx1"/>
                        </a:solidFill>
                        <a:latin typeface="Cambria Math" panose="02040503050406030204" pitchFamily="18" charset="0"/>
                      </a:rPr>
                      <m:t>𝝅</m:t>
                    </m:r>
                  </m:oMath>
                </a14:m>
                <a:r>
                  <a:rPr lang="en-GB" altLang="en-US" sz="1600" b="1" dirty="0">
                    <a:solidFill>
                      <a:schemeClr val="tx1"/>
                    </a:solidFill>
                  </a:rPr>
                  <a:t>cm</a:t>
                </a:r>
                <a:r>
                  <a:rPr lang="en-GB" altLang="en-US" sz="1600" b="1" baseline="30000" dirty="0">
                    <a:solidFill>
                      <a:schemeClr val="tx1"/>
                    </a:solidFill>
                  </a:rPr>
                  <a:t>2</a:t>
                </a:r>
              </a:p>
            </p:txBody>
          </p:sp>
        </mc:Choice>
        <mc:Fallback xmlns="">
          <p:sp>
            <p:nvSpPr>
              <p:cNvPr id="57" name="TextBox 56">
                <a:extLst>
                  <a:ext uri="{FF2B5EF4-FFF2-40B4-BE49-F238E27FC236}">
                    <a16:creationId xmlns:a16="http://schemas.microsoft.com/office/drawing/2014/main" id="{4F932DDB-8116-B841-A90E-8706B2080AED}"/>
                  </a:ext>
                </a:extLst>
              </p:cNvPr>
              <p:cNvSpPr txBox="1">
                <a:spLocks noRot="1" noChangeAspect="1" noMove="1" noResize="1" noEditPoints="1" noAdjustHandles="1" noChangeArrowheads="1" noChangeShapeType="1" noTextEdit="1"/>
              </p:cNvSpPr>
              <p:nvPr/>
            </p:nvSpPr>
            <p:spPr>
              <a:xfrm>
                <a:off x="5828220" y="3540424"/>
                <a:ext cx="1494729" cy="246221"/>
              </a:xfrm>
              <a:prstGeom prst="rect">
                <a:avLst/>
              </a:prstGeom>
              <a:blipFill>
                <a:blip r:embed="rId12"/>
                <a:stretch>
                  <a:fillRect l="-7563" t="-20000" b="-45000"/>
                </a:stretch>
              </a:blipFill>
            </p:spPr>
            <p:txBody>
              <a:bodyPr/>
              <a:lstStyle/>
              <a:p>
                <a:r>
                  <a:rPr lang="en-GB">
                    <a:noFill/>
                  </a:rPr>
                  <a:t> </a:t>
                </a:r>
              </a:p>
            </p:txBody>
          </p:sp>
        </mc:Fallback>
      </mc:AlternateContent>
    </p:spTree>
    <p:extLst>
      <p:ext uri="{BB962C8B-B14F-4D97-AF65-F5344CB8AC3E}">
        <p14:creationId xmlns:p14="http://schemas.microsoft.com/office/powerpoint/2010/main" val="248130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dissolv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dissolve">
                                      <p:cBhvr>
                                        <p:cTn id="15" dur="500"/>
                                        <p:tgtEl>
                                          <p:spTgt spid="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dissolv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dissolve">
                                      <p:cBhvr>
                                        <p:cTn id="31" dur="500"/>
                                        <p:tgtEl>
                                          <p:spTgt spid="5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dissolve">
                                      <p:cBhvr>
                                        <p:cTn id="36" dur="500"/>
                                        <p:tgtEl>
                                          <p:spTgt spid="57"/>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dissolve">
                                      <p:cBhvr>
                                        <p:cTn id="39" dur="500"/>
                                        <p:tgtEl>
                                          <p:spTgt spid="56"/>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dissolve">
                                      <p:cBhvr>
                                        <p:cTn id="44"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p:bldP spid="43" grpId="0" animBg="1"/>
      <p:bldP spid="44" grpId="0" animBg="1"/>
      <p:bldP spid="45" grpId="0"/>
      <p:bldP spid="62" grpId="0" animBg="1"/>
      <p:bldP spid="53" grpId="0" animBg="1"/>
      <p:bldP spid="55" grpId="0"/>
      <p:bldP spid="56" grpId="0" animBg="1"/>
      <p:bldP spid="57"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5BD550BD-BB38-E443-B894-5F48B75256B3}"/>
              </a:ext>
            </a:extLst>
          </p:cNvPr>
          <p:cNvSpPr txBox="1"/>
          <p:nvPr/>
        </p:nvSpPr>
        <p:spPr>
          <a:xfrm>
            <a:off x="45916" y="958109"/>
            <a:ext cx="513302" cy="276999"/>
          </a:xfrm>
          <a:prstGeom prst="rect">
            <a:avLst/>
          </a:prstGeom>
          <a:noFill/>
          <a:ln>
            <a:noFill/>
          </a:ln>
        </p:spPr>
        <p:txBody>
          <a:bodyPr wrap="square" lIns="36000" tIns="0" rIns="0" bIns="0" rtlCol="0">
            <a:spAutoFit/>
          </a:bodyPr>
          <a:lstStyle/>
          <a:p>
            <a:r>
              <a:rPr lang="en-GB" sz="1800" b="1" dirty="0"/>
              <a:t>Q12</a:t>
            </a:r>
          </a:p>
        </p:txBody>
      </p:sp>
      <p:sp>
        <p:nvSpPr>
          <p:cNvPr id="22" name="TextBox 21">
            <a:extLst>
              <a:ext uri="{FF2B5EF4-FFF2-40B4-BE49-F238E27FC236}">
                <a16:creationId xmlns:a16="http://schemas.microsoft.com/office/drawing/2014/main" id="{7A06A31A-3EAF-A141-A500-46BFA8010D43}"/>
              </a:ext>
            </a:extLst>
          </p:cNvPr>
          <p:cNvSpPr txBox="1"/>
          <p:nvPr/>
        </p:nvSpPr>
        <p:spPr>
          <a:xfrm>
            <a:off x="531779" y="958109"/>
            <a:ext cx="7944246" cy="830997"/>
          </a:xfrm>
          <a:prstGeom prst="rect">
            <a:avLst/>
          </a:prstGeom>
          <a:noFill/>
        </p:spPr>
        <p:txBody>
          <a:bodyPr wrap="square" lIns="36000" tIns="0" rIns="0" bIns="0" rtlCol="0">
            <a:spAutoFit/>
          </a:bodyPr>
          <a:lstStyle/>
          <a:p>
            <a:pPr>
              <a:defRPr/>
            </a:pPr>
            <a:r>
              <a:rPr lang="en-GB" altLang="en-US" sz="1800" dirty="0"/>
              <a:t>25 kilograms of metal is melted and moulded into spheres.</a:t>
            </a:r>
            <a:br>
              <a:rPr lang="en-GB" altLang="en-US" sz="1800" dirty="0"/>
            </a:br>
            <a:r>
              <a:rPr lang="en-GB" altLang="en-US" sz="1800" dirty="0"/>
              <a:t>The density of the metal is 15g/cm</a:t>
            </a:r>
            <a:r>
              <a:rPr lang="en-GB" altLang="en-US" sz="1800" baseline="30000" dirty="0"/>
              <a:t>3</a:t>
            </a:r>
            <a:r>
              <a:rPr lang="en-GB" altLang="en-US" sz="1800" dirty="0"/>
              <a:t>.</a:t>
            </a:r>
            <a:br>
              <a:rPr lang="en-GB" altLang="en-US" sz="1800" dirty="0"/>
            </a:br>
            <a:r>
              <a:rPr lang="en-GB" altLang="en-US" sz="1800" dirty="0"/>
              <a:t>How many whole spheres can be made?</a:t>
            </a:r>
            <a:endParaRPr lang="en-GB" altLang="en-US" sz="1800" baseline="30000" dirty="0"/>
          </a:p>
        </p:txBody>
      </p:sp>
      <p:sp>
        <p:nvSpPr>
          <p:cNvPr id="23" name="Rectangle 22">
            <a:extLst>
              <a:ext uri="{FF2B5EF4-FFF2-40B4-BE49-F238E27FC236}">
                <a16:creationId xmlns:a16="http://schemas.microsoft.com/office/drawing/2014/main" id="{462BC646-AEDD-374E-A2A4-58604F4A3DDC}"/>
              </a:ext>
            </a:extLst>
          </p:cNvPr>
          <p:cNvSpPr/>
          <p:nvPr/>
        </p:nvSpPr>
        <p:spPr>
          <a:xfrm rot="16200000">
            <a:off x="-61979" y="1475560"/>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9" name="Group 8">
            <a:extLst>
              <a:ext uri="{FF2B5EF4-FFF2-40B4-BE49-F238E27FC236}">
                <a16:creationId xmlns:a16="http://schemas.microsoft.com/office/drawing/2014/main" id="{A6B94A28-6212-764A-861B-CDFD641AAA96}"/>
              </a:ext>
            </a:extLst>
          </p:cNvPr>
          <p:cNvGrpSpPr/>
          <p:nvPr/>
        </p:nvGrpSpPr>
        <p:grpSpPr>
          <a:xfrm>
            <a:off x="4503902" y="1373607"/>
            <a:ext cx="1799674" cy="1802765"/>
            <a:chOff x="584272" y="1689333"/>
            <a:chExt cx="1117456" cy="1119375"/>
          </a:xfrm>
        </p:grpSpPr>
        <p:pic>
          <p:nvPicPr>
            <p:cNvPr id="10" name="Picture 9">
              <a:extLst>
                <a:ext uri="{FF2B5EF4-FFF2-40B4-BE49-F238E27FC236}">
                  <a16:creationId xmlns:a16="http://schemas.microsoft.com/office/drawing/2014/main" id="{7DDB8B95-ADE4-654D-918D-9C31023380EA}"/>
                </a:ext>
              </a:extLst>
            </p:cNvPr>
            <p:cNvPicPr>
              <a:picLocks noChangeAspect="1"/>
            </p:cNvPicPr>
            <p:nvPr/>
          </p:nvPicPr>
          <p:blipFill>
            <a:blip r:embed="rId3">
              <a:duotone>
                <a:prstClr val="black"/>
                <a:schemeClr val="tx2">
                  <a:tint val="45000"/>
                  <a:satMod val="400000"/>
                </a:schemeClr>
              </a:duotone>
            </a:blip>
            <a:stretch>
              <a:fillRect/>
            </a:stretch>
          </p:blipFill>
          <p:spPr>
            <a:xfrm>
              <a:off x="584272" y="1689333"/>
              <a:ext cx="1117456" cy="1119375"/>
            </a:xfrm>
            <a:prstGeom prst="rect">
              <a:avLst/>
            </a:prstGeom>
          </p:spPr>
        </p:pic>
        <p:cxnSp>
          <p:nvCxnSpPr>
            <p:cNvPr id="11" name="Straight Arrow Connector 10">
              <a:extLst>
                <a:ext uri="{FF2B5EF4-FFF2-40B4-BE49-F238E27FC236}">
                  <a16:creationId xmlns:a16="http://schemas.microsoft.com/office/drawing/2014/main" id="{CD273064-3D9B-5B49-90EF-3AE401A5236F}"/>
                </a:ext>
              </a:extLst>
            </p:cNvPr>
            <p:cNvCxnSpPr>
              <a:cxnSpLocks/>
            </p:cNvCxnSpPr>
            <p:nvPr/>
          </p:nvCxnSpPr>
          <p:spPr>
            <a:xfrm flipH="1">
              <a:off x="1142161" y="1867059"/>
              <a:ext cx="368744" cy="378246"/>
            </a:xfrm>
            <a:prstGeom prst="straightConnector1">
              <a:avLst/>
            </a:prstGeom>
            <a:ln w="12700" cap="rnd">
              <a:solidFill>
                <a:schemeClr val="tx1"/>
              </a:solidFill>
              <a:prstDash val="sysDash"/>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F56B94A8-96A1-2346-A63D-ABA4884D7BE1}"/>
                </a:ext>
              </a:extLst>
            </p:cNvPr>
            <p:cNvSpPr txBox="1"/>
            <p:nvPr/>
          </p:nvSpPr>
          <p:spPr>
            <a:xfrm>
              <a:off x="750545" y="1894898"/>
              <a:ext cx="565248" cy="168172"/>
            </a:xfrm>
            <a:prstGeom prst="rect">
              <a:avLst/>
            </a:prstGeom>
            <a:noFill/>
          </p:spPr>
          <p:txBody>
            <a:bodyPr wrap="square" lIns="0" tIns="0" rIns="0" bIns="0" rtlCol="0" anchor="ctr" anchorCtr="0">
              <a:spAutoFit/>
            </a:bodyPr>
            <a:lstStyle/>
            <a:p>
              <a:pPr algn="r">
                <a:defRPr/>
              </a:pPr>
              <a:r>
                <a:rPr lang="en-GB" altLang="en-US" sz="1600" dirty="0"/>
                <a:t>3cm</a:t>
              </a:r>
              <a:endParaRPr lang="en-GB" altLang="en-US" sz="1600" baseline="30000" dirty="0"/>
            </a:p>
          </p:txBody>
        </p:sp>
      </p:grpSp>
      <p:sp>
        <p:nvSpPr>
          <p:cNvPr id="13" name="TextBox 12">
            <a:extLst>
              <a:ext uri="{FF2B5EF4-FFF2-40B4-BE49-F238E27FC236}">
                <a16:creationId xmlns:a16="http://schemas.microsoft.com/office/drawing/2014/main" id="{34C629C6-C346-0441-9B77-57F4D74CD5BA}"/>
              </a:ext>
            </a:extLst>
          </p:cNvPr>
          <p:cNvSpPr txBox="1"/>
          <p:nvPr/>
        </p:nvSpPr>
        <p:spPr>
          <a:xfrm>
            <a:off x="4186566" y="2655771"/>
            <a:ext cx="2431644" cy="276999"/>
          </a:xfrm>
          <a:prstGeom prst="rect">
            <a:avLst/>
          </a:prstGeom>
          <a:solidFill>
            <a:schemeClr val="accent3"/>
          </a:solidFill>
          <a:ln>
            <a:noFill/>
          </a:ln>
        </p:spPr>
        <p:txBody>
          <a:bodyPr wrap="square" lIns="0" tIns="0" rIns="0" bIns="0" rtlCol="0" anchor="ctr">
            <a:spAutoFit/>
          </a:bodyPr>
          <a:lstStyle/>
          <a:p>
            <a:pPr algn="ctr"/>
            <a:r>
              <a:rPr lang="en-GB" sz="1800" b="1" dirty="0"/>
              <a:t>14 spheres can be made.</a:t>
            </a:r>
            <a:endParaRPr lang="en-GB" sz="1800" b="1" baseline="30000" dirty="0"/>
          </a:p>
        </p:txBody>
      </p:sp>
    </p:spTree>
    <p:extLst>
      <p:ext uri="{BB962C8B-B14F-4D97-AF65-F5344CB8AC3E}">
        <p14:creationId xmlns:p14="http://schemas.microsoft.com/office/powerpoint/2010/main" val="275501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theme/theme1.xml><?xml version="1.0" encoding="utf-8"?>
<a:theme xmlns:a="http://schemas.openxmlformats.org/drawingml/2006/main" name="Office Theme">
  <a:themeElements>
    <a:clrScheme name="CP3">
      <a:dk1>
        <a:srgbClr val="000000"/>
      </a:dk1>
      <a:lt1>
        <a:srgbClr val="FFFFFF"/>
      </a:lt1>
      <a:dk2>
        <a:srgbClr val="000000"/>
      </a:dk2>
      <a:lt2>
        <a:srgbClr val="FEFFFF"/>
      </a:lt2>
      <a:accent1>
        <a:srgbClr val="75D5FF"/>
      </a:accent1>
      <a:accent2>
        <a:srgbClr val="72FA78"/>
      </a:accent2>
      <a:accent3>
        <a:srgbClr val="FEFC78"/>
      </a:accent3>
      <a:accent4>
        <a:srgbClr val="FFD478"/>
      </a:accent4>
      <a:accent5>
        <a:srgbClr val="FF7D78"/>
      </a:accent5>
      <a:accent6>
        <a:srgbClr val="D783FF"/>
      </a:accent6>
      <a:hlink>
        <a:srgbClr val="0096FF"/>
      </a:hlink>
      <a:folHlink>
        <a:srgbClr val="FF26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 Factorising to double brackets.potx" id="{2ABD0240-5869-D742-8569-1FD3318009AF}" vid="{BA2D123A-C9E9-3043-B567-4DED4C6E3B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10687</TotalTime>
  <Words>581</Words>
  <Application>Microsoft Macintosh PowerPoint</Application>
  <PresentationFormat>On-screen Show (16:9)</PresentationFormat>
  <Paragraphs>163</Paragraphs>
  <Slides>10</Slides>
  <Notes>9</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CP3</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of a Sphere - Clicker</dc:title>
  <dc:subject>Mathematics</dc:subject>
  <dc:creator>CP3</dc:creator>
  <cp:keywords/>
  <dc:description/>
  <cp:lastModifiedBy>CP3</cp:lastModifiedBy>
  <cp:revision>1507</cp:revision>
  <cp:lastPrinted>2018-12-18T15:52:01Z</cp:lastPrinted>
  <dcterms:created xsi:type="dcterms:W3CDTF">2018-09-23T11:32:36Z</dcterms:created>
  <dcterms:modified xsi:type="dcterms:W3CDTF">2019-05-06T15:15:22Z</dcterms:modified>
  <cp:category/>
</cp:coreProperties>
</file>