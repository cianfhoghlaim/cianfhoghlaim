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71" r:id="rId3"/>
    <p:sldId id="270" r:id="rId4"/>
    <p:sldId id="260" r:id="rId5"/>
    <p:sldId id="261" r:id="rId6"/>
    <p:sldId id="272" r:id="rId7"/>
    <p:sldId id="273" r:id="rId8"/>
    <p:sldId id="274" r:id="rId9"/>
    <p:sldId id="275" r:id="rId10"/>
    <p:sldId id="276" r:id="rId11"/>
    <p:sldId id="278" r:id="rId12"/>
    <p:sldId id="277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4/20/2020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4/20/2020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solidFill>
                  <a:srgbClr val="FF0000"/>
                </a:solidFill>
              </a:rPr>
              <a:t>Complex Numbers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7099-96B9-4B40-A163-AA3ED475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400" b="1" dirty="0"/>
              <a:t>How high can you count with your hands?</a:t>
            </a:r>
            <a:endParaRPr lang="ga-IE" sz="4400" b="1" dirty="0"/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8A1C4947-7285-4719-B352-2E38B9658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89" y="1828456"/>
            <a:ext cx="8318574" cy="5029544"/>
          </a:xfrm>
        </p:spPr>
      </p:pic>
    </p:spTree>
    <p:extLst>
      <p:ext uri="{BB962C8B-B14F-4D97-AF65-F5344CB8AC3E}">
        <p14:creationId xmlns:p14="http://schemas.microsoft.com/office/powerpoint/2010/main" val="190478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84B4-154E-4DBB-8365-5EC43847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/>
              <a:t>What are Numbers? </a:t>
            </a:r>
            <a:r>
              <a:rPr lang="en-GB" sz="6000" b="1" dirty="0" err="1"/>
              <a:t>e.g</a:t>
            </a:r>
            <a:r>
              <a:rPr lang="en-GB" sz="6000" b="1" dirty="0"/>
              <a:t> Five?</a:t>
            </a:r>
            <a:endParaRPr lang="ga-IE" sz="60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3DA3D9-5B52-4A5F-9D3C-8DC1EF2CE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0219" y="1954081"/>
            <a:ext cx="4674942" cy="490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7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/>
              <a:t>Different Types of Numbers?</a:t>
            </a:r>
            <a:endParaRPr lang="en-US" sz="6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0A129D-0404-4842-94FB-2A8C6B06CC9E}"/>
              </a:ext>
            </a:extLst>
          </p:cNvPr>
          <p:cNvSpPr/>
          <p:nvPr/>
        </p:nvSpPr>
        <p:spPr>
          <a:xfrm>
            <a:off x="394083" y="2228671"/>
            <a:ext cx="177215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8AE64-B935-4E59-9D57-9D97393A83D6}"/>
              </a:ext>
            </a:extLst>
          </p:cNvPr>
          <p:cNvSpPr/>
          <p:nvPr/>
        </p:nvSpPr>
        <p:spPr>
          <a:xfrm>
            <a:off x="3852872" y="2381917"/>
            <a:ext cx="177215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92462-434C-4219-AB21-4AF67AA881BC}"/>
              </a:ext>
            </a:extLst>
          </p:cNvPr>
          <p:cNvSpPr/>
          <p:nvPr/>
        </p:nvSpPr>
        <p:spPr>
          <a:xfrm>
            <a:off x="646364" y="4353307"/>
            <a:ext cx="247335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0.32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5818A-5F9C-40BA-964E-F42FD20C8F08}"/>
              </a:ext>
            </a:extLst>
          </p:cNvPr>
          <p:cNvSpPr/>
          <p:nvPr/>
        </p:nvSpPr>
        <p:spPr>
          <a:xfrm>
            <a:off x="6546822" y="4307140"/>
            <a:ext cx="499881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1869004181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759628-2580-41FB-8CEC-75EF65E6BC3F}"/>
                  </a:ext>
                </a:extLst>
              </p:cNvPr>
              <p:cNvSpPr/>
              <p:nvPr/>
            </p:nvSpPr>
            <p:spPr>
              <a:xfrm>
                <a:off x="4322322" y="4307140"/>
                <a:ext cx="1772154" cy="2173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 cap="none" spc="0" smtClean="0">
                              <a:ln w="12700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pattFill prst="pct50">
                                <a:fgClr>
                                  <a:schemeClr val="accent1"/>
                                </a:fgClr>
                                <a:bgClr>
                                  <a:schemeClr val="accent1">
                                    <a:lumMod val="20000"/>
                                    <a:lumOff val="80000"/>
                                  </a:schemeClr>
                                </a:bgClr>
                              </a:pattFill>
                              <a:effectLst>
                                <a:outerShdw dist="38100" dir="2640000" algn="bl" rotWithShape="0">
                                  <a:schemeClr val="accent1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200" b="1" i="1" cap="none" spc="0" smtClean="0">
                              <a:ln w="12700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pattFill prst="pct50">
                                <a:fgClr>
                                  <a:schemeClr val="accent1"/>
                                </a:fgClr>
                                <a:bgClr>
                                  <a:schemeClr val="accent1">
                                    <a:lumMod val="20000"/>
                                    <a:lumOff val="80000"/>
                                  </a:schemeClr>
                                </a:bgClr>
                              </a:pattFill>
                              <a:effectLst>
                                <a:outerShdw dist="38100" dir="2640000" algn="bl" rotWithShape="0">
                                  <a:schemeClr val="accent1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7200" b="1" i="1" cap="none" spc="0" smtClean="0">
                              <a:ln w="12700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pattFill prst="pct50">
                                <a:fgClr>
                                  <a:schemeClr val="accent1"/>
                                </a:fgClr>
                                <a:bgClr>
                                  <a:schemeClr val="accent1">
                                    <a:lumMod val="20000"/>
                                    <a:lumOff val="80000"/>
                                  </a:schemeClr>
                                </a:bgClr>
                              </a:pattFill>
                              <a:effectLst>
                                <a:outerShdw dist="38100" dir="2640000" algn="bl" rotWithShape="0">
                                  <a:schemeClr val="accent1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72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759628-2580-41FB-8CEC-75EF65E6BC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322" y="4307140"/>
                <a:ext cx="1772154" cy="21738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54BDD73-ECFB-4639-B3AA-B1BB89333C41}"/>
              </a:ext>
            </a:extLst>
          </p:cNvPr>
          <p:cNvSpPr/>
          <p:nvPr/>
        </p:nvSpPr>
        <p:spPr>
          <a:xfrm>
            <a:off x="8091968" y="2333665"/>
            <a:ext cx="281682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-4.657</a:t>
            </a:r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N = Natural Numbers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879EF-71BA-4FE4-A421-35E71590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ga-IE" b="1" dirty="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9DF866BA-9760-4BB4-90AD-D2B997026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221" y="2056100"/>
            <a:ext cx="9634571" cy="433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0465-6BF9-4AC3-B5AE-1C6901A9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/>
              <a:t>Z = Integers</a:t>
            </a:r>
            <a:endParaRPr lang="ga-IE" sz="6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92D645-850A-4DF7-B61A-3EFED6E60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60" y="1828456"/>
            <a:ext cx="10058400" cy="2180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C937B-5829-44D1-B663-8E2D2A2ED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511957"/>
            <a:ext cx="9594846" cy="1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FB16-97B5-4009-AF75-BD29E90C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Q = Rational Numbers</a:t>
            </a:r>
            <a:endParaRPr lang="ga-IE" sz="6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2256DB-0ACB-471F-8824-336AE1F66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618" y="2974955"/>
            <a:ext cx="9057106" cy="2491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73D9B4-C1E1-4CAF-85D3-D95766F3F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842" y="1903024"/>
            <a:ext cx="9057106" cy="9973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BD368-F42E-417B-B897-005732B68F99}"/>
                  </a:ext>
                </a:extLst>
              </p:cNvPr>
              <p:cNvSpPr/>
              <p:nvPr/>
            </p:nvSpPr>
            <p:spPr>
              <a:xfrm>
                <a:off x="1280160" y="5496885"/>
                <a:ext cx="9879252" cy="13410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54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0.62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𝟏𝟔</m:t>
                        </m:r>
                      </m:num>
                      <m:den>
                        <m:r>
                          <a:rPr lang="en-GB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</m:oMath>
                </a14:m>
                <a:r>
                  <a:rPr lang="en-US" sz="54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         3.2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5400" b="1" i="1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en-US" sz="54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BD368-F42E-417B-B897-005732B68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5496885"/>
                <a:ext cx="9879252" cy="13410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7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F42C-C342-4090-B323-62D246D0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/>
              <a:t>Irrational Numbers</a:t>
            </a:r>
            <a:endParaRPr lang="ga-IE" sz="5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8EEA4A-77A2-411B-9549-585D8EDD0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759" y="4232576"/>
            <a:ext cx="10556282" cy="971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26209-261E-4E59-A563-F488524D5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59" y="5445059"/>
            <a:ext cx="10556282" cy="1238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B96A1-A94C-4482-B11B-B80DD47F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598" y="2904079"/>
            <a:ext cx="7201905" cy="12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72474-B193-4D91-8063-DFC5F6F3E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677" y="1899477"/>
            <a:ext cx="841374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1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3B96-06B7-411B-9761-938A17E2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5" name="Content Placeholder 4" descr="A picture containing text, food&#10;&#10;Description automatically generated">
            <a:extLst>
              <a:ext uri="{FF2B5EF4-FFF2-40B4-BE49-F238E27FC236}">
                <a16:creationId xmlns:a16="http://schemas.microsoft.com/office/drawing/2014/main" id="{7FE42F51-CF61-4365-B3DA-C09A4E9E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7283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7409-D8BA-495E-BF8B-20B9AFD3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dirty="0"/>
              <a:t>Investigating numbers that aren’t Real</a:t>
            </a:r>
            <a:endParaRPr lang="ga-IE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79FE-1326-455E-8FF4-C5FF33BC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77597"/>
            <a:ext cx="9628632" cy="398621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ga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A8DE365-BF7F-4153-9DE8-6E78E51A2E90}"/>
                  </a:ext>
                </a:extLst>
              </p:cNvPr>
              <p:cNvSpPr/>
              <p:nvPr/>
            </p:nvSpPr>
            <p:spPr>
              <a:xfrm>
                <a:off x="2156379" y="1828456"/>
                <a:ext cx="7876194" cy="191065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5400" b="1" i="1" cap="none" spc="0" dirty="0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5400" b="1" i="1" cap="none" spc="0" dirty="0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rad>
                  </m:oMath>
                </a14:m>
                <a:r>
                  <a:rPr lang="en-US" sz="5400" b="1" cap="none" spc="0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= 3, because 3 x 3 = 9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rad>
                  </m:oMath>
                </a14:m>
                <a:r>
                  <a:rPr lang="en-US" sz="54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= -3, because -3 x -3 = 9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A8DE365-BF7F-4153-9DE8-6E78E51A2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79" y="1828456"/>
                <a:ext cx="7876194" cy="1910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FF3A85-4BD1-4ABD-8A80-A9929F4D1B2C}"/>
                  </a:ext>
                </a:extLst>
              </p:cNvPr>
              <p:cNvSpPr/>
              <p:nvPr/>
            </p:nvSpPr>
            <p:spPr>
              <a:xfrm>
                <a:off x="1838984" y="4157055"/>
                <a:ext cx="8640828" cy="275844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</m:rad>
                  </m:oMath>
                </a14:m>
                <a:r>
                  <a:rPr lang="en-US" sz="54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= 5, because 5 x 5 = 25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54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</m:rad>
                  </m:oMath>
                </a14:m>
                <a:r>
                  <a:rPr lang="en-US" sz="54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= -5, because -5 x -5 = 25</a:t>
                </a:r>
              </a:p>
              <a:p>
                <a:pPr algn="ctr"/>
                <a:endParaRPr lang="en-US" sz="54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FF3A85-4BD1-4ABD-8A80-A9929F4D1B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984" y="4157055"/>
                <a:ext cx="8640828" cy="2758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90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7409-D8BA-495E-BF8B-20B9AFD3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dirty="0"/>
              <a:t>Investigating numbers that aren’t Real</a:t>
            </a:r>
            <a:endParaRPr lang="ga-IE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79FE-1326-455E-8FF4-C5FF33BC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77597"/>
            <a:ext cx="9628632" cy="398621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3200" dirty="0"/>
              <a:t>No answer, because you can’t get the square root of a negative number. So we call it an imaginary number.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ga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6DDAE3-9B43-4759-9229-83F2E9A4F054}"/>
                  </a:ext>
                </a:extLst>
              </p:cNvPr>
              <p:cNvSpPr/>
              <p:nvPr/>
            </p:nvSpPr>
            <p:spPr>
              <a:xfrm>
                <a:off x="3933173" y="1828456"/>
                <a:ext cx="3427363" cy="1308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72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72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7200" b="1" i="1" dirty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</m:oMath>
                </a14:m>
                <a:r>
                  <a:rPr lang="en-US" sz="7200" b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rPr>
                  <a:t> = ?</a:t>
                </a:r>
                <a:endParaRPr lang="ga-IE" sz="72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6DDAE3-9B43-4759-9229-83F2E9A4F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173" y="1828456"/>
                <a:ext cx="3427363" cy="13081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1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5D91D6-A0BF-4539-9868-5BC031A8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en-GB" sz="4400" b="1" dirty="0"/>
              <a:t>Complex Numbers</a:t>
            </a:r>
            <a:endParaRPr lang="ga-IE" sz="4400" b="1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6A6D048-D934-4D88-BED4-66417D618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62" y="1828456"/>
            <a:ext cx="9635725" cy="50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DD77EC-5BB7-4538-B69C-DB663EE9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525" y="466725"/>
            <a:ext cx="9629775" cy="1362075"/>
          </a:xfrm>
        </p:spPr>
        <p:txBody>
          <a:bodyPr>
            <a:normAutofit/>
          </a:bodyPr>
          <a:lstStyle/>
          <a:p>
            <a:r>
              <a:rPr lang="en-GB" sz="4400" b="1" dirty="0"/>
              <a:t>Complex Numbers</a:t>
            </a:r>
            <a:endParaRPr lang="ga-IE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1F5DCD-71B9-4B78-B9AC-EDFDE76ED677}"/>
                  </a:ext>
                </a:extLst>
              </p:cNvPr>
              <p:cNvSpPr/>
              <p:nvPr/>
            </p:nvSpPr>
            <p:spPr>
              <a:xfrm>
                <a:off x="1077238" y="2379601"/>
                <a:ext cx="3427363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GB" sz="72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  <a:p>
                <a:endParaRPr lang="en-GB" sz="7200" dirty="0"/>
              </a:p>
              <a:p>
                <a:endParaRPr lang="ga-IE" sz="72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1F5DCD-71B9-4B78-B9AC-EDFDE76ED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38" y="2379601"/>
                <a:ext cx="3427363" cy="3416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666E62-E2A5-4945-B259-432008A2EC24}"/>
                  </a:ext>
                </a:extLst>
              </p:cNvPr>
              <p:cNvSpPr/>
              <p:nvPr/>
            </p:nvSpPr>
            <p:spPr>
              <a:xfrm>
                <a:off x="6891403" y="2379601"/>
                <a:ext cx="3427363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7200" b="1" i="1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GB" sz="72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  <a:p>
                <a:endParaRPr lang="en-GB" sz="7200" dirty="0"/>
              </a:p>
              <a:p>
                <a:endParaRPr lang="en-GB" sz="7200" dirty="0"/>
              </a:p>
              <a:p>
                <a:endParaRPr lang="ga-IE" sz="72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666E62-E2A5-4945-B259-432008A2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03" y="2379601"/>
                <a:ext cx="3427363" cy="4524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3C99EB8-F95A-472C-B816-A39E452EE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9525" y="4693795"/>
                <a:ext cx="1005411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7200" b="1" i="1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  <a:latin typeface="Cambria Math" panose="02040503050406030204" pitchFamily="18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+ </m:t>
                    </m:r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7200" b="1" i="1" dirty="0" smtClean="0">
                        <a:ln w="12700">
                          <a:solidFill>
                            <a:schemeClr val="accent1"/>
                          </a:solidFill>
                          <a:prstDash val="solid"/>
                        </a:ln>
                        <a:pattFill prst="pct50">
                          <a:fgClr>
                            <a:schemeClr val="accent1"/>
                          </a:fgClr>
                          <a:bgClr>
                            <a:schemeClr val="accent1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accent1"/>
                          </a:outerShdw>
                        </a:effectLst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GB" sz="72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3C99EB8-F95A-472C-B816-A39E452EE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9525" y="4693795"/>
                <a:ext cx="10054113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23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8662-40FA-4E5D-A082-BF09BECF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need Complex Numbers for:</a:t>
            </a:r>
            <a:endParaRPr lang="ga-IE" dirty="0"/>
          </a:p>
        </p:txBody>
      </p:sp>
      <p:pic>
        <p:nvPicPr>
          <p:cNvPr id="5" name="Content Placeholder 4" descr="A picture containing game&#10;&#10;Description automatically generated">
            <a:extLst>
              <a:ext uri="{FF2B5EF4-FFF2-40B4-BE49-F238E27FC236}">
                <a16:creationId xmlns:a16="http://schemas.microsoft.com/office/drawing/2014/main" id="{A96DBDB1-7534-4059-ADA0-D607E4AF0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04" y="1828456"/>
            <a:ext cx="7608778" cy="1755871"/>
          </a:xfrm>
        </p:spPr>
      </p:pic>
      <p:pic>
        <p:nvPicPr>
          <p:cNvPr id="7" name="Picture 6" descr="A picture containing room, toy&#10;&#10;Description automatically generated">
            <a:extLst>
              <a:ext uri="{FF2B5EF4-FFF2-40B4-BE49-F238E27FC236}">
                <a16:creationId xmlns:a16="http://schemas.microsoft.com/office/drawing/2014/main" id="{1595B81F-B05C-4C61-8841-8041801A5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434" y="3780807"/>
            <a:ext cx="5470566" cy="3077193"/>
          </a:xfrm>
          <a:prstGeom prst="rect">
            <a:avLst/>
          </a:prstGeom>
        </p:spPr>
      </p:pic>
      <p:pic>
        <p:nvPicPr>
          <p:cNvPr id="9" name="Picture 8" descr="A satellite in space&#10;&#10;Description automatically generated">
            <a:extLst>
              <a:ext uri="{FF2B5EF4-FFF2-40B4-BE49-F238E27FC236}">
                <a16:creationId xmlns:a16="http://schemas.microsoft.com/office/drawing/2014/main" id="{14D14D65-FE9F-48CE-A2EE-54DDF6329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9" y="3780807"/>
            <a:ext cx="6321216" cy="31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7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114</TotalTime>
  <Words>155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Cambria Math</vt:lpstr>
      <vt:lpstr>Wingdings</vt:lpstr>
      <vt:lpstr>Educational subjects 16x9</vt:lpstr>
      <vt:lpstr>Complex Numbers </vt:lpstr>
      <vt:lpstr>How high can you count with your hands?</vt:lpstr>
      <vt:lpstr>What are Numbers? e.g Five?</vt:lpstr>
      <vt:lpstr>Different Types of Numbers?</vt:lpstr>
      <vt:lpstr>N = Natural Numbers</vt:lpstr>
      <vt:lpstr>Z = Integers</vt:lpstr>
      <vt:lpstr>Q = Rational Numbers</vt:lpstr>
      <vt:lpstr>Irrational Numbers</vt:lpstr>
      <vt:lpstr>PowerPoint Presentation</vt:lpstr>
      <vt:lpstr>Investigating numbers that aren’t Real</vt:lpstr>
      <vt:lpstr>Investigating numbers that aren’t Real</vt:lpstr>
      <vt:lpstr>Complex Numbers</vt:lpstr>
      <vt:lpstr>Complex Numbers</vt:lpstr>
      <vt:lpstr>We need Complex Numbers for: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Numbers</dc:title>
  <dc:creator>Cian Lyons</dc:creator>
  <cp:lastModifiedBy>MAC LIATHAIN, CIAN</cp:lastModifiedBy>
  <cp:revision>12</cp:revision>
  <dcterms:created xsi:type="dcterms:W3CDTF">2020-04-19T16:07:39Z</dcterms:created>
  <dcterms:modified xsi:type="dcterms:W3CDTF">2020-04-20T16:16:03Z</dcterms:modified>
</cp:coreProperties>
</file>