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8">
  <p:sldMasterIdLst>
    <p:sldMasterId id="2147483648" r:id="rId1"/>
  </p:sldMasterIdLst>
  <p:sldIdLst>
    <p:sldId id="257" r:id="rId2"/>
    <p:sldId id="259" r:id="rId3"/>
    <p:sldId id="258" r:id="rId4"/>
    <p:sldId id="260" r:id="rId5"/>
    <p:sldId id="261" r:id="rId6"/>
    <p:sldId id="313" r:id="rId7"/>
    <p:sldId id="303" r:id="rId8"/>
    <p:sldId id="266" r:id="rId9"/>
    <p:sldId id="268" r:id="rId10"/>
    <p:sldId id="267" r:id="rId11"/>
    <p:sldId id="269" r:id="rId12"/>
    <p:sldId id="270" r:id="rId13"/>
    <p:sldId id="271" r:id="rId14"/>
    <p:sldId id="324"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325" r:id="rId33"/>
    <p:sldId id="319" r:id="rId34"/>
    <p:sldId id="320" r:id="rId35"/>
    <p:sldId id="290" r:id="rId36"/>
    <p:sldId id="291" r:id="rId37"/>
    <p:sldId id="292" r:id="rId38"/>
    <p:sldId id="293" r:id="rId39"/>
    <p:sldId id="294" r:id="rId40"/>
    <p:sldId id="295" r:id="rId41"/>
    <p:sldId id="296" r:id="rId42"/>
    <p:sldId id="304" r:id="rId43"/>
    <p:sldId id="314" r:id="rId44"/>
    <p:sldId id="297" r:id="rId45"/>
    <p:sldId id="309" r:id="rId46"/>
    <p:sldId id="299" r:id="rId47"/>
    <p:sldId id="315" r:id="rId48"/>
    <p:sldId id="312" r:id="rId49"/>
    <p:sldId id="300" r:id="rId50"/>
    <p:sldId id="322" r:id="rId51"/>
    <p:sldId id="317" r:id="rId52"/>
    <p:sldId id="323" r:id="rId53"/>
    <p:sldId id="318" r:id="rId54"/>
    <p:sldId id="321" r:id="rId55"/>
    <p:sldId id="316" r:id="rId56"/>
    <p:sldId id="301" r:id="rId57"/>
    <p:sldId id="302" r:id="rId58"/>
    <p:sldId id="308" r:id="rId59"/>
  </p:sldIdLst>
  <p:sldSz cx="12192000" cy="6858000"/>
  <p:notesSz cx="6858000" cy="9945688"/>
  <p:defaultTextStyle>
    <a:defPPr>
      <a:defRPr lang="ga-I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cGiolla Eáin, Conchúr" initials="MEC" lastIdx="1" clrIdx="0">
    <p:extLst>
      <p:ext uri="{19B8F6BF-5375-455C-9EA6-DF929625EA0E}">
        <p15:presenceInfo xmlns:p15="http://schemas.microsoft.com/office/powerpoint/2012/main" userId="MacGiolla Eáin, Conchú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ECFF"/>
    <a:srgbClr val="00CC99"/>
    <a:srgbClr val="97E4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íl mheánach 2 – Aicean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7" autoAdjust="0"/>
    <p:restoredTop sz="94660"/>
  </p:normalViewPr>
  <p:slideViewPr>
    <p:cSldViewPr snapToGrid="0">
      <p:cViewPr varScale="1">
        <p:scale>
          <a:sx n="70" d="100"/>
          <a:sy n="70" d="100"/>
        </p:scale>
        <p:origin x="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eamhnán teidil">
    <p:spTree>
      <p:nvGrpSpPr>
        <p:cNvPr id="1" name=""/>
        <p:cNvGrpSpPr/>
        <p:nvPr/>
      </p:nvGrpSpPr>
      <p:grpSpPr>
        <a:xfrm>
          <a:off x="0" y="0"/>
          <a:ext cx="0" cy="0"/>
          <a:chOff x="0" y="0"/>
          <a:chExt cx="0" cy="0"/>
        </a:xfrm>
      </p:grpSpPr>
      <p:sp>
        <p:nvSpPr>
          <p:cNvPr id="2" name="Teideal 1">
            <a:extLst>
              <a:ext uri="{FF2B5EF4-FFF2-40B4-BE49-F238E27FC236}">
                <a16:creationId xmlns:a16="http://schemas.microsoft.com/office/drawing/2014/main" id="{EB85B885-DBD6-4940-A0A9-C33016999C20}"/>
              </a:ext>
            </a:extLst>
          </p:cNvPr>
          <p:cNvSpPr>
            <a:spLocks noGrp="1"/>
          </p:cNvSpPr>
          <p:nvPr>
            <p:ph type="ctrTitle"/>
          </p:nvPr>
        </p:nvSpPr>
        <p:spPr>
          <a:xfrm>
            <a:off x="1524000" y="1122363"/>
            <a:ext cx="9144000" cy="2387600"/>
          </a:xfrm>
        </p:spPr>
        <p:txBody>
          <a:bodyPr anchor="b"/>
          <a:lstStyle>
            <a:lvl1pPr algn="ctr">
              <a:defRPr sz="6000"/>
            </a:lvl1pPr>
          </a:lstStyle>
          <a:p>
            <a:r>
              <a:rPr lang="ga-IE"/>
              <a:t>Cliceáil chun stíl teidil an mháistir a chur in eagar</a:t>
            </a:r>
          </a:p>
        </p:txBody>
      </p:sp>
      <p:sp>
        <p:nvSpPr>
          <p:cNvPr id="3" name="Fotheideal 2">
            <a:extLst>
              <a:ext uri="{FF2B5EF4-FFF2-40B4-BE49-F238E27FC236}">
                <a16:creationId xmlns:a16="http://schemas.microsoft.com/office/drawing/2014/main" id="{E3BAAC2A-9175-4348-8964-EA38185EC2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ga-IE"/>
              <a:t>Cliceáil chun stíl fotheidil an mháistir a chur in eagar</a:t>
            </a:r>
          </a:p>
        </p:txBody>
      </p:sp>
      <p:sp>
        <p:nvSpPr>
          <p:cNvPr id="4" name="Coinneálaí ionaid dáta 3">
            <a:extLst>
              <a:ext uri="{FF2B5EF4-FFF2-40B4-BE49-F238E27FC236}">
                <a16:creationId xmlns:a16="http://schemas.microsoft.com/office/drawing/2014/main" id="{86A3A1C6-3870-4148-9E62-336F11B9AC9A}"/>
              </a:ext>
            </a:extLst>
          </p:cNvPr>
          <p:cNvSpPr>
            <a:spLocks noGrp="1"/>
          </p:cNvSpPr>
          <p:nvPr>
            <p:ph type="dt" sz="half" idx="10"/>
          </p:nvPr>
        </p:nvSpPr>
        <p:spPr/>
        <p:txBody>
          <a:bodyPr/>
          <a:lstStyle/>
          <a:p>
            <a:fld id="{C3F15824-C6CA-409C-A36F-CD1AEE2FF613}" type="datetimeFigureOut">
              <a:rPr lang="ga-IE" smtClean="0"/>
              <a:t>05/12/2020</a:t>
            </a:fld>
            <a:endParaRPr lang="ga-IE"/>
          </a:p>
        </p:txBody>
      </p:sp>
      <p:sp>
        <p:nvSpPr>
          <p:cNvPr id="5" name="Coinneálaí ionaid buntásc 4">
            <a:extLst>
              <a:ext uri="{FF2B5EF4-FFF2-40B4-BE49-F238E27FC236}">
                <a16:creationId xmlns:a16="http://schemas.microsoft.com/office/drawing/2014/main" id="{19442480-27DA-43EA-8F74-6F171C7AC262}"/>
              </a:ext>
            </a:extLst>
          </p:cNvPr>
          <p:cNvSpPr>
            <a:spLocks noGrp="1"/>
          </p:cNvSpPr>
          <p:nvPr>
            <p:ph type="ftr" sz="quarter" idx="11"/>
          </p:nvPr>
        </p:nvSpPr>
        <p:spPr/>
        <p:txBody>
          <a:bodyPr/>
          <a:lstStyle/>
          <a:p>
            <a:endParaRPr lang="ga-IE"/>
          </a:p>
        </p:txBody>
      </p:sp>
      <p:sp>
        <p:nvSpPr>
          <p:cNvPr id="6" name="Coinneálaí ionaid uimhir sleamhnáin 5">
            <a:extLst>
              <a:ext uri="{FF2B5EF4-FFF2-40B4-BE49-F238E27FC236}">
                <a16:creationId xmlns:a16="http://schemas.microsoft.com/office/drawing/2014/main" id="{6EABF7DF-FE78-48C6-861D-85B78B04AE57}"/>
              </a:ext>
            </a:extLst>
          </p:cNvPr>
          <p:cNvSpPr>
            <a:spLocks noGrp="1"/>
          </p:cNvSpPr>
          <p:nvPr>
            <p:ph type="sldNum" sz="quarter" idx="12"/>
          </p:nvPr>
        </p:nvSpPr>
        <p:spPr/>
        <p:txBody>
          <a:bodyPr/>
          <a:lstStyle/>
          <a:p>
            <a:fld id="{44994BDC-6C25-40C7-9C8E-76FB77EFD754}" type="slidenum">
              <a:rPr lang="ga-IE" smtClean="0"/>
              <a:t>‹#›</a:t>
            </a:fld>
            <a:endParaRPr lang="ga-IE"/>
          </a:p>
        </p:txBody>
      </p:sp>
    </p:spTree>
    <p:extLst>
      <p:ext uri="{BB962C8B-B14F-4D97-AF65-F5344CB8AC3E}">
        <p14:creationId xmlns:p14="http://schemas.microsoft.com/office/powerpoint/2010/main" val="3430050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eideal agus inneachar">
    <p:spTree>
      <p:nvGrpSpPr>
        <p:cNvPr id="1" name=""/>
        <p:cNvGrpSpPr/>
        <p:nvPr/>
      </p:nvGrpSpPr>
      <p:grpSpPr>
        <a:xfrm>
          <a:off x="0" y="0"/>
          <a:ext cx="0" cy="0"/>
          <a:chOff x="0" y="0"/>
          <a:chExt cx="0" cy="0"/>
        </a:xfrm>
      </p:grpSpPr>
      <p:sp>
        <p:nvSpPr>
          <p:cNvPr id="2" name="Teideal 1">
            <a:extLst>
              <a:ext uri="{FF2B5EF4-FFF2-40B4-BE49-F238E27FC236}">
                <a16:creationId xmlns:a16="http://schemas.microsoft.com/office/drawing/2014/main" id="{67F9A30A-647C-4806-9CB5-DFD4ADB5D05D}"/>
              </a:ext>
            </a:extLst>
          </p:cNvPr>
          <p:cNvSpPr>
            <a:spLocks noGrp="1"/>
          </p:cNvSpPr>
          <p:nvPr>
            <p:ph type="title"/>
          </p:nvPr>
        </p:nvSpPr>
        <p:spPr/>
        <p:txBody>
          <a:bodyPr/>
          <a:lstStyle/>
          <a:p>
            <a:r>
              <a:rPr lang="ga-IE"/>
              <a:t>Cliceáil chun stíl teidil an mháistir a chur in eagar</a:t>
            </a:r>
          </a:p>
        </p:txBody>
      </p:sp>
      <p:sp>
        <p:nvSpPr>
          <p:cNvPr id="3" name="Coinneálaí ionaid inneachair 2">
            <a:extLst>
              <a:ext uri="{FF2B5EF4-FFF2-40B4-BE49-F238E27FC236}">
                <a16:creationId xmlns:a16="http://schemas.microsoft.com/office/drawing/2014/main" id="{87BE7DC3-F6F1-4835-A884-2371F1D63098}"/>
              </a:ext>
            </a:extLst>
          </p:cNvPr>
          <p:cNvSpPr>
            <a:spLocks noGrp="1"/>
          </p:cNvSpPr>
          <p:nvPr>
            <p:ph idx="1"/>
          </p:nvPr>
        </p:nvSpPr>
        <p:spPr/>
        <p:txBody>
          <a:bodyPr/>
          <a:lstStyle/>
          <a:p>
            <a:pPr lvl="0"/>
            <a:r>
              <a:rPr lang="ga-IE"/>
              <a:t>Cliceáil chun stíleanna máistirthéacs a chur in eagar</a:t>
            </a:r>
          </a:p>
          <a:p>
            <a:pPr lvl="1"/>
            <a:r>
              <a:rPr lang="ga-IE"/>
              <a:t>Dara leibhéal</a:t>
            </a:r>
          </a:p>
          <a:p>
            <a:pPr lvl="2"/>
            <a:r>
              <a:rPr lang="ga-IE"/>
              <a:t>Tríú leibhéal</a:t>
            </a:r>
          </a:p>
          <a:p>
            <a:pPr lvl="3"/>
            <a:r>
              <a:rPr lang="ga-IE"/>
              <a:t>Ceathrú leibhéal</a:t>
            </a:r>
          </a:p>
          <a:p>
            <a:pPr lvl="4"/>
            <a:r>
              <a:rPr lang="ga-IE"/>
              <a:t>Cúigiú leibhéal</a:t>
            </a:r>
          </a:p>
        </p:txBody>
      </p:sp>
      <p:sp>
        <p:nvSpPr>
          <p:cNvPr id="4" name="Coinneálaí ionaid dáta 3">
            <a:extLst>
              <a:ext uri="{FF2B5EF4-FFF2-40B4-BE49-F238E27FC236}">
                <a16:creationId xmlns:a16="http://schemas.microsoft.com/office/drawing/2014/main" id="{977BE076-DA65-4CB7-A266-E6B95957DE0C}"/>
              </a:ext>
            </a:extLst>
          </p:cNvPr>
          <p:cNvSpPr>
            <a:spLocks noGrp="1"/>
          </p:cNvSpPr>
          <p:nvPr>
            <p:ph type="dt" sz="half" idx="10"/>
          </p:nvPr>
        </p:nvSpPr>
        <p:spPr/>
        <p:txBody>
          <a:bodyPr/>
          <a:lstStyle/>
          <a:p>
            <a:fld id="{C3F15824-C6CA-409C-A36F-CD1AEE2FF613}" type="datetimeFigureOut">
              <a:rPr lang="ga-IE" smtClean="0"/>
              <a:t>05/12/2020</a:t>
            </a:fld>
            <a:endParaRPr lang="ga-IE"/>
          </a:p>
        </p:txBody>
      </p:sp>
      <p:sp>
        <p:nvSpPr>
          <p:cNvPr id="5" name="Coinneálaí ionaid buntásc 4">
            <a:extLst>
              <a:ext uri="{FF2B5EF4-FFF2-40B4-BE49-F238E27FC236}">
                <a16:creationId xmlns:a16="http://schemas.microsoft.com/office/drawing/2014/main" id="{C03F11E4-ED31-45BB-AEE6-49AB6F406B1A}"/>
              </a:ext>
            </a:extLst>
          </p:cNvPr>
          <p:cNvSpPr>
            <a:spLocks noGrp="1"/>
          </p:cNvSpPr>
          <p:nvPr>
            <p:ph type="ftr" sz="quarter" idx="11"/>
          </p:nvPr>
        </p:nvSpPr>
        <p:spPr/>
        <p:txBody>
          <a:bodyPr/>
          <a:lstStyle/>
          <a:p>
            <a:endParaRPr lang="ga-IE"/>
          </a:p>
        </p:txBody>
      </p:sp>
      <p:sp>
        <p:nvSpPr>
          <p:cNvPr id="6" name="Coinneálaí ionaid uimhir sleamhnáin 5">
            <a:extLst>
              <a:ext uri="{FF2B5EF4-FFF2-40B4-BE49-F238E27FC236}">
                <a16:creationId xmlns:a16="http://schemas.microsoft.com/office/drawing/2014/main" id="{A4C0A998-BDE7-436F-A294-6CCD3C497C56}"/>
              </a:ext>
            </a:extLst>
          </p:cNvPr>
          <p:cNvSpPr>
            <a:spLocks noGrp="1"/>
          </p:cNvSpPr>
          <p:nvPr>
            <p:ph type="sldNum" sz="quarter" idx="12"/>
          </p:nvPr>
        </p:nvSpPr>
        <p:spPr/>
        <p:txBody>
          <a:bodyPr/>
          <a:lstStyle/>
          <a:p>
            <a:fld id="{44994BDC-6C25-40C7-9C8E-76FB77EFD754}" type="slidenum">
              <a:rPr lang="ga-IE" smtClean="0"/>
              <a:t>‹#›</a:t>
            </a:fld>
            <a:endParaRPr lang="ga-IE"/>
          </a:p>
        </p:txBody>
      </p:sp>
    </p:spTree>
    <p:extLst>
      <p:ext uri="{BB962C8B-B14F-4D97-AF65-F5344CB8AC3E}">
        <p14:creationId xmlns:p14="http://schemas.microsoft.com/office/powerpoint/2010/main" val="3205229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eanntásc rannáin">
    <p:spTree>
      <p:nvGrpSpPr>
        <p:cNvPr id="1" name=""/>
        <p:cNvGrpSpPr/>
        <p:nvPr/>
      </p:nvGrpSpPr>
      <p:grpSpPr>
        <a:xfrm>
          <a:off x="0" y="0"/>
          <a:ext cx="0" cy="0"/>
          <a:chOff x="0" y="0"/>
          <a:chExt cx="0" cy="0"/>
        </a:xfrm>
      </p:grpSpPr>
      <p:sp>
        <p:nvSpPr>
          <p:cNvPr id="2" name="Teideal 1">
            <a:extLst>
              <a:ext uri="{FF2B5EF4-FFF2-40B4-BE49-F238E27FC236}">
                <a16:creationId xmlns:a16="http://schemas.microsoft.com/office/drawing/2014/main" id="{9A001568-4216-471B-B2ED-93AF6DD14AE8}"/>
              </a:ext>
            </a:extLst>
          </p:cNvPr>
          <p:cNvSpPr>
            <a:spLocks noGrp="1"/>
          </p:cNvSpPr>
          <p:nvPr>
            <p:ph type="title"/>
          </p:nvPr>
        </p:nvSpPr>
        <p:spPr>
          <a:xfrm>
            <a:off x="831850" y="1709738"/>
            <a:ext cx="10515600" cy="2852737"/>
          </a:xfrm>
        </p:spPr>
        <p:txBody>
          <a:bodyPr anchor="b"/>
          <a:lstStyle>
            <a:lvl1pPr>
              <a:defRPr sz="6000"/>
            </a:lvl1pPr>
          </a:lstStyle>
          <a:p>
            <a:r>
              <a:rPr lang="ga-IE"/>
              <a:t>Cliceáil chun stíl teidil an mháistir a chur in eagar</a:t>
            </a:r>
          </a:p>
        </p:txBody>
      </p:sp>
      <p:sp>
        <p:nvSpPr>
          <p:cNvPr id="3" name="Coinneálaí ionaid téacs 2">
            <a:extLst>
              <a:ext uri="{FF2B5EF4-FFF2-40B4-BE49-F238E27FC236}">
                <a16:creationId xmlns:a16="http://schemas.microsoft.com/office/drawing/2014/main" id="{1458FF4B-B7CB-4FD7-A8A4-648D54459D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ga-IE"/>
              <a:t>Cliceáil chun stíleanna máistirthéacs a chur in eagar</a:t>
            </a:r>
          </a:p>
        </p:txBody>
      </p:sp>
      <p:sp>
        <p:nvSpPr>
          <p:cNvPr id="4" name="Coinneálaí ionaid dáta 3">
            <a:extLst>
              <a:ext uri="{FF2B5EF4-FFF2-40B4-BE49-F238E27FC236}">
                <a16:creationId xmlns:a16="http://schemas.microsoft.com/office/drawing/2014/main" id="{C9C6EC2A-0770-4C12-B377-A5238D6F7B01}"/>
              </a:ext>
            </a:extLst>
          </p:cNvPr>
          <p:cNvSpPr>
            <a:spLocks noGrp="1"/>
          </p:cNvSpPr>
          <p:nvPr>
            <p:ph type="dt" sz="half" idx="10"/>
          </p:nvPr>
        </p:nvSpPr>
        <p:spPr/>
        <p:txBody>
          <a:bodyPr/>
          <a:lstStyle/>
          <a:p>
            <a:fld id="{C3F15824-C6CA-409C-A36F-CD1AEE2FF613}" type="datetimeFigureOut">
              <a:rPr lang="ga-IE" smtClean="0"/>
              <a:t>05/12/2020</a:t>
            </a:fld>
            <a:endParaRPr lang="ga-IE"/>
          </a:p>
        </p:txBody>
      </p:sp>
      <p:sp>
        <p:nvSpPr>
          <p:cNvPr id="5" name="Coinneálaí ionaid buntásc 4">
            <a:extLst>
              <a:ext uri="{FF2B5EF4-FFF2-40B4-BE49-F238E27FC236}">
                <a16:creationId xmlns:a16="http://schemas.microsoft.com/office/drawing/2014/main" id="{C129F854-5CBA-4407-8834-F4BD18F1468C}"/>
              </a:ext>
            </a:extLst>
          </p:cNvPr>
          <p:cNvSpPr>
            <a:spLocks noGrp="1"/>
          </p:cNvSpPr>
          <p:nvPr>
            <p:ph type="ftr" sz="quarter" idx="11"/>
          </p:nvPr>
        </p:nvSpPr>
        <p:spPr/>
        <p:txBody>
          <a:bodyPr/>
          <a:lstStyle/>
          <a:p>
            <a:endParaRPr lang="ga-IE"/>
          </a:p>
        </p:txBody>
      </p:sp>
      <p:sp>
        <p:nvSpPr>
          <p:cNvPr id="6" name="Coinneálaí ionaid uimhir sleamhnáin 5">
            <a:extLst>
              <a:ext uri="{FF2B5EF4-FFF2-40B4-BE49-F238E27FC236}">
                <a16:creationId xmlns:a16="http://schemas.microsoft.com/office/drawing/2014/main" id="{ACA2B9F2-F4BD-4883-912D-9D745EEFE2EB}"/>
              </a:ext>
            </a:extLst>
          </p:cNvPr>
          <p:cNvSpPr>
            <a:spLocks noGrp="1"/>
          </p:cNvSpPr>
          <p:nvPr>
            <p:ph type="sldNum" sz="quarter" idx="12"/>
          </p:nvPr>
        </p:nvSpPr>
        <p:spPr/>
        <p:txBody>
          <a:bodyPr/>
          <a:lstStyle/>
          <a:p>
            <a:fld id="{44994BDC-6C25-40C7-9C8E-76FB77EFD754}" type="slidenum">
              <a:rPr lang="ga-IE" smtClean="0"/>
              <a:t>‹#›</a:t>
            </a:fld>
            <a:endParaRPr lang="ga-IE"/>
          </a:p>
        </p:txBody>
      </p:sp>
    </p:spTree>
    <p:extLst>
      <p:ext uri="{BB962C8B-B14F-4D97-AF65-F5344CB8AC3E}">
        <p14:creationId xmlns:p14="http://schemas.microsoft.com/office/powerpoint/2010/main" val="582840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há inneachar">
    <p:spTree>
      <p:nvGrpSpPr>
        <p:cNvPr id="1" name=""/>
        <p:cNvGrpSpPr/>
        <p:nvPr/>
      </p:nvGrpSpPr>
      <p:grpSpPr>
        <a:xfrm>
          <a:off x="0" y="0"/>
          <a:ext cx="0" cy="0"/>
          <a:chOff x="0" y="0"/>
          <a:chExt cx="0" cy="0"/>
        </a:xfrm>
      </p:grpSpPr>
      <p:sp>
        <p:nvSpPr>
          <p:cNvPr id="2" name="Teideal 1">
            <a:extLst>
              <a:ext uri="{FF2B5EF4-FFF2-40B4-BE49-F238E27FC236}">
                <a16:creationId xmlns:a16="http://schemas.microsoft.com/office/drawing/2014/main" id="{4EDD11A1-D7D0-4B26-A249-20E4C4AAEC65}"/>
              </a:ext>
            </a:extLst>
          </p:cNvPr>
          <p:cNvSpPr>
            <a:spLocks noGrp="1"/>
          </p:cNvSpPr>
          <p:nvPr>
            <p:ph type="title"/>
          </p:nvPr>
        </p:nvSpPr>
        <p:spPr/>
        <p:txBody>
          <a:bodyPr/>
          <a:lstStyle/>
          <a:p>
            <a:r>
              <a:rPr lang="ga-IE"/>
              <a:t>Cliceáil chun stíl teidil an mháistir a chur in eagar</a:t>
            </a:r>
          </a:p>
        </p:txBody>
      </p:sp>
      <p:sp>
        <p:nvSpPr>
          <p:cNvPr id="3" name="Coinneálaí ionaid inneachair 2">
            <a:extLst>
              <a:ext uri="{FF2B5EF4-FFF2-40B4-BE49-F238E27FC236}">
                <a16:creationId xmlns:a16="http://schemas.microsoft.com/office/drawing/2014/main" id="{17A5AF22-C3D3-4EEE-846A-E78C07EF9447}"/>
              </a:ext>
            </a:extLst>
          </p:cNvPr>
          <p:cNvSpPr>
            <a:spLocks noGrp="1"/>
          </p:cNvSpPr>
          <p:nvPr>
            <p:ph sz="half" idx="1"/>
          </p:nvPr>
        </p:nvSpPr>
        <p:spPr>
          <a:xfrm>
            <a:off x="838200" y="1825625"/>
            <a:ext cx="5181600" cy="4351338"/>
          </a:xfrm>
        </p:spPr>
        <p:txBody>
          <a:bodyPr/>
          <a:lstStyle/>
          <a:p>
            <a:pPr lvl="0"/>
            <a:r>
              <a:rPr lang="ga-IE"/>
              <a:t>Cliceáil chun stíleanna máistirthéacs a chur in eagar</a:t>
            </a:r>
          </a:p>
          <a:p>
            <a:pPr lvl="1"/>
            <a:r>
              <a:rPr lang="ga-IE"/>
              <a:t>Dara leibhéal</a:t>
            </a:r>
          </a:p>
          <a:p>
            <a:pPr lvl="2"/>
            <a:r>
              <a:rPr lang="ga-IE"/>
              <a:t>Tríú leibhéal</a:t>
            </a:r>
          </a:p>
          <a:p>
            <a:pPr lvl="3"/>
            <a:r>
              <a:rPr lang="ga-IE"/>
              <a:t>Ceathrú leibhéal</a:t>
            </a:r>
          </a:p>
          <a:p>
            <a:pPr lvl="4"/>
            <a:r>
              <a:rPr lang="ga-IE"/>
              <a:t>Cúigiú leibhéal</a:t>
            </a:r>
          </a:p>
        </p:txBody>
      </p:sp>
      <p:sp>
        <p:nvSpPr>
          <p:cNvPr id="4" name="Coinneálaí ionaid inneachair 3">
            <a:extLst>
              <a:ext uri="{FF2B5EF4-FFF2-40B4-BE49-F238E27FC236}">
                <a16:creationId xmlns:a16="http://schemas.microsoft.com/office/drawing/2014/main" id="{1C79D5EE-2575-4EBC-8109-5E1935B65954}"/>
              </a:ext>
            </a:extLst>
          </p:cNvPr>
          <p:cNvSpPr>
            <a:spLocks noGrp="1"/>
          </p:cNvSpPr>
          <p:nvPr>
            <p:ph sz="half" idx="2"/>
          </p:nvPr>
        </p:nvSpPr>
        <p:spPr>
          <a:xfrm>
            <a:off x="6172200" y="1825625"/>
            <a:ext cx="5181600" cy="4351338"/>
          </a:xfrm>
        </p:spPr>
        <p:txBody>
          <a:bodyPr/>
          <a:lstStyle/>
          <a:p>
            <a:pPr lvl="0"/>
            <a:r>
              <a:rPr lang="ga-IE"/>
              <a:t>Cliceáil chun stíleanna máistirthéacs a chur in eagar</a:t>
            </a:r>
          </a:p>
          <a:p>
            <a:pPr lvl="1"/>
            <a:r>
              <a:rPr lang="ga-IE"/>
              <a:t>Dara leibhéal</a:t>
            </a:r>
          </a:p>
          <a:p>
            <a:pPr lvl="2"/>
            <a:r>
              <a:rPr lang="ga-IE"/>
              <a:t>Tríú leibhéal</a:t>
            </a:r>
          </a:p>
          <a:p>
            <a:pPr lvl="3"/>
            <a:r>
              <a:rPr lang="ga-IE"/>
              <a:t>Ceathrú leibhéal</a:t>
            </a:r>
          </a:p>
          <a:p>
            <a:pPr lvl="4"/>
            <a:r>
              <a:rPr lang="ga-IE"/>
              <a:t>Cúigiú leibhéal</a:t>
            </a:r>
          </a:p>
        </p:txBody>
      </p:sp>
      <p:sp>
        <p:nvSpPr>
          <p:cNvPr id="5" name="Coinneálaí ionaid dáta 4">
            <a:extLst>
              <a:ext uri="{FF2B5EF4-FFF2-40B4-BE49-F238E27FC236}">
                <a16:creationId xmlns:a16="http://schemas.microsoft.com/office/drawing/2014/main" id="{013965BF-DDA6-4C89-8C45-D1202837C3D4}"/>
              </a:ext>
            </a:extLst>
          </p:cNvPr>
          <p:cNvSpPr>
            <a:spLocks noGrp="1"/>
          </p:cNvSpPr>
          <p:nvPr>
            <p:ph type="dt" sz="half" idx="10"/>
          </p:nvPr>
        </p:nvSpPr>
        <p:spPr/>
        <p:txBody>
          <a:bodyPr/>
          <a:lstStyle/>
          <a:p>
            <a:fld id="{C3F15824-C6CA-409C-A36F-CD1AEE2FF613}" type="datetimeFigureOut">
              <a:rPr lang="ga-IE" smtClean="0"/>
              <a:t>05/12/2020</a:t>
            </a:fld>
            <a:endParaRPr lang="ga-IE"/>
          </a:p>
        </p:txBody>
      </p:sp>
      <p:sp>
        <p:nvSpPr>
          <p:cNvPr id="6" name="Coinneálaí ionaid buntásc 5">
            <a:extLst>
              <a:ext uri="{FF2B5EF4-FFF2-40B4-BE49-F238E27FC236}">
                <a16:creationId xmlns:a16="http://schemas.microsoft.com/office/drawing/2014/main" id="{800911F2-69B6-4B7B-904F-F27702D042DE}"/>
              </a:ext>
            </a:extLst>
          </p:cNvPr>
          <p:cNvSpPr>
            <a:spLocks noGrp="1"/>
          </p:cNvSpPr>
          <p:nvPr>
            <p:ph type="ftr" sz="quarter" idx="11"/>
          </p:nvPr>
        </p:nvSpPr>
        <p:spPr/>
        <p:txBody>
          <a:bodyPr/>
          <a:lstStyle/>
          <a:p>
            <a:endParaRPr lang="ga-IE"/>
          </a:p>
        </p:txBody>
      </p:sp>
      <p:sp>
        <p:nvSpPr>
          <p:cNvPr id="7" name="Coinneálaí ionaid uimhir sleamhnáin 6">
            <a:extLst>
              <a:ext uri="{FF2B5EF4-FFF2-40B4-BE49-F238E27FC236}">
                <a16:creationId xmlns:a16="http://schemas.microsoft.com/office/drawing/2014/main" id="{0D4866D2-FA4F-4BC2-80D7-F3E537495CEF}"/>
              </a:ext>
            </a:extLst>
          </p:cNvPr>
          <p:cNvSpPr>
            <a:spLocks noGrp="1"/>
          </p:cNvSpPr>
          <p:nvPr>
            <p:ph type="sldNum" sz="quarter" idx="12"/>
          </p:nvPr>
        </p:nvSpPr>
        <p:spPr/>
        <p:txBody>
          <a:bodyPr/>
          <a:lstStyle/>
          <a:p>
            <a:fld id="{44994BDC-6C25-40C7-9C8E-76FB77EFD754}" type="slidenum">
              <a:rPr lang="ga-IE" smtClean="0"/>
              <a:t>‹#›</a:t>
            </a:fld>
            <a:endParaRPr lang="ga-IE"/>
          </a:p>
        </p:txBody>
      </p:sp>
    </p:spTree>
    <p:extLst>
      <p:ext uri="{BB962C8B-B14F-4D97-AF65-F5344CB8AC3E}">
        <p14:creationId xmlns:p14="http://schemas.microsoft.com/office/powerpoint/2010/main" val="3533282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áid">
    <p:spTree>
      <p:nvGrpSpPr>
        <p:cNvPr id="1" name=""/>
        <p:cNvGrpSpPr/>
        <p:nvPr/>
      </p:nvGrpSpPr>
      <p:grpSpPr>
        <a:xfrm>
          <a:off x="0" y="0"/>
          <a:ext cx="0" cy="0"/>
          <a:chOff x="0" y="0"/>
          <a:chExt cx="0" cy="0"/>
        </a:xfrm>
      </p:grpSpPr>
      <p:sp>
        <p:nvSpPr>
          <p:cNvPr id="2" name="Teideal 1">
            <a:extLst>
              <a:ext uri="{FF2B5EF4-FFF2-40B4-BE49-F238E27FC236}">
                <a16:creationId xmlns:a16="http://schemas.microsoft.com/office/drawing/2014/main" id="{6E04DD63-7C11-4272-97BC-1E83CE87EB34}"/>
              </a:ext>
            </a:extLst>
          </p:cNvPr>
          <p:cNvSpPr>
            <a:spLocks noGrp="1"/>
          </p:cNvSpPr>
          <p:nvPr>
            <p:ph type="title"/>
          </p:nvPr>
        </p:nvSpPr>
        <p:spPr>
          <a:xfrm>
            <a:off x="839788" y="365125"/>
            <a:ext cx="10515600" cy="1325563"/>
          </a:xfrm>
        </p:spPr>
        <p:txBody>
          <a:bodyPr/>
          <a:lstStyle/>
          <a:p>
            <a:r>
              <a:rPr lang="ga-IE"/>
              <a:t>Cliceáil chun stíl teidil an mháistir a chur in eagar</a:t>
            </a:r>
          </a:p>
        </p:txBody>
      </p:sp>
      <p:sp>
        <p:nvSpPr>
          <p:cNvPr id="3" name="Coinneálaí ionaid téacs 2">
            <a:extLst>
              <a:ext uri="{FF2B5EF4-FFF2-40B4-BE49-F238E27FC236}">
                <a16:creationId xmlns:a16="http://schemas.microsoft.com/office/drawing/2014/main" id="{2E5D7FD4-F8B1-4D8D-809E-C97E9C6B37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Cliceáil chun stíleanna máistirthéacs a chur in eagar</a:t>
            </a:r>
          </a:p>
        </p:txBody>
      </p:sp>
      <p:sp>
        <p:nvSpPr>
          <p:cNvPr id="4" name="Coinneálaí ionaid inneachair 3">
            <a:extLst>
              <a:ext uri="{FF2B5EF4-FFF2-40B4-BE49-F238E27FC236}">
                <a16:creationId xmlns:a16="http://schemas.microsoft.com/office/drawing/2014/main" id="{FAE69B22-EF95-440C-918E-233CF529BF5A}"/>
              </a:ext>
            </a:extLst>
          </p:cNvPr>
          <p:cNvSpPr>
            <a:spLocks noGrp="1"/>
          </p:cNvSpPr>
          <p:nvPr>
            <p:ph sz="half" idx="2"/>
          </p:nvPr>
        </p:nvSpPr>
        <p:spPr>
          <a:xfrm>
            <a:off x="839788" y="2505075"/>
            <a:ext cx="5157787" cy="3684588"/>
          </a:xfrm>
        </p:spPr>
        <p:txBody>
          <a:bodyPr/>
          <a:lstStyle/>
          <a:p>
            <a:pPr lvl="0"/>
            <a:r>
              <a:rPr lang="ga-IE"/>
              <a:t>Cliceáil chun stíleanna máistirthéacs a chur in eagar</a:t>
            </a:r>
          </a:p>
          <a:p>
            <a:pPr lvl="1"/>
            <a:r>
              <a:rPr lang="ga-IE"/>
              <a:t>Dara leibhéal</a:t>
            </a:r>
          </a:p>
          <a:p>
            <a:pPr lvl="2"/>
            <a:r>
              <a:rPr lang="ga-IE"/>
              <a:t>Tríú leibhéal</a:t>
            </a:r>
          </a:p>
          <a:p>
            <a:pPr lvl="3"/>
            <a:r>
              <a:rPr lang="ga-IE"/>
              <a:t>Ceathrú leibhéal</a:t>
            </a:r>
          </a:p>
          <a:p>
            <a:pPr lvl="4"/>
            <a:r>
              <a:rPr lang="ga-IE"/>
              <a:t>Cúigiú leibhéal</a:t>
            </a:r>
          </a:p>
        </p:txBody>
      </p:sp>
      <p:sp>
        <p:nvSpPr>
          <p:cNvPr id="5" name="Coinneálaí ionaid téacs 4">
            <a:extLst>
              <a:ext uri="{FF2B5EF4-FFF2-40B4-BE49-F238E27FC236}">
                <a16:creationId xmlns:a16="http://schemas.microsoft.com/office/drawing/2014/main" id="{BB4246FA-4011-4AF1-8304-0AC28428AA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Cliceáil chun stíleanna máistirthéacs a chur in eagar</a:t>
            </a:r>
          </a:p>
        </p:txBody>
      </p:sp>
      <p:sp>
        <p:nvSpPr>
          <p:cNvPr id="6" name="Coinneálaí ionaid inneachair 5">
            <a:extLst>
              <a:ext uri="{FF2B5EF4-FFF2-40B4-BE49-F238E27FC236}">
                <a16:creationId xmlns:a16="http://schemas.microsoft.com/office/drawing/2014/main" id="{B29FBF78-152C-44AD-AF47-BD29143BF9F8}"/>
              </a:ext>
            </a:extLst>
          </p:cNvPr>
          <p:cNvSpPr>
            <a:spLocks noGrp="1"/>
          </p:cNvSpPr>
          <p:nvPr>
            <p:ph sz="quarter" idx="4"/>
          </p:nvPr>
        </p:nvSpPr>
        <p:spPr>
          <a:xfrm>
            <a:off x="6172200" y="2505075"/>
            <a:ext cx="5183188" cy="3684588"/>
          </a:xfrm>
        </p:spPr>
        <p:txBody>
          <a:bodyPr/>
          <a:lstStyle/>
          <a:p>
            <a:pPr lvl="0"/>
            <a:r>
              <a:rPr lang="ga-IE"/>
              <a:t>Cliceáil chun stíleanna máistirthéacs a chur in eagar</a:t>
            </a:r>
          </a:p>
          <a:p>
            <a:pPr lvl="1"/>
            <a:r>
              <a:rPr lang="ga-IE"/>
              <a:t>Dara leibhéal</a:t>
            </a:r>
          </a:p>
          <a:p>
            <a:pPr lvl="2"/>
            <a:r>
              <a:rPr lang="ga-IE"/>
              <a:t>Tríú leibhéal</a:t>
            </a:r>
          </a:p>
          <a:p>
            <a:pPr lvl="3"/>
            <a:r>
              <a:rPr lang="ga-IE"/>
              <a:t>Ceathrú leibhéal</a:t>
            </a:r>
          </a:p>
          <a:p>
            <a:pPr lvl="4"/>
            <a:r>
              <a:rPr lang="ga-IE"/>
              <a:t>Cúigiú leibhéal</a:t>
            </a:r>
          </a:p>
        </p:txBody>
      </p:sp>
      <p:sp>
        <p:nvSpPr>
          <p:cNvPr id="7" name="Coinneálaí ionaid dáta 6">
            <a:extLst>
              <a:ext uri="{FF2B5EF4-FFF2-40B4-BE49-F238E27FC236}">
                <a16:creationId xmlns:a16="http://schemas.microsoft.com/office/drawing/2014/main" id="{B4EEC5ED-CFEA-4F9D-9DA5-5611EE4A7F87}"/>
              </a:ext>
            </a:extLst>
          </p:cNvPr>
          <p:cNvSpPr>
            <a:spLocks noGrp="1"/>
          </p:cNvSpPr>
          <p:nvPr>
            <p:ph type="dt" sz="half" idx="10"/>
          </p:nvPr>
        </p:nvSpPr>
        <p:spPr/>
        <p:txBody>
          <a:bodyPr/>
          <a:lstStyle/>
          <a:p>
            <a:fld id="{C3F15824-C6CA-409C-A36F-CD1AEE2FF613}" type="datetimeFigureOut">
              <a:rPr lang="ga-IE" smtClean="0"/>
              <a:t>05/12/2020</a:t>
            </a:fld>
            <a:endParaRPr lang="ga-IE"/>
          </a:p>
        </p:txBody>
      </p:sp>
      <p:sp>
        <p:nvSpPr>
          <p:cNvPr id="8" name="Coinneálaí ionaid buntásc 7">
            <a:extLst>
              <a:ext uri="{FF2B5EF4-FFF2-40B4-BE49-F238E27FC236}">
                <a16:creationId xmlns:a16="http://schemas.microsoft.com/office/drawing/2014/main" id="{56D70AA0-AEAD-476B-A05B-A88F628C4C9A}"/>
              </a:ext>
            </a:extLst>
          </p:cNvPr>
          <p:cNvSpPr>
            <a:spLocks noGrp="1"/>
          </p:cNvSpPr>
          <p:nvPr>
            <p:ph type="ftr" sz="quarter" idx="11"/>
          </p:nvPr>
        </p:nvSpPr>
        <p:spPr/>
        <p:txBody>
          <a:bodyPr/>
          <a:lstStyle/>
          <a:p>
            <a:endParaRPr lang="ga-IE"/>
          </a:p>
        </p:txBody>
      </p:sp>
      <p:sp>
        <p:nvSpPr>
          <p:cNvPr id="9" name="Coinneálaí ionaid uimhir sleamhnáin 8">
            <a:extLst>
              <a:ext uri="{FF2B5EF4-FFF2-40B4-BE49-F238E27FC236}">
                <a16:creationId xmlns:a16="http://schemas.microsoft.com/office/drawing/2014/main" id="{6DA9B98E-8324-4501-99BB-42ACB7C32490}"/>
              </a:ext>
            </a:extLst>
          </p:cNvPr>
          <p:cNvSpPr>
            <a:spLocks noGrp="1"/>
          </p:cNvSpPr>
          <p:nvPr>
            <p:ph type="sldNum" sz="quarter" idx="12"/>
          </p:nvPr>
        </p:nvSpPr>
        <p:spPr/>
        <p:txBody>
          <a:bodyPr/>
          <a:lstStyle/>
          <a:p>
            <a:fld id="{44994BDC-6C25-40C7-9C8E-76FB77EFD754}" type="slidenum">
              <a:rPr lang="ga-IE" smtClean="0"/>
              <a:t>‹#›</a:t>
            </a:fld>
            <a:endParaRPr lang="ga-IE"/>
          </a:p>
        </p:txBody>
      </p:sp>
    </p:spTree>
    <p:extLst>
      <p:ext uri="{BB962C8B-B14F-4D97-AF65-F5344CB8AC3E}">
        <p14:creationId xmlns:p14="http://schemas.microsoft.com/office/powerpoint/2010/main" val="1908734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n teideal amháin">
    <p:spTree>
      <p:nvGrpSpPr>
        <p:cNvPr id="1" name=""/>
        <p:cNvGrpSpPr/>
        <p:nvPr/>
      </p:nvGrpSpPr>
      <p:grpSpPr>
        <a:xfrm>
          <a:off x="0" y="0"/>
          <a:ext cx="0" cy="0"/>
          <a:chOff x="0" y="0"/>
          <a:chExt cx="0" cy="0"/>
        </a:xfrm>
      </p:grpSpPr>
      <p:sp>
        <p:nvSpPr>
          <p:cNvPr id="2" name="Teideal 1">
            <a:extLst>
              <a:ext uri="{FF2B5EF4-FFF2-40B4-BE49-F238E27FC236}">
                <a16:creationId xmlns:a16="http://schemas.microsoft.com/office/drawing/2014/main" id="{97199CEE-0E60-4B3F-9220-AEFCF60F1FC5}"/>
              </a:ext>
            </a:extLst>
          </p:cNvPr>
          <p:cNvSpPr>
            <a:spLocks noGrp="1"/>
          </p:cNvSpPr>
          <p:nvPr>
            <p:ph type="title"/>
          </p:nvPr>
        </p:nvSpPr>
        <p:spPr/>
        <p:txBody>
          <a:bodyPr/>
          <a:lstStyle/>
          <a:p>
            <a:r>
              <a:rPr lang="ga-IE"/>
              <a:t>Cliceáil chun stíl teidil an mháistir a chur in eagar</a:t>
            </a:r>
          </a:p>
        </p:txBody>
      </p:sp>
      <p:sp>
        <p:nvSpPr>
          <p:cNvPr id="3" name="Coinneálaí ionaid dáta 2">
            <a:extLst>
              <a:ext uri="{FF2B5EF4-FFF2-40B4-BE49-F238E27FC236}">
                <a16:creationId xmlns:a16="http://schemas.microsoft.com/office/drawing/2014/main" id="{9E9C05F7-646B-4B15-A40C-1CE08B1943B7}"/>
              </a:ext>
            </a:extLst>
          </p:cNvPr>
          <p:cNvSpPr>
            <a:spLocks noGrp="1"/>
          </p:cNvSpPr>
          <p:nvPr>
            <p:ph type="dt" sz="half" idx="10"/>
          </p:nvPr>
        </p:nvSpPr>
        <p:spPr/>
        <p:txBody>
          <a:bodyPr/>
          <a:lstStyle/>
          <a:p>
            <a:fld id="{C3F15824-C6CA-409C-A36F-CD1AEE2FF613}" type="datetimeFigureOut">
              <a:rPr lang="ga-IE" smtClean="0"/>
              <a:t>05/12/2020</a:t>
            </a:fld>
            <a:endParaRPr lang="ga-IE"/>
          </a:p>
        </p:txBody>
      </p:sp>
      <p:sp>
        <p:nvSpPr>
          <p:cNvPr id="4" name="Coinneálaí ionaid buntásc 3">
            <a:extLst>
              <a:ext uri="{FF2B5EF4-FFF2-40B4-BE49-F238E27FC236}">
                <a16:creationId xmlns:a16="http://schemas.microsoft.com/office/drawing/2014/main" id="{A3AEF22E-FB6E-4D0F-990E-8CADBDDFDB58}"/>
              </a:ext>
            </a:extLst>
          </p:cNvPr>
          <p:cNvSpPr>
            <a:spLocks noGrp="1"/>
          </p:cNvSpPr>
          <p:nvPr>
            <p:ph type="ftr" sz="quarter" idx="11"/>
          </p:nvPr>
        </p:nvSpPr>
        <p:spPr/>
        <p:txBody>
          <a:bodyPr/>
          <a:lstStyle/>
          <a:p>
            <a:endParaRPr lang="ga-IE"/>
          </a:p>
        </p:txBody>
      </p:sp>
      <p:sp>
        <p:nvSpPr>
          <p:cNvPr id="5" name="Coinneálaí ionaid uimhir sleamhnáin 4">
            <a:extLst>
              <a:ext uri="{FF2B5EF4-FFF2-40B4-BE49-F238E27FC236}">
                <a16:creationId xmlns:a16="http://schemas.microsoft.com/office/drawing/2014/main" id="{8BABC414-6B04-4A3A-93BC-237DDD6AA09D}"/>
              </a:ext>
            </a:extLst>
          </p:cNvPr>
          <p:cNvSpPr>
            <a:spLocks noGrp="1"/>
          </p:cNvSpPr>
          <p:nvPr>
            <p:ph type="sldNum" sz="quarter" idx="12"/>
          </p:nvPr>
        </p:nvSpPr>
        <p:spPr/>
        <p:txBody>
          <a:bodyPr/>
          <a:lstStyle/>
          <a:p>
            <a:fld id="{44994BDC-6C25-40C7-9C8E-76FB77EFD754}" type="slidenum">
              <a:rPr lang="ga-IE" smtClean="0"/>
              <a:t>‹#›</a:t>
            </a:fld>
            <a:endParaRPr lang="ga-IE"/>
          </a:p>
        </p:txBody>
      </p:sp>
    </p:spTree>
    <p:extLst>
      <p:ext uri="{BB962C8B-B14F-4D97-AF65-F5344CB8AC3E}">
        <p14:creationId xmlns:p14="http://schemas.microsoft.com/office/powerpoint/2010/main" val="1736735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án">
    <p:spTree>
      <p:nvGrpSpPr>
        <p:cNvPr id="1" name=""/>
        <p:cNvGrpSpPr/>
        <p:nvPr/>
      </p:nvGrpSpPr>
      <p:grpSpPr>
        <a:xfrm>
          <a:off x="0" y="0"/>
          <a:ext cx="0" cy="0"/>
          <a:chOff x="0" y="0"/>
          <a:chExt cx="0" cy="0"/>
        </a:xfrm>
      </p:grpSpPr>
      <p:sp>
        <p:nvSpPr>
          <p:cNvPr id="2" name="Coinneálaí ionaid dáta 1">
            <a:extLst>
              <a:ext uri="{FF2B5EF4-FFF2-40B4-BE49-F238E27FC236}">
                <a16:creationId xmlns:a16="http://schemas.microsoft.com/office/drawing/2014/main" id="{265216DF-EE63-476F-8BBD-970E5362B640}"/>
              </a:ext>
            </a:extLst>
          </p:cNvPr>
          <p:cNvSpPr>
            <a:spLocks noGrp="1"/>
          </p:cNvSpPr>
          <p:nvPr>
            <p:ph type="dt" sz="half" idx="10"/>
          </p:nvPr>
        </p:nvSpPr>
        <p:spPr/>
        <p:txBody>
          <a:bodyPr/>
          <a:lstStyle/>
          <a:p>
            <a:fld id="{C3F15824-C6CA-409C-A36F-CD1AEE2FF613}" type="datetimeFigureOut">
              <a:rPr lang="ga-IE" smtClean="0"/>
              <a:t>05/12/2020</a:t>
            </a:fld>
            <a:endParaRPr lang="ga-IE"/>
          </a:p>
        </p:txBody>
      </p:sp>
      <p:sp>
        <p:nvSpPr>
          <p:cNvPr id="3" name="Coinneálaí ionaid buntásc 2">
            <a:extLst>
              <a:ext uri="{FF2B5EF4-FFF2-40B4-BE49-F238E27FC236}">
                <a16:creationId xmlns:a16="http://schemas.microsoft.com/office/drawing/2014/main" id="{269DBA69-B054-4B66-9C6E-F5BC84AA67A5}"/>
              </a:ext>
            </a:extLst>
          </p:cNvPr>
          <p:cNvSpPr>
            <a:spLocks noGrp="1"/>
          </p:cNvSpPr>
          <p:nvPr>
            <p:ph type="ftr" sz="quarter" idx="11"/>
          </p:nvPr>
        </p:nvSpPr>
        <p:spPr/>
        <p:txBody>
          <a:bodyPr/>
          <a:lstStyle/>
          <a:p>
            <a:endParaRPr lang="ga-IE"/>
          </a:p>
        </p:txBody>
      </p:sp>
      <p:sp>
        <p:nvSpPr>
          <p:cNvPr id="4" name="Coinneálaí ionaid uimhir sleamhnáin 3">
            <a:extLst>
              <a:ext uri="{FF2B5EF4-FFF2-40B4-BE49-F238E27FC236}">
                <a16:creationId xmlns:a16="http://schemas.microsoft.com/office/drawing/2014/main" id="{11BFC795-8DDC-421A-BDA3-06E5E074E529}"/>
              </a:ext>
            </a:extLst>
          </p:cNvPr>
          <p:cNvSpPr>
            <a:spLocks noGrp="1"/>
          </p:cNvSpPr>
          <p:nvPr>
            <p:ph type="sldNum" sz="quarter" idx="12"/>
          </p:nvPr>
        </p:nvSpPr>
        <p:spPr/>
        <p:txBody>
          <a:bodyPr/>
          <a:lstStyle/>
          <a:p>
            <a:fld id="{44994BDC-6C25-40C7-9C8E-76FB77EFD754}" type="slidenum">
              <a:rPr lang="ga-IE" smtClean="0"/>
              <a:t>‹#›</a:t>
            </a:fld>
            <a:endParaRPr lang="ga-IE"/>
          </a:p>
        </p:txBody>
      </p:sp>
    </p:spTree>
    <p:extLst>
      <p:ext uri="{BB962C8B-B14F-4D97-AF65-F5344CB8AC3E}">
        <p14:creationId xmlns:p14="http://schemas.microsoft.com/office/powerpoint/2010/main" val="3601765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achar le fotheideal">
    <p:spTree>
      <p:nvGrpSpPr>
        <p:cNvPr id="1" name=""/>
        <p:cNvGrpSpPr/>
        <p:nvPr/>
      </p:nvGrpSpPr>
      <p:grpSpPr>
        <a:xfrm>
          <a:off x="0" y="0"/>
          <a:ext cx="0" cy="0"/>
          <a:chOff x="0" y="0"/>
          <a:chExt cx="0" cy="0"/>
        </a:xfrm>
      </p:grpSpPr>
      <p:sp>
        <p:nvSpPr>
          <p:cNvPr id="2" name="Teideal 1">
            <a:extLst>
              <a:ext uri="{FF2B5EF4-FFF2-40B4-BE49-F238E27FC236}">
                <a16:creationId xmlns:a16="http://schemas.microsoft.com/office/drawing/2014/main" id="{04C803D4-C599-4E56-8610-F6178D204BDD}"/>
              </a:ext>
            </a:extLst>
          </p:cNvPr>
          <p:cNvSpPr>
            <a:spLocks noGrp="1"/>
          </p:cNvSpPr>
          <p:nvPr>
            <p:ph type="title"/>
          </p:nvPr>
        </p:nvSpPr>
        <p:spPr>
          <a:xfrm>
            <a:off x="839788" y="457200"/>
            <a:ext cx="3932237" cy="1600200"/>
          </a:xfrm>
        </p:spPr>
        <p:txBody>
          <a:bodyPr anchor="b"/>
          <a:lstStyle>
            <a:lvl1pPr>
              <a:defRPr sz="3200"/>
            </a:lvl1pPr>
          </a:lstStyle>
          <a:p>
            <a:r>
              <a:rPr lang="ga-IE"/>
              <a:t>Cliceáil chun stíl teidil an mháistir a chur in eagar</a:t>
            </a:r>
          </a:p>
        </p:txBody>
      </p:sp>
      <p:sp>
        <p:nvSpPr>
          <p:cNvPr id="3" name="Coinneálaí ionaid inneachair 2">
            <a:extLst>
              <a:ext uri="{FF2B5EF4-FFF2-40B4-BE49-F238E27FC236}">
                <a16:creationId xmlns:a16="http://schemas.microsoft.com/office/drawing/2014/main" id="{93DDD28E-FA2B-428A-ACDE-A81FFBB3F1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ga-IE"/>
              <a:t>Cliceáil chun stíleanna máistirthéacs a chur in eagar</a:t>
            </a:r>
          </a:p>
          <a:p>
            <a:pPr lvl="1"/>
            <a:r>
              <a:rPr lang="ga-IE"/>
              <a:t>Dara leibhéal</a:t>
            </a:r>
          </a:p>
          <a:p>
            <a:pPr lvl="2"/>
            <a:r>
              <a:rPr lang="ga-IE"/>
              <a:t>Tríú leibhéal</a:t>
            </a:r>
          </a:p>
          <a:p>
            <a:pPr lvl="3"/>
            <a:r>
              <a:rPr lang="ga-IE"/>
              <a:t>Ceathrú leibhéal</a:t>
            </a:r>
          </a:p>
          <a:p>
            <a:pPr lvl="4"/>
            <a:r>
              <a:rPr lang="ga-IE"/>
              <a:t>Cúigiú leibhéal</a:t>
            </a:r>
          </a:p>
        </p:txBody>
      </p:sp>
      <p:sp>
        <p:nvSpPr>
          <p:cNvPr id="4" name="Coinneálaí ionaid téacs 3">
            <a:extLst>
              <a:ext uri="{FF2B5EF4-FFF2-40B4-BE49-F238E27FC236}">
                <a16:creationId xmlns:a16="http://schemas.microsoft.com/office/drawing/2014/main" id="{A2405223-B6B4-4153-A815-D650D29DC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ga-IE"/>
              <a:t>Cliceáil chun stíleanna máistirthéacs a chur in eagar</a:t>
            </a:r>
          </a:p>
        </p:txBody>
      </p:sp>
      <p:sp>
        <p:nvSpPr>
          <p:cNvPr id="5" name="Coinneálaí ionaid dáta 4">
            <a:extLst>
              <a:ext uri="{FF2B5EF4-FFF2-40B4-BE49-F238E27FC236}">
                <a16:creationId xmlns:a16="http://schemas.microsoft.com/office/drawing/2014/main" id="{F9B6C56B-40F9-4F95-8034-D2A09804F95F}"/>
              </a:ext>
            </a:extLst>
          </p:cNvPr>
          <p:cNvSpPr>
            <a:spLocks noGrp="1"/>
          </p:cNvSpPr>
          <p:nvPr>
            <p:ph type="dt" sz="half" idx="10"/>
          </p:nvPr>
        </p:nvSpPr>
        <p:spPr/>
        <p:txBody>
          <a:bodyPr/>
          <a:lstStyle/>
          <a:p>
            <a:fld id="{C3F15824-C6CA-409C-A36F-CD1AEE2FF613}" type="datetimeFigureOut">
              <a:rPr lang="ga-IE" smtClean="0"/>
              <a:t>05/12/2020</a:t>
            </a:fld>
            <a:endParaRPr lang="ga-IE"/>
          </a:p>
        </p:txBody>
      </p:sp>
      <p:sp>
        <p:nvSpPr>
          <p:cNvPr id="6" name="Coinneálaí ionaid buntásc 5">
            <a:extLst>
              <a:ext uri="{FF2B5EF4-FFF2-40B4-BE49-F238E27FC236}">
                <a16:creationId xmlns:a16="http://schemas.microsoft.com/office/drawing/2014/main" id="{63DDC2A2-2735-4B40-A934-E5328800A887}"/>
              </a:ext>
            </a:extLst>
          </p:cNvPr>
          <p:cNvSpPr>
            <a:spLocks noGrp="1"/>
          </p:cNvSpPr>
          <p:nvPr>
            <p:ph type="ftr" sz="quarter" idx="11"/>
          </p:nvPr>
        </p:nvSpPr>
        <p:spPr/>
        <p:txBody>
          <a:bodyPr/>
          <a:lstStyle/>
          <a:p>
            <a:endParaRPr lang="ga-IE"/>
          </a:p>
        </p:txBody>
      </p:sp>
      <p:sp>
        <p:nvSpPr>
          <p:cNvPr id="7" name="Coinneálaí ionaid uimhir sleamhnáin 6">
            <a:extLst>
              <a:ext uri="{FF2B5EF4-FFF2-40B4-BE49-F238E27FC236}">
                <a16:creationId xmlns:a16="http://schemas.microsoft.com/office/drawing/2014/main" id="{B74B7D42-58EA-42E0-AFD9-EB304909C601}"/>
              </a:ext>
            </a:extLst>
          </p:cNvPr>
          <p:cNvSpPr>
            <a:spLocks noGrp="1"/>
          </p:cNvSpPr>
          <p:nvPr>
            <p:ph type="sldNum" sz="quarter" idx="12"/>
          </p:nvPr>
        </p:nvSpPr>
        <p:spPr/>
        <p:txBody>
          <a:bodyPr/>
          <a:lstStyle/>
          <a:p>
            <a:fld id="{44994BDC-6C25-40C7-9C8E-76FB77EFD754}" type="slidenum">
              <a:rPr lang="ga-IE" smtClean="0"/>
              <a:t>‹#›</a:t>
            </a:fld>
            <a:endParaRPr lang="ga-IE"/>
          </a:p>
        </p:txBody>
      </p:sp>
    </p:spTree>
    <p:extLst>
      <p:ext uri="{BB962C8B-B14F-4D97-AF65-F5344CB8AC3E}">
        <p14:creationId xmlns:p14="http://schemas.microsoft.com/office/powerpoint/2010/main" val="1851310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iúr le foscríbhinn">
    <p:spTree>
      <p:nvGrpSpPr>
        <p:cNvPr id="1" name=""/>
        <p:cNvGrpSpPr/>
        <p:nvPr/>
      </p:nvGrpSpPr>
      <p:grpSpPr>
        <a:xfrm>
          <a:off x="0" y="0"/>
          <a:ext cx="0" cy="0"/>
          <a:chOff x="0" y="0"/>
          <a:chExt cx="0" cy="0"/>
        </a:xfrm>
      </p:grpSpPr>
      <p:sp>
        <p:nvSpPr>
          <p:cNvPr id="2" name="Teideal 1">
            <a:extLst>
              <a:ext uri="{FF2B5EF4-FFF2-40B4-BE49-F238E27FC236}">
                <a16:creationId xmlns:a16="http://schemas.microsoft.com/office/drawing/2014/main" id="{B0772A38-D0B6-45C2-9A55-D59360B6EE06}"/>
              </a:ext>
            </a:extLst>
          </p:cNvPr>
          <p:cNvSpPr>
            <a:spLocks noGrp="1"/>
          </p:cNvSpPr>
          <p:nvPr>
            <p:ph type="title"/>
          </p:nvPr>
        </p:nvSpPr>
        <p:spPr>
          <a:xfrm>
            <a:off x="839788" y="457200"/>
            <a:ext cx="3932237" cy="1600200"/>
          </a:xfrm>
        </p:spPr>
        <p:txBody>
          <a:bodyPr anchor="b"/>
          <a:lstStyle>
            <a:lvl1pPr>
              <a:defRPr sz="3200"/>
            </a:lvl1pPr>
          </a:lstStyle>
          <a:p>
            <a:r>
              <a:rPr lang="ga-IE"/>
              <a:t>Cliceáil chun stíl teidil an mháistir a chur in eagar</a:t>
            </a:r>
          </a:p>
        </p:txBody>
      </p:sp>
      <p:sp>
        <p:nvSpPr>
          <p:cNvPr id="3" name="Coinneálaí ionaid pictiúir 2">
            <a:extLst>
              <a:ext uri="{FF2B5EF4-FFF2-40B4-BE49-F238E27FC236}">
                <a16:creationId xmlns:a16="http://schemas.microsoft.com/office/drawing/2014/main" id="{2D13ABCA-5BE2-4F11-BCE7-3A29BA2C0F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ga-IE"/>
          </a:p>
        </p:txBody>
      </p:sp>
      <p:sp>
        <p:nvSpPr>
          <p:cNvPr id="4" name="Coinneálaí ionaid téacs 3">
            <a:extLst>
              <a:ext uri="{FF2B5EF4-FFF2-40B4-BE49-F238E27FC236}">
                <a16:creationId xmlns:a16="http://schemas.microsoft.com/office/drawing/2014/main" id="{E3FF57FD-B0CF-4DEF-A2E5-423AF93BD2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ga-IE"/>
              <a:t>Cliceáil chun stíleanna máistirthéacs a chur in eagar</a:t>
            </a:r>
          </a:p>
        </p:txBody>
      </p:sp>
      <p:sp>
        <p:nvSpPr>
          <p:cNvPr id="5" name="Coinneálaí ionaid dáta 4">
            <a:extLst>
              <a:ext uri="{FF2B5EF4-FFF2-40B4-BE49-F238E27FC236}">
                <a16:creationId xmlns:a16="http://schemas.microsoft.com/office/drawing/2014/main" id="{EEB53C29-1DCA-4EE0-B96B-CAC8DE6A5812}"/>
              </a:ext>
            </a:extLst>
          </p:cNvPr>
          <p:cNvSpPr>
            <a:spLocks noGrp="1"/>
          </p:cNvSpPr>
          <p:nvPr>
            <p:ph type="dt" sz="half" idx="10"/>
          </p:nvPr>
        </p:nvSpPr>
        <p:spPr/>
        <p:txBody>
          <a:bodyPr/>
          <a:lstStyle/>
          <a:p>
            <a:fld id="{C3F15824-C6CA-409C-A36F-CD1AEE2FF613}" type="datetimeFigureOut">
              <a:rPr lang="ga-IE" smtClean="0"/>
              <a:t>05/12/2020</a:t>
            </a:fld>
            <a:endParaRPr lang="ga-IE"/>
          </a:p>
        </p:txBody>
      </p:sp>
      <p:sp>
        <p:nvSpPr>
          <p:cNvPr id="6" name="Coinneálaí ionaid buntásc 5">
            <a:extLst>
              <a:ext uri="{FF2B5EF4-FFF2-40B4-BE49-F238E27FC236}">
                <a16:creationId xmlns:a16="http://schemas.microsoft.com/office/drawing/2014/main" id="{EEB799A3-F660-4579-BB1D-E9907F3527EC}"/>
              </a:ext>
            </a:extLst>
          </p:cNvPr>
          <p:cNvSpPr>
            <a:spLocks noGrp="1"/>
          </p:cNvSpPr>
          <p:nvPr>
            <p:ph type="ftr" sz="quarter" idx="11"/>
          </p:nvPr>
        </p:nvSpPr>
        <p:spPr/>
        <p:txBody>
          <a:bodyPr/>
          <a:lstStyle/>
          <a:p>
            <a:endParaRPr lang="ga-IE"/>
          </a:p>
        </p:txBody>
      </p:sp>
      <p:sp>
        <p:nvSpPr>
          <p:cNvPr id="7" name="Coinneálaí ionaid uimhir sleamhnáin 6">
            <a:extLst>
              <a:ext uri="{FF2B5EF4-FFF2-40B4-BE49-F238E27FC236}">
                <a16:creationId xmlns:a16="http://schemas.microsoft.com/office/drawing/2014/main" id="{B3028021-A553-4E9E-B337-D3F3469E7C54}"/>
              </a:ext>
            </a:extLst>
          </p:cNvPr>
          <p:cNvSpPr>
            <a:spLocks noGrp="1"/>
          </p:cNvSpPr>
          <p:nvPr>
            <p:ph type="sldNum" sz="quarter" idx="12"/>
          </p:nvPr>
        </p:nvSpPr>
        <p:spPr/>
        <p:txBody>
          <a:bodyPr/>
          <a:lstStyle/>
          <a:p>
            <a:fld id="{44994BDC-6C25-40C7-9C8E-76FB77EFD754}" type="slidenum">
              <a:rPr lang="ga-IE" smtClean="0"/>
              <a:t>‹#›</a:t>
            </a:fld>
            <a:endParaRPr lang="ga-IE"/>
          </a:p>
        </p:txBody>
      </p:sp>
    </p:spTree>
    <p:extLst>
      <p:ext uri="{BB962C8B-B14F-4D97-AF65-F5344CB8AC3E}">
        <p14:creationId xmlns:p14="http://schemas.microsoft.com/office/powerpoint/2010/main" val="2827270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ideal agus téacs ingearach">
    <p:spTree>
      <p:nvGrpSpPr>
        <p:cNvPr id="1" name=""/>
        <p:cNvGrpSpPr/>
        <p:nvPr/>
      </p:nvGrpSpPr>
      <p:grpSpPr>
        <a:xfrm>
          <a:off x="0" y="0"/>
          <a:ext cx="0" cy="0"/>
          <a:chOff x="0" y="0"/>
          <a:chExt cx="0" cy="0"/>
        </a:xfrm>
      </p:grpSpPr>
      <p:sp>
        <p:nvSpPr>
          <p:cNvPr id="2" name="Teideal 1">
            <a:extLst>
              <a:ext uri="{FF2B5EF4-FFF2-40B4-BE49-F238E27FC236}">
                <a16:creationId xmlns:a16="http://schemas.microsoft.com/office/drawing/2014/main" id="{73450403-AA43-492A-A03E-A6D95E016E1A}"/>
              </a:ext>
            </a:extLst>
          </p:cNvPr>
          <p:cNvSpPr>
            <a:spLocks noGrp="1"/>
          </p:cNvSpPr>
          <p:nvPr>
            <p:ph type="title"/>
          </p:nvPr>
        </p:nvSpPr>
        <p:spPr/>
        <p:txBody>
          <a:bodyPr/>
          <a:lstStyle/>
          <a:p>
            <a:r>
              <a:rPr lang="ga-IE"/>
              <a:t>Cliceáil chun stíl teidil an mháistir a chur in eagar</a:t>
            </a:r>
          </a:p>
        </p:txBody>
      </p:sp>
      <p:sp>
        <p:nvSpPr>
          <p:cNvPr id="3" name="Coinneálaí ionaid téacs ingearaigh 2">
            <a:extLst>
              <a:ext uri="{FF2B5EF4-FFF2-40B4-BE49-F238E27FC236}">
                <a16:creationId xmlns:a16="http://schemas.microsoft.com/office/drawing/2014/main" id="{AF214A82-7C21-402E-BE45-CA3D76503FA7}"/>
              </a:ext>
            </a:extLst>
          </p:cNvPr>
          <p:cNvSpPr>
            <a:spLocks noGrp="1"/>
          </p:cNvSpPr>
          <p:nvPr>
            <p:ph type="body" orient="vert" idx="1"/>
          </p:nvPr>
        </p:nvSpPr>
        <p:spPr/>
        <p:txBody>
          <a:bodyPr vert="eaVert"/>
          <a:lstStyle/>
          <a:p>
            <a:pPr lvl="0"/>
            <a:r>
              <a:rPr lang="ga-IE"/>
              <a:t>Cliceáil chun stíleanna máistirthéacs a chur in eagar</a:t>
            </a:r>
          </a:p>
          <a:p>
            <a:pPr lvl="1"/>
            <a:r>
              <a:rPr lang="ga-IE"/>
              <a:t>Dara leibhéal</a:t>
            </a:r>
          </a:p>
          <a:p>
            <a:pPr lvl="2"/>
            <a:r>
              <a:rPr lang="ga-IE"/>
              <a:t>Tríú leibhéal</a:t>
            </a:r>
          </a:p>
          <a:p>
            <a:pPr lvl="3"/>
            <a:r>
              <a:rPr lang="ga-IE"/>
              <a:t>Ceathrú leibhéal</a:t>
            </a:r>
          </a:p>
          <a:p>
            <a:pPr lvl="4"/>
            <a:r>
              <a:rPr lang="ga-IE"/>
              <a:t>Cúigiú leibhéal</a:t>
            </a:r>
          </a:p>
        </p:txBody>
      </p:sp>
      <p:sp>
        <p:nvSpPr>
          <p:cNvPr id="4" name="Coinneálaí ionaid dáta 3">
            <a:extLst>
              <a:ext uri="{FF2B5EF4-FFF2-40B4-BE49-F238E27FC236}">
                <a16:creationId xmlns:a16="http://schemas.microsoft.com/office/drawing/2014/main" id="{C2DD9FB2-3C88-41B9-8E5B-437CF17AB612}"/>
              </a:ext>
            </a:extLst>
          </p:cNvPr>
          <p:cNvSpPr>
            <a:spLocks noGrp="1"/>
          </p:cNvSpPr>
          <p:nvPr>
            <p:ph type="dt" sz="half" idx="10"/>
          </p:nvPr>
        </p:nvSpPr>
        <p:spPr/>
        <p:txBody>
          <a:bodyPr/>
          <a:lstStyle/>
          <a:p>
            <a:fld id="{C3F15824-C6CA-409C-A36F-CD1AEE2FF613}" type="datetimeFigureOut">
              <a:rPr lang="ga-IE" smtClean="0"/>
              <a:t>05/12/2020</a:t>
            </a:fld>
            <a:endParaRPr lang="ga-IE"/>
          </a:p>
        </p:txBody>
      </p:sp>
      <p:sp>
        <p:nvSpPr>
          <p:cNvPr id="5" name="Coinneálaí ionaid buntásc 4">
            <a:extLst>
              <a:ext uri="{FF2B5EF4-FFF2-40B4-BE49-F238E27FC236}">
                <a16:creationId xmlns:a16="http://schemas.microsoft.com/office/drawing/2014/main" id="{C4D52761-C1BA-4C28-BF01-02051B679FB3}"/>
              </a:ext>
            </a:extLst>
          </p:cNvPr>
          <p:cNvSpPr>
            <a:spLocks noGrp="1"/>
          </p:cNvSpPr>
          <p:nvPr>
            <p:ph type="ftr" sz="quarter" idx="11"/>
          </p:nvPr>
        </p:nvSpPr>
        <p:spPr/>
        <p:txBody>
          <a:bodyPr/>
          <a:lstStyle/>
          <a:p>
            <a:endParaRPr lang="ga-IE"/>
          </a:p>
        </p:txBody>
      </p:sp>
      <p:sp>
        <p:nvSpPr>
          <p:cNvPr id="6" name="Coinneálaí ionaid uimhir sleamhnáin 5">
            <a:extLst>
              <a:ext uri="{FF2B5EF4-FFF2-40B4-BE49-F238E27FC236}">
                <a16:creationId xmlns:a16="http://schemas.microsoft.com/office/drawing/2014/main" id="{B688E29B-B595-4ECF-946E-63C08C4E3612}"/>
              </a:ext>
            </a:extLst>
          </p:cNvPr>
          <p:cNvSpPr>
            <a:spLocks noGrp="1"/>
          </p:cNvSpPr>
          <p:nvPr>
            <p:ph type="sldNum" sz="quarter" idx="12"/>
          </p:nvPr>
        </p:nvSpPr>
        <p:spPr/>
        <p:txBody>
          <a:bodyPr/>
          <a:lstStyle/>
          <a:p>
            <a:fld id="{44994BDC-6C25-40C7-9C8E-76FB77EFD754}" type="slidenum">
              <a:rPr lang="ga-IE" smtClean="0"/>
              <a:t>‹#›</a:t>
            </a:fld>
            <a:endParaRPr lang="ga-IE"/>
          </a:p>
        </p:txBody>
      </p:sp>
    </p:spTree>
    <p:extLst>
      <p:ext uri="{BB962C8B-B14F-4D97-AF65-F5344CB8AC3E}">
        <p14:creationId xmlns:p14="http://schemas.microsoft.com/office/powerpoint/2010/main" val="3811941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ideal ingearach agus téacs">
    <p:spTree>
      <p:nvGrpSpPr>
        <p:cNvPr id="1" name=""/>
        <p:cNvGrpSpPr/>
        <p:nvPr/>
      </p:nvGrpSpPr>
      <p:grpSpPr>
        <a:xfrm>
          <a:off x="0" y="0"/>
          <a:ext cx="0" cy="0"/>
          <a:chOff x="0" y="0"/>
          <a:chExt cx="0" cy="0"/>
        </a:xfrm>
      </p:grpSpPr>
      <p:sp>
        <p:nvSpPr>
          <p:cNvPr id="2" name="Teideal ingearach 1">
            <a:extLst>
              <a:ext uri="{FF2B5EF4-FFF2-40B4-BE49-F238E27FC236}">
                <a16:creationId xmlns:a16="http://schemas.microsoft.com/office/drawing/2014/main" id="{E741A0A3-60BA-4568-8EC7-06C0F33A34E3}"/>
              </a:ext>
            </a:extLst>
          </p:cNvPr>
          <p:cNvSpPr>
            <a:spLocks noGrp="1"/>
          </p:cNvSpPr>
          <p:nvPr>
            <p:ph type="title" orient="vert"/>
          </p:nvPr>
        </p:nvSpPr>
        <p:spPr>
          <a:xfrm>
            <a:off x="8724900" y="365125"/>
            <a:ext cx="2628900" cy="5811838"/>
          </a:xfrm>
        </p:spPr>
        <p:txBody>
          <a:bodyPr vert="eaVert"/>
          <a:lstStyle/>
          <a:p>
            <a:r>
              <a:rPr lang="ga-IE"/>
              <a:t>Cliceáil chun stíl teidil an mháistir a chur in eagar</a:t>
            </a:r>
          </a:p>
        </p:txBody>
      </p:sp>
      <p:sp>
        <p:nvSpPr>
          <p:cNvPr id="3" name="Coinneálaí ionaid téacs ingearaigh 2">
            <a:extLst>
              <a:ext uri="{FF2B5EF4-FFF2-40B4-BE49-F238E27FC236}">
                <a16:creationId xmlns:a16="http://schemas.microsoft.com/office/drawing/2014/main" id="{FB6C24A5-CA7F-4BA5-B0C8-73807216DC77}"/>
              </a:ext>
            </a:extLst>
          </p:cNvPr>
          <p:cNvSpPr>
            <a:spLocks noGrp="1"/>
          </p:cNvSpPr>
          <p:nvPr>
            <p:ph type="body" orient="vert" idx="1"/>
          </p:nvPr>
        </p:nvSpPr>
        <p:spPr>
          <a:xfrm>
            <a:off x="838200" y="365125"/>
            <a:ext cx="7734300" cy="5811838"/>
          </a:xfrm>
        </p:spPr>
        <p:txBody>
          <a:bodyPr vert="eaVert"/>
          <a:lstStyle/>
          <a:p>
            <a:pPr lvl="0"/>
            <a:r>
              <a:rPr lang="ga-IE"/>
              <a:t>Cliceáil chun stíleanna máistirthéacs a chur in eagar</a:t>
            </a:r>
          </a:p>
          <a:p>
            <a:pPr lvl="1"/>
            <a:r>
              <a:rPr lang="ga-IE"/>
              <a:t>Dara leibhéal</a:t>
            </a:r>
          </a:p>
          <a:p>
            <a:pPr lvl="2"/>
            <a:r>
              <a:rPr lang="ga-IE"/>
              <a:t>Tríú leibhéal</a:t>
            </a:r>
          </a:p>
          <a:p>
            <a:pPr lvl="3"/>
            <a:r>
              <a:rPr lang="ga-IE"/>
              <a:t>Ceathrú leibhéal</a:t>
            </a:r>
          </a:p>
          <a:p>
            <a:pPr lvl="4"/>
            <a:r>
              <a:rPr lang="ga-IE"/>
              <a:t>Cúigiú leibhéal</a:t>
            </a:r>
          </a:p>
        </p:txBody>
      </p:sp>
      <p:sp>
        <p:nvSpPr>
          <p:cNvPr id="4" name="Coinneálaí ionaid dáta 3">
            <a:extLst>
              <a:ext uri="{FF2B5EF4-FFF2-40B4-BE49-F238E27FC236}">
                <a16:creationId xmlns:a16="http://schemas.microsoft.com/office/drawing/2014/main" id="{C2592831-7B8A-428B-8276-994A10BEA9EC}"/>
              </a:ext>
            </a:extLst>
          </p:cNvPr>
          <p:cNvSpPr>
            <a:spLocks noGrp="1"/>
          </p:cNvSpPr>
          <p:nvPr>
            <p:ph type="dt" sz="half" idx="10"/>
          </p:nvPr>
        </p:nvSpPr>
        <p:spPr/>
        <p:txBody>
          <a:bodyPr/>
          <a:lstStyle/>
          <a:p>
            <a:fld id="{C3F15824-C6CA-409C-A36F-CD1AEE2FF613}" type="datetimeFigureOut">
              <a:rPr lang="ga-IE" smtClean="0"/>
              <a:t>05/12/2020</a:t>
            </a:fld>
            <a:endParaRPr lang="ga-IE"/>
          </a:p>
        </p:txBody>
      </p:sp>
      <p:sp>
        <p:nvSpPr>
          <p:cNvPr id="5" name="Coinneálaí ionaid buntásc 4">
            <a:extLst>
              <a:ext uri="{FF2B5EF4-FFF2-40B4-BE49-F238E27FC236}">
                <a16:creationId xmlns:a16="http://schemas.microsoft.com/office/drawing/2014/main" id="{29DBE98E-3FF3-46E8-BFB8-458EA48300C5}"/>
              </a:ext>
            </a:extLst>
          </p:cNvPr>
          <p:cNvSpPr>
            <a:spLocks noGrp="1"/>
          </p:cNvSpPr>
          <p:nvPr>
            <p:ph type="ftr" sz="quarter" idx="11"/>
          </p:nvPr>
        </p:nvSpPr>
        <p:spPr/>
        <p:txBody>
          <a:bodyPr/>
          <a:lstStyle/>
          <a:p>
            <a:endParaRPr lang="ga-IE"/>
          </a:p>
        </p:txBody>
      </p:sp>
      <p:sp>
        <p:nvSpPr>
          <p:cNvPr id="6" name="Coinneálaí ionaid uimhir sleamhnáin 5">
            <a:extLst>
              <a:ext uri="{FF2B5EF4-FFF2-40B4-BE49-F238E27FC236}">
                <a16:creationId xmlns:a16="http://schemas.microsoft.com/office/drawing/2014/main" id="{DACACED6-9CFE-480C-BDE0-3F73E747BC57}"/>
              </a:ext>
            </a:extLst>
          </p:cNvPr>
          <p:cNvSpPr>
            <a:spLocks noGrp="1"/>
          </p:cNvSpPr>
          <p:nvPr>
            <p:ph type="sldNum" sz="quarter" idx="12"/>
          </p:nvPr>
        </p:nvSpPr>
        <p:spPr/>
        <p:txBody>
          <a:bodyPr/>
          <a:lstStyle/>
          <a:p>
            <a:fld id="{44994BDC-6C25-40C7-9C8E-76FB77EFD754}" type="slidenum">
              <a:rPr lang="ga-IE" smtClean="0"/>
              <a:t>‹#›</a:t>
            </a:fld>
            <a:endParaRPr lang="ga-IE"/>
          </a:p>
        </p:txBody>
      </p:sp>
    </p:spTree>
    <p:extLst>
      <p:ext uri="{BB962C8B-B14F-4D97-AF65-F5344CB8AC3E}">
        <p14:creationId xmlns:p14="http://schemas.microsoft.com/office/powerpoint/2010/main" val="3398207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CECFF"/>
        </a:solidFill>
        <a:effectLst/>
      </p:bgPr>
    </p:bg>
    <p:spTree>
      <p:nvGrpSpPr>
        <p:cNvPr id="1" name=""/>
        <p:cNvGrpSpPr/>
        <p:nvPr/>
      </p:nvGrpSpPr>
      <p:grpSpPr>
        <a:xfrm>
          <a:off x="0" y="0"/>
          <a:ext cx="0" cy="0"/>
          <a:chOff x="0" y="0"/>
          <a:chExt cx="0" cy="0"/>
        </a:xfrm>
      </p:grpSpPr>
      <p:sp>
        <p:nvSpPr>
          <p:cNvPr id="2" name="Coinneálaí ionaid teidil 1">
            <a:extLst>
              <a:ext uri="{FF2B5EF4-FFF2-40B4-BE49-F238E27FC236}">
                <a16:creationId xmlns:a16="http://schemas.microsoft.com/office/drawing/2014/main" id="{3F500A95-A80F-4F01-AAD2-7D9A789458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ga-IE"/>
              <a:t>Cliceáil chun stíl teidil an mháistir a chur in eagar</a:t>
            </a:r>
          </a:p>
        </p:txBody>
      </p:sp>
      <p:sp>
        <p:nvSpPr>
          <p:cNvPr id="3" name="Coinneálaí ionaid téacs 2">
            <a:extLst>
              <a:ext uri="{FF2B5EF4-FFF2-40B4-BE49-F238E27FC236}">
                <a16:creationId xmlns:a16="http://schemas.microsoft.com/office/drawing/2014/main" id="{27F5BD35-B9C8-4E0C-9733-2408C709F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ga-IE"/>
              <a:t>Cliceáil chun stíleanna máistirthéacs a chur in eagar</a:t>
            </a:r>
          </a:p>
          <a:p>
            <a:pPr lvl="1"/>
            <a:r>
              <a:rPr lang="ga-IE"/>
              <a:t>Dara leibhéal</a:t>
            </a:r>
          </a:p>
          <a:p>
            <a:pPr lvl="2"/>
            <a:r>
              <a:rPr lang="ga-IE"/>
              <a:t>Tríú leibhéal</a:t>
            </a:r>
          </a:p>
          <a:p>
            <a:pPr lvl="3"/>
            <a:r>
              <a:rPr lang="ga-IE"/>
              <a:t>Ceathrú leibhéal</a:t>
            </a:r>
          </a:p>
          <a:p>
            <a:pPr lvl="4"/>
            <a:r>
              <a:rPr lang="ga-IE"/>
              <a:t>Cúigiú leibhéal</a:t>
            </a:r>
          </a:p>
        </p:txBody>
      </p:sp>
      <p:sp>
        <p:nvSpPr>
          <p:cNvPr id="4" name="Coinneálaí ionaid dáta 3">
            <a:extLst>
              <a:ext uri="{FF2B5EF4-FFF2-40B4-BE49-F238E27FC236}">
                <a16:creationId xmlns:a16="http://schemas.microsoft.com/office/drawing/2014/main" id="{BB0EB489-5436-47D2-9A4A-09AE4B1901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F15824-C6CA-409C-A36F-CD1AEE2FF613}" type="datetimeFigureOut">
              <a:rPr lang="ga-IE" smtClean="0"/>
              <a:t>05/12/2020</a:t>
            </a:fld>
            <a:endParaRPr lang="ga-IE"/>
          </a:p>
        </p:txBody>
      </p:sp>
      <p:sp>
        <p:nvSpPr>
          <p:cNvPr id="5" name="Coinneálaí ionaid buntásc 4">
            <a:extLst>
              <a:ext uri="{FF2B5EF4-FFF2-40B4-BE49-F238E27FC236}">
                <a16:creationId xmlns:a16="http://schemas.microsoft.com/office/drawing/2014/main" id="{DCA4E3AF-0324-4F61-9743-7F96762788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ga-IE"/>
          </a:p>
        </p:txBody>
      </p:sp>
      <p:sp>
        <p:nvSpPr>
          <p:cNvPr id="6" name="Coinneálaí ionaid uimhir sleamhnáin 5">
            <a:extLst>
              <a:ext uri="{FF2B5EF4-FFF2-40B4-BE49-F238E27FC236}">
                <a16:creationId xmlns:a16="http://schemas.microsoft.com/office/drawing/2014/main" id="{EB8CBF5A-FBC3-44AA-914D-3C0B5A9C00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994BDC-6C25-40C7-9C8E-76FB77EFD754}" type="slidenum">
              <a:rPr lang="ga-IE" smtClean="0"/>
              <a:t>‹#›</a:t>
            </a:fld>
            <a:endParaRPr lang="ga-IE"/>
          </a:p>
        </p:txBody>
      </p:sp>
    </p:spTree>
    <p:extLst>
      <p:ext uri="{BB962C8B-B14F-4D97-AF65-F5344CB8AC3E}">
        <p14:creationId xmlns:p14="http://schemas.microsoft.com/office/powerpoint/2010/main" val="21693796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ga-I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hyperlink" Target="http://www.massage-seminars.com/"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census.cso.ie/censusasp/saps/boundaries/eds_bound.htm" TargetMode="External"/><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hyperlink" Target="http://census.cso.ie/p10map51/" TargetMode="External"/></Relationships>
</file>

<file path=ppt/slides/_rels/slide8.xml.rels><?xml version="1.0" encoding="UTF-8" standalone="yes"?>
<Relationships xmlns="http://schemas.openxmlformats.org/package/2006/relationships"><Relationship Id="rId2" Type="http://schemas.openxmlformats.org/officeDocument/2006/relationships/hyperlink" Target="#_ftnref1"/><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www.cso.ie/en/media/csoie/census/documents/census2011pdr/Census_2011_Highlights_Part_1_web_72dpi.pdf" TargetMode="External"/><Relationship Id="rId7" Type="http://schemas.openxmlformats.org/officeDocument/2006/relationships/hyperlink" Target="https://pl.wikipedia.org/wiki/Samica" TargetMode="External"/><Relationship Id="rId2" Type="http://schemas.openxmlformats.org/officeDocument/2006/relationships/hyperlink" Target="#_ftnref1"/><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hyperlink" Target="https://en.wikipedia.org/wiki/Male" TargetMode="Externa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education.ie/ga/Preas-agus-Imeachta%C3%AD/Preasr%C3%A1itis/preasraitis-2019/PR19-12-301.html" TargetMode="External"/><Relationship Id="rId2" Type="http://schemas.openxmlformats.org/officeDocument/2006/relationships/hyperlink" Target="#_ftnref1"/><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hyperlink" Target="http://www.gaelscoil4all.ie/" TargetMode="External"/><Relationship Id="rId1" Type="http://schemas.openxmlformats.org/officeDocument/2006/relationships/slideLayout" Target="../slideLayouts/slideLayout7.xml"/><Relationship Id="rId4" Type="http://schemas.openxmlformats.org/officeDocument/2006/relationships/hyperlink" Target="https://porcelainskin.com/prologue/skin-care-ingredients-dictionary-part-i-a-to-f/"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www.gaeltaca.ie/en/campaign/gaelscoil-gach-scoil.html" TargetMode="External"/><Relationship Id="rId2" Type="http://schemas.openxmlformats.org/officeDocument/2006/relationships/hyperlink" Target="http://gaelscoil4all.ie/" TargetMode="External"/><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_ftnref1"/><Relationship Id="rId2" Type="http://schemas.openxmlformats.org/officeDocument/2006/relationships/image" Target="../media/image16.jpg"/><Relationship Id="rId1" Type="http://schemas.openxmlformats.org/officeDocument/2006/relationships/slideLayout" Target="../slideLayouts/slideLayout7.xml"/><Relationship Id="rId4" Type="http://schemas.openxmlformats.org/officeDocument/2006/relationships/hyperlink" Target="https://www.ninis2.nisra.gov.uk/public/PivotGrid.aspx?ds=2778&amp;lh=37&amp;yn=2011&amp;sk=136&amp;sn=Census%202011&amp;yearfilter="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19.jp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hyperlink" Target="https://cain.ulster.ac.uk/issues/language/mccoy97.htm#learn" TargetMode="External"/><Relationship Id="rId5" Type="http://schemas.openxmlformats.org/officeDocument/2006/relationships/hyperlink" Target="https://irishwithian.wordpress.com/about/" TargetMode="External"/><Relationship Id="rId4" Type="http://schemas.openxmlformats.org/officeDocument/2006/relationships/hyperlink" Target="https://www.ebm.org.uk/turas/"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hyperlink" Target="https://www.bbc.com/news/uk-northern-ireland-29895593"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_ftn1"/><Relationship Id="rId7" Type="http://schemas.openxmlformats.org/officeDocument/2006/relationships/image" Target="../media/image23.jpg"/><Relationship Id="rId2" Type="http://schemas.openxmlformats.org/officeDocument/2006/relationships/image" Target="../media/image21.jpeg"/><Relationship Id="rId1" Type="http://schemas.openxmlformats.org/officeDocument/2006/relationships/slideLayout" Target="../slideLayouts/slideLayout7.xml"/><Relationship Id="rId6" Type="http://schemas.openxmlformats.org/officeDocument/2006/relationships/hyperlink" Target="https://www.youtube.com/watch?v=Td4dT-AkKbM" TargetMode="External"/><Relationship Id="rId5" Type="http://schemas.openxmlformats.org/officeDocument/2006/relationships/image" Target="../media/image22.jpeg"/><Relationship Id="rId4" Type="http://schemas.openxmlformats.org/officeDocument/2006/relationships/hyperlink" Target="#_ftn2"/></Relationships>
</file>

<file path=ppt/slides/_rels/slide21.xml.rels><?xml version="1.0" encoding="UTF-8" standalone="yes"?>
<Relationships xmlns="http://schemas.openxmlformats.org/package/2006/relationships"><Relationship Id="rId3" Type="http://schemas.openxmlformats.org/officeDocument/2006/relationships/hyperlink" Target="#_ftnref2"/><Relationship Id="rId2" Type="http://schemas.openxmlformats.org/officeDocument/2006/relationships/hyperlink" Target="#_ftnref1"/><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hyperlink" Target="#_ftnref3"/></Relationships>
</file>

<file path=ppt/slides/_rels/slide22.xml.rels><?xml version="1.0" encoding="UTF-8" standalone="yes"?>
<Relationships xmlns="http://schemas.openxmlformats.org/package/2006/relationships"><Relationship Id="rId3" Type="http://schemas.openxmlformats.org/officeDocument/2006/relationships/hyperlink" Target="https://www.education-ni.gov.uk/publications/school-enrolments-northern-ireland-summary-data" TargetMode="External"/><Relationship Id="rId2" Type="http://schemas.openxmlformats.org/officeDocument/2006/relationships/hyperlink" Target="https://www.bbc.com/news/uk-northern-ireland-55136935"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tuairisc.ie/laghdu-ar-lion-na-bhfoirmeacha-gaeilge-a-lionadh-do-dhaonaireamh-2016/" TargetMode="External"/><Relationship Id="rId2" Type="http://schemas.openxmlformats.org/officeDocument/2006/relationships/hyperlink" Target="#_ftnref1"/><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_ftnref1"/><Relationship Id="rId2" Type="http://schemas.openxmlformats.org/officeDocument/2006/relationships/hyperlink" Target="#_ftn1"/><Relationship Id="rId1" Type="http://schemas.openxmlformats.org/officeDocument/2006/relationships/slideLayout" Target="../slideLayouts/slideLayout7.xml"/><Relationship Id="rId4" Type="http://schemas.openxmlformats.org/officeDocument/2006/relationships/hyperlink" Target="https://www.cso.ie/en/media/csoie/releasespublications/documents/population/2017/Caibidil_7_An_Ghaeilge_agus_An_Ghaeltacht_nuashonr%C3%BA.pdf"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tuairisc.ie/achoimre-ar-sceal-na-gaeilge-i-ndaonaireamh-2016/" TargetMode="External"/><Relationship Id="rId2" Type="http://schemas.openxmlformats.org/officeDocument/2006/relationships/hyperlink" Target="#_ftnref1"/><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RgYEQ80uvNU" TargetMode="External"/><Relationship Id="rId2" Type="http://schemas.openxmlformats.org/officeDocument/2006/relationships/hyperlink" Target="https://www.udaras.ie/an-ghaeilge-an-ghaeltacht/an-ghaeltacht/" TargetMode="External"/><Relationship Id="rId1" Type="http://schemas.openxmlformats.org/officeDocument/2006/relationships/slideLayout" Target="../slideLayouts/slideLayout7.xml"/><Relationship Id="rId4" Type="http://schemas.openxmlformats.org/officeDocument/2006/relationships/image" Target="../media/image25.jpeg"/></Relationships>
</file>

<file path=ppt/slides/_rels/slide28.xml.rels><?xml version="1.0" encoding="UTF-8" standalone="yes"?>
<Relationships xmlns="http://schemas.openxmlformats.org/package/2006/relationships"><Relationship Id="rId3" Type="http://schemas.openxmlformats.org/officeDocument/2006/relationships/hyperlink" Target="https://en.wikipedia.org/wiki/User:D.de.loinsigh" TargetMode="External"/><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data.gov.ie/dataset/gaeltacht-boundaries-generalised-50m-osi-national-administrative-boundaries-2015" TargetMode="External"/><Relationship Id="rId2" Type="http://schemas.openxmlformats.org/officeDocument/2006/relationships/hyperlink" Target="https://upload.wikimedia.org/wikipedia/commons/b/bc/Ireland_electoral_divisions.png"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hyperlink" Target="https://www.udaras.ie/an-ghaeilge-an-ghaeltacht/an-ghaeltacht/"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anghaeltacht.net/ctg/catagoirb.pdf" TargetMode="External"/><Relationship Id="rId7" Type="http://schemas.openxmlformats.org/officeDocument/2006/relationships/image" Target="../media/image28.jpg"/><Relationship Id="rId2" Type="http://schemas.openxmlformats.org/officeDocument/2006/relationships/hyperlink" Target="http://anghaeltacht.net/ctg/catagoira.pdf" TargetMode="External"/><Relationship Id="rId1" Type="http://schemas.openxmlformats.org/officeDocument/2006/relationships/slideLayout" Target="../slideLayouts/slideLayout7.xml"/><Relationship Id="rId6" Type="http://schemas.openxmlformats.org/officeDocument/2006/relationships/hyperlink" Target="http://anghaeltacht.net/ctg/080323foinse.html" TargetMode="External"/><Relationship Id="rId5" Type="http://schemas.openxmlformats.org/officeDocument/2006/relationships/hyperlink" Target="#_ftnref1"/><Relationship Id="rId4" Type="http://schemas.openxmlformats.org/officeDocument/2006/relationships/hyperlink" Target="http://anghaeltacht.net/ctg/catagoirc.pdf" TargetMode="Externa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hyperlink" Target="http://www.duperrin.com/english/2017/01/05/digital-transformation-2017-dreams-and-miracles/"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hyperlink" Target="https://static.rasset.ie/documents/news/udaras-na-gaeltachta.pdf" TargetMode="External"/><Relationship Id="rId1" Type="http://schemas.openxmlformats.org/officeDocument/2006/relationships/slideLayout" Target="../slideLayouts/slideLayout7.xml"/><Relationship Id="rId4" Type="http://schemas.openxmlformats.org/officeDocument/2006/relationships/hyperlink" Target="http://www.duperrin.com/english/2017/01/05/digital-transformation-2017-dreams-and-miracles/" TargetMode="Externa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hyperlink" Target="https://www.youtube.com/watch?v=UxrO67DVNxM" TargetMode="External"/><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hyperlink" Target="http://www.ceacht.ie/" TargetMode="External"/><Relationship Id="rId2" Type="http://schemas.openxmlformats.org/officeDocument/2006/relationships/hyperlink" Target="#_ftnref1"/><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www.gov.ie/ga/foilsiuchan/treoirlinte-pleanala-teang/"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hyperlink" Target="https://udaras.ie/an-ghaeilge-an-ghaeltacht/limisteir-pleanala-teanga/" TargetMode="External"/><Relationship Id="rId2" Type="http://schemas.openxmlformats.org/officeDocument/2006/relationships/hyperlink" Target="https://data.gov.ie/showcase/amharc-ir-plean-la-teanga-gis-language-planning-viewer-gis" TargetMode="Externa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hyperlink" Target="https://data.gov.ie/showcase/amharc-ir-plean-la-teanga-gis-language-planning-viewer-gis" TargetMode="External"/><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hyperlink" Target="http://www.tuairisc.ie/" TargetMode="Externa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hyperlink" Target="https://tuairisc.ie/dirimis-ar-na-ceantair-ata-substantially-irish-speaking-no-ni-bheidh-ann-ach-cur-i-gceill/" TargetMode="Externa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hyperlink" Target="https://tuairisc.ie/ga-le-nios-mo-ceannaireachta-o-udaras-na-gaeltachta-i-dtaobh-na-gaeilge-catherine-connolly/" TargetMode="External"/><Relationship Id="rId2" Type="http://schemas.openxmlformats.org/officeDocument/2006/relationships/hyperlink" Target="http://www.tuairisc.ie/" TargetMode="Externa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hyperlink" Target="https://tuairisc.ie/ta-me-tuirseach-de-bheith-ag-caint-faoin-ngaeilge-dioma-faoin-moill-ar-phlean-teanga-do-chathair-na-gaillimhe/" TargetMode="Externa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hyperlink" Target="https://tuairisc.ie/ga-le-nphet-na-gaeltachta-chun-comhordu-a-dheanamh-ar-pholasai-teanga/" TargetMode="External"/><Relationship Id="rId2" Type="http://schemas.openxmlformats.org/officeDocument/2006/relationships/hyperlink" Target="http://www.tuairisc.ie/" TargetMode="Externa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hyperlink" Target="https://www.facebook.com/7LATG4/videos/an-dr-brian-%C3%B3-curn%C3%A1in/1290759464395150/" TargetMode="External"/><Relationship Id="rId2" Type="http://schemas.openxmlformats.org/officeDocument/2006/relationships/hyperlink" Target="https://twitter.com/7latg4/status/1108408508314206214?lang=en" TargetMode="External"/><Relationship Id="rId1" Type="http://schemas.openxmlformats.org/officeDocument/2006/relationships/slideLayout" Target="../slideLayouts/slideLayout7.xml"/><Relationship Id="rId4" Type="http://schemas.openxmlformats.org/officeDocument/2006/relationships/hyperlink" Target="https://twitter.com/7latg4/status/1213483334107586561?lang=en" TargetMode="Externa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pixabay.com/illustrations/thumbs-up-smiley-face-emoji-happy-4007573/" TargetMode="External"/><Relationship Id="rId5" Type="http://schemas.openxmlformats.org/officeDocument/2006/relationships/image" Target="../media/image42.png"/><Relationship Id="rId4" Type="http://schemas.openxmlformats.org/officeDocument/2006/relationships/image" Target="../media/image41.png"/></Relationships>
</file>

<file path=ppt/slides/_rels/slide56.xml.rels><?xml version="1.0" encoding="UTF-8" standalone="yes"?>
<Relationships xmlns="http://schemas.openxmlformats.org/package/2006/relationships"><Relationship Id="rId3" Type="http://schemas.openxmlformats.org/officeDocument/2006/relationships/hyperlink" Target="http://census.cso.ie/p10map51/" TargetMode="External"/><Relationship Id="rId7" Type="http://schemas.openxmlformats.org/officeDocument/2006/relationships/hyperlink" Target="https://udaras.ie/2019/02/06/ochtar-oifigigh-pleanala-teanga-ceaptha-ar-fud-na-tire/" TargetMode="External"/><Relationship Id="rId2" Type="http://schemas.openxmlformats.org/officeDocument/2006/relationships/hyperlink" Target="#_ftnref1"/><Relationship Id="rId1" Type="http://schemas.openxmlformats.org/officeDocument/2006/relationships/slideLayout" Target="../slideLayouts/slideLayout7.xml"/><Relationship Id="rId6" Type="http://schemas.openxmlformats.org/officeDocument/2006/relationships/hyperlink" Target="#_ftnref3"/><Relationship Id="rId5" Type="http://schemas.openxmlformats.org/officeDocument/2006/relationships/hyperlink" Target="https://www.pressreader.com/ireland/irish-independent-seachtain/20171129/281487866666606" TargetMode="External"/><Relationship Id="rId4" Type="http://schemas.openxmlformats.org/officeDocument/2006/relationships/hyperlink" Target="#_ftnref2"/></Relationships>
</file>

<file path=ppt/slides/_rels/slide57.xml.rels><?xml version="1.0" encoding="UTF-8" standalone="yes"?>
<Relationships xmlns="http://schemas.openxmlformats.org/package/2006/relationships"><Relationship Id="rId8" Type="http://schemas.openxmlformats.org/officeDocument/2006/relationships/hyperlink" Target="https://www.facebook.com/AnGhaeltachtLair/" TargetMode="External"/><Relationship Id="rId13" Type="http://schemas.openxmlformats.org/officeDocument/2006/relationships/hyperlink" Target="https://udaras.ie/eolaire/comhlacht-forbartha-aitiuil-acla/" TargetMode="External"/><Relationship Id="rId3" Type="http://schemas.openxmlformats.org/officeDocument/2006/relationships/hyperlink" Target="http://mptiarthuaiscirt.ie/?page_id=18" TargetMode="External"/><Relationship Id="rId7" Type="http://schemas.openxmlformats.org/officeDocument/2006/relationships/hyperlink" Target="https://udaras.ie/an-ghaeilge-an-ghaeltacht/limisteir-pleanala-teanga/dun-na-ngall/an-ghaeltacht-lair/" TargetMode="External"/><Relationship Id="rId12" Type="http://schemas.openxmlformats.org/officeDocument/2006/relationships/hyperlink" Target="http://www.gaeilgeiorrais.ie/" TargetMode="External"/><Relationship Id="rId2" Type="http://schemas.openxmlformats.org/officeDocument/2006/relationships/hyperlink" Target="https://udaras.ie/eolaire/ceim-aniar/" TargetMode="External"/><Relationship Id="rId1" Type="http://schemas.openxmlformats.org/officeDocument/2006/relationships/slideLayout" Target="../slideLayouts/slideLayout7.xml"/><Relationship Id="rId6" Type="http://schemas.openxmlformats.org/officeDocument/2006/relationships/hyperlink" Target="https://udaras.ie/eolaire/comharchumann-arainn-mhoir-teo/" TargetMode="External"/><Relationship Id="rId11" Type="http://schemas.openxmlformats.org/officeDocument/2006/relationships/hyperlink" Target="http://ionaddeirbhile.ie/" TargetMode="External"/><Relationship Id="rId5" Type="http://schemas.openxmlformats.org/officeDocument/2006/relationships/hyperlink" Target="https://udaras.ie/an-ghaeilge-an-ghaeltacht/limisteir-pleanala-teanga/dun-na-ngall/na-rosa/" TargetMode="External"/><Relationship Id="rId10" Type="http://schemas.openxmlformats.org/officeDocument/2006/relationships/hyperlink" Target="https://udaras.ie/eolaire/comharchumann-thorai-teo/" TargetMode="External"/><Relationship Id="rId4" Type="http://schemas.openxmlformats.org/officeDocument/2006/relationships/hyperlink" Target="https://udaras.ie/eolaire/pobal-eascarrach-ctr/" TargetMode="External"/><Relationship Id="rId9" Type="http://schemas.openxmlformats.org/officeDocument/2006/relationships/hyperlink" Target="https://udaras.ie/eolaire/lar-chomhairle-paroiste-ghleann-cholm-cille/" TargetMode="External"/></Relationships>
</file>

<file path=ppt/slides/_rels/slide58.xml.rels><?xml version="1.0" encoding="UTF-8" standalone="yes"?>
<Relationships xmlns="http://schemas.openxmlformats.org/package/2006/relationships"><Relationship Id="rId8" Type="http://schemas.openxmlformats.org/officeDocument/2006/relationships/hyperlink" Target="https://udaras.ie/eolaire/forbairt-pobal-mhaigh-cuilinn/" TargetMode="External"/><Relationship Id="rId13" Type="http://schemas.openxmlformats.org/officeDocument/2006/relationships/hyperlink" Target="http://claregalway.info/plean-teanga-2020-2027/" TargetMode="External"/><Relationship Id="rId18" Type="http://schemas.openxmlformats.org/officeDocument/2006/relationships/hyperlink" Target="https://udaras.ie/en/directory/comhlucht-forbartha-na-ndeise-teo/" TargetMode="External"/><Relationship Id="rId3" Type="http://schemas.openxmlformats.org/officeDocument/2006/relationships/hyperlink" Target="https://udaras.ie/eolaire/comhairle-ceantar-na-noilean-teo/" TargetMode="External"/><Relationship Id="rId21" Type="http://schemas.openxmlformats.org/officeDocument/2006/relationships/hyperlink" Target="https://www.rathchairn.com/" TargetMode="External"/><Relationship Id="rId7" Type="http://schemas.openxmlformats.org/officeDocument/2006/relationships/hyperlink" Target="https://udaras.ie/eolaire/comharchumann-shailearna/" TargetMode="External"/><Relationship Id="rId12" Type="http://schemas.openxmlformats.org/officeDocument/2006/relationships/hyperlink" Target="http://bruachthoir.ie/" TargetMode="External"/><Relationship Id="rId17" Type="http://schemas.openxmlformats.org/officeDocument/2006/relationships/hyperlink" Target="https://udaras.ie/eolaire/ionad-seirbhisi-teanga-chleire/" TargetMode="External"/><Relationship Id="rId2" Type="http://schemas.openxmlformats.org/officeDocument/2006/relationships/hyperlink" Target="https://udaras.ie/eolaire/comhar-caomhan-teo/" TargetMode="External"/><Relationship Id="rId16" Type="http://schemas.openxmlformats.org/officeDocument/2006/relationships/hyperlink" Target="https://udaras.ie/eolaire/comharchumann-forbartha-mhuscrai/" TargetMode="External"/><Relationship Id="rId20" Type="http://schemas.openxmlformats.org/officeDocument/2006/relationships/hyperlink" Target="https://udaras.ie/en/directory/comharchumann-rath-cairn-teo/" TargetMode="External"/><Relationship Id="rId1" Type="http://schemas.openxmlformats.org/officeDocument/2006/relationships/slideLayout" Target="../slideLayouts/slideLayout7.xml"/><Relationship Id="rId6" Type="http://schemas.openxmlformats.org/officeDocument/2006/relationships/hyperlink" Target="https://udaras.ie/eolaire/comharchumann-dhuiche-sheoigheach/" TargetMode="External"/><Relationship Id="rId11" Type="http://schemas.openxmlformats.org/officeDocument/2006/relationships/hyperlink" Target="https://udaras.ie/an-ghaeilge-an-ghaeltacht/limisteir-pleanala-teanga/gaillimh/cathair-na-gaillimhe/" TargetMode="External"/><Relationship Id="rId5" Type="http://schemas.openxmlformats.org/officeDocument/2006/relationships/hyperlink" Target="https://udaras.ie/eolaire/forbairt-chonamara-lair-teo/" TargetMode="External"/><Relationship Id="rId15" Type="http://schemas.openxmlformats.org/officeDocument/2006/relationships/hyperlink" Target="http://www.uibhrathach.ie/" TargetMode="External"/><Relationship Id="rId10" Type="http://schemas.openxmlformats.org/officeDocument/2006/relationships/hyperlink" Target="http://ptbc.ie/" TargetMode="External"/><Relationship Id="rId19" Type="http://schemas.openxmlformats.org/officeDocument/2006/relationships/hyperlink" Target="http://www.deise.ie/" TargetMode="External"/><Relationship Id="rId4" Type="http://schemas.openxmlformats.org/officeDocument/2006/relationships/hyperlink" Target="https://udaras.ie/eolaire/comharchumann-mhic-dara/" TargetMode="External"/><Relationship Id="rId9" Type="http://schemas.openxmlformats.org/officeDocument/2006/relationships/hyperlink" Target="https://udaras.ie/an-ghaeilge-an-ghaeltacht/limisteir-pleanala-teanga/gaillimh/bearna-agus-%E2%80%A8cnoc-na-cathrach/" TargetMode="External"/><Relationship Id="rId14" Type="http://schemas.openxmlformats.org/officeDocument/2006/relationships/hyperlink" Target="https://udaras.ie/eolaire/comharchumann-forbartha-chorca-dhuibhne-te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ideal 1">
            <a:extLst>
              <a:ext uri="{FF2B5EF4-FFF2-40B4-BE49-F238E27FC236}">
                <a16:creationId xmlns:a16="http://schemas.microsoft.com/office/drawing/2014/main" id="{03D90522-AB9D-4B13-A502-40717637225C}"/>
              </a:ext>
            </a:extLst>
          </p:cNvPr>
          <p:cNvSpPr>
            <a:spLocks noGrp="1"/>
          </p:cNvSpPr>
          <p:nvPr>
            <p:ph type="title"/>
          </p:nvPr>
        </p:nvSpPr>
        <p:spPr>
          <a:xfrm>
            <a:off x="838200" y="338137"/>
            <a:ext cx="10515600" cy="1833563"/>
          </a:xfrm>
        </p:spPr>
        <p:txBody>
          <a:bodyPr>
            <a:noAutofit/>
          </a:bodyPr>
          <a:lstStyle/>
          <a:p>
            <a:pPr algn="ctr">
              <a:lnSpc>
                <a:spcPct val="107000"/>
              </a:lnSpc>
              <a:spcAft>
                <a:spcPts val="800"/>
              </a:spcAft>
            </a:pPr>
            <a:br>
              <a:rPr lang="en-IE" sz="2400" b="1" dirty="0">
                <a:effectLst/>
                <a:latin typeface="Calibri" panose="020F0502020204030204" pitchFamily="34" charset="0"/>
                <a:ea typeface="Calibri" panose="020F0502020204030204" pitchFamily="34" charset="0"/>
                <a:cs typeface="Calibri" panose="020F0502020204030204" pitchFamily="34" charset="0"/>
              </a:rPr>
            </a:br>
            <a:r>
              <a:rPr lang="ga-IE" sz="4000" b="1" dirty="0">
                <a:effectLst/>
                <a:latin typeface="Calibri" panose="020F0502020204030204" pitchFamily="34" charset="0"/>
                <a:ea typeface="Calibri" panose="020F0502020204030204" pitchFamily="34" charset="0"/>
                <a:cs typeface="Calibri" panose="020F0502020204030204" pitchFamily="34" charset="0"/>
              </a:rPr>
              <a:t>An Dioplóma sa Ghaeilge (C1) </a:t>
            </a:r>
            <a:br>
              <a:rPr lang="ga-IE" sz="4000" dirty="0">
                <a:effectLst/>
                <a:latin typeface="Calibri" panose="020F0502020204030204" pitchFamily="34" charset="0"/>
                <a:ea typeface="Calibri" panose="020F0502020204030204" pitchFamily="34" charset="0"/>
                <a:cs typeface="Times New Roman" panose="02020603050405020304" pitchFamily="18" charset="0"/>
              </a:rPr>
            </a:br>
            <a:r>
              <a:rPr lang="ga-IE" sz="4000" b="1" dirty="0">
                <a:effectLst/>
                <a:latin typeface="Calibri" panose="020F0502020204030204" pitchFamily="34" charset="0"/>
                <a:ea typeface="Calibri" panose="020F0502020204030204" pitchFamily="34" charset="0"/>
                <a:cs typeface="Calibri" panose="020F0502020204030204" pitchFamily="34" charset="0"/>
              </a:rPr>
              <a:t>Saíocht na Gaeilge agus na Gaeltachta</a:t>
            </a:r>
            <a:br>
              <a:rPr lang="ga-IE" sz="4000" dirty="0">
                <a:effectLst/>
                <a:latin typeface="Calibri" panose="020F0502020204030204" pitchFamily="34" charset="0"/>
                <a:ea typeface="Calibri" panose="020F0502020204030204" pitchFamily="34" charset="0"/>
                <a:cs typeface="Times New Roman" panose="02020603050405020304" pitchFamily="18" charset="0"/>
              </a:rPr>
            </a:br>
            <a:r>
              <a:rPr lang="ga-IE" sz="4000" b="1" dirty="0">
                <a:effectLst/>
                <a:latin typeface="Calibri" panose="020F0502020204030204" pitchFamily="34" charset="0"/>
                <a:ea typeface="Calibri" panose="020F0502020204030204" pitchFamily="34" charset="0"/>
                <a:cs typeface="Calibri" panose="020F0502020204030204" pitchFamily="34" charset="0"/>
              </a:rPr>
              <a:t>An Ghaeilge, an Ghaeltacht agus Pleanáil Teanga.</a:t>
            </a:r>
            <a:br>
              <a:rPr lang="ga-IE" sz="2400" dirty="0">
                <a:effectLst/>
                <a:latin typeface="Calibri" panose="020F0502020204030204" pitchFamily="34" charset="0"/>
                <a:ea typeface="Calibri" panose="020F0502020204030204" pitchFamily="34" charset="0"/>
                <a:cs typeface="Times New Roman" panose="02020603050405020304" pitchFamily="18" charset="0"/>
              </a:rPr>
            </a:br>
            <a:endParaRPr lang="ga-IE" sz="2400" dirty="0"/>
          </a:p>
        </p:txBody>
      </p:sp>
      <p:pic>
        <p:nvPicPr>
          <p:cNvPr id="4" name="Coinneálaí ionaid inneachair 3" descr="Stickers: An Ghaeilge (Roll of 100) – An Siopa Leabhar">
            <a:extLst>
              <a:ext uri="{FF2B5EF4-FFF2-40B4-BE49-F238E27FC236}">
                <a16:creationId xmlns:a16="http://schemas.microsoft.com/office/drawing/2014/main" id="{B0C9D5BD-65E3-4637-90B4-3B79E0F3456D}"/>
              </a:ext>
            </a:extLst>
          </p:cNvPr>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219199" y="2950029"/>
            <a:ext cx="2528889" cy="3320141"/>
          </a:xfrm>
          <a:prstGeom prst="rect">
            <a:avLst/>
          </a:prstGeom>
          <a:noFill/>
          <a:ln>
            <a:noFill/>
          </a:ln>
        </p:spPr>
      </p:pic>
      <p:pic>
        <p:nvPicPr>
          <p:cNvPr id="5" name="Picture 55">
            <a:extLst>
              <a:ext uri="{FF2B5EF4-FFF2-40B4-BE49-F238E27FC236}">
                <a16:creationId xmlns:a16="http://schemas.microsoft.com/office/drawing/2014/main" id="{ECCCE128-EBEF-40AA-B241-30532B84AE55}"/>
              </a:ext>
            </a:extLst>
          </p:cNvPr>
          <p:cNvPicPr/>
          <p:nvPr/>
        </p:nvPicPr>
        <p:blipFill>
          <a:blip r:embed="rId3"/>
          <a:stretch>
            <a:fillRect/>
          </a:stretch>
        </p:blipFill>
        <p:spPr>
          <a:xfrm>
            <a:off x="4356100" y="2950029"/>
            <a:ext cx="3786414" cy="3320141"/>
          </a:xfrm>
          <a:prstGeom prst="rect">
            <a:avLst/>
          </a:prstGeom>
        </p:spPr>
      </p:pic>
      <p:pic>
        <p:nvPicPr>
          <p:cNvPr id="6" name="Pictiúr 5">
            <a:extLst>
              <a:ext uri="{FF2B5EF4-FFF2-40B4-BE49-F238E27FC236}">
                <a16:creationId xmlns:a16="http://schemas.microsoft.com/office/drawing/2014/main" id="{5FAA50DA-6760-4FA1-BF97-4DEC06DC489F}"/>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8443911" y="2668904"/>
            <a:ext cx="2369231" cy="3717382"/>
          </a:xfrm>
          <a:prstGeom prst="rect">
            <a:avLst/>
          </a:prstGeom>
          <a:noFill/>
          <a:ln>
            <a:noFill/>
          </a:ln>
        </p:spPr>
      </p:pic>
    </p:spTree>
    <p:extLst>
      <p:ext uri="{BB962C8B-B14F-4D97-AF65-F5344CB8AC3E}">
        <p14:creationId xmlns:p14="http://schemas.microsoft.com/office/powerpoint/2010/main" val="987173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ideal 1">
            <a:extLst>
              <a:ext uri="{FF2B5EF4-FFF2-40B4-BE49-F238E27FC236}">
                <a16:creationId xmlns:a16="http://schemas.microsoft.com/office/drawing/2014/main" id="{14EA7ABA-9A30-43EE-9011-1170446984E7}"/>
              </a:ext>
            </a:extLst>
          </p:cNvPr>
          <p:cNvSpPr>
            <a:spLocks noGrp="1"/>
          </p:cNvSpPr>
          <p:nvPr>
            <p:ph type="title"/>
          </p:nvPr>
        </p:nvSpPr>
        <p:spPr/>
        <p:txBody>
          <a:bodyPr>
            <a:normAutofit/>
          </a:bodyPr>
          <a:lstStyle/>
          <a:p>
            <a:pPr>
              <a:lnSpc>
                <a:spcPct val="115000"/>
              </a:lnSpc>
              <a:spcAft>
                <a:spcPts val="800"/>
              </a:spcAft>
            </a:pPr>
            <a:r>
              <a:rPr lang="ga-IE" sz="3200" b="1" dirty="0">
                <a:effectLst/>
                <a:latin typeface="Calibri" panose="020F0502020204030204" pitchFamily="34" charset="0"/>
                <a:ea typeface="Calibri" panose="020F0502020204030204" pitchFamily="34" charset="0"/>
                <a:cs typeface="Calibri" panose="020F0502020204030204" pitchFamily="34" charset="0"/>
              </a:rPr>
              <a:t>Tá bileog oibre le déanamh mar pháirt den cheardlann seo. </a:t>
            </a:r>
            <a:br>
              <a:rPr lang="ga-IE" sz="3200" dirty="0">
                <a:effectLst/>
                <a:latin typeface="Calibri" panose="020F0502020204030204" pitchFamily="34" charset="0"/>
                <a:ea typeface="Calibri" panose="020F0502020204030204" pitchFamily="34" charset="0"/>
                <a:cs typeface="Times New Roman" panose="02020603050405020304" pitchFamily="18" charset="0"/>
              </a:rPr>
            </a:br>
            <a:r>
              <a:rPr lang="ga-IE" sz="3200" b="1" dirty="0">
                <a:effectLst/>
                <a:latin typeface="Calibri" panose="020F0502020204030204" pitchFamily="34" charset="0"/>
                <a:ea typeface="Calibri" panose="020F0502020204030204" pitchFamily="34" charset="0"/>
              </a:rPr>
              <a:t>Freagair a oiread ceisteanna agus is féidir leat.</a:t>
            </a:r>
            <a:endParaRPr lang="ga-IE" sz="3200" dirty="0"/>
          </a:p>
        </p:txBody>
      </p:sp>
      <p:pic>
        <p:nvPicPr>
          <p:cNvPr id="8" name="Pictiúr 7" descr="Pictiúr a bhfuil duine, ag suí, ag tionól, fear ann&#10;&#10;Gineadh an tuairisc go huathoibríoch">
            <a:extLst>
              <a:ext uri="{FF2B5EF4-FFF2-40B4-BE49-F238E27FC236}">
                <a16:creationId xmlns:a16="http://schemas.microsoft.com/office/drawing/2014/main" id="{938F7481-A31D-4FA7-8739-339E358754F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831772" y="1790929"/>
            <a:ext cx="3549650" cy="4600346"/>
          </a:xfrm>
          <a:prstGeom prst="rect">
            <a:avLst/>
          </a:prstGeom>
        </p:spPr>
      </p:pic>
    </p:spTree>
    <p:extLst>
      <p:ext uri="{BB962C8B-B14F-4D97-AF65-F5344CB8AC3E}">
        <p14:creationId xmlns:p14="http://schemas.microsoft.com/office/powerpoint/2010/main" val="3322297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ideal 1">
            <a:extLst>
              <a:ext uri="{FF2B5EF4-FFF2-40B4-BE49-F238E27FC236}">
                <a16:creationId xmlns:a16="http://schemas.microsoft.com/office/drawing/2014/main" id="{A342C350-1664-4F0A-9D1B-34ECC5CC7065}"/>
              </a:ext>
            </a:extLst>
          </p:cNvPr>
          <p:cNvSpPr>
            <a:spLocks noGrp="1"/>
          </p:cNvSpPr>
          <p:nvPr>
            <p:ph type="ctrTitle"/>
          </p:nvPr>
        </p:nvSpPr>
        <p:spPr>
          <a:xfrm>
            <a:off x="1582057" y="331335"/>
            <a:ext cx="9144000" cy="1112837"/>
          </a:xfrm>
        </p:spPr>
        <p:txBody>
          <a:bodyPr/>
          <a:lstStyle/>
          <a:p>
            <a:r>
              <a:rPr lang="ga-IE" b="1" dirty="0"/>
              <a:t>Téamaí na Ceardlainne</a:t>
            </a:r>
          </a:p>
        </p:txBody>
      </p:sp>
      <p:sp>
        <p:nvSpPr>
          <p:cNvPr id="3" name="Fotheideal 2">
            <a:extLst>
              <a:ext uri="{FF2B5EF4-FFF2-40B4-BE49-F238E27FC236}">
                <a16:creationId xmlns:a16="http://schemas.microsoft.com/office/drawing/2014/main" id="{46EE69F9-CD8E-45B9-A328-2FCB43618F55}"/>
              </a:ext>
            </a:extLst>
          </p:cNvPr>
          <p:cNvSpPr>
            <a:spLocks noGrp="1"/>
          </p:cNvSpPr>
          <p:nvPr>
            <p:ph type="subTitle" idx="1"/>
          </p:nvPr>
        </p:nvSpPr>
        <p:spPr>
          <a:xfrm>
            <a:off x="1643743" y="1603829"/>
            <a:ext cx="9144000" cy="4506686"/>
          </a:xfrm>
        </p:spPr>
        <p:txBody>
          <a:bodyPr>
            <a:normAutofit fontScale="85000" lnSpcReduction="10000"/>
          </a:bodyPr>
          <a:lstStyle/>
          <a:p>
            <a:pPr algn="l">
              <a:lnSpc>
                <a:spcPct val="170000"/>
              </a:lnSpc>
            </a:pPr>
            <a:r>
              <a:rPr lang="ga-IE" sz="3600" b="1" dirty="0"/>
              <a:t>1.	Cás na Gaeilge i bPoblacht na hÉireann;</a:t>
            </a:r>
          </a:p>
          <a:p>
            <a:pPr algn="l">
              <a:lnSpc>
                <a:spcPct val="170000"/>
              </a:lnSpc>
            </a:pPr>
            <a:r>
              <a:rPr lang="ga-IE" sz="3600" b="1" dirty="0"/>
              <a:t>2.	Cás na Gaeilge sna Sé Chontae;</a:t>
            </a:r>
          </a:p>
          <a:p>
            <a:pPr algn="l">
              <a:lnSpc>
                <a:spcPct val="170000"/>
              </a:lnSpc>
            </a:pPr>
            <a:r>
              <a:rPr lang="ga-IE" sz="3600" b="1" dirty="0"/>
              <a:t>3.	Cás na Gaeilge sa Ghaeltacht;</a:t>
            </a:r>
          </a:p>
          <a:p>
            <a:pPr algn="l">
              <a:lnSpc>
                <a:spcPct val="170000"/>
              </a:lnSpc>
            </a:pPr>
            <a:r>
              <a:rPr lang="ga-IE" sz="3600" b="1" dirty="0"/>
              <a:t>4.	Treochtaí sochtheangeolaíochta sa Ghaeltacht;</a:t>
            </a:r>
          </a:p>
          <a:p>
            <a:pPr algn="l">
              <a:lnSpc>
                <a:spcPct val="170000"/>
              </a:lnSpc>
            </a:pPr>
            <a:r>
              <a:rPr lang="ga-IE" sz="3600" b="1" dirty="0"/>
              <a:t>5.	Pleanáil teanga.</a:t>
            </a:r>
          </a:p>
          <a:p>
            <a:endParaRPr lang="ga-IE" dirty="0"/>
          </a:p>
        </p:txBody>
      </p:sp>
    </p:spTree>
    <p:extLst>
      <p:ext uri="{BB962C8B-B14F-4D97-AF65-F5344CB8AC3E}">
        <p14:creationId xmlns:p14="http://schemas.microsoft.com/office/powerpoint/2010/main" val="961355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ideal 1">
            <a:extLst>
              <a:ext uri="{FF2B5EF4-FFF2-40B4-BE49-F238E27FC236}">
                <a16:creationId xmlns:a16="http://schemas.microsoft.com/office/drawing/2014/main" id="{4C01EFA0-2835-4EBB-A78C-FDC217B5A02F}"/>
              </a:ext>
            </a:extLst>
          </p:cNvPr>
          <p:cNvSpPr>
            <a:spLocks noGrp="1"/>
          </p:cNvSpPr>
          <p:nvPr>
            <p:ph type="title"/>
          </p:nvPr>
        </p:nvSpPr>
        <p:spPr/>
        <p:txBody>
          <a:bodyPr/>
          <a:lstStyle/>
          <a:p>
            <a:pPr algn="ctr"/>
            <a:r>
              <a:rPr lang="ga-IE" sz="4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1. Cás na Gaeilge i bPoblacht na hÉireann.</a:t>
            </a:r>
            <a:br>
              <a:rPr lang="ga-IE" sz="1800" dirty="0">
                <a:effectLst/>
                <a:latin typeface="Calibri" panose="020F0502020204030204" pitchFamily="34" charset="0"/>
                <a:ea typeface="Calibri" panose="020F0502020204030204" pitchFamily="34" charset="0"/>
                <a:cs typeface="Times New Roman" panose="02020603050405020304" pitchFamily="18" charset="0"/>
              </a:rPr>
            </a:br>
            <a:endParaRPr lang="ga-IE" dirty="0"/>
          </a:p>
        </p:txBody>
      </p:sp>
      <p:sp>
        <p:nvSpPr>
          <p:cNvPr id="3" name="Coinneálaí ionaid téacs 2">
            <a:extLst>
              <a:ext uri="{FF2B5EF4-FFF2-40B4-BE49-F238E27FC236}">
                <a16:creationId xmlns:a16="http://schemas.microsoft.com/office/drawing/2014/main" id="{7BE80E9B-01F4-400C-B09D-F250BBB2FA16}"/>
              </a:ext>
            </a:extLst>
          </p:cNvPr>
          <p:cNvSpPr>
            <a:spLocks noGrp="1"/>
          </p:cNvSpPr>
          <p:nvPr>
            <p:ph type="body" idx="1"/>
          </p:nvPr>
        </p:nvSpPr>
        <p:spPr/>
        <p:txBody>
          <a:bodyPr/>
          <a:lstStyle/>
          <a:p>
            <a:r>
              <a:rPr lang="ga-IE" dirty="0"/>
              <a:t>Daonáireamh 2016</a:t>
            </a:r>
          </a:p>
        </p:txBody>
      </p:sp>
      <p:pic>
        <p:nvPicPr>
          <p:cNvPr id="8" name="Coinneálaí ionaid inneachair 7" descr="Pictiúr a bhfuil teachtaireacht téacs ann&#10;&#10;Gineadh an tuairisc go huathoibríoch">
            <a:extLst>
              <a:ext uri="{FF2B5EF4-FFF2-40B4-BE49-F238E27FC236}">
                <a16:creationId xmlns:a16="http://schemas.microsoft.com/office/drawing/2014/main" id="{A44B0F2E-8493-42ED-B625-0185C9A7819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18365" y="2953152"/>
            <a:ext cx="3437051" cy="2347254"/>
          </a:xfrm>
        </p:spPr>
      </p:pic>
      <p:sp>
        <p:nvSpPr>
          <p:cNvPr id="5" name="Coinneálaí ionaid téacs 4">
            <a:extLst>
              <a:ext uri="{FF2B5EF4-FFF2-40B4-BE49-F238E27FC236}">
                <a16:creationId xmlns:a16="http://schemas.microsoft.com/office/drawing/2014/main" id="{8B3B6AAF-ECD8-4470-AF1B-1CB9F4D8FD33}"/>
              </a:ext>
            </a:extLst>
          </p:cNvPr>
          <p:cNvSpPr>
            <a:spLocks noGrp="1"/>
          </p:cNvSpPr>
          <p:nvPr>
            <p:ph type="body" sz="quarter" idx="3"/>
          </p:nvPr>
        </p:nvSpPr>
        <p:spPr/>
        <p:txBody>
          <a:bodyPr>
            <a:noAutofit/>
          </a:bodyPr>
          <a:lstStyle/>
          <a:p>
            <a:pPr algn="ctr"/>
            <a:r>
              <a:rPr lang="ga-IE" dirty="0">
                <a:latin typeface="Calibri" panose="020F0502020204030204" pitchFamily="34" charset="0"/>
                <a:ea typeface="Calibri" panose="020F0502020204030204" pitchFamily="34" charset="0"/>
              </a:rPr>
              <a:t>C</a:t>
            </a:r>
            <a:r>
              <a:rPr lang="ga-IE" dirty="0">
                <a:effectLst/>
                <a:latin typeface="Calibri" panose="020F0502020204030204" pitchFamily="34" charset="0"/>
                <a:ea typeface="Calibri" panose="020F0502020204030204" pitchFamily="34" charset="0"/>
              </a:rPr>
              <a:t>eist ar leith (Uimh. 14 ar lch. 4) </a:t>
            </a:r>
          </a:p>
          <a:p>
            <a:pPr algn="ctr"/>
            <a:r>
              <a:rPr lang="ga-IE" dirty="0">
                <a:effectLst/>
                <a:latin typeface="Calibri" panose="020F0502020204030204" pitchFamily="34" charset="0"/>
                <a:ea typeface="Calibri" panose="020F0502020204030204" pitchFamily="34" charset="0"/>
              </a:rPr>
              <a:t>maidir le cumas Gaeilge. </a:t>
            </a:r>
            <a:endParaRPr lang="ga-IE" dirty="0"/>
          </a:p>
        </p:txBody>
      </p:sp>
      <p:sp>
        <p:nvSpPr>
          <p:cNvPr id="6" name="Coinneálaí ionaid inneachair 5">
            <a:extLst>
              <a:ext uri="{FF2B5EF4-FFF2-40B4-BE49-F238E27FC236}">
                <a16:creationId xmlns:a16="http://schemas.microsoft.com/office/drawing/2014/main" id="{C50EE589-9814-4AFA-8E8F-B449B6C80E9C}"/>
              </a:ext>
            </a:extLst>
          </p:cNvPr>
          <p:cNvSpPr>
            <a:spLocks noGrp="1"/>
          </p:cNvSpPr>
          <p:nvPr>
            <p:ph sz="quarter" idx="4"/>
          </p:nvPr>
        </p:nvSpPr>
        <p:spPr>
          <a:xfrm>
            <a:off x="5688227" y="2505075"/>
            <a:ext cx="6010287" cy="4106182"/>
          </a:xfrm>
        </p:spPr>
        <p:txBody>
          <a:bodyPr>
            <a:normAutofit fontScale="70000" lnSpcReduction="20000"/>
          </a:bodyPr>
          <a:lstStyle/>
          <a:p>
            <a:pPr marL="0" indent="0">
              <a:buNone/>
            </a:pPr>
            <a:r>
              <a:rPr lang="ga-IE" dirty="0"/>
              <a:t>An bhfuil Gaeilge labhartha agat?</a:t>
            </a:r>
          </a:p>
          <a:p>
            <a:pPr marL="0" indent="0">
              <a:buNone/>
            </a:pPr>
            <a:r>
              <a:rPr lang="ga-IE" dirty="0"/>
              <a:t>Freagair má tá tú 3 bliana d’aois nó níos sine</a:t>
            </a:r>
          </a:p>
          <a:p>
            <a:pPr marL="0" indent="0">
              <a:buNone/>
            </a:pPr>
            <a:r>
              <a:rPr lang="ga-IE" dirty="0"/>
              <a:t>1 □ </a:t>
            </a:r>
            <a:r>
              <a:rPr lang="ga-IE" b="1" dirty="0"/>
              <a:t>Tá</a:t>
            </a:r>
          </a:p>
          <a:p>
            <a:pPr marL="0" indent="0">
              <a:buNone/>
            </a:pPr>
            <a:r>
              <a:rPr lang="ga-IE" dirty="0"/>
              <a:t>2 □  </a:t>
            </a:r>
            <a:r>
              <a:rPr lang="ga-IE" b="1" dirty="0"/>
              <a:t>Níl</a:t>
            </a:r>
          </a:p>
          <a:p>
            <a:pPr marL="0" indent="0">
              <a:buNone/>
            </a:pPr>
            <a:r>
              <a:rPr lang="ga-IE" dirty="0"/>
              <a:t>Má ‘Tá’, an labhraíonn tú Gaeilge?</a:t>
            </a:r>
          </a:p>
          <a:p>
            <a:pPr marL="0" indent="0">
              <a:buNone/>
            </a:pPr>
            <a:r>
              <a:rPr lang="ga-IE" dirty="0"/>
              <a:t>Marcáil  </a:t>
            </a:r>
            <a:r>
              <a:rPr lang="ga-IE" b="1" strike="sngStrike" dirty="0"/>
              <a:t>□</a:t>
            </a:r>
            <a:r>
              <a:rPr lang="ga-IE" dirty="0"/>
              <a:t>  i ngach bosca cuí </a:t>
            </a:r>
          </a:p>
          <a:p>
            <a:pPr marL="0" indent="0">
              <a:buNone/>
            </a:pPr>
            <a:r>
              <a:rPr lang="ga-IE" dirty="0"/>
              <a:t>1  □ </a:t>
            </a:r>
            <a:r>
              <a:rPr lang="ga-IE" b="1" dirty="0"/>
              <a:t>Go laethúil, sa chóras oideachais</a:t>
            </a:r>
          </a:p>
          <a:p>
            <a:pPr marL="0" indent="0">
              <a:buNone/>
            </a:pPr>
            <a:r>
              <a:rPr lang="ga-IE" dirty="0"/>
              <a:t>2  □ </a:t>
            </a:r>
            <a:r>
              <a:rPr lang="ga-IE" b="1" dirty="0"/>
              <a:t>Go laethúil, taobh amuigh den chóras oideachais</a:t>
            </a:r>
          </a:p>
          <a:p>
            <a:pPr marL="0" indent="0">
              <a:buNone/>
            </a:pPr>
            <a:r>
              <a:rPr lang="ga-IE" dirty="0"/>
              <a:t>3  □ </a:t>
            </a:r>
            <a:r>
              <a:rPr lang="ga-IE" b="1" dirty="0"/>
              <a:t>Go seachtainiúil</a:t>
            </a:r>
          </a:p>
          <a:p>
            <a:pPr marL="0" indent="0">
              <a:buNone/>
            </a:pPr>
            <a:r>
              <a:rPr lang="ga-IE" dirty="0"/>
              <a:t>4  □ </a:t>
            </a:r>
            <a:r>
              <a:rPr lang="ga-IE" b="1" dirty="0"/>
              <a:t>Ní chomh minic sin</a:t>
            </a:r>
          </a:p>
          <a:p>
            <a:pPr marL="0" indent="0">
              <a:buNone/>
            </a:pPr>
            <a:r>
              <a:rPr lang="ga-IE" dirty="0"/>
              <a:t>5  □ </a:t>
            </a:r>
            <a:r>
              <a:rPr lang="ga-IE" b="1" dirty="0"/>
              <a:t>Ní labhraíonn riamh í</a:t>
            </a:r>
          </a:p>
          <a:p>
            <a:endParaRPr lang="ga-IE" dirty="0"/>
          </a:p>
        </p:txBody>
      </p:sp>
    </p:spTree>
    <p:extLst>
      <p:ext uri="{BB962C8B-B14F-4D97-AF65-F5344CB8AC3E}">
        <p14:creationId xmlns:p14="http://schemas.microsoft.com/office/powerpoint/2010/main" val="2283109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iúr 3" descr="Pictiúr a bhfuil teachtaireacht téacs ann&#10;&#10;Gineadh an tuairisc go huathoibríoch">
            <a:extLst>
              <a:ext uri="{FF2B5EF4-FFF2-40B4-BE49-F238E27FC236}">
                <a16:creationId xmlns:a16="http://schemas.microsoft.com/office/drawing/2014/main" id="{18C2F30F-E63D-43E6-9B06-1B7DD9614C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2607" y="818571"/>
            <a:ext cx="6572048" cy="1598607"/>
          </a:xfrm>
          <a:prstGeom prst="rect">
            <a:avLst/>
          </a:prstGeom>
        </p:spPr>
      </p:pic>
      <p:graphicFrame>
        <p:nvGraphicFramePr>
          <p:cNvPr id="9" name="Tábla 8">
            <a:extLst>
              <a:ext uri="{FF2B5EF4-FFF2-40B4-BE49-F238E27FC236}">
                <a16:creationId xmlns:a16="http://schemas.microsoft.com/office/drawing/2014/main" id="{C63D36F2-C30C-4BE7-9CB4-F0E22CF579CD}"/>
              </a:ext>
            </a:extLst>
          </p:cNvPr>
          <p:cNvGraphicFramePr>
            <a:graphicFrameLocks noGrp="1"/>
          </p:cNvGraphicFramePr>
          <p:nvPr>
            <p:extLst>
              <p:ext uri="{D42A27DB-BD31-4B8C-83A1-F6EECF244321}">
                <p14:modId xmlns:p14="http://schemas.microsoft.com/office/powerpoint/2010/main" val="2475990004"/>
              </p:ext>
            </p:extLst>
          </p:nvPr>
        </p:nvGraphicFramePr>
        <p:xfrm>
          <a:off x="617838" y="2632546"/>
          <a:ext cx="9084962" cy="3637626"/>
        </p:xfrm>
        <a:graphic>
          <a:graphicData uri="http://schemas.openxmlformats.org/drawingml/2006/table">
            <a:tbl>
              <a:tblPr firstRow="1" firstCol="1" bandRow="1"/>
              <a:tblGrid>
                <a:gridCol w="6133070">
                  <a:extLst>
                    <a:ext uri="{9D8B030D-6E8A-4147-A177-3AD203B41FA5}">
                      <a16:colId xmlns:a16="http://schemas.microsoft.com/office/drawing/2014/main" val="3165477794"/>
                    </a:ext>
                  </a:extLst>
                </a:gridCol>
                <a:gridCol w="2951892">
                  <a:extLst>
                    <a:ext uri="{9D8B030D-6E8A-4147-A177-3AD203B41FA5}">
                      <a16:colId xmlns:a16="http://schemas.microsoft.com/office/drawing/2014/main" val="2971020704"/>
                    </a:ext>
                  </a:extLst>
                </a:gridCol>
              </a:tblGrid>
              <a:tr h="841239">
                <a:tc>
                  <a:txBody>
                    <a:bodyPr/>
                    <a:lstStyle/>
                    <a:p>
                      <a:pPr algn="just">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Cá mhéad duine atá ina gcónaí in Éirinn?</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4,761,865</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59032238"/>
                  </a:ext>
                </a:extLst>
              </a:tr>
              <a:tr h="677065">
                <a:tc>
                  <a:txBody>
                    <a:bodyPr/>
                    <a:lstStyle/>
                    <a:p>
                      <a:pPr algn="just">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Cá mhéad duine a bhfuil Gaeilge labhartha acu?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1,761,420</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58722307"/>
                  </a:ext>
                </a:extLst>
              </a:tr>
              <a:tr h="765192">
                <a:tc>
                  <a:txBody>
                    <a:bodyPr/>
                    <a:lstStyle/>
                    <a:p>
                      <a:pPr algn="just">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Cén céatadán den daonra atá i gceist?</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39.8%</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1407266"/>
                  </a:ext>
                </a:extLst>
              </a:tr>
              <a:tr h="677065">
                <a:tc>
                  <a:txBody>
                    <a:bodyPr/>
                    <a:lstStyle/>
                    <a:p>
                      <a:pPr algn="just">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Cá mhéad duine nach bhfuil Gaeilge labhartha acu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3,000,445</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4097239"/>
                  </a:ext>
                </a:extLst>
              </a:tr>
              <a:tr h="677065">
                <a:tc>
                  <a:txBody>
                    <a:bodyPr/>
                    <a:lstStyle/>
                    <a:p>
                      <a:pPr algn="just">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Cén céatadán den daonra atá i gceist?</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60.2%</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5271104"/>
                  </a:ext>
                </a:extLst>
              </a:tr>
            </a:tbl>
          </a:graphicData>
        </a:graphic>
      </p:graphicFrame>
    </p:spTree>
    <p:extLst>
      <p:ext uri="{BB962C8B-B14F-4D97-AF65-F5344CB8AC3E}">
        <p14:creationId xmlns:p14="http://schemas.microsoft.com/office/powerpoint/2010/main" val="2260363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iúr 1">
            <a:extLst>
              <a:ext uri="{FF2B5EF4-FFF2-40B4-BE49-F238E27FC236}">
                <a16:creationId xmlns:a16="http://schemas.microsoft.com/office/drawing/2014/main" id="{4DD8EDB0-E3FB-4D03-BFC5-1768D8CCFD60}"/>
              </a:ext>
            </a:extLst>
          </p:cNvPr>
          <p:cNvPicPr>
            <a:picLocks noChangeAspect="1"/>
          </p:cNvPicPr>
          <p:nvPr/>
        </p:nvPicPr>
        <p:blipFill>
          <a:blip r:embed="rId2"/>
          <a:stretch>
            <a:fillRect/>
          </a:stretch>
        </p:blipFill>
        <p:spPr>
          <a:xfrm>
            <a:off x="3505098" y="438891"/>
            <a:ext cx="4342959" cy="5263952"/>
          </a:xfrm>
          <a:prstGeom prst="rect">
            <a:avLst/>
          </a:prstGeom>
        </p:spPr>
      </p:pic>
      <p:pic>
        <p:nvPicPr>
          <p:cNvPr id="3" name="Pictiúr 2">
            <a:extLst>
              <a:ext uri="{FF2B5EF4-FFF2-40B4-BE49-F238E27FC236}">
                <a16:creationId xmlns:a16="http://schemas.microsoft.com/office/drawing/2014/main" id="{4F21C948-74ED-47A5-A32D-536866410F46}"/>
              </a:ext>
            </a:extLst>
          </p:cNvPr>
          <p:cNvPicPr>
            <a:picLocks noChangeAspect="1"/>
          </p:cNvPicPr>
          <p:nvPr/>
        </p:nvPicPr>
        <p:blipFill>
          <a:blip r:embed="rId3"/>
          <a:stretch>
            <a:fillRect/>
          </a:stretch>
        </p:blipFill>
        <p:spPr>
          <a:xfrm>
            <a:off x="2476041" y="5925290"/>
            <a:ext cx="7663336" cy="493819"/>
          </a:xfrm>
          <a:prstGeom prst="rect">
            <a:avLst/>
          </a:prstGeom>
        </p:spPr>
      </p:pic>
    </p:spTree>
    <p:extLst>
      <p:ext uri="{BB962C8B-B14F-4D97-AF65-F5344CB8AC3E}">
        <p14:creationId xmlns:p14="http://schemas.microsoft.com/office/powerpoint/2010/main" val="4052036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iúr 1" descr="I can go to Lidl and meet people who speak Irish': Why are there so many  Gaeilgeoirí in Leixlip?">
            <a:extLst>
              <a:ext uri="{FF2B5EF4-FFF2-40B4-BE49-F238E27FC236}">
                <a16:creationId xmlns:a16="http://schemas.microsoft.com/office/drawing/2014/main" id="{CA19E9E7-2FB6-49D6-959D-91A05F97F544}"/>
              </a:ext>
            </a:extLst>
          </p:cNvPr>
          <p:cNvPicPr/>
          <p:nvPr/>
        </p:nvPicPr>
        <p:blipFill rotWithShape="1">
          <a:blip r:embed="rId2" cstate="print">
            <a:extLst>
              <a:ext uri="{28A0092B-C50C-407E-A947-70E740481C1C}">
                <a14:useLocalDpi xmlns:a14="http://schemas.microsoft.com/office/drawing/2010/main" val="0"/>
              </a:ext>
            </a:extLst>
          </a:blip>
          <a:srcRect r="14160" b="-2"/>
          <a:stretch/>
        </p:blipFill>
        <p:spPr bwMode="auto">
          <a:xfrm>
            <a:off x="7567612" y="967695"/>
            <a:ext cx="3968154" cy="3777944"/>
          </a:xfrm>
          <a:prstGeom prst="rect">
            <a:avLst/>
          </a:prstGeom>
          <a:noFill/>
        </p:spPr>
      </p:pic>
      <p:sp>
        <p:nvSpPr>
          <p:cNvPr id="4" name="Bosca téacs 3">
            <a:extLst>
              <a:ext uri="{FF2B5EF4-FFF2-40B4-BE49-F238E27FC236}">
                <a16:creationId xmlns:a16="http://schemas.microsoft.com/office/drawing/2014/main" id="{D4FD66EC-D9E5-4D36-A1CE-0FCA2B78CD22}"/>
              </a:ext>
            </a:extLst>
          </p:cNvPr>
          <p:cNvSpPr txBox="1"/>
          <p:nvPr/>
        </p:nvSpPr>
        <p:spPr>
          <a:xfrm>
            <a:off x="654908" y="2754064"/>
            <a:ext cx="5884005" cy="994118"/>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ga-IE" sz="2000" b="0" i="0" u="none" strike="noStrike" kern="1200" cap="none" spc="0" normalizeH="0" baseline="0" dirty="0">
                <a:ln>
                  <a:noFill/>
                </a:ln>
                <a:solidFill>
                  <a:prstClr val="black"/>
                </a:solidFill>
                <a:effectLst/>
                <a:uLnTx/>
                <a:uFillTx/>
                <a:ea typeface="+mn-ea"/>
                <a:cs typeface="+mn-cs"/>
              </a:rPr>
              <a:t>Tá staitisticí ar fáil maidir le cainteoirí laethúla Gaeilge </a:t>
            </a:r>
            <a:endParaRPr kumimoji="0" lang="en-IE" sz="2000" b="0" i="0" u="none" strike="noStrike" kern="1200" cap="none" spc="0" normalizeH="0" baseline="0" dirty="0">
              <a:ln>
                <a:noFill/>
              </a:ln>
              <a:solidFill>
                <a:prstClr val="black"/>
              </a:solidFill>
              <a:effectLst/>
              <a:uLnTx/>
              <a:uFillTx/>
              <a:ea typeface="+mn-ea"/>
              <a:cs typeface="+mn-cs"/>
            </a:endParaRP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ga-IE" sz="2000" b="0" i="0" u="none" strike="noStrike" kern="1200" cap="none" spc="0" normalizeH="0" baseline="0" dirty="0">
                <a:ln>
                  <a:noFill/>
                </a:ln>
                <a:solidFill>
                  <a:prstClr val="black"/>
                </a:solidFill>
                <a:effectLst/>
                <a:uLnTx/>
                <a:uFillTx/>
                <a:ea typeface="+mn-ea"/>
                <a:cs typeface="+mn-cs"/>
              </a:rPr>
              <a:t>de réir toghroinne </a:t>
            </a:r>
            <a:r>
              <a:rPr kumimoji="0" lang="ga-IE" sz="1000" b="0" i="0" u="none" strike="noStrike" kern="1200" cap="none" spc="0" normalizeH="0" baseline="0" dirty="0">
                <a:ln>
                  <a:noFill/>
                </a:ln>
                <a:solidFill>
                  <a:prstClr val="black"/>
                </a:solidFill>
                <a:effectLst/>
                <a:uLnTx/>
                <a:uFillTx/>
                <a:ea typeface="+mn-ea"/>
                <a:cs typeface="+mn-cs"/>
              </a:rPr>
              <a:t>(</a:t>
            </a:r>
            <a:r>
              <a:rPr kumimoji="0" lang="ga-IE" sz="1000" b="0" i="0" u="none" strike="noStrike" kern="1200" cap="none" spc="0" normalizeH="0" baseline="0" dirty="0" err="1">
                <a:ln>
                  <a:noFill/>
                </a:ln>
                <a:solidFill>
                  <a:prstClr val="black"/>
                </a:solidFill>
                <a:effectLst/>
                <a:uLnTx/>
                <a:uFillTx/>
                <a:ea typeface="+mn-ea"/>
                <a:cs typeface="+mn-cs"/>
              </a:rPr>
              <a:t>electoral</a:t>
            </a:r>
            <a:r>
              <a:rPr kumimoji="0" lang="ga-IE" sz="1000" b="0" i="0" u="none" strike="noStrike" kern="1200" cap="none" spc="0" normalizeH="0" baseline="0" dirty="0">
                <a:ln>
                  <a:noFill/>
                </a:ln>
                <a:solidFill>
                  <a:prstClr val="black"/>
                </a:solidFill>
                <a:effectLst/>
                <a:uLnTx/>
                <a:uFillTx/>
                <a:ea typeface="+mn-ea"/>
                <a:cs typeface="+mn-cs"/>
              </a:rPr>
              <a:t> </a:t>
            </a:r>
            <a:r>
              <a:rPr kumimoji="0" lang="ga-IE" sz="1000" b="0" i="0" u="none" strike="noStrike" kern="1200" cap="none" spc="0" normalizeH="0" baseline="0" dirty="0" err="1">
                <a:ln>
                  <a:noFill/>
                </a:ln>
                <a:solidFill>
                  <a:prstClr val="black"/>
                </a:solidFill>
                <a:effectLst/>
                <a:uLnTx/>
                <a:uFillTx/>
                <a:ea typeface="+mn-ea"/>
                <a:cs typeface="+mn-cs"/>
              </a:rPr>
              <a:t>district</a:t>
            </a:r>
            <a:r>
              <a:rPr kumimoji="0" lang="ga-IE" sz="1000" b="0" i="0" u="none" strike="noStrike" kern="1200" cap="none" spc="0" normalizeH="0" baseline="0" dirty="0">
                <a:ln>
                  <a:noFill/>
                </a:ln>
                <a:solidFill>
                  <a:prstClr val="black"/>
                </a:solidFill>
                <a:effectLst/>
                <a:uLnTx/>
                <a:uFillTx/>
                <a:ea typeface="+mn-ea"/>
                <a:cs typeface="+mn-cs"/>
              </a:rPr>
              <a:t>) </a:t>
            </a:r>
            <a:r>
              <a:rPr kumimoji="0" lang="ga-IE" sz="2000" b="0" i="0" u="none" strike="noStrike" kern="1200" cap="none" spc="0" normalizeH="0" baseline="0" dirty="0">
                <a:ln>
                  <a:noFill/>
                </a:ln>
                <a:solidFill>
                  <a:prstClr val="black"/>
                </a:solidFill>
                <a:effectLst/>
                <a:uLnTx/>
                <a:uFillTx/>
                <a:ea typeface="+mn-ea"/>
                <a:cs typeface="+mn-cs"/>
              </a:rPr>
              <a:t>fosta.</a:t>
            </a:r>
            <a:r>
              <a:rPr kumimoji="0" lang="ga-IE" sz="2000" b="0" i="0" u="none" strike="noStrike" kern="1200" cap="none" spc="0" normalizeH="0" baseline="0" dirty="0">
                <a:ln>
                  <a:noFill/>
                </a:ln>
                <a:solidFill>
                  <a:prstClr val="black"/>
                </a:solidFill>
                <a:effectLst/>
                <a:uLnTx/>
                <a:uFillTx/>
                <a:latin typeface="Calibri Light" panose="020F0302020204030204"/>
                <a:ea typeface="+mn-ea"/>
                <a:cs typeface="+mn-cs"/>
              </a:rPr>
              <a:t> </a:t>
            </a:r>
            <a:endParaRPr kumimoji="0" lang="en-IE" sz="2000" b="0" i="0" u="none" strike="noStrike" kern="1200" cap="none" spc="0" normalizeH="0" baseline="0" dirty="0">
              <a:ln>
                <a:noFill/>
              </a:ln>
              <a:solidFill>
                <a:prstClr val="black"/>
              </a:solidFill>
              <a:effectLst/>
              <a:uLnTx/>
              <a:uFillTx/>
              <a:latin typeface="Calibri Light" panose="020F0302020204030204"/>
              <a:ea typeface="+mn-ea"/>
              <a:cs typeface="+mn-cs"/>
            </a:endParaRPr>
          </a:p>
          <a:p>
            <a:pPr marL="0" marR="0" lvl="0" indent="0" algn="l" defTabSz="914400" rtl="0" eaLnBrk="1" fontAlgn="auto" latinLnBrk="0" hangingPunct="1">
              <a:lnSpc>
                <a:spcPct val="90000"/>
              </a:lnSpc>
              <a:spcBef>
                <a:spcPct val="0"/>
              </a:spcBef>
              <a:spcAft>
                <a:spcPts val="600"/>
              </a:spcAft>
              <a:buClrTx/>
              <a:buSzTx/>
              <a:buFontTx/>
              <a:buNone/>
              <a:tabLst/>
              <a:defRPr/>
            </a:pPr>
            <a:r>
              <a:rPr lang="en-US" sz="1400" b="1" u="sng" dirty="0">
                <a:solidFill>
                  <a:prstClr val="black"/>
                </a:solidFill>
                <a:latin typeface="Calibri Light" panose="020F0302020204030204"/>
                <a:hlinkClick r:id="rId3"/>
              </a:rPr>
              <a:t>https://census.cso.ie/censusasp/saps/boundaries/eds_bound.htm</a:t>
            </a:r>
            <a:r>
              <a:rPr lang="en-US" sz="1400" dirty="0">
                <a:solidFill>
                  <a:prstClr val="black"/>
                </a:solidFill>
                <a:latin typeface="Calibri Light" panose="020F0302020204030204"/>
                <a:hlinkClick r:id="rId3"/>
              </a:rPr>
              <a:t> </a:t>
            </a:r>
            <a:endParaRPr kumimoji="0" lang="en-US" sz="1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5" name="Bosca téacs 4">
            <a:extLst>
              <a:ext uri="{FF2B5EF4-FFF2-40B4-BE49-F238E27FC236}">
                <a16:creationId xmlns:a16="http://schemas.microsoft.com/office/drawing/2014/main" id="{D4523DDA-FEEF-434A-9D58-5CEEAD696D51}"/>
              </a:ext>
            </a:extLst>
          </p:cNvPr>
          <p:cNvSpPr txBox="1"/>
          <p:nvPr/>
        </p:nvSpPr>
        <p:spPr>
          <a:xfrm>
            <a:off x="1471612" y="1462722"/>
            <a:ext cx="6096000" cy="341632"/>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800" b="0" i="0" u="sng" strike="noStrike" kern="1200" cap="none" spc="0" normalizeH="0" baseline="0" noProof="0" dirty="0">
                <a:ln>
                  <a:noFill/>
                </a:ln>
                <a:solidFill>
                  <a:prstClr val="black"/>
                </a:solidFill>
                <a:effectLst/>
                <a:uLnTx/>
                <a:uFillTx/>
                <a:latin typeface="Calibri Light" panose="020F0302020204030204"/>
                <a:ea typeface="+mn-ea"/>
                <a:cs typeface="+mn-cs"/>
                <a:hlinkClick r:id="rId4"/>
              </a:rPr>
              <a:t>http://census.cso.ie/p10map51/</a:t>
            </a:r>
            <a:r>
              <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rPr>
              <a:t>  </a:t>
            </a:r>
            <a:endParaRPr lang="ga-IE" sz="2800" dirty="0">
              <a:solidFill>
                <a:prstClr val="black"/>
              </a:solidFill>
              <a:latin typeface="Calibri Light" panose="020F0302020204030204"/>
            </a:endParaRPr>
          </a:p>
        </p:txBody>
      </p:sp>
    </p:spTree>
    <p:extLst>
      <p:ext uri="{BB962C8B-B14F-4D97-AF65-F5344CB8AC3E}">
        <p14:creationId xmlns:p14="http://schemas.microsoft.com/office/powerpoint/2010/main" val="1597680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osca téacs 6">
            <a:extLst>
              <a:ext uri="{FF2B5EF4-FFF2-40B4-BE49-F238E27FC236}">
                <a16:creationId xmlns:a16="http://schemas.microsoft.com/office/drawing/2014/main" id="{438A12F2-1D51-4895-8A17-0E73F0E2B511}"/>
              </a:ext>
            </a:extLst>
          </p:cNvPr>
          <p:cNvSpPr txBox="1"/>
          <p:nvPr/>
        </p:nvSpPr>
        <p:spPr>
          <a:xfrm>
            <a:off x="1747157" y="114584"/>
            <a:ext cx="8697686" cy="671851"/>
          </a:xfrm>
          <a:prstGeom prst="rect">
            <a:avLst/>
          </a:prstGeom>
          <a:noFill/>
        </p:spPr>
        <p:txBody>
          <a:bodyPr wrap="square">
            <a:spAutoFit/>
          </a:bodyPr>
          <a:lstStyle/>
          <a:p>
            <a:pPr algn="ctr">
              <a:lnSpc>
                <a:spcPct val="150000"/>
              </a:lnSpc>
              <a:spcAft>
                <a:spcPts val="800"/>
              </a:spcAft>
            </a:pPr>
            <a:r>
              <a:rPr lang="ga-IE" sz="2800" b="1" dirty="0">
                <a:effectLst/>
                <a:latin typeface="Calibri" panose="020F0502020204030204" pitchFamily="34" charset="0"/>
                <a:ea typeface="Calibri" panose="020F0502020204030204" pitchFamily="34" charset="0"/>
                <a:cs typeface="Calibri" panose="020F0502020204030204" pitchFamily="34" charset="0"/>
              </a:rPr>
              <a:t>Cé chomh minic agus a labhraíonn daoine Gaeilge?</a:t>
            </a:r>
            <a:endParaRPr lang="ga-IE" sz="28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2" name="Tábla 11">
            <a:extLst>
              <a:ext uri="{FF2B5EF4-FFF2-40B4-BE49-F238E27FC236}">
                <a16:creationId xmlns:a16="http://schemas.microsoft.com/office/drawing/2014/main" id="{8A0F863A-0845-4B44-956C-A51A6C28D849}"/>
              </a:ext>
            </a:extLst>
          </p:cNvPr>
          <p:cNvGraphicFramePr>
            <a:graphicFrameLocks noGrp="1"/>
          </p:cNvGraphicFramePr>
          <p:nvPr>
            <p:extLst>
              <p:ext uri="{D42A27DB-BD31-4B8C-83A1-F6EECF244321}">
                <p14:modId xmlns:p14="http://schemas.microsoft.com/office/powerpoint/2010/main" val="1709535665"/>
              </p:ext>
            </p:extLst>
          </p:nvPr>
        </p:nvGraphicFramePr>
        <p:xfrm>
          <a:off x="427779" y="1329870"/>
          <a:ext cx="10922001" cy="3794246"/>
        </p:xfrm>
        <a:graphic>
          <a:graphicData uri="http://schemas.openxmlformats.org/drawingml/2006/table">
            <a:tbl>
              <a:tblPr firstRow="1" firstCol="1" bandRow="1"/>
              <a:tblGrid>
                <a:gridCol w="428571">
                  <a:extLst>
                    <a:ext uri="{9D8B030D-6E8A-4147-A177-3AD203B41FA5}">
                      <a16:colId xmlns:a16="http://schemas.microsoft.com/office/drawing/2014/main" val="1726001704"/>
                    </a:ext>
                  </a:extLst>
                </a:gridCol>
                <a:gridCol w="6418095">
                  <a:extLst>
                    <a:ext uri="{9D8B030D-6E8A-4147-A177-3AD203B41FA5}">
                      <a16:colId xmlns:a16="http://schemas.microsoft.com/office/drawing/2014/main" val="1846947921"/>
                    </a:ext>
                  </a:extLst>
                </a:gridCol>
                <a:gridCol w="2037015">
                  <a:extLst>
                    <a:ext uri="{9D8B030D-6E8A-4147-A177-3AD203B41FA5}">
                      <a16:colId xmlns:a16="http://schemas.microsoft.com/office/drawing/2014/main" val="1714718330"/>
                    </a:ext>
                  </a:extLst>
                </a:gridCol>
                <a:gridCol w="2038320">
                  <a:extLst>
                    <a:ext uri="{9D8B030D-6E8A-4147-A177-3AD203B41FA5}">
                      <a16:colId xmlns:a16="http://schemas.microsoft.com/office/drawing/2014/main" val="1487613717"/>
                    </a:ext>
                  </a:extLst>
                </a:gridCol>
              </a:tblGrid>
              <a:tr h="552652">
                <a:tc>
                  <a:txBody>
                    <a:bodyPr/>
                    <a:lstStyle/>
                    <a:p>
                      <a:pPr algn="ct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Minicíocht</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a:solidFill>
                            <a:srgbClr val="FF0000"/>
                          </a:solidFill>
                          <a:effectLst/>
                          <a:latin typeface="Calibri" panose="020F0502020204030204" pitchFamily="34" charset="0"/>
                          <a:ea typeface="Calibri" panose="020F0502020204030204" pitchFamily="34" charset="0"/>
                          <a:cs typeface="Calibri" panose="020F0502020204030204" pitchFamily="34" charset="0"/>
                        </a:rPr>
                        <a:t>Líon daoine</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noProof="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de na daoine a dúirt go raibh Gaeilge acu</a:t>
                      </a:r>
                      <a:endParaRPr lang="ga-IE" sz="20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0867152"/>
                  </a:ext>
                </a:extLst>
              </a:tr>
              <a:tr h="552652">
                <a:tc>
                  <a:txBody>
                    <a:bodyPr/>
                    <a:lstStyle/>
                    <a:p>
                      <a:pPr algn="ct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1</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Go laethúil, sa chóras oideachais</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a:solidFill>
                            <a:srgbClr val="FF0000"/>
                          </a:solidFill>
                          <a:effectLst/>
                          <a:latin typeface="Calibri" panose="020F0502020204030204" pitchFamily="34" charset="0"/>
                          <a:ea typeface="Calibri" panose="020F0502020204030204" pitchFamily="34" charset="0"/>
                          <a:cs typeface="Calibri" panose="020F0502020204030204" pitchFamily="34" charset="0"/>
                        </a:rPr>
                        <a:t>558,608</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a:solidFill>
                            <a:srgbClr val="FF0000"/>
                          </a:solidFill>
                          <a:effectLst/>
                          <a:latin typeface="Calibri" panose="020F0502020204030204" pitchFamily="34" charset="0"/>
                          <a:ea typeface="Calibri" panose="020F0502020204030204" pitchFamily="34" charset="0"/>
                          <a:cs typeface="Calibri" panose="020F0502020204030204" pitchFamily="34" charset="0"/>
                        </a:rPr>
                        <a:t>31.7%</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6306"/>
                  </a:ext>
                </a:extLst>
              </a:tr>
              <a:tr h="552652">
                <a:tc>
                  <a:txBody>
                    <a:bodyPr/>
                    <a:lstStyle/>
                    <a:p>
                      <a:pPr algn="ct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Go laethúil, taobh amuigh den chóras oideachais</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a:solidFill>
                            <a:srgbClr val="FF0000"/>
                          </a:solidFill>
                          <a:effectLst/>
                          <a:latin typeface="Calibri" panose="020F0502020204030204" pitchFamily="34" charset="0"/>
                          <a:ea typeface="Calibri" panose="020F0502020204030204" pitchFamily="34" charset="0"/>
                          <a:cs typeface="Calibri" panose="020F0502020204030204" pitchFamily="34" charset="0"/>
                        </a:rPr>
                        <a:t>73,803</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1.7%</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4060086"/>
                  </a:ext>
                </a:extLst>
              </a:tr>
              <a:tr h="552652">
                <a:tc>
                  <a:txBody>
                    <a:bodyPr/>
                    <a:lstStyle/>
                    <a:p>
                      <a:pPr algn="ct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3</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Go seachtainiúil</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111,473</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6.3%</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5595213"/>
                  </a:ext>
                </a:extLst>
              </a:tr>
              <a:tr h="552652">
                <a:tc>
                  <a:txBody>
                    <a:bodyPr/>
                    <a:lstStyle/>
                    <a:p>
                      <a:pPr algn="ct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4</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Ní chomh minic sin (níos lú ná uair sa tseachtain)</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586,535</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33.3%</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4571491"/>
                  </a:ext>
                </a:extLst>
              </a:tr>
              <a:tr h="552652">
                <a:tc>
                  <a:txBody>
                    <a:bodyPr/>
                    <a:lstStyle/>
                    <a:p>
                      <a:pPr algn="ct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5</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Ní labhraíonn riamh í</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418,420</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23.8%</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7325891"/>
                  </a:ext>
                </a:extLst>
              </a:tr>
            </a:tbl>
          </a:graphicData>
        </a:graphic>
      </p:graphicFrame>
      <p:sp>
        <p:nvSpPr>
          <p:cNvPr id="13" name="Rectangle 7">
            <a:extLst>
              <a:ext uri="{FF2B5EF4-FFF2-40B4-BE49-F238E27FC236}">
                <a16:creationId xmlns:a16="http://schemas.microsoft.com/office/drawing/2014/main" id="{ADC37C52-EB9E-4723-951D-984B864365F6}"/>
              </a:ext>
            </a:extLst>
          </p:cNvPr>
          <p:cNvSpPr>
            <a:spLocks noChangeArrowheads="1"/>
          </p:cNvSpPr>
          <p:nvPr/>
        </p:nvSpPr>
        <p:spPr bwMode="auto">
          <a:xfrm>
            <a:off x="3568700" y="41814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ga-IE" altLang="ga-IE" sz="1800" b="0" i="0" u="none" strike="noStrike" cap="none" normalizeH="0" baseline="0">
                <a:ln>
                  <a:noFill/>
                </a:ln>
                <a:solidFill>
                  <a:schemeClr val="tx1"/>
                </a:solidFill>
                <a:effectLst/>
                <a:latin typeface="Arial" panose="020B0604020202020204" pitchFamily="34" charset="0"/>
              </a:rPr>
            </a:br>
            <a:endParaRPr kumimoji="0" lang="ga-IE" altLang="ga-IE" sz="1800" b="0" i="0" u="none" strike="noStrike" cap="none" normalizeH="0" baseline="0">
              <a:ln>
                <a:noFill/>
              </a:ln>
              <a:solidFill>
                <a:schemeClr val="tx1"/>
              </a:solidFill>
              <a:effectLst/>
              <a:latin typeface="Arial" panose="020B0604020202020204" pitchFamily="34" charset="0"/>
            </a:endParaRPr>
          </a:p>
        </p:txBody>
      </p:sp>
      <p:sp>
        <p:nvSpPr>
          <p:cNvPr id="14" name="Rectangle 8">
            <a:extLst>
              <a:ext uri="{FF2B5EF4-FFF2-40B4-BE49-F238E27FC236}">
                <a16:creationId xmlns:a16="http://schemas.microsoft.com/office/drawing/2014/main" id="{657E5E4B-9F9C-4621-9359-655A5F8AC8A9}"/>
              </a:ext>
            </a:extLst>
          </p:cNvPr>
          <p:cNvSpPr>
            <a:spLocks noChangeArrowheads="1"/>
          </p:cNvSpPr>
          <p:nvPr/>
        </p:nvSpPr>
        <p:spPr bwMode="auto">
          <a:xfrm>
            <a:off x="1976437" y="5521780"/>
            <a:ext cx="4022725" cy="635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ga-IE"/>
          </a:p>
        </p:txBody>
      </p:sp>
      <p:sp>
        <p:nvSpPr>
          <p:cNvPr id="15" name="Rectangle 9">
            <a:extLst>
              <a:ext uri="{FF2B5EF4-FFF2-40B4-BE49-F238E27FC236}">
                <a16:creationId xmlns:a16="http://schemas.microsoft.com/office/drawing/2014/main" id="{3353FBF1-7CCC-4DFF-8756-C43464CC15B2}"/>
              </a:ext>
            </a:extLst>
          </p:cNvPr>
          <p:cNvSpPr>
            <a:spLocks noChangeArrowheads="1"/>
          </p:cNvSpPr>
          <p:nvPr/>
        </p:nvSpPr>
        <p:spPr bwMode="auto">
          <a:xfrm>
            <a:off x="611815" y="5902783"/>
            <a:ext cx="894725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ga-IE" altLang="ga-IE" sz="1200" b="0" i="0"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hlinkClick r:id="rId2"/>
              </a:rPr>
              <a:t>[</a:t>
            </a:r>
            <a:r>
              <a:rPr kumimoji="0" lang="ga-IE" altLang="ga-IE" sz="1200" b="0" i="0" u="none" strike="noStrike" cap="none" normalizeH="0" baseline="30000" dirty="0" bmk="">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hlinkClick r:id="rId2"/>
              </a:rPr>
              <a:t>1]</a:t>
            </a:r>
            <a:r>
              <a:rPr kumimoji="0" lang="ga-IE" altLang="ga-IE"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96.8% = iomlán na catagóirí seo. Caithfidh sé nár thug 3.2% d’fhreagróirí (c. 56, 365) le fios cé chomh minic agus a labhraíonn siad Gaeilge.</a:t>
            </a:r>
            <a:endParaRPr kumimoji="0" lang="ga-IE" altLang="ga-IE"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3641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iúr 2">
            <a:extLst>
              <a:ext uri="{FF2B5EF4-FFF2-40B4-BE49-F238E27FC236}">
                <a16:creationId xmlns:a16="http://schemas.microsoft.com/office/drawing/2014/main" id="{644C9C79-DCBD-4A8A-B41A-FE2058043481}"/>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5347" y="194990"/>
            <a:ext cx="4552768" cy="6343696"/>
          </a:xfrm>
          <a:prstGeom prst="rect">
            <a:avLst/>
          </a:prstGeom>
          <a:noFill/>
          <a:ln>
            <a:noFill/>
          </a:ln>
        </p:spPr>
      </p:pic>
      <p:sp>
        <p:nvSpPr>
          <p:cNvPr id="5" name="Bosca téacs 4">
            <a:extLst>
              <a:ext uri="{FF2B5EF4-FFF2-40B4-BE49-F238E27FC236}">
                <a16:creationId xmlns:a16="http://schemas.microsoft.com/office/drawing/2014/main" id="{BCE793C8-2641-4D5D-BE8E-F43555003DCB}"/>
              </a:ext>
            </a:extLst>
          </p:cNvPr>
          <p:cNvSpPr txBox="1"/>
          <p:nvPr/>
        </p:nvSpPr>
        <p:spPr>
          <a:xfrm>
            <a:off x="5045676" y="2496965"/>
            <a:ext cx="6911546" cy="1569660"/>
          </a:xfrm>
          <a:prstGeom prst="rect">
            <a:avLst/>
          </a:prstGeom>
          <a:noFill/>
        </p:spPr>
        <p:txBody>
          <a:bodyPr wrap="square">
            <a:spAutoFit/>
          </a:bodyPr>
          <a:lstStyle/>
          <a:p>
            <a:pPr algn="ctr"/>
            <a:r>
              <a:rPr lang="ga-IE" sz="3200" b="1" dirty="0">
                <a:solidFill>
                  <a:srgbClr val="FF0000"/>
                </a:solidFill>
                <a:effectLst/>
                <a:latin typeface="Calibri" panose="020F0502020204030204" pitchFamily="34" charset="0"/>
                <a:ea typeface="Calibri" panose="020F0502020204030204" pitchFamily="34" charset="0"/>
              </a:rPr>
              <a:t>An bhfuil moltaí ar bith agat maidir leis an dóigh is fearr le daoine a spreagadh lena gcuid Gaeilge a úsáid?</a:t>
            </a:r>
            <a:endParaRPr lang="ga-IE" sz="3200" dirty="0"/>
          </a:p>
        </p:txBody>
      </p:sp>
    </p:spTree>
    <p:extLst>
      <p:ext uri="{BB962C8B-B14F-4D97-AF65-F5344CB8AC3E}">
        <p14:creationId xmlns:p14="http://schemas.microsoft.com/office/powerpoint/2010/main" val="2521447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iúr 1">
            <a:extLst>
              <a:ext uri="{FF2B5EF4-FFF2-40B4-BE49-F238E27FC236}">
                <a16:creationId xmlns:a16="http://schemas.microsoft.com/office/drawing/2014/main" id="{8737C6AB-D5E2-4AF4-BCDB-1138B708F36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041876" y="520022"/>
            <a:ext cx="3598410" cy="2908978"/>
          </a:xfrm>
          <a:prstGeom prst="rect">
            <a:avLst/>
          </a:prstGeom>
          <a:noFill/>
          <a:ln>
            <a:noFill/>
          </a:ln>
        </p:spPr>
      </p:pic>
      <p:sp>
        <p:nvSpPr>
          <p:cNvPr id="4" name="Bosca téacs 3">
            <a:extLst>
              <a:ext uri="{FF2B5EF4-FFF2-40B4-BE49-F238E27FC236}">
                <a16:creationId xmlns:a16="http://schemas.microsoft.com/office/drawing/2014/main" id="{7FA4AF9D-0B51-4DC8-B212-19C975EA5223}"/>
              </a:ext>
            </a:extLst>
          </p:cNvPr>
          <p:cNvSpPr txBox="1"/>
          <p:nvPr/>
        </p:nvSpPr>
        <p:spPr>
          <a:xfrm>
            <a:off x="584887" y="3891512"/>
            <a:ext cx="10859628" cy="967957"/>
          </a:xfrm>
          <a:prstGeom prst="rect">
            <a:avLst/>
          </a:prstGeom>
          <a:noFill/>
        </p:spPr>
        <p:txBody>
          <a:bodyPr wrap="square">
            <a:spAutoFit/>
          </a:bodyPr>
          <a:lstStyle/>
          <a:p>
            <a:pPr algn="just">
              <a:lnSpc>
                <a:spcPct val="150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‘Sa Phoblacht, creideann beagnach dhá t</a:t>
            </a:r>
            <a:r>
              <a:rPr lang="en-IE" sz="2000" dirty="0">
                <a:effectLst/>
                <a:latin typeface="Calibri" panose="020F0502020204030204" pitchFamily="34" charset="0"/>
                <a:ea typeface="Calibri" panose="020F0502020204030204" pitchFamily="34" charset="0"/>
                <a:cs typeface="Calibri" panose="020F0502020204030204" pitchFamily="34" charset="0"/>
              </a:rPr>
              <a:t>h</a:t>
            </a:r>
            <a:r>
              <a:rPr lang="ga-IE" sz="2000" dirty="0">
                <a:effectLst/>
                <a:latin typeface="Calibri" panose="020F0502020204030204" pitchFamily="34" charset="0"/>
                <a:ea typeface="Calibri" panose="020F0502020204030204" pitchFamily="34" charset="0"/>
                <a:cs typeface="Calibri" panose="020F0502020204030204" pitchFamily="34" charset="0"/>
              </a:rPr>
              <a:t>rian (64%) go gcuirfí féiniúlacht na hÉireann ar</a:t>
            </a:r>
            <a:r>
              <a:rPr lang="en-IE" sz="2000" dirty="0">
                <a:latin typeface="Calibri" panose="020F0502020204030204" pitchFamily="34" charset="0"/>
                <a:ea typeface="Calibri" panose="020F0502020204030204" pitchFamily="34" charset="0"/>
                <a:cs typeface="Times New Roman" panose="02020603050405020304" pitchFamily="18" charset="0"/>
              </a:rPr>
              <a:t> </a:t>
            </a:r>
            <a:r>
              <a:rPr lang="ga-IE" sz="2000" dirty="0">
                <a:effectLst/>
                <a:latin typeface="Calibri" panose="020F0502020204030204" pitchFamily="34" charset="0"/>
                <a:ea typeface="Calibri" panose="020F0502020204030204" pitchFamily="34" charset="0"/>
                <a:cs typeface="Calibri" panose="020F0502020204030204" pitchFamily="34" charset="0"/>
              </a:rPr>
              <a:t>ceal in éagmais na Gaeilge.’ (</a:t>
            </a:r>
            <a:r>
              <a:rPr lang="ga-IE" sz="2000" dirty="0" err="1">
                <a:effectLst/>
                <a:latin typeface="Calibri" panose="020F0502020204030204" pitchFamily="34" charset="0"/>
                <a:ea typeface="Calibri" panose="020F0502020204030204" pitchFamily="34" charset="0"/>
                <a:cs typeface="Calibri" panose="020F0502020204030204" pitchFamily="34" charset="0"/>
              </a:rPr>
              <a:t>Darmody</a:t>
            </a:r>
            <a:r>
              <a:rPr lang="ga-IE" sz="2000" dirty="0">
                <a:effectLst/>
                <a:latin typeface="Calibri" panose="020F0502020204030204" pitchFamily="34" charset="0"/>
                <a:ea typeface="Calibri" panose="020F0502020204030204" pitchFamily="34" charset="0"/>
                <a:cs typeface="Calibri" panose="020F0502020204030204" pitchFamily="34" charset="0"/>
              </a:rPr>
              <a:t> agus </a:t>
            </a:r>
            <a:r>
              <a:rPr lang="ga-IE" sz="2000" dirty="0" err="1">
                <a:effectLst/>
                <a:latin typeface="Calibri" panose="020F0502020204030204" pitchFamily="34" charset="0"/>
                <a:ea typeface="Calibri" panose="020F0502020204030204" pitchFamily="34" charset="0"/>
                <a:cs typeface="Calibri" panose="020F0502020204030204" pitchFamily="34" charset="0"/>
              </a:rPr>
              <a:t>Daly</a:t>
            </a:r>
            <a:r>
              <a:rPr lang="ga-IE" sz="2000" dirty="0">
                <a:effectLst/>
                <a:latin typeface="Calibri" panose="020F0502020204030204" pitchFamily="34" charset="0"/>
                <a:ea typeface="Calibri" panose="020F0502020204030204" pitchFamily="34" charset="0"/>
                <a:cs typeface="Calibri" panose="020F0502020204030204" pitchFamily="34" charset="0"/>
              </a:rPr>
              <a:t>, 2015: </a:t>
            </a:r>
            <a:r>
              <a:rPr lang="ga-IE" sz="2000" dirty="0" err="1">
                <a:effectLst/>
                <a:latin typeface="Calibri" panose="020F0502020204030204" pitchFamily="34" charset="0"/>
                <a:ea typeface="Calibri" panose="020F0502020204030204" pitchFamily="34" charset="0"/>
                <a:cs typeface="Calibri" panose="020F0502020204030204" pitchFamily="34" charset="0"/>
              </a:rPr>
              <a:t>xi</a:t>
            </a:r>
            <a:r>
              <a:rPr lang="ga-IE" sz="2000" dirty="0">
                <a:effectLst/>
                <a:latin typeface="Calibri" panose="020F0502020204030204" pitchFamily="34" charset="0"/>
                <a:ea typeface="Calibri" panose="020F0502020204030204" pitchFamily="34" charset="0"/>
                <a:cs typeface="Calibri" panose="020F0502020204030204" pitchFamily="34" charset="0"/>
              </a:rPr>
              <a:t>)</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64124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94B5A833-6D88-4A79-9357-5561DA6BCB67}"/>
              </a:ext>
            </a:extLst>
          </p:cNvPr>
          <p:cNvSpPr txBox="1"/>
          <p:nvPr/>
        </p:nvSpPr>
        <p:spPr>
          <a:xfrm>
            <a:off x="2563586" y="0"/>
            <a:ext cx="6096000" cy="754694"/>
          </a:xfrm>
          <a:prstGeom prst="rect">
            <a:avLst/>
          </a:prstGeom>
          <a:noFill/>
        </p:spPr>
        <p:txBody>
          <a:bodyPr wrap="square">
            <a:spAutoFit/>
          </a:bodyPr>
          <a:lstStyle/>
          <a:p>
            <a:pPr algn="just">
              <a:lnSpc>
                <a:spcPct val="150000"/>
              </a:lnSpc>
              <a:spcAft>
                <a:spcPts val="800"/>
              </a:spcAft>
            </a:pPr>
            <a:r>
              <a:rPr lang="ga-IE" sz="3200" b="1" dirty="0">
                <a:effectLst/>
                <a:latin typeface="Calibri" panose="020F0502020204030204" pitchFamily="34" charset="0"/>
                <a:ea typeface="Calibri" panose="020F0502020204030204" pitchFamily="34" charset="0"/>
                <a:cs typeface="Calibri" panose="020F0502020204030204" pitchFamily="34" charset="0"/>
              </a:rPr>
              <a:t>Inscne agus cumas Gaeilge</a:t>
            </a:r>
            <a:endParaRPr lang="ga-IE" sz="32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ábla 3">
            <a:extLst>
              <a:ext uri="{FF2B5EF4-FFF2-40B4-BE49-F238E27FC236}">
                <a16:creationId xmlns:a16="http://schemas.microsoft.com/office/drawing/2014/main" id="{5D15449D-F7A1-46F0-8379-41AE07C9F580}"/>
              </a:ext>
            </a:extLst>
          </p:cNvPr>
          <p:cNvGraphicFramePr>
            <a:graphicFrameLocks noGrp="1"/>
          </p:cNvGraphicFramePr>
          <p:nvPr>
            <p:extLst>
              <p:ext uri="{D42A27DB-BD31-4B8C-83A1-F6EECF244321}">
                <p14:modId xmlns:p14="http://schemas.microsoft.com/office/powerpoint/2010/main" val="3052623165"/>
              </p:ext>
            </p:extLst>
          </p:nvPr>
        </p:nvGraphicFramePr>
        <p:xfrm>
          <a:off x="239486" y="1851875"/>
          <a:ext cx="8614227" cy="3599145"/>
        </p:xfrm>
        <a:graphic>
          <a:graphicData uri="http://schemas.openxmlformats.org/drawingml/2006/table">
            <a:tbl>
              <a:tblPr firstRow="1" firstCol="1" bandRow="1"/>
              <a:tblGrid>
                <a:gridCol w="1894114">
                  <a:extLst>
                    <a:ext uri="{9D8B030D-6E8A-4147-A177-3AD203B41FA5}">
                      <a16:colId xmlns:a16="http://schemas.microsoft.com/office/drawing/2014/main" val="3080694079"/>
                    </a:ext>
                  </a:extLst>
                </a:gridCol>
                <a:gridCol w="3548743">
                  <a:extLst>
                    <a:ext uri="{9D8B030D-6E8A-4147-A177-3AD203B41FA5}">
                      <a16:colId xmlns:a16="http://schemas.microsoft.com/office/drawing/2014/main" val="1605247341"/>
                    </a:ext>
                  </a:extLst>
                </a:gridCol>
                <a:gridCol w="3171370">
                  <a:extLst>
                    <a:ext uri="{9D8B030D-6E8A-4147-A177-3AD203B41FA5}">
                      <a16:colId xmlns:a16="http://schemas.microsoft.com/office/drawing/2014/main" val="1761605400"/>
                    </a:ext>
                  </a:extLst>
                </a:gridCol>
              </a:tblGrid>
              <a:tr h="1659168">
                <a:tc>
                  <a:txBody>
                    <a:bodyPr/>
                    <a:lstStyle/>
                    <a:p>
                      <a:pPr algn="ctr">
                        <a:lnSpc>
                          <a:spcPct val="10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Bliain an Daonáirimh</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Líon na mban</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a thug le fios </a:t>
                      </a:r>
                      <a:endParaRPr lang="en-IE" sz="2000" b="1"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go bhfuil Gaeilge acu.</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Líon na bhfear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a thug le fios </a:t>
                      </a:r>
                      <a:endParaRPr lang="en-IE" sz="2000" b="1"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go bhfuil Gaeilge acu.</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0674872"/>
                  </a:ext>
                </a:extLst>
              </a:tr>
              <a:tr h="646659">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2016</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968,777 (55%)</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792,643 (45%)</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3791163"/>
                  </a:ext>
                </a:extLst>
              </a:tr>
              <a:tr h="646659">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2011</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973,587 (</a:t>
                      </a:r>
                      <a:r>
                        <a:rPr lang="ga-IE" sz="2000" b="1">
                          <a:effectLst/>
                          <a:latin typeface="Calibri" panose="020F0502020204030204" pitchFamily="34" charset="0"/>
                          <a:ea typeface="Calibri" panose="020F0502020204030204" pitchFamily="34" charset="0"/>
                          <a:cs typeface="Times New Roman" panose="02020603050405020304" pitchFamily="18" charset="0"/>
                        </a:rPr>
                        <a:t>44.9%)</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Times New Roman" panose="02020603050405020304" pitchFamily="18" charset="0"/>
                        </a:rPr>
                        <a:t>800,850 (37.9%)</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7876079"/>
                  </a:ext>
                </a:extLst>
              </a:tr>
              <a:tr h="646659">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2006</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Times New Roman" panose="02020603050405020304" pitchFamily="18" charset="0"/>
                        </a:rPr>
                        <a:t>899,723 (45.3%)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Times New Roman" panose="02020603050405020304" pitchFamily="18" charset="0"/>
                        </a:rPr>
                        <a:t>757,067 (38.4%).</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3003206"/>
                  </a:ext>
                </a:extLst>
              </a:tr>
            </a:tbl>
          </a:graphicData>
        </a:graphic>
      </p:graphicFrame>
      <p:sp>
        <p:nvSpPr>
          <p:cNvPr id="5" name="Rectangle 1">
            <a:extLst>
              <a:ext uri="{FF2B5EF4-FFF2-40B4-BE49-F238E27FC236}">
                <a16:creationId xmlns:a16="http://schemas.microsoft.com/office/drawing/2014/main" id="{12DBA0F6-DC9D-4C8E-92B9-488A1B8406E8}"/>
              </a:ext>
            </a:extLst>
          </p:cNvPr>
          <p:cNvSpPr>
            <a:spLocks noChangeArrowheads="1"/>
          </p:cNvSpPr>
          <p:nvPr/>
        </p:nvSpPr>
        <p:spPr bwMode="auto">
          <a:xfrm>
            <a:off x="3233738" y="33734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ga-IE" altLang="ga-IE" sz="1800" b="0" i="0" u="none" strike="noStrike" cap="none" normalizeH="0" baseline="0">
                <a:ln>
                  <a:noFill/>
                </a:ln>
                <a:solidFill>
                  <a:schemeClr val="tx1"/>
                </a:solidFill>
                <a:effectLst/>
                <a:latin typeface="Arial" panose="020B0604020202020204" pitchFamily="34" charset="0"/>
              </a:rPr>
            </a:br>
            <a:endParaRPr kumimoji="0" lang="ga-IE" altLang="ga-IE" sz="1800" b="0" i="0" u="none" strike="noStrike" cap="none" normalizeH="0" baseline="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A371C2CA-E972-43A4-BA19-6D2B7AD62E8C}"/>
              </a:ext>
            </a:extLst>
          </p:cNvPr>
          <p:cNvSpPr>
            <a:spLocks noChangeArrowheads="1"/>
          </p:cNvSpPr>
          <p:nvPr/>
        </p:nvSpPr>
        <p:spPr bwMode="auto">
          <a:xfrm>
            <a:off x="1161824" y="5758452"/>
            <a:ext cx="4022725" cy="635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ga-IE"/>
          </a:p>
        </p:txBody>
      </p:sp>
      <p:sp>
        <p:nvSpPr>
          <p:cNvPr id="7" name="Rectangle 3">
            <a:extLst>
              <a:ext uri="{FF2B5EF4-FFF2-40B4-BE49-F238E27FC236}">
                <a16:creationId xmlns:a16="http://schemas.microsoft.com/office/drawing/2014/main" id="{51C71CEF-87F0-4C9F-85E8-75CD93504914}"/>
              </a:ext>
            </a:extLst>
          </p:cNvPr>
          <p:cNvSpPr>
            <a:spLocks noChangeArrowheads="1"/>
          </p:cNvSpPr>
          <p:nvPr/>
        </p:nvSpPr>
        <p:spPr bwMode="auto">
          <a:xfrm>
            <a:off x="481782" y="5925846"/>
            <a:ext cx="78987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ga-IE" altLang="ga-IE" sz="1200" b="0" i="0" u="sng" strike="noStrike" cap="none" normalizeH="0" baseline="30000" dirty="0">
                <a:ln>
                  <a:noFill/>
                </a:ln>
                <a:solidFill>
                  <a:srgbClr val="954F72"/>
                </a:solidFill>
                <a:effectLst/>
                <a:ea typeface="Times New Roman" panose="02020603050405020304" pitchFamily="18" charset="0"/>
                <a:cs typeface="Calibri" panose="020F0502020204030204" pitchFamily="34" charset="0"/>
                <a:hlinkClick r:id="rId2"/>
              </a:rPr>
              <a:t>[</a:t>
            </a:r>
            <a:r>
              <a:rPr kumimoji="0" lang="ga-IE" altLang="ga-IE" sz="1200" b="0" i="0" u="sng" strike="noStrike" cap="none" normalizeH="0" baseline="30000" dirty="0" bmk="">
                <a:ln>
                  <a:noFill/>
                </a:ln>
                <a:solidFill>
                  <a:srgbClr val="954F72"/>
                </a:solidFill>
                <a:effectLst/>
                <a:ea typeface="Times New Roman" panose="02020603050405020304" pitchFamily="18" charset="0"/>
                <a:cs typeface="Calibri" panose="020F0502020204030204" pitchFamily="34" charset="0"/>
                <a:hlinkClick r:id="rId2"/>
              </a:rPr>
              <a:t>1]</a:t>
            </a:r>
            <a:r>
              <a:rPr kumimoji="0" lang="ga-IE" altLang="ga-IE" sz="1200" b="0" i="0" u="none" strike="noStrike" cap="none" normalizeH="0" baseline="0" dirty="0">
                <a:ln>
                  <a:noFill/>
                </a:ln>
                <a:solidFill>
                  <a:schemeClr val="tx1"/>
                </a:solidFill>
                <a:effectLst/>
                <a:ea typeface="Times New Roman" panose="02020603050405020304" pitchFamily="18" charset="0"/>
                <a:cs typeface="Calibri" panose="020F0502020204030204" pitchFamily="34" charset="0"/>
              </a:rPr>
              <a:t> </a:t>
            </a:r>
            <a:r>
              <a:rPr kumimoji="0" lang="ga-IE" altLang="ga-IE" sz="1200" b="0" i="0" u="none" strike="noStrike" cap="none" normalizeH="0" baseline="0" dirty="0">
                <a:ln>
                  <a:noFill/>
                </a:ln>
                <a:solidFill>
                  <a:schemeClr val="tx1"/>
                </a:solidFill>
                <a:effectLst/>
                <a:ea typeface="Times New Roman" panose="02020603050405020304" pitchFamily="18" charset="0"/>
                <a:cs typeface="Calibri" panose="020F0502020204030204" pitchFamily="34" charset="0"/>
                <a:hlinkClick r:id="rId3"/>
              </a:rPr>
              <a:t>https://www.cso.ie/en/media/csoie/census/documents/census2011pdr/Census_2011_Highlights_Part_1_web_72dpi.pdf</a:t>
            </a:r>
            <a:r>
              <a:rPr kumimoji="0" lang="en-IE" altLang="ga-IE" sz="1200" b="0" i="0" u="none" strike="noStrike" cap="none" normalizeH="0" baseline="0" dirty="0">
                <a:ln>
                  <a:noFill/>
                </a:ln>
                <a:solidFill>
                  <a:schemeClr val="tx1"/>
                </a:solidFill>
                <a:effectLst/>
                <a:ea typeface="Times New Roman" panose="02020603050405020304" pitchFamily="18" charset="0"/>
              </a:rPr>
              <a:t> </a:t>
            </a:r>
            <a:endParaRPr kumimoji="0" lang="en-IE" altLang="ga-IE" sz="1200" b="0" i="0" u="none" strike="noStrike" cap="none" normalizeH="0" baseline="0" dirty="0">
              <a:ln>
                <a:noFill/>
              </a:ln>
              <a:solidFill>
                <a:schemeClr val="tx1"/>
              </a:solidFill>
              <a:effectLst/>
            </a:endParaRPr>
          </a:p>
        </p:txBody>
      </p:sp>
      <p:sp>
        <p:nvSpPr>
          <p:cNvPr id="9" name="Bosca téacs 8">
            <a:extLst>
              <a:ext uri="{FF2B5EF4-FFF2-40B4-BE49-F238E27FC236}">
                <a16:creationId xmlns:a16="http://schemas.microsoft.com/office/drawing/2014/main" id="{5EF0F752-6D99-4A40-BF40-34DA570E8945}"/>
              </a:ext>
            </a:extLst>
          </p:cNvPr>
          <p:cNvSpPr txBox="1"/>
          <p:nvPr/>
        </p:nvSpPr>
        <p:spPr>
          <a:xfrm>
            <a:off x="8973231" y="1851875"/>
            <a:ext cx="3356655" cy="3539430"/>
          </a:xfrm>
          <a:prstGeom prst="rect">
            <a:avLst/>
          </a:prstGeom>
          <a:noFill/>
        </p:spPr>
        <p:txBody>
          <a:bodyPr wrap="square">
            <a:spAutoFit/>
          </a:bodyPr>
          <a:lstStyle/>
          <a:p>
            <a:r>
              <a:rPr lang="ga-IE" sz="3200" b="1" dirty="0">
                <a:solidFill>
                  <a:srgbClr val="FF0000"/>
                </a:solidFill>
                <a:effectLst/>
                <a:latin typeface="Calibri" panose="020F0502020204030204" pitchFamily="34" charset="0"/>
                <a:ea typeface="Calibri" panose="020F0502020204030204" pitchFamily="34" charset="0"/>
              </a:rPr>
              <a:t>Cén fáth a bhfuil an treocht sin amhlaidh, dar leat? </a:t>
            </a:r>
            <a:endParaRPr lang="en-IE" sz="3200" b="1" dirty="0">
              <a:solidFill>
                <a:srgbClr val="FF0000"/>
              </a:solidFill>
              <a:effectLst/>
              <a:latin typeface="Calibri" panose="020F0502020204030204" pitchFamily="34" charset="0"/>
              <a:ea typeface="Calibri" panose="020F0502020204030204" pitchFamily="34" charset="0"/>
            </a:endParaRPr>
          </a:p>
          <a:p>
            <a:r>
              <a:rPr lang="ga-IE" sz="3200" b="1" dirty="0">
                <a:solidFill>
                  <a:srgbClr val="FF0000"/>
                </a:solidFill>
                <a:effectLst/>
                <a:latin typeface="Calibri" panose="020F0502020204030204" pitchFamily="34" charset="0"/>
                <a:ea typeface="Calibri" panose="020F0502020204030204" pitchFamily="34" charset="0"/>
              </a:rPr>
              <a:t>Ar chóir níos mó poiblíochta a dhéanamh faoi?</a:t>
            </a:r>
            <a:endParaRPr lang="ga-IE" sz="3200" dirty="0"/>
          </a:p>
        </p:txBody>
      </p:sp>
      <p:pic>
        <p:nvPicPr>
          <p:cNvPr id="14" name="Pictiúr 13">
            <a:extLst>
              <a:ext uri="{FF2B5EF4-FFF2-40B4-BE49-F238E27FC236}">
                <a16:creationId xmlns:a16="http://schemas.microsoft.com/office/drawing/2014/main" id="{1994FACD-917B-469C-987D-E35A73711EBE}"/>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125395" y="2855120"/>
            <a:ext cx="701420" cy="701420"/>
          </a:xfrm>
          <a:prstGeom prst="rect">
            <a:avLst/>
          </a:prstGeom>
        </p:spPr>
      </p:pic>
      <p:pic>
        <p:nvPicPr>
          <p:cNvPr id="17" name="Pictiúr 16">
            <a:extLst>
              <a:ext uri="{FF2B5EF4-FFF2-40B4-BE49-F238E27FC236}">
                <a16:creationId xmlns:a16="http://schemas.microsoft.com/office/drawing/2014/main" id="{6A132D18-7E4F-4D20-B9C4-E043476015CC}"/>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flipH="1">
            <a:off x="3621313" y="2953349"/>
            <a:ext cx="353161" cy="531213"/>
          </a:xfrm>
          <a:prstGeom prst="rect">
            <a:avLst/>
          </a:prstGeom>
        </p:spPr>
      </p:pic>
    </p:spTree>
    <p:extLst>
      <p:ext uri="{BB962C8B-B14F-4D97-AF65-F5344CB8AC3E}">
        <p14:creationId xmlns:p14="http://schemas.microsoft.com/office/powerpoint/2010/main" val="1975476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ábla 3">
            <a:extLst>
              <a:ext uri="{FF2B5EF4-FFF2-40B4-BE49-F238E27FC236}">
                <a16:creationId xmlns:a16="http://schemas.microsoft.com/office/drawing/2014/main" id="{DA6A836A-6725-407D-8094-4C3653D6AACB}"/>
              </a:ext>
            </a:extLst>
          </p:cNvPr>
          <p:cNvGraphicFramePr>
            <a:graphicFrameLocks noGrp="1"/>
          </p:cNvGraphicFramePr>
          <p:nvPr>
            <p:extLst>
              <p:ext uri="{D42A27DB-BD31-4B8C-83A1-F6EECF244321}">
                <p14:modId xmlns:p14="http://schemas.microsoft.com/office/powerpoint/2010/main" val="4256694871"/>
              </p:ext>
            </p:extLst>
          </p:nvPr>
        </p:nvGraphicFramePr>
        <p:xfrm>
          <a:off x="500743" y="1153887"/>
          <a:ext cx="11226799" cy="5283178"/>
        </p:xfrm>
        <a:graphic>
          <a:graphicData uri="http://schemas.openxmlformats.org/drawingml/2006/table">
            <a:tbl>
              <a:tblPr firstRow="1" firstCol="1" bandRow="1"/>
              <a:tblGrid>
                <a:gridCol w="2545037">
                  <a:extLst>
                    <a:ext uri="{9D8B030D-6E8A-4147-A177-3AD203B41FA5}">
                      <a16:colId xmlns:a16="http://schemas.microsoft.com/office/drawing/2014/main" val="529008390"/>
                    </a:ext>
                  </a:extLst>
                </a:gridCol>
                <a:gridCol w="1976193">
                  <a:extLst>
                    <a:ext uri="{9D8B030D-6E8A-4147-A177-3AD203B41FA5}">
                      <a16:colId xmlns:a16="http://schemas.microsoft.com/office/drawing/2014/main" val="132950200"/>
                    </a:ext>
                  </a:extLst>
                </a:gridCol>
                <a:gridCol w="2678679">
                  <a:extLst>
                    <a:ext uri="{9D8B030D-6E8A-4147-A177-3AD203B41FA5}">
                      <a16:colId xmlns:a16="http://schemas.microsoft.com/office/drawing/2014/main" val="3399020933"/>
                    </a:ext>
                  </a:extLst>
                </a:gridCol>
                <a:gridCol w="4026890">
                  <a:extLst>
                    <a:ext uri="{9D8B030D-6E8A-4147-A177-3AD203B41FA5}">
                      <a16:colId xmlns:a16="http://schemas.microsoft.com/office/drawing/2014/main" val="3141119446"/>
                    </a:ext>
                  </a:extLst>
                </a:gridCol>
              </a:tblGrid>
              <a:tr h="122502">
                <a:tc>
                  <a:txBody>
                    <a:bodyPr/>
                    <a:lstStyle/>
                    <a:p>
                      <a:pPr algn="just">
                        <a:lnSpc>
                          <a:spcPct val="150000"/>
                        </a:lnSpc>
                        <a:spcAft>
                          <a:spcPts val="800"/>
                        </a:spcAft>
                      </a:pPr>
                      <a:r>
                        <a:rPr lang="ga-IE" sz="1400" b="1">
                          <a:effectLst/>
                          <a:latin typeface="Calibri" panose="020F0502020204030204" pitchFamily="34" charset="0"/>
                          <a:ea typeface="Calibri" panose="020F0502020204030204" pitchFamily="34" charset="0"/>
                          <a:cs typeface="Calibri" panose="020F0502020204030204" pitchFamily="34" charset="0"/>
                        </a:rPr>
                        <a:t> </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2011</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2016</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Athrú</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3976112"/>
                  </a:ext>
                </a:extLst>
              </a:tr>
              <a:tr h="812773">
                <a:tc>
                  <a:txBody>
                    <a:bodyPr/>
                    <a:lstStyle/>
                    <a:p>
                      <a:pPr>
                        <a:lnSpc>
                          <a:spcPct val="150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Daonra na hÉireann</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4,588,252</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4,761,865</a:t>
                      </a:r>
                      <a:r>
                        <a:rPr lang="ga-IE" sz="1200">
                          <a:effectLst/>
                          <a:latin typeface="Calibri" panose="020F0502020204030204" pitchFamily="34" charset="0"/>
                          <a:ea typeface="Calibri" panose="020F0502020204030204" pitchFamily="34" charset="0"/>
                          <a:cs typeface="Calibri" panose="020F0502020204030204" pitchFamily="34" charset="0"/>
                        </a:rPr>
                        <a:t> </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800"/>
                        </a:spcAft>
                      </a:pPr>
                      <a:r>
                        <a:rPr lang="ga-IE" sz="1200" dirty="0">
                          <a:effectLst/>
                          <a:latin typeface="Calibri" panose="020F0502020204030204" pitchFamily="34" charset="0"/>
                          <a:ea typeface="Calibri" panose="020F0502020204030204" pitchFamily="34" charset="0"/>
                          <a:cs typeface="Calibri" panose="020F0502020204030204" pitchFamily="34" charset="0"/>
                        </a:rPr>
                        <a:t>Mhéadaigh daonra na hÉireann faoi </a:t>
                      </a:r>
                      <a:r>
                        <a:rPr lang="ga-IE" sz="1200" b="1" dirty="0">
                          <a:effectLst/>
                          <a:latin typeface="Calibri" panose="020F0502020204030204" pitchFamily="34" charset="0"/>
                          <a:ea typeface="Calibri" panose="020F0502020204030204" pitchFamily="34" charset="0"/>
                          <a:cs typeface="Calibri" panose="020F0502020204030204" pitchFamily="34" charset="0"/>
                        </a:rPr>
                        <a:t>173,613</a:t>
                      </a:r>
                      <a:r>
                        <a:rPr lang="ga-IE" sz="1200" dirty="0">
                          <a:effectLst/>
                          <a:latin typeface="Calibri" panose="020F0502020204030204" pitchFamily="34" charset="0"/>
                          <a:ea typeface="Calibri" panose="020F0502020204030204" pitchFamily="34" charset="0"/>
                          <a:cs typeface="Calibri" panose="020F0502020204030204" pitchFamily="34" charset="0"/>
                        </a:rPr>
                        <a:t> sna cúig bliana ó Aibreán 2011. B’ionann sin agus méadú iomlán de </a:t>
                      </a:r>
                      <a:r>
                        <a:rPr lang="ga-IE" sz="1200" b="1" dirty="0">
                          <a:effectLst/>
                          <a:latin typeface="Calibri" panose="020F0502020204030204" pitchFamily="34" charset="0"/>
                          <a:ea typeface="Calibri" panose="020F0502020204030204" pitchFamily="34" charset="0"/>
                          <a:cs typeface="Calibri" panose="020F0502020204030204" pitchFamily="34" charset="0"/>
                        </a:rPr>
                        <a:t>3.8%</a:t>
                      </a:r>
                      <a:r>
                        <a:rPr lang="ga-IE" sz="1200" dirty="0">
                          <a:effectLst/>
                          <a:latin typeface="Calibri" panose="020F0502020204030204" pitchFamily="34" charset="0"/>
                          <a:ea typeface="Calibri" panose="020F0502020204030204" pitchFamily="34" charset="0"/>
                          <a:cs typeface="Calibri" panose="020F0502020204030204" pitchFamily="34" charset="0"/>
                        </a:rPr>
                        <a:t> thar na cúig bliana, nó 0.8% ar bhonn bliantúil, ar an mheán. </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1167236"/>
                  </a:ext>
                </a:extLst>
              </a:tr>
              <a:tr h="1097943">
                <a:tc>
                  <a:txBody>
                    <a:bodyPr/>
                    <a:lstStyle/>
                    <a:p>
                      <a:pPr>
                        <a:lnSpc>
                          <a:spcPct val="150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Líon na ndaoine a thug le fios go raibh Gaeilge acu.</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 den daonra</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b="1" dirty="0">
                          <a:effectLst/>
                          <a:latin typeface="Calibri" panose="020F0502020204030204" pitchFamily="34" charset="0"/>
                          <a:ea typeface="Calibri" panose="020F0502020204030204" pitchFamily="34" charset="0"/>
                          <a:cs typeface="Calibri" panose="020F0502020204030204" pitchFamily="34" charset="0"/>
                        </a:rPr>
                        <a:t>1,774,437</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1200" b="1" dirty="0">
                          <a:effectLst/>
                          <a:latin typeface="Calibri" panose="020F0502020204030204" pitchFamily="34" charset="0"/>
                          <a:ea typeface="Calibri" panose="020F0502020204030204" pitchFamily="34" charset="0"/>
                          <a:cs typeface="Calibri" panose="020F0502020204030204" pitchFamily="34" charset="0"/>
                        </a:rPr>
                        <a:t>41.4%</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b="1" dirty="0">
                          <a:effectLst/>
                          <a:latin typeface="Calibri" panose="020F0502020204030204" pitchFamily="34" charset="0"/>
                          <a:ea typeface="Calibri" panose="020F0502020204030204" pitchFamily="34" charset="0"/>
                          <a:cs typeface="Calibri" panose="020F0502020204030204" pitchFamily="34" charset="0"/>
                        </a:rPr>
                        <a:t>1,761,420</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1200" b="1" dirty="0">
                          <a:effectLst/>
                          <a:latin typeface="Calibri" panose="020F0502020204030204" pitchFamily="34" charset="0"/>
                          <a:ea typeface="Calibri" panose="020F0502020204030204" pitchFamily="34" charset="0"/>
                          <a:cs typeface="Calibri" panose="020F0502020204030204" pitchFamily="34" charset="0"/>
                        </a:rPr>
                        <a:t>39.8%</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Laghdú de 13,017 duine </a:t>
                      </a:r>
                      <a:endParaRPr lang="en-IE" sz="12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12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Titim de 0.7% </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8008888"/>
                  </a:ext>
                </a:extLst>
              </a:tr>
              <a:tr h="854425">
                <a:tc>
                  <a:txBody>
                    <a:bodyPr/>
                    <a:lstStyle/>
                    <a:p>
                      <a:pPr>
                        <a:lnSpc>
                          <a:spcPct val="150000"/>
                        </a:lnSpc>
                        <a:spcAft>
                          <a:spcPts val="800"/>
                        </a:spcAft>
                      </a:pPr>
                      <a:r>
                        <a:rPr lang="ga-IE" sz="1200" b="1" dirty="0">
                          <a:effectLst/>
                          <a:latin typeface="Calibri" panose="020F0502020204030204" pitchFamily="34" charset="0"/>
                          <a:ea typeface="Calibri" panose="020F0502020204030204" pitchFamily="34" charset="0"/>
                          <a:cs typeface="Calibri" panose="020F0502020204030204" pitchFamily="34" charset="0"/>
                        </a:rPr>
                        <a:t>Líon na ndaoine a thug le fios go labhraíonn siad Gaeilge gach lá, taobh amuigh den chóras oideachais.</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77,185</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12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1.8%</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73,803  </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12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1.7%</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Laghdú de 3,382 duine</a:t>
                      </a:r>
                      <a:r>
                        <a:rPr lang="ga-IE" sz="12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12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Titim de 4.4%</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66838553"/>
                  </a:ext>
                </a:extLst>
              </a:tr>
              <a:tr h="890679">
                <a:tc>
                  <a:txBody>
                    <a:bodyPr/>
                    <a:lstStyle/>
                    <a:p>
                      <a:pPr algn="just">
                        <a:lnSpc>
                          <a:spcPct val="150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Líon na ndaoine a labhraíonn Gaeilge go seachtainiúil, taobh amuigh den chóras oideachais. </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110,642</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111,473</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Ardú de 831 duine</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37705883"/>
                  </a:ext>
                </a:extLst>
              </a:tr>
              <a:tr h="665097">
                <a:tc>
                  <a:txBody>
                    <a:bodyPr/>
                    <a:lstStyle/>
                    <a:p>
                      <a:pPr algn="just">
                        <a:lnSpc>
                          <a:spcPct val="150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Líon na ndaoine a labhraíonn Gaeilge “ní chomh minic sin”</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613,236</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586,535</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b="1" dirty="0">
                          <a:effectLst/>
                          <a:latin typeface="Calibri" panose="020F0502020204030204" pitchFamily="34" charset="0"/>
                          <a:ea typeface="Calibri" panose="020F0502020204030204" pitchFamily="34" charset="0"/>
                          <a:cs typeface="Calibri" panose="020F0502020204030204" pitchFamily="34" charset="0"/>
                        </a:rPr>
                        <a:t>Laghdú 26,701</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8983001"/>
                  </a:ext>
                </a:extLst>
              </a:tr>
              <a:tr h="552305">
                <a:tc>
                  <a:txBody>
                    <a:bodyPr/>
                    <a:lstStyle/>
                    <a:p>
                      <a:pPr algn="just">
                        <a:lnSpc>
                          <a:spcPct val="150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Líon na ndaoine a líon isteach an leagan Gaeilge den fhoirm</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b="1">
                          <a:solidFill>
                            <a:srgbClr val="FF0000"/>
                          </a:solidFill>
                          <a:effectLst/>
                          <a:latin typeface="Calibri" panose="020F0502020204030204" pitchFamily="34" charset="0"/>
                          <a:ea typeface="Calibri" panose="020F0502020204030204" pitchFamily="34" charset="0"/>
                          <a:cs typeface="Calibri" panose="020F0502020204030204" pitchFamily="34" charset="0"/>
                        </a:rPr>
                        <a:t>8,676</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b="1">
                          <a:solidFill>
                            <a:srgbClr val="FF0000"/>
                          </a:solidFill>
                          <a:effectLst/>
                          <a:latin typeface="Calibri" panose="020F0502020204030204" pitchFamily="34" charset="0"/>
                          <a:ea typeface="Calibri" panose="020F0502020204030204" pitchFamily="34" charset="0"/>
                          <a:cs typeface="Calibri" panose="020F0502020204030204" pitchFamily="34" charset="0"/>
                        </a:rPr>
                        <a:t>8,068</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1200" b="1" dirty="0">
                          <a:effectLst/>
                          <a:latin typeface="Calibri" panose="020F0502020204030204" pitchFamily="34" charset="0"/>
                          <a:ea typeface="Calibri" panose="020F0502020204030204" pitchFamily="34" charset="0"/>
                          <a:cs typeface="Calibri" panose="020F0502020204030204" pitchFamily="34" charset="0"/>
                        </a:rPr>
                        <a:t> </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9419" marR="394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251961"/>
                  </a:ext>
                </a:extLst>
              </a:tr>
            </a:tbl>
          </a:graphicData>
        </a:graphic>
      </p:graphicFrame>
      <p:sp>
        <p:nvSpPr>
          <p:cNvPr id="6" name="Bosca téacs 5">
            <a:extLst>
              <a:ext uri="{FF2B5EF4-FFF2-40B4-BE49-F238E27FC236}">
                <a16:creationId xmlns:a16="http://schemas.microsoft.com/office/drawing/2014/main" id="{7F617FC2-2C72-41D8-84D9-B79C29C01122}"/>
              </a:ext>
            </a:extLst>
          </p:cNvPr>
          <p:cNvSpPr txBox="1"/>
          <p:nvPr/>
        </p:nvSpPr>
        <p:spPr>
          <a:xfrm>
            <a:off x="174171" y="0"/>
            <a:ext cx="11226800" cy="671851"/>
          </a:xfrm>
          <a:prstGeom prst="rect">
            <a:avLst/>
          </a:prstGeom>
          <a:noFill/>
        </p:spPr>
        <p:txBody>
          <a:bodyPr wrap="square">
            <a:spAutoFit/>
          </a:bodyPr>
          <a:lstStyle/>
          <a:p>
            <a:pPr algn="ctr">
              <a:lnSpc>
                <a:spcPct val="150000"/>
              </a:lnSpc>
              <a:spcAft>
                <a:spcPts val="800"/>
              </a:spcAft>
            </a:pPr>
            <a:r>
              <a:rPr lang="ga-IE" sz="1400" b="1" dirty="0">
                <a:effectLst/>
                <a:latin typeface="Calibri" panose="020F0502020204030204" pitchFamily="34" charset="0"/>
                <a:ea typeface="Calibri" panose="020F0502020204030204" pitchFamily="34" charset="0"/>
                <a:cs typeface="Calibri" panose="020F0502020204030204" pitchFamily="34" charset="0"/>
              </a:rPr>
              <a:t> </a:t>
            </a:r>
            <a:r>
              <a:rPr lang="ga-IE" sz="2800" b="1" dirty="0">
                <a:effectLst/>
                <a:latin typeface="Calibri" panose="020F0502020204030204" pitchFamily="34" charset="0"/>
                <a:ea typeface="Calibri" panose="020F0502020204030204" pitchFamily="34" charset="0"/>
                <a:cs typeface="Calibri" panose="020F0502020204030204" pitchFamily="34" charset="0"/>
              </a:rPr>
              <a:t>Cad iad na difríochtaí i gcomparáid le torthaí Dhaonáireamh 2011?</a:t>
            </a:r>
            <a:endParaRPr lang="ga-IE"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94332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ábla 1">
            <a:extLst>
              <a:ext uri="{FF2B5EF4-FFF2-40B4-BE49-F238E27FC236}">
                <a16:creationId xmlns:a16="http://schemas.microsoft.com/office/drawing/2014/main" id="{A5E36152-C001-4F8C-A57F-56847498D21D}"/>
              </a:ext>
            </a:extLst>
          </p:cNvPr>
          <p:cNvGraphicFramePr>
            <a:graphicFrameLocks noGrp="1"/>
          </p:cNvGraphicFramePr>
          <p:nvPr>
            <p:extLst>
              <p:ext uri="{D42A27DB-BD31-4B8C-83A1-F6EECF244321}">
                <p14:modId xmlns:p14="http://schemas.microsoft.com/office/powerpoint/2010/main" val="1273226905"/>
              </p:ext>
            </p:extLst>
          </p:nvPr>
        </p:nvGraphicFramePr>
        <p:xfrm>
          <a:off x="1270000" y="2915047"/>
          <a:ext cx="10515600" cy="2135124"/>
        </p:xfrm>
        <a:graphic>
          <a:graphicData uri="http://schemas.openxmlformats.org/drawingml/2006/table">
            <a:tbl>
              <a:tblPr firstRow="1" firstCol="1" bandRow="1"/>
              <a:tblGrid>
                <a:gridCol w="3505200">
                  <a:extLst>
                    <a:ext uri="{9D8B030D-6E8A-4147-A177-3AD203B41FA5}">
                      <a16:colId xmlns:a16="http://schemas.microsoft.com/office/drawing/2014/main" val="3327924234"/>
                    </a:ext>
                  </a:extLst>
                </a:gridCol>
                <a:gridCol w="3505200">
                  <a:extLst>
                    <a:ext uri="{9D8B030D-6E8A-4147-A177-3AD203B41FA5}">
                      <a16:colId xmlns:a16="http://schemas.microsoft.com/office/drawing/2014/main" val="2265634776"/>
                    </a:ext>
                  </a:extLst>
                </a:gridCol>
                <a:gridCol w="3505200">
                  <a:extLst>
                    <a:ext uri="{9D8B030D-6E8A-4147-A177-3AD203B41FA5}">
                      <a16:colId xmlns:a16="http://schemas.microsoft.com/office/drawing/2014/main" val="273350020"/>
                    </a:ext>
                  </a:extLst>
                </a:gridCol>
              </a:tblGrid>
              <a:tr h="0">
                <a:tc>
                  <a:txBody>
                    <a:bodyPr/>
                    <a:lstStyle/>
                    <a:p>
                      <a:pPr>
                        <a:lnSpc>
                          <a:spcPct val="107000"/>
                        </a:lnSpc>
                        <a:spcAft>
                          <a:spcPts val="800"/>
                        </a:spcAft>
                      </a:pPr>
                      <a:r>
                        <a:rPr lang="ga-IE" sz="1400" b="1">
                          <a:effectLst/>
                          <a:latin typeface="Calibri" panose="020F0502020204030204" pitchFamily="34" charset="0"/>
                          <a:ea typeface="Times New Roman" panose="02020603050405020304" pitchFamily="18" charset="0"/>
                          <a:cs typeface="Calibri" panose="020F0502020204030204" pitchFamily="34" charset="0"/>
                        </a:rPr>
                        <a:t>Bunscoileanna</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spcAft>
                          <a:spcPts val="800"/>
                        </a:spcAft>
                      </a:pPr>
                      <a:r>
                        <a:rPr lang="ga-IE" sz="1400" b="1">
                          <a:effectLst/>
                          <a:latin typeface="Calibri" panose="020F0502020204030204" pitchFamily="34" charset="0"/>
                          <a:ea typeface="Times New Roman" panose="02020603050405020304" pitchFamily="18" charset="0"/>
                          <a:cs typeface="Calibri" panose="020F0502020204030204" pitchFamily="34" charset="0"/>
                        </a:rPr>
                        <a:t>Líon na Scoileanna</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spcAft>
                          <a:spcPts val="800"/>
                        </a:spcAft>
                      </a:pPr>
                      <a:r>
                        <a:rPr lang="ga-IE" sz="1400" b="1">
                          <a:effectLst/>
                          <a:latin typeface="Calibri" panose="020F0502020204030204" pitchFamily="34" charset="0"/>
                          <a:ea typeface="Times New Roman" panose="02020603050405020304" pitchFamily="18" charset="0"/>
                          <a:cs typeface="Calibri" panose="020F0502020204030204" pitchFamily="34" charset="0"/>
                        </a:rPr>
                        <a:t>                Daltaí </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extLst>
                  <a:ext uri="{0D108BD9-81ED-4DB2-BD59-A6C34878D82A}">
                    <a16:rowId xmlns:a16="http://schemas.microsoft.com/office/drawing/2014/main" val="3576345187"/>
                  </a:ext>
                </a:extLst>
              </a:tr>
              <a:tr h="0">
                <a:tc>
                  <a:txBody>
                    <a:bodyPr/>
                    <a:lstStyle/>
                    <a:p>
                      <a:pPr>
                        <a:lnSpc>
                          <a:spcPct val="107000"/>
                        </a:lnSpc>
                        <a:spcAft>
                          <a:spcPts val="800"/>
                        </a:spcAft>
                      </a:pPr>
                      <a:r>
                        <a:rPr lang="ga-IE" sz="1400">
                          <a:effectLst/>
                          <a:latin typeface="Calibri" panose="020F0502020204030204" pitchFamily="34" charset="0"/>
                          <a:ea typeface="Times New Roman" panose="02020603050405020304" pitchFamily="18" charset="0"/>
                          <a:cs typeface="Calibri" panose="020F0502020204030204" pitchFamily="34" charset="0"/>
                        </a:rPr>
                        <a:t>Suite sa Ghaeltacht</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spcAft>
                          <a:spcPts val="800"/>
                        </a:spcAft>
                      </a:pPr>
                      <a:r>
                        <a:rPr lang="ga-IE" sz="1400" b="1">
                          <a:effectLst/>
                          <a:latin typeface="Calibri" panose="020F0502020204030204" pitchFamily="34" charset="0"/>
                          <a:ea typeface="Times New Roman" panose="02020603050405020304" pitchFamily="18" charset="0"/>
                          <a:cs typeface="Calibri" panose="020F0502020204030204" pitchFamily="34" charset="0"/>
                        </a:rPr>
                        <a:t>           105</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spcAft>
                          <a:spcPts val="800"/>
                        </a:spcAft>
                      </a:pPr>
                      <a:r>
                        <a:rPr lang="ga-IE" sz="1400" b="1">
                          <a:effectLst/>
                          <a:latin typeface="Calibri" panose="020F0502020204030204" pitchFamily="34" charset="0"/>
                          <a:ea typeface="Times New Roman" panose="02020603050405020304" pitchFamily="18" charset="0"/>
                          <a:cs typeface="Calibri" panose="020F0502020204030204" pitchFamily="34" charset="0"/>
                        </a:rPr>
                        <a:t>                7,633</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extLst>
                  <a:ext uri="{0D108BD9-81ED-4DB2-BD59-A6C34878D82A}">
                    <a16:rowId xmlns:a16="http://schemas.microsoft.com/office/drawing/2014/main" val="3438072743"/>
                  </a:ext>
                </a:extLst>
              </a:tr>
              <a:tr h="0">
                <a:tc>
                  <a:txBody>
                    <a:bodyPr/>
                    <a:lstStyle/>
                    <a:p>
                      <a:pPr>
                        <a:lnSpc>
                          <a:spcPct val="107000"/>
                        </a:lnSpc>
                        <a:spcAft>
                          <a:spcPts val="800"/>
                        </a:spcAft>
                      </a:pPr>
                      <a:r>
                        <a:rPr lang="ga-IE" sz="1400">
                          <a:effectLst/>
                          <a:latin typeface="Calibri" panose="020F0502020204030204" pitchFamily="34" charset="0"/>
                          <a:ea typeface="Times New Roman" panose="02020603050405020304" pitchFamily="18" charset="0"/>
                          <a:cs typeface="Calibri" panose="020F0502020204030204" pitchFamily="34" charset="0"/>
                        </a:rPr>
                        <a:t>Suite lasmuigh den Ghaeltacht</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spcAft>
                          <a:spcPts val="800"/>
                        </a:spcAft>
                      </a:pPr>
                      <a:r>
                        <a:rPr lang="ga-IE" sz="1400" b="1">
                          <a:effectLst/>
                          <a:latin typeface="Calibri" panose="020F0502020204030204" pitchFamily="34" charset="0"/>
                          <a:ea typeface="Times New Roman" panose="02020603050405020304" pitchFamily="18" charset="0"/>
                          <a:cs typeface="Calibri" panose="020F0502020204030204" pitchFamily="34" charset="0"/>
                        </a:rPr>
                        <a:t>           147</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spcAft>
                          <a:spcPts val="800"/>
                        </a:spcAft>
                      </a:pPr>
                      <a:r>
                        <a:rPr lang="ga-IE" sz="1400" b="1">
                          <a:effectLst/>
                          <a:latin typeface="Calibri" panose="020F0502020204030204" pitchFamily="34" charset="0"/>
                          <a:ea typeface="Times New Roman" panose="02020603050405020304" pitchFamily="18" charset="0"/>
                          <a:cs typeface="Calibri" panose="020F0502020204030204" pitchFamily="34" charset="0"/>
                        </a:rPr>
                        <a:t>                37,935</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extLst>
                  <a:ext uri="{0D108BD9-81ED-4DB2-BD59-A6C34878D82A}">
                    <a16:rowId xmlns:a16="http://schemas.microsoft.com/office/drawing/2014/main" val="4281782802"/>
                  </a:ext>
                </a:extLst>
              </a:tr>
              <a:tr h="53074">
                <a:tc>
                  <a:txBody>
                    <a:bodyPr/>
                    <a:lstStyle/>
                    <a:p>
                      <a:pPr>
                        <a:lnSpc>
                          <a:spcPct val="107000"/>
                        </a:lnSpc>
                        <a:spcAft>
                          <a:spcPts val="800"/>
                        </a:spcAft>
                      </a:pPr>
                      <a:r>
                        <a:rPr lang="ga-IE" sz="1400">
                          <a:effectLst/>
                          <a:latin typeface="Calibri" panose="020F0502020204030204" pitchFamily="34" charset="0"/>
                          <a:ea typeface="Times New Roman" panose="02020603050405020304" pitchFamily="18" charset="0"/>
                          <a:cs typeface="Calibri" panose="020F0502020204030204" pitchFamily="34" charset="0"/>
                        </a:rPr>
                        <a:t>Iomlán</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spcAft>
                          <a:spcPts val="800"/>
                        </a:spcAft>
                      </a:pPr>
                      <a:r>
                        <a:rPr lang="ga-IE" sz="1400" b="1"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           252</a:t>
                      </a:r>
                      <a:endParaRPr lang="ga-I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spcAft>
                          <a:spcPts val="800"/>
                        </a:spcAft>
                      </a:pPr>
                      <a:r>
                        <a:rPr lang="ga-IE" sz="1400" b="1">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                45,568</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extLst>
                  <a:ext uri="{0D108BD9-81ED-4DB2-BD59-A6C34878D82A}">
                    <a16:rowId xmlns:a16="http://schemas.microsoft.com/office/drawing/2014/main" val="3245840507"/>
                  </a:ext>
                </a:extLst>
              </a:tr>
              <a:tr h="0">
                <a:tc>
                  <a:txBody>
                    <a:bodyPr/>
                    <a:lstStyle/>
                    <a:p>
                      <a:pPr>
                        <a:lnSpc>
                          <a:spcPct val="107000"/>
                        </a:lnSpc>
                        <a:spcAft>
                          <a:spcPts val="800"/>
                        </a:spcAft>
                      </a:pPr>
                      <a:r>
                        <a:rPr lang="ga-IE" sz="1400">
                          <a:effectLst/>
                          <a:latin typeface="Calibri" panose="020F0502020204030204" pitchFamily="34" charset="0"/>
                          <a:ea typeface="Times New Roman" panose="02020603050405020304" pitchFamily="18" charset="0"/>
                          <a:cs typeface="Calibri" panose="020F0502020204030204" pitchFamily="34" charset="0"/>
                        </a:rPr>
                        <a:t> </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pPr>
                      <a:endParaRPr lang="ga-IE" sz="1400">
                        <a:effectLst/>
                        <a:latin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pPr>
                      <a:endParaRPr lang="ga-IE" sz="1400">
                        <a:effectLst/>
                        <a:latin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extLst>
                  <a:ext uri="{0D108BD9-81ED-4DB2-BD59-A6C34878D82A}">
                    <a16:rowId xmlns:a16="http://schemas.microsoft.com/office/drawing/2014/main" val="2617373867"/>
                  </a:ext>
                </a:extLst>
              </a:tr>
              <a:tr h="0">
                <a:tc>
                  <a:txBody>
                    <a:bodyPr/>
                    <a:lstStyle/>
                    <a:p>
                      <a:pPr>
                        <a:lnSpc>
                          <a:spcPct val="107000"/>
                        </a:lnSpc>
                        <a:spcAft>
                          <a:spcPts val="800"/>
                        </a:spcAft>
                      </a:pPr>
                      <a:r>
                        <a:rPr lang="ga-IE" sz="1400" b="1" dirty="0">
                          <a:effectLst/>
                          <a:latin typeface="Calibri" panose="020F0502020204030204" pitchFamily="34" charset="0"/>
                          <a:ea typeface="Times New Roman" panose="02020603050405020304" pitchFamily="18" charset="0"/>
                          <a:cs typeface="Calibri" panose="020F0502020204030204" pitchFamily="34" charset="0"/>
                        </a:rPr>
                        <a:t>Iar-bhunscoileanna</a:t>
                      </a:r>
                      <a:endParaRPr lang="ga-I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spcAft>
                          <a:spcPts val="800"/>
                        </a:spcAft>
                      </a:pPr>
                      <a:r>
                        <a:rPr lang="ga-IE" sz="1400" b="1" dirty="0">
                          <a:effectLst/>
                          <a:latin typeface="Calibri" panose="020F0502020204030204" pitchFamily="34" charset="0"/>
                          <a:ea typeface="Times New Roman" panose="02020603050405020304" pitchFamily="18" charset="0"/>
                          <a:cs typeface="Calibri" panose="020F0502020204030204" pitchFamily="34" charset="0"/>
                        </a:rPr>
                        <a:t>Líon na Scoileanna</a:t>
                      </a:r>
                      <a:endParaRPr lang="ga-I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spcAft>
                          <a:spcPts val="800"/>
                        </a:spcAft>
                      </a:pPr>
                      <a:r>
                        <a:rPr lang="ga-IE" sz="1400" b="1">
                          <a:effectLst/>
                          <a:latin typeface="Calibri" panose="020F0502020204030204" pitchFamily="34" charset="0"/>
                          <a:ea typeface="Times New Roman" panose="02020603050405020304" pitchFamily="18" charset="0"/>
                          <a:cs typeface="Calibri" panose="020F0502020204030204" pitchFamily="34" charset="0"/>
                        </a:rPr>
                        <a:t>                Scoláirí  </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extLst>
                  <a:ext uri="{0D108BD9-81ED-4DB2-BD59-A6C34878D82A}">
                    <a16:rowId xmlns:a16="http://schemas.microsoft.com/office/drawing/2014/main" val="549223890"/>
                  </a:ext>
                </a:extLst>
              </a:tr>
              <a:tr h="0">
                <a:tc>
                  <a:txBody>
                    <a:bodyPr/>
                    <a:lstStyle/>
                    <a:p>
                      <a:pPr>
                        <a:lnSpc>
                          <a:spcPct val="107000"/>
                        </a:lnSpc>
                        <a:spcAft>
                          <a:spcPts val="800"/>
                        </a:spcAft>
                      </a:pPr>
                      <a:r>
                        <a:rPr lang="ga-IE" sz="1400">
                          <a:effectLst/>
                          <a:latin typeface="Calibri" panose="020F0502020204030204" pitchFamily="34" charset="0"/>
                          <a:ea typeface="Times New Roman" panose="02020603050405020304" pitchFamily="18" charset="0"/>
                          <a:cs typeface="Calibri" panose="020F0502020204030204" pitchFamily="34" charset="0"/>
                        </a:rPr>
                        <a:t>Suite sa Ghaeltacht</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spcAft>
                          <a:spcPts val="800"/>
                        </a:spcAft>
                      </a:pPr>
                      <a:r>
                        <a:rPr lang="ga-IE" sz="1400" b="1">
                          <a:effectLst/>
                          <a:latin typeface="Calibri" panose="020F0502020204030204" pitchFamily="34" charset="0"/>
                          <a:ea typeface="Times New Roman" panose="02020603050405020304" pitchFamily="18" charset="0"/>
                          <a:cs typeface="Calibri" panose="020F0502020204030204" pitchFamily="34" charset="0"/>
                        </a:rPr>
                        <a:t>          29</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spcAft>
                          <a:spcPts val="800"/>
                        </a:spcAft>
                      </a:pPr>
                      <a:r>
                        <a:rPr lang="ga-IE" sz="1400" b="1">
                          <a:effectLst/>
                          <a:latin typeface="Calibri" panose="020F0502020204030204" pitchFamily="34" charset="0"/>
                          <a:ea typeface="Times New Roman" panose="02020603050405020304" pitchFamily="18" charset="0"/>
                          <a:cs typeface="Calibri" panose="020F0502020204030204" pitchFamily="34" charset="0"/>
                        </a:rPr>
                        <a:t>                 6,888</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extLst>
                  <a:ext uri="{0D108BD9-81ED-4DB2-BD59-A6C34878D82A}">
                    <a16:rowId xmlns:a16="http://schemas.microsoft.com/office/drawing/2014/main" val="1315793927"/>
                  </a:ext>
                </a:extLst>
              </a:tr>
              <a:tr h="0">
                <a:tc>
                  <a:txBody>
                    <a:bodyPr/>
                    <a:lstStyle/>
                    <a:p>
                      <a:pPr>
                        <a:lnSpc>
                          <a:spcPct val="107000"/>
                        </a:lnSpc>
                        <a:spcAft>
                          <a:spcPts val="800"/>
                        </a:spcAft>
                      </a:pPr>
                      <a:r>
                        <a:rPr lang="ga-IE" sz="1400">
                          <a:effectLst/>
                          <a:latin typeface="Calibri" panose="020F0502020204030204" pitchFamily="34" charset="0"/>
                          <a:ea typeface="Times New Roman" panose="02020603050405020304" pitchFamily="18" charset="0"/>
                          <a:cs typeface="Calibri" panose="020F0502020204030204" pitchFamily="34" charset="0"/>
                        </a:rPr>
                        <a:t>Suite lasmuigh den Ghaeltacht</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spcAft>
                          <a:spcPts val="800"/>
                        </a:spcAft>
                      </a:pPr>
                      <a:r>
                        <a:rPr lang="ga-IE" sz="1400" b="1">
                          <a:effectLst/>
                          <a:latin typeface="Calibri" panose="020F0502020204030204" pitchFamily="34" charset="0"/>
                          <a:ea typeface="Times New Roman" panose="02020603050405020304" pitchFamily="18" charset="0"/>
                          <a:cs typeface="Calibri" panose="020F0502020204030204" pitchFamily="34" charset="0"/>
                        </a:rPr>
                        <a:t>          28</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spcAft>
                          <a:spcPts val="800"/>
                        </a:spcAft>
                      </a:pPr>
                      <a:r>
                        <a:rPr lang="ga-IE" sz="1400" b="1">
                          <a:effectLst/>
                          <a:latin typeface="Calibri" panose="020F0502020204030204" pitchFamily="34" charset="0"/>
                          <a:ea typeface="Times New Roman" panose="02020603050405020304" pitchFamily="18" charset="0"/>
                          <a:cs typeface="Calibri" panose="020F0502020204030204" pitchFamily="34" charset="0"/>
                        </a:rPr>
                        <a:t>                 9,986</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extLst>
                  <a:ext uri="{0D108BD9-81ED-4DB2-BD59-A6C34878D82A}">
                    <a16:rowId xmlns:a16="http://schemas.microsoft.com/office/drawing/2014/main" val="1529368423"/>
                  </a:ext>
                </a:extLst>
              </a:tr>
              <a:tr h="0">
                <a:tc>
                  <a:txBody>
                    <a:bodyPr/>
                    <a:lstStyle/>
                    <a:p>
                      <a:pPr>
                        <a:lnSpc>
                          <a:spcPct val="107000"/>
                        </a:lnSpc>
                        <a:spcAft>
                          <a:spcPts val="800"/>
                        </a:spcAft>
                      </a:pPr>
                      <a:r>
                        <a:rPr lang="ga-IE" sz="1400" dirty="0">
                          <a:effectLst/>
                          <a:latin typeface="Calibri" panose="020F0502020204030204" pitchFamily="34" charset="0"/>
                          <a:ea typeface="Times New Roman" panose="02020603050405020304" pitchFamily="18" charset="0"/>
                          <a:cs typeface="Calibri" panose="020F0502020204030204" pitchFamily="34" charset="0"/>
                        </a:rPr>
                        <a:t>Iomlán</a:t>
                      </a:r>
                      <a:endParaRPr lang="ga-I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spcAft>
                          <a:spcPts val="800"/>
                        </a:spcAft>
                      </a:pPr>
                      <a:r>
                        <a:rPr lang="ga-IE" sz="1400" b="1">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          57</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tc>
                  <a:txBody>
                    <a:bodyPr/>
                    <a:lstStyle/>
                    <a:p>
                      <a:pPr>
                        <a:lnSpc>
                          <a:spcPct val="107000"/>
                        </a:lnSpc>
                        <a:spcAft>
                          <a:spcPts val="800"/>
                        </a:spcAft>
                      </a:pPr>
                      <a:r>
                        <a:rPr lang="ga-IE" sz="1400" b="1"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                 16,874</a:t>
                      </a:r>
                      <a:endParaRPr lang="ga-I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tcPr>
                </a:tc>
                <a:extLst>
                  <a:ext uri="{0D108BD9-81ED-4DB2-BD59-A6C34878D82A}">
                    <a16:rowId xmlns:a16="http://schemas.microsoft.com/office/drawing/2014/main" val="2625181550"/>
                  </a:ext>
                </a:extLst>
              </a:tr>
            </a:tbl>
          </a:graphicData>
        </a:graphic>
      </p:graphicFrame>
      <p:sp>
        <p:nvSpPr>
          <p:cNvPr id="3" name="Rectangle 1">
            <a:extLst>
              <a:ext uri="{FF2B5EF4-FFF2-40B4-BE49-F238E27FC236}">
                <a16:creationId xmlns:a16="http://schemas.microsoft.com/office/drawing/2014/main" id="{72411AEB-81AE-46B7-85D5-33B07805ED38}"/>
              </a:ext>
            </a:extLst>
          </p:cNvPr>
          <p:cNvSpPr>
            <a:spLocks noChangeArrowheads="1"/>
          </p:cNvSpPr>
          <p:nvPr/>
        </p:nvSpPr>
        <p:spPr bwMode="auto">
          <a:xfrm>
            <a:off x="838199" y="2407216"/>
            <a:ext cx="847997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20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Líon na scoileanna a fheidhmíonn trí mheán na Gaeilge</a:t>
            </a:r>
            <a:endParaRPr kumimoji="0" lang="ga-IE" altLang="ga-IE"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ga-IE" altLang="ga-IE" sz="2000" b="0" i="0" u="none" strike="noStrike" cap="none" normalizeH="0" baseline="0" dirty="0">
                <a:ln>
                  <a:noFill/>
                </a:ln>
                <a:solidFill>
                  <a:schemeClr val="tx1"/>
                </a:solidFill>
                <a:effectLst/>
                <a:latin typeface="Arial" panose="020B0604020202020204" pitchFamily="34" charset="0"/>
              </a:rPr>
            </a:br>
            <a:endParaRPr kumimoji="0" lang="ga-IE" altLang="ga-IE" sz="20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D61A6D42-2814-4ED6-8E95-C4DFC5250B28}"/>
              </a:ext>
            </a:extLst>
          </p:cNvPr>
          <p:cNvSpPr>
            <a:spLocks noChangeArrowheads="1"/>
          </p:cNvSpPr>
          <p:nvPr/>
        </p:nvSpPr>
        <p:spPr bwMode="auto">
          <a:xfrm>
            <a:off x="1460500" y="5202238"/>
            <a:ext cx="4022725" cy="635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ga-IE"/>
          </a:p>
        </p:txBody>
      </p:sp>
      <p:sp>
        <p:nvSpPr>
          <p:cNvPr id="5" name="Rectangle 3">
            <a:extLst>
              <a:ext uri="{FF2B5EF4-FFF2-40B4-BE49-F238E27FC236}">
                <a16:creationId xmlns:a16="http://schemas.microsoft.com/office/drawing/2014/main" id="{A9261E04-9467-4A5D-B395-03EA15152467}"/>
              </a:ext>
            </a:extLst>
          </p:cNvPr>
          <p:cNvSpPr>
            <a:spLocks noChangeArrowheads="1"/>
          </p:cNvSpPr>
          <p:nvPr/>
        </p:nvSpPr>
        <p:spPr bwMode="auto">
          <a:xfrm>
            <a:off x="1270000" y="5394732"/>
            <a:ext cx="75504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800" b="0" i="0" u="sng" strike="noStrike" cap="none" normalizeH="0" baseline="30000" dirty="0">
                <a:ln>
                  <a:noFill/>
                </a:ln>
                <a:solidFill>
                  <a:srgbClr val="954F72"/>
                </a:solidFill>
                <a:effectLst/>
                <a:latin typeface="Calibri" panose="020F0502020204030204" pitchFamily="34" charset="0"/>
                <a:ea typeface="Times New Roman" panose="02020603050405020304" pitchFamily="18" charset="0"/>
                <a:cs typeface="Calibri" panose="020F0502020204030204" pitchFamily="34" charset="0"/>
                <a:hlinkClick r:id="rId2"/>
              </a:rPr>
              <a:t>[</a:t>
            </a:r>
            <a:r>
              <a:rPr kumimoji="0" lang="ga-IE" altLang="ga-IE" sz="1200" b="0" i="0" u="sng" strike="noStrike" cap="none" normalizeH="0" baseline="30000" dirty="0" bmk="">
                <a:ln>
                  <a:noFill/>
                </a:ln>
                <a:solidFill>
                  <a:srgbClr val="954F72"/>
                </a:solidFill>
                <a:effectLst/>
                <a:latin typeface="Calibri" panose="020F0502020204030204" pitchFamily="34" charset="0"/>
                <a:ea typeface="Times New Roman" panose="02020603050405020304" pitchFamily="18" charset="0"/>
                <a:cs typeface="Calibri" panose="020F0502020204030204" pitchFamily="34" charset="0"/>
                <a:hlinkClick r:id="rId2"/>
              </a:rPr>
              <a:t>1]</a:t>
            </a:r>
            <a:r>
              <a:rPr kumimoji="0" lang="ga-IE" altLang="ga-IE"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kumimoji="0" lang="ga-IE" altLang="ga-IE"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hlinkClick r:id="rId3"/>
              </a:rPr>
              <a:t>https://www.education.ie/ga/Preas-agus-Imeachta%C3%AD/Preasr%C3%A1itis/preasraitis-2019/PR19-12-301.html</a:t>
            </a:r>
            <a:r>
              <a:rPr kumimoji="0" lang="en-IE" altLang="ga-IE"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endParaRPr kumimoji="0" lang="en-IE" altLang="ga-IE" sz="1200" b="0" i="0" u="none" strike="noStrike" cap="none" normalizeH="0" baseline="0" dirty="0">
              <a:ln>
                <a:noFill/>
              </a:ln>
              <a:solidFill>
                <a:schemeClr val="tx1"/>
              </a:solidFill>
              <a:effectLst/>
              <a:latin typeface="Arial" panose="020B0604020202020204" pitchFamily="34" charset="0"/>
            </a:endParaRPr>
          </a:p>
        </p:txBody>
      </p:sp>
      <p:sp>
        <p:nvSpPr>
          <p:cNvPr id="7" name="Bosca téacs 6">
            <a:extLst>
              <a:ext uri="{FF2B5EF4-FFF2-40B4-BE49-F238E27FC236}">
                <a16:creationId xmlns:a16="http://schemas.microsoft.com/office/drawing/2014/main" id="{FA37378F-C377-4B5F-B64A-8D350AD0BA1B}"/>
              </a:ext>
            </a:extLst>
          </p:cNvPr>
          <p:cNvSpPr txBox="1"/>
          <p:nvPr/>
        </p:nvSpPr>
        <p:spPr>
          <a:xfrm>
            <a:off x="1822449" y="885096"/>
            <a:ext cx="9128579" cy="1100622"/>
          </a:xfrm>
          <a:prstGeom prst="rect">
            <a:avLst/>
          </a:prstGeom>
          <a:noFill/>
        </p:spPr>
        <p:txBody>
          <a:bodyPr wrap="square">
            <a:spAutoFit/>
          </a:bodyPr>
          <a:lstStyle/>
          <a:p>
            <a:pPr algn="just">
              <a:lnSpc>
                <a:spcPct val="115000"/>
              </a:lnSpc>
              <a:spcAft>
                <a:spcPts val="800"/>
              </a:spcAft>
            </a:pPr>
            <a:r>
              <a:rPr lang="ga-IE" sz="2400" b="1" dirty="0">
                <a:effectLst/>
                <a:latin typeface="Calibri" panose="020F0502020204030204" pitchFamily="34" charset="0"/>
                <a:ea typeface="Calibri" panose="020F0502020204030204" pitchFamily="34" charset="0"/>
                <a:cs typeface="Calibri" panose="020F0502020204030204" pitchFamily="34" charset="0"/>
              </a:rPr>
              <a:t>Cad é an scéal maidir leis an Ghaelscolaíocht?</a:t>
            </a:r>
            <a:endParaRPr lang="ga-IE"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ga-IE" sz="1400" dirty="0">
                <a:effectLst/>
                <a:latin typeface="Calibri" panose="020F0502020204030204" pitchFamily="34" charset="0"/>
                <a:ea typeface="Calibri" panose="020F0502020204030204" pitchFamily="34" charset="0"/>
                <a:cs typeface="Times New Roman" panose="02020603050405020304" pitchFamily="18" charset="0"/>
              </a:rPr>
              <a:t>“Tá tuairim is 60,000 duine óg i scoileanna atá ag feidhmiú trí mheán na Gaeilge ar fud na tíre go léir agus táim ag iarraidh go leagfar síos sprioc uaillmhianach ina ndéanfar an líon sin a dhúbailt.” (McHugh, 2019)</a:t>
            </a:r>
          </a:p>
        </p:txBody>
      </p:sp>
    </p:spTree>
    <p:extLst>
      <p:ext uri="{BB962C8B-B14F-4D97-AF65-F5344CB8AC3E}">
        <p14:creationId xmlns:p14="http://schemas.microsoft.com/office/powerpoint/2010/main" val="68350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CF1369CE-6117-4243-8937-44AF4DD5B3F9}"/>
              </a:ext>
            </a:extLst>
          </p:cNvPr>
          <p:cNvSpPr txBox="1"/>
          <p:nvPr/>
        </p:nvSpPr>
        <p:spPr>
          <a:xfrm>
            <a:off x="589005" y="3542793"/>
            <a:ext cx="10268464" cy="2518638"/>
          </a:xfrm>
          <a:prstGeom prst="rect">
            <a:avLst/>
          </a:prstGeom>
          <a:noFill/>
        </p:spPr>
        <p:txBody>
          <a:bodyPr wrap="square">
            <a:spAutoFit/>
          </a:bodyPr>
          <a:lstStyle/>
          <a:p>
            <a:pPr lvl="0" algn="just">
              <a:lnSpc>
                <a:spcPct val="150000"/>
              </a:lnSpc>
            </a:pPr>
            <a:r>
              <a:rPr lang="ga-IE" sz="2000" dirty="0">
                <a:effectLst/>
                <a:latin typeface="Calibri" panose="020F0502020204030204" pitchFamily="34" charset="0"/>
                <a:ea typeface="Calibri" panose="020F0502020204030204" pitchFamily="34" charset="0"/>
                <a:cs typeface="Calibri" panose="020F0502020204030204" pitchFamily="34" charset="0"/>
              </a:rPr>
              <a:t>Mar eolas:</a:t>
            </a:r>
          </a:p>
          <a:p>
            <a:pPr marL="342900" lvl="0" indent="-342900" algn="just">
              <a:lnSpc>
                <a:spcPct val="150000"/>
              </a:lnSpc>
              <a:buFont typeface="Symbol" panose="05050102010706020507" pitchFamily="18" charset="2"/>
              <a:buChar char=""/>
            </a:pPr>
            <a:r>
              <a:rPr lang="ga-IE" sz="2000" dirty="0">
                <a:effectLst/>
                <a:latin typeface="Calibri" panose="020F0502020204030204" pitchFamily="34" charset="0"/>
                <a:ea typeface="Calibri" panose="020F0502020204030204" pitchFamily="34" charset="0"/>
                <a:cs typeface="Calibri" panose="020F0502020204030204" pitchFamily="34" charset="0"/>
              </a:rPr>
              <a:t>Níl ach </a:t>
            </a:r>
            <a:r>
              <a:rPr lang="ga-IE" sz="2000" b="1" dirty="0">
                <a:effectLst/>
                <a:latin typeface="Calibri" panose="020F0502020204030204" pitchFamily="34" charset="0"/>
                <a:ea typeface="Calibri" panose="020F0502020204030204" pitchFamily="34" charset="0"/>
                <a:cs typeface="Calibri" panose="020F0502020204030204" pitchFamily="34" charset="0"/>
              </a:rPr>
              <a:t>4.7%</a:t>
            </a:r>
            <a:r>
              <a:rPr lang="ga-IE" sz="2000" dirty="0">
                <a:effectLst/>
                <a:latin typeface="Calibri" panose="020F0502020204030204" pitchFamily="34" charset="0"/>
                <a:ea typeface="Calibri" panose="020F0502020204030204" pitchFamily="34" charset="0"/>
                <a:cs typeface="Calibri" panose="020F0502020204030204" pitchFamily="34" charset="0"/>
              </a:rPr>
              <a:t> de bhunscoileanna i bPoblacht na hÉireann ina nGaelscoileanna;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buFont typeface="Symbol" panose="05050102010706020507" pitchFamily="18" charset="2"/>
              <a:buChar char=""/>
            </a:pPr>
            <a:r>
              <a:rPr lang="ga-IE" sz="2000" dirty="0">
                <a:effectLst/>
                <a:latin typeface="Calibri" panose="020F0502020204030204" pitchFamily="34" charset="0"/>
                <a:ea typeface="Calibri" panose="020F0502020204030204" pitchFamily="34" charset="0"/>
                <a:cs typeface="Calibri" panose="020F0502020204030204" pitchFamily="34" charset="0"/>
              </a:rPr>
              <a:t>Ní</a:t>
            </a:r>
            <a:r>
              <a:rPr lang="en-IE" sz="2000" dirty="0">
                <a:effectLst/>
                <a:latin typeface="Calibri" panose="020F0502020204030204" pitchFamily="34" charset="0"/>
                <a:ea typeface="Calibri" panose="020F0502020204030204" pitchFamily="34" charset="0"/>
                <a:cs typeface="Calibri" panose="020F0502020204030204" pitchFamily="34" charset="0"/>
              </a:rPr>
              <a:t>l</a:t>
            </a:r>
            <a:r>
              <a:rPr lang="ga-IE" sz="2000" dirty="0">
                <a:effectLst/>
                <a:latin typeface="Calibri" panose="020F0502020204030204" pitchFamily="34" charset="0"/>
                <a:ea typeface="Calibri" panose="020F0502020204030204" pitchFamily="34" charset="0"/>
                <a:cs typeface="Calibri" panose="020F0502020204030204" pitchFamily="34" charset="0"/>
              </a:rPr>
              <a:t> ach </a:t>
            </a:r>
            <a:r>
              <a:rPr lang="ga-IE" sz="2000" b="1" dirty="0">
                <a:effectLst/>
                <a:latin typeface="Calibri" panose="020F0502020204030204" pitchFamily="34" charset="0"/>
                <a:ea typeface="Calibri" panose="020F0502020204030204" pitchFamily="34" charset="0"/>
                <a:cs typeface="Calibri" panose="020F0502020204030204" pitchFamily="34" charset="0"/>
              </a:rPr>
              <a:t>8%</a:t>
            </a:r>
            <a:r>
              <a:rPr lang="ga-IE" sz="2000" dirty="0">
                <a:effectLst/>
                <a:latin typeface="Calibri" panose="020F0502020204030204" pitchFamily="34" charset="0"/>
                <a:ea typeface="Calibri" panose="020F0502020204030204" pitchFamily="34" charset="0"/>
                <a:cs typeface="Calibri" panose="020F0502020204030204" pitchFamily="34" charset="0"/>
              </a:rPr>
              <a:t> de dhaltaí bunscoile i bPoblacht na hÉireann ag freastal ar Ghaelscoileanna;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ga-IE" sz="2000" dirty="0">
                <a:effectLst/>
                <a:latin typeface="Calibri" panose="020F0502020204030204" pitchFamily="34" charset="0"/>
                <a:ea typeface="Calibri" panose="020F0502020204030204" pitchFamily="34" charset="0"/>
                <a:cs typeface="Calibri" panose="020F0502020204030204" pitchFamily="34" charset="0"/>
              </a:rPr>
              <a:t>Níl ach </a:t>
            </a:r>
            <a:r>
              <a:rPr lang="ga-IE" sz="2000" b="1" dirty="0">
                <a:effectLst/>
                <a:latin typeface="Calibri" panose="020F0502020204030204" pitchFamily="34" charset="0"/>
                <a:ea typeface="Calibri" panose="020F0502020204030204" pitchFamily="34" charset="0"/>
                <a:cs typeface="Calibri" panose="020F0502020204030204" pitchFamily="34" charset="0"/>
              </a:rPr>
              <a:t>3.8%</a:t>
            </a:r>
            <a:r>
              <a:rPr lang="ga-IE" sz="2000" dirty="0">
                <a:effectLst/>
                <a:latin typeface="Calibri" panose="020F0502020204030204" pitchFamily="34" charset="0"/>
                <a:ea typeface="Calibri" panose="020F0502020204030204" pitchFamily="34" charset="0"/>
                <a:cs typeface="Calibri" panose="020F0502020204030204" pitchFamily="34" charset="0"/>
              </a:rPr>
              <a:t> d’iar-bhunscoileanna i bPoblacht na hÉireann ina nGaelcholáistí;</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ga-IE" sz="2000" dirty="0">
                <a:effectLst/>
                <a:latin typeface="Calibri" panose="020F0502020204030204" pitchFamily="34" charset="0"/>
                <a:ea typeface="Calibri" panose="020F0502020204030204" pitchFamily="34" charset="0"/>
                <a:cs typeface="Calibri" panose="020F0502020204030204" pitchFamily="34" charset="0"/>
              </a:rPr>
              <a:t>Níl ach </a:t>
            </a:r>
            <a:r>
              <a:rPr lang="ga-IE" sz="2000" b="1" dirty="0">
                <a:effectLst/>
                <a:latin typeface="Calibri" panose="020F0502020204030204" pitchFamily="34" charset="0"/>
                <a:ea typeface="Calibri" panose="020F0502020204030204" pitchFamily="34" charset="0"/>
                <a:cs typeface="Calibri" panose="020F0502020204030204" pitchFamily="34" charset="0"/>
              </a:rPr>
              <a:t>4%</a:t>
            </a:r>
            <a:r>
              <a:rPr lang="ga-IE" sz="2000" dirty="0">
                <a:effectLst/>
                <a:latin typeface="Calibri" panose="020F0502020204030204" pitchFamily="34" charset="0"/>
                <a:ea typeface="Calibri" panose="020F0502020204030204" pitchFamily="34" charset="0"/>
                <a:cs typeface="Calibri" panose="020F0502020204030204" pitchFamily="34" charset="0"/>
              </a:rPr>
              <a:t> de dhaltaí iar-bhunscoile i bPoblacht na hÉireann ag freastal ar Ghaelcholáistí;</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r>
              <a:rPr lang="ga-IE" sz="1100" dirty="0">
                <a:effectLst/>
                <a:latin typeface="Calibri" panose="020F0502020204030204" pitchFamily="34" charset="0"/>
                <a:ea typeface="Times New Roman" panose="02020603050405020304" pitchFamily="18" charset="0"/>
              </a:rPr>
              <a:t>Foinse: </a:t>
            </a:r>
            <a:r>
              <a:rPr lang="en-IE" sz="1100" u="sng" dirty="0">
                <a:solidFill>
                  <a:srgbClr val="0000FF"/>
                </a:solidFill>
                <a:effectLst/>
                <a:latin typeface="Calibri" panose="020F0502020204030204" pitchFamily="34" charset="0"/>
                <a:ea typeface="Times New Roman" panose="02020603050405020304" pitchFamily="18" charset="0"/>
                <a:hlinkClick r:id="rId2"/>
              </a:rPr>
              <a:t>www.gaelscoil4all.ie</a:t>
            </a:r>
            <a:r>
              <a:rPr lang="en-IE" sz="1100" dirty="0">
                <a:effectLst/>
                <a:latin typeface="Calibri" panose="020F0502020204030204" pitchFamily="34" charset="0"/>
                <a:ea typeface="Times New Roman" panose="02020603050405020304" pitchFamily="18" charset="0"/>
              </a:rPr>
              <a:t> </a:t>
            </a:r>
            <a:endParaRPr lang="ga-IE" sz="1400" dirty="0">
              <a:effectLst/>
              <a:latin typeface="Times New Roman" panose="02020603050405020304" pitchFamily="18" charset="0"/>
              <a:ea typeface="Times New Roman" panose="02020603050405020304" pitchFamily="18" charset="0"/>
            </a:endParaRPr>
          </a:p>
        </p:txBody>
      </p:sp>
      <p:pic>
        <p:nvPicPr>
          <p:cNvPr id="5" name="Pictiúr 4" descr="Pictiúr a bhfuil léine, scáth báistí ann&#10;&#10;Gineadh an tuairisc go huathoibríoch">
            <a:extLst>
              <a:ext uri="{FF2B5EF4-FFF2-40B4-BE49-F238E27FC236}">
                <a16:creationId xmlns:a16="http://schemas.microsoft.com/office/drawing/2014/main" id="{01EDC792-6F3F-4575-A79E-D312C51E83A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528075" y="386982"/>
            <a:ext cx="4462628" cy="2969938"/>
          </a:xfrm>
          <a:prstGeom prst="rect">
            <a:avLst/>
          </a:prstGeom>
        </p:spPr>
      </p:pic>
    </p:spTree>
    <p:extLst>
      <p:ext uri="{BB962C8B-B14F-4D97-AF65-F5344CB8AC3E}">
        <p14:creationId xmlns:p14="http://schemas.microsoft.com/office/powerpoint/2010/main" val="468190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22EFD051-F6F8-4C65-98E2-F289A37A813A}"/>
              </a:ext>
            </a:extLst>
          </p:cNvPr>
          <p:cNvSpPr txBox="1"/>
          <p:nvPr/>
        </p:nvSpPr>
        <p:spPr>
          <a:xfrm>
            <a:off x="6204857" y="1703115"/>
            <a:ext cx="5638800" cy="2410916"/>
          </a:xfrm>
          <a:prstGeom prst="rect">
            <a:avLst/>
          </a:prstGeom>
          <a:noFill/>
        </p:spPr>
        <p:txBody>
          <a:bodyPr wrap="square">
            <a:spAutoFit/>
          </a:bodyPr>
          <a:lstStyle/>
          <a:p>
            <a:pPr algn="just">
              <a:lnSpc>
                <a:spcPct val="150000"/>
              </a:lnSpc>
              <a:spcAft>
                <a:spcPts val="800"/>
              </a:spcAft>
            </a:pPr>
            <a:r>
              <a:rPr lang="ga-IE" sz="2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Ar chuala tú faoi na feachtais dar teideal: </a:t>
            </a:r>
            <a:r>
              <a:rPr lang="ga-IE" sz="2400" b="1" i="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Gaelscoil4all</a:t>
            </a:r>
            <a:r>
              <a:rPr lang="ga-IE" sz="2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agus </a:t>
            </a:r>
            <a:r>
              <a:rPr lang="ga-IE" sz="2400" b="1" i="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Gaelscoil Gach Scoil</a:t>
            </a:r>
            <a:r>
              <a:rPr lang="ga-IE" sz="2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endParaRPr lang="ga-IE" sz="2400" dirty="0">
              <a:effectLst/>
              <a:latin typeface="Calibri" panose="020F0502020204030204" pitchFamily="34" charset="0"/>
              <a:ea typeface="Calibri" panose="020F0502020204030204" pitchFamily="34" charset="0"/>
              <a:cs typeface="Times New Roman" panose="02020603050405020304" pitchFamily="18" charset="0"/>
            </a:endParaRPr>
          </a:p>
          <a:p>
            <a:r>
              <a:rPr lang="ga-IE" sz="2400" b="1" dirty="0">
                <a:solidFill>
                  <a:srgbClr val="FF0000"/>
                </a:solidFill>
                <a:effectLst/>
                <a:latin typeface="Calibri" panose="020F0502020204030204" pitchFamily="34" charset="0"/>
                <a:ea typeface="Calibri" panose="020F0502020204030204" pitchFamily="34" charset="0"/>
              </a:rPr>
              <a:t>An gceapann tú gur chóir níos mó béime a chur ar an ghaelscolaíocht? </a:t>
            </a:r>
            <a:endParaRPr lang="en-IE" sz="2400" b="1" dirty="0">
              <a:solidFill>
                <a:srgbClr val="FF0000"/>
              </a:solidFill>
              <a:effectLst/>
              <a:latin typeface="Calibri" panose="020F0502020204030204" pitchFamily="34" charset="0"/>
              <a:ea typeface="Calibri" panose="020F0502020204030204" pitchFamily="34" charset="0"/>
            </a:endParaRPr>
          </a:p>
          <a:p>
            <a:r>
              <a:rPr lang="ga-IE" sz="1200" u="sng" dirty="0">
                <a:solidFill>
                  <a:srgbClr val="0000FF"/>
                </a:solidFill>
                <a:effectLst/>
                <a:latin typeface="Calibri" panose="020F0502020204030204" pitchFamily="34" charset="0"/>
                <a:ea typeface="Times New Roman" panose="02020603050405020304" pitchFamily="18" charset="0"/>
                <a:hlinkClick r:id="rId2"/>
              </a:rPr>
              <a:t>http://gaelscoil4all.ie/</a:t>
            </a:r>
            <a:r>
              <a:rPr lang="en-IE" sz="1200" dirty="0">
                <a:effectLst/>
                <a:latin typeface="Calibri" panose="020F0502020204030204" pitchFamily="34" charset="0"/>
                <a:ea typeface="Times New Roman" panose="02020603050405020304" pitchFamily="18" charset="0"/>
                <a:hlinkClick r:id="rId2"/>
              </a:rPr>
              <a:t>        </a:t>
            </a:r>
            <a:endParaRPr lang="en-IE" sz="1200" dirty="0">
              <a:effectLst/>
              <a:latin typeface="Calibri" panose="020F0502020204030204" pitchFamily="34" charset="0"/>
              <a:ea typeface="Times New Roman" panose="02020603050405020304" pitchFamily="18" charset="0"/>
            </a:endParaRPr>
          </a:p>
          <a:p>
            <a:r>
              <a:rPr lang="ga-IE" sz="1200" u="sng" dirty="0">
                <a:solidFill>
                  <a:srgbClr val="0000FF"/>
                </a:solidFill>
                <a:effectLst/>
                <a:latin typeface="Calibri" panose="020F0502020204030204" pitchFamily="34" charset="0"/>
                <a:ea typeface="Times New Roman" panose="02020603050405020304" pitchFamily="18" charset="0"/>
                <a:hlinkClick r:id="rId3"/>
              </a:rPr>
              <a:t>http://www.gaeltaca.ie/en/campaign/gaelscoil-gach-scoil.html</a:t>
            </a:r>
            <a:r>
              <a:rPr lang="ga-IE" sz="1200" dirty="0">
                <a:effectLst/>
                <a:latin typeface="Calibri" panose="020F0502020204030204" pitchFamily="34" charset="0"/>
                <a:ea typeface="Times New Roman" panose="02020603050405020304" pitchFamily="18" charset="0"/>
                <a:hlinkClick r:id="rId3"/>
              </a:rPr>
              <a:t> </a:t>
            </a:r>
            <a:endParaRPr lang="ga-IE" sz="1200" dirty="0">
              <a:effectLst/>
              <a:latin typeface="Times New Roman" panose="02020603050405020304" pitchFamily="18" charset="0"/>
              <a:ea typeface="Times New Roman" panose="02020603050405020304" pitchFamily="18" charset="0"/>
            </a:endParaRPr>
          </a:p>
        </p:txBody>
      </p:sp>
      <p:pic>
        <p:nvPicPr>
          <p:cNvPr id="4" name="Pictiúr 3">
            <a:extLst>
              <a:ext uri="{FF2B5EF4-FFF2-40B4-BE49-F238E27FC236}">
                <a16:creationId xmlns:a16="http://schemas.microsoft.com/office/drawing/2014/main" id="{077ED046-1754-4D6C-ACD1-C962759C59C5}"/>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99286" y="56242"/>
            <a:ext cx="5539514" cy="6649358"/>
          </a:xfrm>
          <a:prstGeom prst="rect">
            <a:avLst/>
          </a:prstGeom>
          <a:noFill/>
          <a:ln>
            <a:noFill/>
          </a:ln>
        </p:spPr>
      </p:pic>
    </p:spTree>
    <p:extLst>
      <p:ext uri="{BB962C8B-B14F-4D97-AF65-F5344CB8AC3E}">
        <p14:creationId xmlns:p14="http://schemas.microsoft.com/office/powerpoint/2010/main" val="516175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6C4E0FB4-4390-4AD9-A70C-D791BDF875CD}"/>
              </a:ext>
            </a:extLst>
          </p:cNvPr>
          <p:cNvSpPr txBox="1"/>
          <p:nvPr/>
        </p:nvSpPr>
        <p:spPr>
          <a:xfrm>
            <a:off x="1386114" y="436282"/>
            <a:ext cx="7757886" cy="920252"/>
          </a:xfrm>
          <a:prstGeom prst="rect">
            <a:avLst/>
          </a:prstGeom>
          <a:noFill/>
        </p:spPr>
        <p:txBody>
          <a:bodyPr wrap="square">
            <a:spAutoFit/>
          </a:bodyPr>
          <a:lstStyle/>
          <a:p>
            <a:pPr algn="ctr">
              <a:lnSpc>
                <a:spcPct val="150000"/>
              </a:lnSpc>
              <a:spcAft>
                <a:spcPts val="800"/>
              </a:spcAft>
            </a:pPr>
            <a:r>
              <a:rPr lang="ga-IE" sz="4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2. Cás na Gaeilge sna Sé Chontae.</a:t>
            </a:r>
            <a:endParaRPr lang="ga-IE" sz="4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Bosca téacs 4">
            <a:extLst>
              <a:ext uri="{FF2B5EF4-FFF2-40B4-BE49-F238E27FC236}">
                <a16:creationId xmlns:a16="http://schemas.microsoft.com/office/drawing/2014/main" id="{1E28F211-C504-4F35-8D6B-57CC39800AF1}"/>
              </a:ext>
            </a:extLst>
          </p:cNvPr>
          <p:cNvSpPr txBox="1"/>
          <p:nvPr/>
        </p:nvSpPr>
        <p:spPr>
          <a:xfrm>
            <a:off x="1712686" y="1522294"/>
            <a:ext cx="8476342" cy="1070549"/>
          </a:xfrm>
          <a:prstGeom prst="rect">
            <a:avLst/>
          </a:prstGeom>
          <a:noFill/>
        </p:spPr>
        <p:txBody>
          <a:bodyPr wrap="square">
            <a:spAutoFit/>
          </a:bodyPr>
          <a:lstStyle/>
          <a:p>
            <a:pPr>
              <a:lnSpc>
                <a:spcPct val="150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Reáchtáladh an daonáireamh is déanaí sna Sé Chontae ar an </a:t>
            </a:r>
            <a:r>
              <a:rPr lang="ga-IE" sz="2000" b="1" dirty="0">
                <a:effectLst/>
                <a:latin typeface="Calibri" panose="020F0502020204030204" pitchFamily="34" charset="0"/>
                <a:ea typeface="Calibri" panose="020F0502020204030204" pitchFamily="34" charset="0"/>
                <a:cs typeface="Calibri" panose="020F0502020204030204" pitchFamily="34" charset="0"/>
              </a:rPr>
              <a:t>27 Márta 2011</a:t>
            </a:r>
            <a:r>
              <a:rPr lang="ga-IE" sz="2000" dirty="0">
                <a:effectLst/>
                <a:latin typeface="Calibri" panose="020F0502020204030204" pitchFamily="34" charset="0"/>
                <a:ea typeface="Calibri" panose="020F0502020204030204" pitchFamily="34" charset="0"/>
                <a:cs typeface="Calibri" panose="020F0502020204030204" pitchFamily="34" charset="0"/>
              </a:rPr>
              <a:t>.                                                              </a:t>
            </a:r>
            <a:endParaRPr lang="en-IE" sz="2000" dirty="0">
              <a:effectLst/>
              <a:latin typeface="Calibri" panose="020F0502020204030204" pitchFamily="34" charset="0"/>
              <a:ea typeface="Calibri" panose="020F0502020204030204" pitchFamily="34" charset="0"/>
              <a:cs typeface="Calibri" panose="020F0502020204030204" pitchFamily="34" charset="0"/>
            </a:endParaRPr>
          </a:p>
          <a:p>
            <a:pPr>
              <a:lnSpc>
                <a:spcPct val="150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Bhí ceist ar leith (Uimh. 21) ann maidir leis an Ghaeilge agus Ultais.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Bosca téacs 6">
            <a:extLst>
              <a:ext uri="{FF2B5EF4-FFF2-40B4-BE49-F238E27FC236}">
                <a16:creationId xmlns:a16="http://schemas.microsoft.com/office/drawing/2014/main" id="{0B67D236-5CF5-4632-AB0B-3E8CC3D22161}"/>
              </a:ext>
            </a:extLst>
          </p:cNvPr>
          <p:cNvSpPr txBox="1"/>
          <p:nvPr/>
        </p:nvSpPr>
        <p:spPr>
          <a:xfrm>
            <a:off x="1712684" y="3020635"/>
            <a:ext cx="9368971" cy="3060903"/>
          </a:xfrm>
          <a:prstGeom prst="rect">
            <a:avLst/>
          </a:prstGeom>
          <a:noFill/>
          <a:ln>
            <a:solidFill>
              <a:schemeClr val="accent1"/>
            </a:solidFill>
          </a:ln>
        </p:spPr>
        <p:txBody>
          <a:bodyPr wrap="square">
            <a:spAutoFit/>
          </a:bodyPr>
          <a:lstStyle/>
          <a:p>
            <a:pPr algn="just">
              <a:lnSpc>
                <a:spcPct val="150000"/>
              </a:lnSpc>
              <a:spcAft>
                <a:spcPts val="800"/>
              </a:spcAft>
            </a:pPr>
            <a:r>
              <a:rPr lang="en-IE" sz="2000" b="1" dirty="0">
                <a:ln>
                  <a:solidFill>
                    <a:schemeClr val="accent1"/>
                  </a:solidFill>
                </a:ln>
                <a:effectLst/>
                <a:ea typeface="Calibri" panose="020F0502020204030204" pitchFamily="34" charset="0"/>
                <a:cs typeface="Times New Roman" panose="02020603050405020304" pitchFamily="18" charset="0"/>
              </a:rPr>
              <a:t>Do you understand, speak, read or write Irish or Ulster-Scots?</a:t>
            </a:r>
            <a:endParaRPr lang="en-IE" sz="2000" dirty="0">
              <a:ln>
                <a:solidFill>
                  <a:schemeClr val="accent1"/>
                </a:solidFill>
              </a:ln>
              <a:effectLst/>
              <a:ea typeface="Calibri" panose="020F0502020204030204" pitchFamily="34" charset="0"/>
              <a:cs typeface="Times New Roman" panose="02020603050405020304" pitchFamily="18" charset="0"/>
            </a:endParaRPr>
          </a:p>
          <a:p>
            <a:pPr algn="just">
              <a:lnSpc>
                <a:spcPct val="150000"/>
              </a:lnSpc>
              <a:spcAft>
                <a:spcPts val="800"/>
              </a:spcAft>
            </a:pPr>
            <a:r>
              <a:rPr lang="en-IE" sz="2000" b="1" dirty="0">
                <a:ln>
                  <a:solidFill>
                    <a:schemeClr val="accent1"/>
                  </a:solidFill>
                </a:ln>
                <a:effectLst/>
                <a:ea typeface="Calibri" panose="020F0502020204030204" pitchFamily="34" charset="0"/>
                <a:cs typeface="Times New Roman" panose="02020603050405020304" pitchFamily="18" charset="0"/>
              </a:rPr>
              <a:t>                             </a:t>
            </a:r>
            <a:r>
              <a:rPr lang="en-IE" sz="2000" b="1" dirty="0">
                <a:ln>
                  <a:solidFill>
                    <a:schemeClr val="accent1"/>
                  </a:solidFill>
                </a:ln>
                <a:effectLst/>
                <a:ea typeface="Calibri" panose="020F0502020204030204" pitchFamily="34" charset="0"/>
                <a:cs typeface="Arial" panose="020B0604020202020204" pitchFamily="34" charset="0"/>
                <a:sym typeface="Wingdings" panose="05000000000000000000" pitchFamily="2" charset="2"/>
              </a:rPr>
              <a:t></a:t>
            </a:r>
            <a:r>
              <a:rPr lang="en-IE" sz="2000" b="1" dirty="0">
                <a:ln>
                  <a:solidFill>
                    <a:schemeClr val="accent1"/>
                  </a:solidFill>
                </a:ln>
                <a:effectLst/>
                <a:ea typeface="Calibri" panose="020F0502020204030204" pitchFamily="34" charset="0"/>
                <a:cs typeface="Times New Roman" panose="02020603050405020304" pitchFamily="18" charset="0"/>
              </a:rPr>
              <a:t>Tick all that apply.</a:t>
            </a:r>
            <a:endParaRPr lang="en-IE" sz="2000" dirty="0">
              <a:ln>
                <a:solidFill>
                  <a:schemeClr val="accent1"/>
                </a:solidFill>
              </a:ln>
              <a:effectLst/>
              <a:ea typeface="Calibri" panose="020F0502020204030204" pitchFamily="34" charset="0"/>
              <a:cs typeface="Times New Roman" panose="02020603050405020304" pitchFamily="18" charset="0"/>
            </a:endParaRPr>
          </a:p>
          <a:p>
            <a:pPr>
              <a:lnSpc>
                <a:spcPct val="107000"/>
              </a:lnSpc>
              <a:spcAft>
                <a:spcPts val="800"/>
              </a:spcAft>
            </a:pPr>
            <a:r>
              <a:rPr lang="en-IE" sz="2000" b="1" dirty="0">
                <a:ln>
                  <a:solidFill>
                    <a:schemeClr val="accent1"/>
                  </a:solidFill>
                </a:ln>
                <a:effectLst/>
                <a:ea typeface="Calibri" panose="020F0502020204030204" pitchFamily="34" charset="0"/>
                <a:cs typeface="Times New Roman" panose="02020603050405020304" pitchFamily="18" charset="0"/>
              </a:rPr>
              <a:t>                                     No             Understand           Speak           Read         Write </a:t>
            </a:r>
            <a:endParaRPr lang="en-IE" sz="2000" dirty="0">
              <a:ln>
                <a:solidFill>
                  <a:schemeClr val="accent1"/>
                </a:solidFill>
              </a:ln>
              <a:effectLst/>
              <a:ea typeface="Calibri" panose="020F0502020204030204" pitchFamily="34" charset="0"/>
              <a:cs typeface="Times New Roman" panose="02020603050405020304" pitchFamily="18" charset="0"/>
            </a:endParaRPr>
          </a:p>
          <a:p>
            <a:pPr>
              <a:lnSpc>
                <a:spcPct val="107000"/>
              </a:lnSpc>
              <a:spcAft>
                <a:spcPts val="800"/>
              </a:spcAft>
            </a:pPr>
            <a:r>
              <a:rPr lang="en-IE" sz="2000" b="1" dirty="0">
                <a:ln>
                  <a:solidFill>
                    <a:schemeClr val="accent1"/>
                  </a:solidFill>
                </a:ln>
                <a:effectLst/>
                <a:ea typeface="Calibri" panose="020F0502020204030204" pitchFamily="34" charset="0"/>
                <a:cs typeface="Times New Roman" panose="02020603050405020304" pitchFamily="18" charset="0"/>
              </a:rPr>
              <a:t>                                    ability                                                                                                                                                                                                                                                                                                                             </a:t>
            </a:r>
            <a:endParaRPr lang="en-IE" sz="2000" dirty="0">
              <a:ln>
                <a:solidFill>
                  <a:schemeClr val="accent1"/>
                </a:solidFill>
              </a:ln>
              <a:effectLst/>
              <a:ea typeface="Calibri" panose="020F0502020204030204" pitchFamily="34" charset="0"/>
              <a:cs typeface="Times New Roman" panose="02020603050405020304" pitchFamily="18" charset="0"/>
            </a:endParaRPr>
          </a:p>
          <a:p>
            <a:pPr indent="438150" algn="just">
              <a:lnSpc>
                <a:spcPct val="150000"/>
              </a:lnSpc>
              <a:spcAft>
                <a:spcPts val="800"/>
              </a:spcAft>
            </a:pPr>
            <a:r>
              <a:rPr lang="en-IE" sz="2000" b="1" dirty="0">
                <a:ln>
                  <a:solidFill>
                    <a:schemeClr val="accent1"/>
                  </a:solidFill>
                </a:ln>
                <a:effectLst/>
                <a:ea typeface="Calibri" panose="020F0502020204030204" pitchFamily="34" charset="0"/>
                <a:cs typeface="Times New Roman" panose="02020603050405020304" pitchFamily="18" charset="0"/>
              </a:rPr>
              <a:t>Irish</a:t>
            </a:r>
            <a:r>
              <a:rPr lang="en-IE" sz="2000" b="1" dirty="0">
                <a:ln>
                  <a:solidFill>
                    <a:schemeClr val="accent1"/>
                  </a:solidFill>
                </a:ln>
                <a:ea typeface="Calibri" panose="020F0502020204030204" pitchFamily="34" charset="0"/>
                <a:cs typeface="Times New Roman" panose="02020603050405020304" pitchFamily="18" charset="0"/>
              </a:rPr>
              <a:t>                     </a:t>
            </a:r>
            <a:r>
              <a:rPr lang="en-IE" sz="2000" b="1" dirty="0">
                <a:ln>
                  <a:solidFill>
                    <a:schemeClr val="accent1"/>
                  </a:solidFill>
                </a:ln>
                <a:effectLst/>
                <a:ea typeface="Calibri" panose="020F0502020204030204" pitchFamily="34" charset="0"/>
                <a:cs typeface="Arial" panose="020B0604020202020204" pitchFamily="34" charset="0"/>
                <a:sym typeface="Wingdings" panose="05000000000000000000" pitchFamily="2" charset="2"/>
              </a:rPr>
              <a:t></a:t>
            </a:r>
            <a:r>
              <a:rPr lang="en-IE" sz="2000" b="1" dirty="0">
                <a:ln>
                  <a:solidFill>
                    <a:schemeClr val="accent1"/>
                  </a:solidFill>
                </a:ln>
                <a:effectLst/>
                <a:ea typeface="Calibri" panose="020F0502020204030204" pitchFamily="34" charset="0"/>
                <a:cs typeface="Times New Roman" panose="02020603050405020304" pitchFamily="18" charset="0"/>
              </a:rPr>
              <a:t>	                 </a:t>
            </a:r>
            <a:r>
              <a:rPr lang="en-IE" sz="2000" b="1" dirty="0">
                <a:ln>
                  <a:solidFill>
                    <a:schemeClr val="accent1"/>
                  </a:solidFill>
                </a:ln>
                <a:effectLst/>
                <a:ea typeface="Calibri" panose="020F0502020204030204" pitchFamily="34" charset="0"/>
                <a:cs typeface="Arial" panose="020B0604020202020204" pitchFamily="34" charset="0"/>
                <a:sym typeface="Wingdings" panose="05000000000000000000" pitchFamily="2" charset="2"/>
              </a:rPr>
              <a:t></a:t>
            </a:r>
            <a:r>
              <a:rPr lang="en-IE" sz="2000" b="1" dirty="0">
                <a:ln>
                  <a:solidFill>
                    <a:schemeClr val="accent1"/>
                  </a:solidFill>
                </a:ln>
                <a:ea typeface="Calibri" panose="020F0502020204030204" pitchFamily="34" charset="0"/>
                <a:cs typeface="Times New Roman" panose="02020603050405020304" pitchFamily="18" charset="0"/>
                <a:sym typeface="Wingdings" panose="05000000000000000000" pitchFamily="2" charset="2"/>
              </a:rPr>
              <a:t>                        </a:t>
            </a:r>
            <a:r>
              <a:rPr lang="en-IE" sz="2000" b="1" dirty="0">
                <a:ln>
                  <a:solidFill>
                    <a:schemeClr val="accent1"/>
                  </a:solidFill>
                </a:ln>
                <a:effectLst/>
                <a:ea typeface="Calibri" panose="020F0502020204030204" pitchFamily="34" charset="0"/>
                <a:cs typeface="Arial" panose="020B0604020202020204" pitchFamily="34" charset="0"/>
                <a:sym typeface="Wingdings" panose="05000000000000000000" pitchFamily="2" charset="2"/>
              </a:rPr>
              <a:t></a:t>
            </a:r>
            <a:r>
              <a:rPr lang="en-IE" sz="2000" b="1" dirty="0">
                <a:ln>
                  <a:solidFill>
                    <a:schemeClr val="accent1"/>
                  </a:solidFill>
                </a:ln>
                <a:effectLst/>
                <a:ea typeface="Calibri" panose="020F0502020204030204" pitchFamily="34" charset="0"/>
                <a:cs typeface="Times New Roman" panose="02020603050405020304" pitchFamily="18" charset="0"/>
              </a:rPr>
              <a:t>	</a:t>
            </a:r>
            <a:r>
              <a:rPr lang="en-IE" sz="2000" b="1" dirty="0">
                <a:ln>
                  <a:solidFill>
                    <a:schemeClr val="accent1"/>
                  </a:solidFill>
                </a:ln>
                <a:effectLst/>
                <a:ea typeface="Calibri" panose="020F0502020204030204" pitchFamily="34" charset="0"/>
                <a:cs typeface="Arial" panose="020B0604020202020204" pitchFamily="34" charset="0"/>
                <a:sym typeface="Wingdings" panose="05000000000000000000" pitchFamily="2" charset="2"/>
              </a:rPr>
              <a:t></a:t>
            </a:r>
            <a:r>
              <a:rPr lang="en-IE" sz="2000" b="1" dirty="0">
                <a:ln>
                  <a:solidFill>
                    <a:schemeClr val="accent1"/>
                  </a:solidFill>
                </a:ln>
                <a:ea typeface="Calibri" panose="020F0502020204030204" pitchFamily="34" charset="0"/>
                <a:cs typeface="Times New Roman" panose="02020603050405020304" pitchFamily="18" charset="0"/>
                <a:sym typeface="Wingdings" panose="05000000000000000000" pitchFamily="2" charset="2"/>
              </a:rPr>
              <a:t>                 </a:t>
            </a:r>
            <a:r>
              <a:rPr lang="en-IE" sz="2000" b="1" dirty="0">
                <a:ln>
                  <a:solidFill>
                    <a:schemeClr val="accent1"/>
                  </a:solidFill>
                </a:ln>
                <a:effectLst/>
                <a:ea typeface="Calibri" panose="020F0502020204030204" pitchFamily="34" charset="0"/>
                <a:cs typeface="Arial" panose="020B0604020202020204" pitchFamily="34" charset="0"/>
                <a:sym typeface="Wingdings" panose="05000000000000000000" pitchFamily="2" charset="2"/>
              </a:rPr>
              <a:t></a:t>
            </a:r>
            <a:endParaRPr lang="en-IE" sz="2000" dirty="0">
              <a:ln>
                <a:solidFill>
                  <a:schemeClr val="accent1"/>
                </a:solidFill>
              </a:ln>
              <a:effectLst/>
              <a:ea typeface="Calibri" panose="020F0502020204030204" pitchFamily="34" charset="0"/>
              <a:cs typeface="Times New Roman" panose="02020603050405020304" pitchFamily="18" charset="0"/>
            </a:endParaRPr>
          </a:p>
          <a:p>
            <a:pPr indent="438150" algn="just">
              <a:lnSpc>
                <a:spcPct val="150000"/>
              </a:lnSpc>
              <a:spcAft>
                <a:spcPts val="800"/>
              </a:spcAft>
            </a:pPr>
            <a:r>
              <a:rPr lang="en-IE" sz="2000" b="1" dirty="0">
                <a:ln>
                  <a:solidFill>
                    <a:schemeClr val="accent1"/>
                  </a:solidFill>
                </a:ln>
                <a:effectLst/>
                <a:ea typeface="Calibri" panose="020F0502020204030204" pitchFamily="34" charset="0"/>
                <a:cs typeface="Times New Roman" panose="02020603050405020304" pitchFamily="18" charset="0"/>
              </a:rPr>
              <a:t>Ulster-Scots</a:t>
            </a:r>
            <a:r>
              <a:rPr lang="en-IE" sz="2000" dirty="0">
                <a:ln>
                  <a:solidFill>
                    <a:schemeClr val="accent1"/>
                  </a:solidFill>
                </a:ln>
                <a:effectLst/>
                <a:ea typeface="Calibri" panose="020F0502020204030204" pitchFamily="34" charset="0"/>
                <a:cs typeface="Times New Roman" panose="02020603050405020304" pitchFamily="18" charset="0"/>
              </a:rPr>
              <a:t>       </a:t>
            </a:r>
            <a:r>
              <a:rPr lang="en-IE" sz="2000" b="1" dirty="0">
                <a:ln>
                  <a:solidFill>
                    <a:schemeClr val="accent1"/>
                  </a:solidFill>
                </a:ln>
                <a:effectLst/>
                <a:ea typeface="Calibri" panose="020F0502020204030204" pitchFamily="34" charset="0"/>
                <a:cs typeface="Arial" panose="020B0604020202020204" pitchFamily="34" charset="0"/>
                <a:sym typeface="Wingdings" panose="05000000000000000000" pitchFamily="2" charset="2"/>
              </a:rPr>
              <a:t></a:t>
            </a:r>
            <a:r>
              <a:rPr lang="en-IE" sz="2000" b="1" dirty="0">
                <a:ln>
                  <a:solidFill>
                    <a:schemeClr val="accent1"/>
                  </a:solidFill>
                </a:ln>
                <a:effectLst/>
                <a:ea typeface="Calibri" panose="020F0502020204030204" pitchFamily="34" charset="0"/>
                <a:cs typeface="Times New Roman" panose="02020603050405020304" pitchFamily="18" charset="0"/>
              </a:rPr>
              <a:t>	                 </a:t>
            </a:r>
            <a:r>
              <a:rPr lang="en-IE" sz="2000" b="1" dirty="0">
                <a:ln>
                  <a:solidFill>
                    <a:schemeClr val="accent1"/>
                  </a:solidFill>
                </a:ln>
                <a:effectLst/>
                <a:ea typeface="Calibri" panose="020F0502020204030204" pitchFamily="34" charset="0"/>
                <a:cs typeface="Arial" panose="020B0604020202020204" pitchFamily="34" charset="0"/>
                <a:sym typeface="Wingdings" panose="05000000000000000000" pitchFamily="2" charset="2"/>
              </a:rPr>
              <a:t></a:t>
            </a:r>
            <a:r>
              <a:rPr lang="en-IE" sz="2000" b="1" dirty="0">
                <a:ln>
                  <a:solidFill>
                    <a:schemeClr val="accent1"/>
                  </a:solidFill>
                </a:ln>
                <a:effectLst/>
                <a:ea typeface="Calibri" panose="020F0502020204030204" pitchFamily="34" charset="0"/>
                <a:cs typeface="Times New Roman" panose="02020603050405020304" pitchFamily="18" charset="0"/>
              </a:rPr>
              <a:t>	</a:t>
            </a:r>
            <a:r>
              <a:rPr lang="en-IE" sz="2000" b="1" dirty="0">
                <a:ln>
                  <a:solidFill>
                    <a:schemeClr val="accent1"/>
                  </a:solidFill>
                </a:ln>
                <a:ea typeface="Calibri" panose="020F0502020204030204" pitchFamily="34" charset="0"/>
                <a:cs typeface="Times New Roman" panose="02020603050405020304" pitchFamily="18" charset="0"/>
              </a:rPr>
              <a:t>             </a:t>
            </a:r>
            <a:r>
              <a:rPr lang="en-IE" sz="2000" b="1" dirty="0">
                <a:ln>
                  <a:solidFill>
                    <a:schemeClr val="accent1"/>
                  </a:solidFill>
                </a:ln>
                <a:effectLst/>
                <a:ea typeface="Calibri" panose="020F0502020204030204" pitchFamily="34" charset="0"/>
                <a:cs typeface="Arial" panose="020B0604020202020204" pitchFamily="34" charset="0"/>
                <a:sym typeface="Wingdings" panose="05000000000000000000" pitchFamily="2" charset="2"/>
              </a:rPr>
              <a:t></a:t>
            </a:r>
            <a:r>
              <a:rPr lang="en-IE" sz="2000" b="1" dirty="0">
                <a:ln>
                  <a:solidFill>
                    <a:schemeClr val="accent1"/>
                  </a:solidFill>
                </a:ln>
                <a:effectLst/>
                <a:ea typeface="Calibri" panose="020F0502020204030204" pitchFamily="34" charset="0"/>
                <a:cs typeface="Times New Roman" panose="02020603050405020304" pitchFamily="18" charset="0"/>
              </a:rPr>
              <a:t>	</a:t>
            </a:r>
            <a:r>
              <a:rPr lang="en-IE" sz="2000" b="1" dirty="0">
                <a:ln>
                  <a:solidFill>
                    <a:schemeClr val="accent1"/>
                  </a:solidFill>
                </a:ln>
                <a:effectLst/>
                <a:ea typeface="Calibri" panose="020F0502020204030204" pitchFamily="34" charset="0"/>
                <a:cs typeface="Arial" panose="020B0604020202020204" pitchFamily="34" charset="0"/>
                <a:sym typeface="Wingdings" panose="05000000000000000000" pitchFamily="2" charset="2"/>
              </a:rPr>
              <a:t></a:t>
            </a:r>
            <a:r>
              <a:rPr lang="en-IE" sz="2000" b="1" dirty="0">
                <a:ln>
                  <a:solidFill>
                    <a:schemeClr val="accent1"/>
                  </a:solidFill>
                </a:ln>
                <a:effectLst/>
                <a:ea typeface="Calibri" panose="020F0502020204030204" pitchFamily="34" charset="0"/>
                <a:cs typeface="Times New Roman" panose="02020603050405020304" pitchFamily="18" charset="0"/>
              </a:rPr>
              <a:t>	     </a:t>
            </a:r>
            <a:r>
              <a:rPr lang="en-IE" sz="2000" b="1" dirty="0">
                <a:ln>
                  <a:solidFill>
                    <a:schemeClr val="accent1"/>
                  </a:solidFill>
                </a:ln>
                <a:effectLst/>
                <a:ea typeface="Calibri" panose="020F0502020204030204" pitchFamily="34" charset="0"/>
                <a:cs typeface="Arial" panose="020B0604020202020204" pitchFamily="34" charset="0"/>
                <a:sym typeface="Wingdings" panose="05000000000000000000" pitchFamily="2" charset="2"/>
              </a:rPr>
              <a:t></a:t>
            </a:r>
            <a:r>
              <a:rPr lang="en-IE" sz="2000" b="1" dirty="0">
                <a:ln>
                  <a:solidFill>
                    <a:schemeClr val="accent1"/>
                  </a:solidFill>
                </a:ln>
                <a:effectLst/>
                <a:ea typeface="Calibri" panose="020F0502020204030204" pitchFamily="34" charset="0"/>
                <a:cs typeface="Times New Roman" panose="02020603050405020304" pitchFamily="18" charset="0"/>
              </a:rPr>
              <a:t> </a:t>
            </a:r>
            <a:r>
              <a:rPr lang="en-IE" sz="2000" b="1" dirty="0">
                <a:effectLst/>
                <a:ea typeface="Calibri" panose="020F0502020204030204" pitchFamily="34" charset="0"/>
                <a:cs typeface="Times New Roman" panose="02020603050405020304" pitchFamily="18" charset="0"/>
              </a:rPr>
              <a:t>                                        </a:t>
            </a:r>
            <a:r>
              <a:rPr lang="en-IE" sz="1250" b="1" dirty="0">
                <a:effectLst/>
                <a:latin typeface="Arial" panose="020B0604020202020204" pitchFamily="34" charset="0"/>
                <a:ea typeface="Calibri" panose="020F0502020204030204" pitchFamily="34" charset="0"/>
                <a:cs typeface="Times New Roman" panose="02020603050405020304" pitchFamily="18" charset="0"/>
              </a:rPr>
              <a:t>                                                     </a:t>
            </a:r>
            <a:endParaRPr lang="en-IE"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19734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iúr 2" descr="Pictiúr a bhfuil líníocht ann&#10;&#10;Gineadh an tuairisc go huathoibríoch">
            <a:extLst>
              <a:ext uri="{FF2B5EF4-FFF2-40B4-BE49-F238E27FC236}">
                <a16:creationId xmlns:a16="http://schemas.microsoft.com/office/drawing/2014/main" id="{64F468ED-39F5-4197-A81F-10C6A03CC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197498"/>
            <a:ext cx="5413148" cy="2478624"/>
          </a:xfrm>
          <a:prstGeom prst="rect">
            <a:avLst/>
          </a:prstGeom>
        </p:spPr>
      </p:pic>
      <p:graphicFrame>
        <p:nvGraphicFramePr>
          <p:cNvPr id="4" name="Tábla 3">
            <a:extLst>
              <a:ext uri="{FF2B5EF4-FFF2-40B4-BE49-F238E27FC236}">
                <a16:creationId xmlns:a16="http://schemas.microsoft.com/office/drawing/2014/main" id="{59D9E204-8DE7-4A01-A6DB-1DC38A27F393}"/>
              </a:ext>
            </a:extLst>
          </p:cNvPr>
          <p:cNvGraphicFramePr>
            <a:graphicFrameLocks noGrp="1"/>
          </p:cNvGraphicFramePr>
          <p:nvPr>
            <p:extLst>
              <p:ext uri="{D42A27DB-BD31-4B8C-83A1-F6EECF244321}">
                <p14:modId xmlns:p14="http://schemas.microsoft.com/office/powerpoint/2010/main" val="1909763732"/>
              </p:ext>
            </p:extLst>
          </p:nvPr>
        </p:nvGraphicFramePr>
        <p:xfrm>
          <a:off x="232229" y="3137128"/>
          <a:ext cx="11640457" cy="2593086"/>
        </p:xfrm>
        <a:graphic>
          <a:graphicData uri="http://schemas.openxmlformats.org/drawingml/2006/table">
            <a:tbl>
              <a:tblPr firstRow="1" firstCol="1" bandRow="1"/>
              <a:tblGrid>
                <a:gridCol w="2683147">
                  <a:extLst>
                    <a:ext uri="{9D8B030D-6E8A-4147-A177-3AD203B41FA5}">
                      <a16:colId xmlns:a16="http://schemas.microsoft.com/office/drawing/2014/main" val="104980071"/>
                    </a:ext>
                  </a:extLst>
                </a:gridCol>
                <a:gridCol w="2863963">
                  <a:extLst>
                    <a:ext uri="{9D8B030D-6E8A-4147-A177-3AD203B41FA5}">
                      <a16:colId xmlns:a16="http://schemas.microsoft.com/office/drawing/2014/main" val="141946387"/>
                    </a:ext>
                  </a:extLst>
                </a:gridCol>
                <a:gridCol w="2688204">
                  <a:extLst>
                    <a:ext uri="{9D8B030D-6E8A-4147-A177-3AD203B41FA5}">
                      <a16:colId xmlns:a16="http://schemas.microsoft.com/office/drawing/2014/main" val="1496208625"/>
                    </a:ext>
                  </a:extLst>
                </a:gridCol>
                <a:gridCol w="3405143">
                  <a:extLst>
                    <a:ext uri="{9D8B030D-6E8A-4147-A177-3AD203B41FA5}">
                      <a16:colId xmlns:a16="http://schemas.microsoft.com/office/drawing/2014/main" val="1059556307"/>
                    </a:ext>
                  </a:extLst>
                </a:gridCol>
              </a:tblGrid>
              <a:tr h="0">
                <a:tc>
                  <a:txBody>
                    <a:bodyPr/>
                    <a:lstStyle/>
                    <a:p>
                      <a:pPr algn="ctr">
                        <a:lnSpc>
                          <a:spcPct val="107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Daonra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Thuaisceart</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Éireann</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Líon na ndaoine a bhfuil “cumas éigin” ar an Ghaeilge acu.</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Líon na ndaoine a dúirt go raibh Gaeilge labhartha acu.</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Líon na ndaoine a dúirt go n-úsáideann siad Gaeilge mar a bpríomhtheanga bhaile.</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36896571"/>
                  </a:ext>
                </a:extLst>
              </a:tr>
              <a:tr h="0">
                <a:tc>
                  <a:txBody>
                    <a:bodyPr/>
                    <a:lstStyle/>
                    <a:p>
                      <a:pPr algn="ctr">
                        <a:lnSpc>
                          <a:spcPct val="150000"/>
                        </a:lnSpc>
                        <a:spcAft>
                          <a:spcPts val="800"/>
                        </a:spcAft>
                      </a:pPr>
                      <a:r>
                        <a:rPr lang="ga-IE" sz="20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1,810,863</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(Thar 3 bliana d’aois: 1,735,711)</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solidFill>
                            <a:srgbClr val="FF0000"/>
                          </a:solidFill>
                          <a:effectLst/>
                          <a:latin typeface="Calibri" panose="020F0502020204030204" pitchFamily="34" charset="0"/>
                          <a:ea typeface="Calibri" panose="020F0502020204030204" pitchFamily="34" charset="0"/>
                          <a:cs typeface="Calibri" panose="020F0502020204030204" pitchFamily="34" charset="0"/>
                        </a:rPr>
                        <a:t>184,898</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2000" b="1">
                          <a:solidFill>
                            <a:srgbClr val="FF0000"/>
                          </a:solidFill>
                          <a:effectLst/>
                          <a:latin typeface="Calibri" panose="020F0502020204030204" pitchFamily="34" charset="0"/>
                          <a:ea typeface="Calibri" panose="020F0502020204030204" pitchFamily="34" charset="0"/>
                          <a:cs typeface="Calibri" panose="020F0502020204030204" pitchFamily="34" charset="0"/>
                        </a:rPr>
                        <a:t>10.65%</a:t>
                      </a:r>
                      <a:r>
                        <a:rPr lang="ga-IE" sz="2000">
                          <a:solidFill>
                            <a:srgbClr val="FF0000"/>
                          </a:solidFill>
                          <a:effectLst/>
                          <a:latin typeface="Calibri" panose="020F0502020204030204" pitchFamily="34" charset="0"/>
                          <a:ea typeface="Calibri" panose="020F0502020204030204" pitchFamily="34" charset="0"/>
                          <a:cs typeface="Calibri" panose="020F0502020204030204" pitchFamily="34" charset="0"/>
                        </a:rPr>
                        <a:t> den daonra</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104,943</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(6.05% den daonra)</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4,130</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(0.2% den daonra)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1364251"/>
                  </a:ext>
                </a:extLst>
              </a:tr>
            </a:tbl>
          </a:graphicData>
        </a:graphic>
      </p:graphicFrame>
      <p:sp>
        <p:nvSpPr>
          <p:cNvPr id="5" name="Rectangle 1">
            <a:extLst>
              <a:ext uri="{FF2B5EF4-FFF2-40B4-BE49-F238E27FC236}">
                <a16:creationId xmlns:a16="http://schemas.microsoft.com/office/drawing/2014/main" id="{2A345BF7-5E7D-421E-B88D-3DBBA6D93C3C}"/>
              </a:ext>
            </a:extLst>
          </p:cNvPr>
          <p:cNvSpPr>
            <a:spLocks noChangeArrowheads="1"/>
          </p:cNvSpPr>
          <p:nvPr/>
        </p:nvSpPr>
        <p:spPr bwMode="auto">
          <a:xfrm>
            <a:off x="3171825" y="29942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ga-IE" altLang="ga-IE" sz="1800" b="0" i="0" u="none" strike="noStrike" cap="none" normalizeH="0" baseline="0">
                <a:ln>
                  <a:noFill/>
                </a:ln>
                <a:solidFill>
                  <a:schemeClr val="tx1"/>
                </a:solidFill>
                <a:effectLst/>
                <a:latin typeface="Arial" panose="020B0604020202020204" pitchFamily="34" charset="0"/>
              </a:rPr>
            </a:br>
            <a:endParaRPr kumimoji="0" lang="ga-IE" altLang="ga-IE" sz="1800" b="0" i="0" u="none" strike="noStrike" cap="none" normalizeH="0" baseline="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9FE7D3D2-B469-458F-8D7A-6866F5272F30}"/>
              </a:ext>
            </a:extLst>
          </p:cNvPr>
          <p:cNvSpPr>
            <a:spLocks noChangeArrowheads="1"/>
          </p:cNvSpPr>
          <p:nvPr/>
        </p:nvSpPr>
        <p:spPr bwMode="auto">
          <a:xfrm>
            <a:off x="2029732" y="6191220"/>
            <a:ext cx="4022725" cy="635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ga-IE"/>
          </a:p>
        </p:txBody>
      </p:sp>
      <p:sp>
        <p:nvSpPr>
          <p:cNvPr id="7" name="Rectangle 3">
            <a:extLst>
              <a:ext uri="{FF2B5EF4-FFF2-40B4-BE49-F238E27FC236}">
                <a16:creationId xmlns:a16="http://schemas.microsoft.com/office/drawing/2014/main" id="{38AC14E2-58FE-47DD-AEFA-9B33905580DC}"/>
              </a:ext>
            </a:extLst>
          </p:cNvPr>
          <p:cNvSpPr>
            <a:spLocks noChangeArrowheads="1"/>
          </p:cNvSpPr>
          <p:nvPr/>
        </p:nvSpPr>
        <p:spPr bwMode="auto">
          <a:xfrm>
            <a:off x="1901824" y="6281320"/>
            <a:ext cx="80954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1200" b="0" i="0" u="sng" strike="noStrike" cap="none" normalizeH="0" baseline="30000" dirty="0">
                <a:ln>
                  <a:noFill/>
                </a:ln>
                <a:solidFill>
                  <a:srgbClr val="954F72"/>
                </a:solidFill>
                <a:effectLst/>
                <a:latin typeface="Calibri" panose="020F0502020204030204" pitchFamily="34" charset="0"/>
                <a:ea typeface="Times New Roman" panose="02020603050405020304" pitchFamily="18" charset="0"/>
                <a:cs typeface="Calibri" panose="020F0502020204030204" pitchFamily="34" charset="0"/>
                <a:hlinkClick r:id="rId3"/>
              </a:rPr>
              <a:t>[</a:t>
            </a:r>
            <a:r>
              <a:rPr kumimoji="0" lang="ga-IE" altLang="ga-IE" sz="1200" b="0" i="0" u="sng" strike="noStrike" cap="none" normalizeH="0" baseline="30000" dirty="0" bmk="">
                <a:ln>
                  <a:noFill/>
                </a:ln>
                <a:solidFill>
                  <a:srgbClr val="954F72"/>
                </a:solidFill>
                <a:effectLst/>
                <a:latin typeface="Calibri" panose="020F0502020204030204" pitchFamily="34" charset="0"/>
                <a:ea typeface="Times New Roman" panose="02020603050405020304" pitchFamily="18" charset="0"/>
                <a:cs typeface="Calibri" panose="020F0502020204030204" pitchFamily="34" charset="0"/>
                <a:hlinkClick r:id="rId3"/>
              </a:rPr>
              <a:t>1]</a:t>
            </a:r>
            <a:r>
              <a:rPr kumimoji="0" lang="ga-IE" altLang="ga-IE"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kumimoji="0" lang="ga-IE" altLang="ga-IE"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hlinkClick r:id="rId4"/>
              </a:rPr>
              <a:t>https://www.ninis2.nisra.gov.uk/public/PivotGrid.aspx?ds=2778&amp;lh=37&amp;yn=2011&amp;sk=136&amp;sn=Census%202011&amp;yearfilter=</a:t>
            </a:r>
            <a:r>
              <a:rPr kumimoji="0" lang="en-IE" altLang="ga-IE"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hlinkClick r:id="rId4"/>
              </a:rPr>
              <a:t> </a:t>
            </a:r>
            <a:endParaRPr kumimoji="0" lang="en-IE" altLang="ga-IE"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7987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iúr 1">
            <a:extLst>
              <a:ext uri="{FF2B5EF4-FFF2-40B4-BE49-F238E27FC236}">
                <a16:creationId xmlns:a16="http://schemas.microsoft.com/office/drawing/2014/main" id="{B857FB97-0CA8-4D81-8F42-BDE1F087D4A5}"/>
              </a:ext>
            </a:extLst>
          </p:cNvPr>
          <p:cNvPicPr/>
          <p:nvPr/>
        </p:nvPicPr>
        <p:blipFill>
          <a:blip r:embed="rId2"/>
          <a:stretch>
            <a:fillRect/>
          </a:stretch>
        </p:blipFill>
        <p:spPr>
          <a:xfrm>
            <a:off x="725716" y="2585487"/>
            <a:ext cx="3245710" cy="3532244"/>
          </a:xfrm>
          <a:prstGeom prst="rect">
            <a:avLst/>
          </a:prstGeom>
        </p:spPr>
      </p:pic>
      <p:pic>
        <p:nvPicPr>
          <p:cNvPr id="3" name="Pictiúr 2" descr="Towards Inclusion Protestants &amp; the Irish Language Bog — An Ceathrú Póilí  Bookshop Belfast">
            <a:extLst>
              <a:ext uri="{FF2B5EF4-FFF2-40B4-BE49-F238E27FC236}">
                <a16:creationId xmlns:a16="http://schemas.microsoft.com/office/drawing/2014/main" id="{D5BFB557-EBCA-4DD2-B335-CF6E9BAB87F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22508" y="2585487"/>
            <a:ext cx="3075865" cy="3464909"/>
          </a:xfrm>
          <a:prstGeom prst="rect">
            <a:avLst/>
          </a:prstGeom>
          <a:noFill/>
          <a:ln>
            <a:noFill/>
          </a:ln>
        </p:spPr>
      </p:pic>
      <p:sp>
        <p:nvSpPr>
          <p:cNvPr id="5" name="Bosca téacs 4">
            <a:extLst>
              <a:ext uri="{FF2B5EF4-FFF2-40B4-BE49-F238E27FC236}">
                <a16:creationId xmlns:a16="http://schemas.microsoft.com/office/drawing/2014/main" id="{BE3149B6-280D-4E38-B16E-091EBE2351D7}"/>
              </a:ext>
            </a:extLst>
          </p:cNvPr>
          <p:cNvSpPr txBox="1"/>
          <p:nvPr/>
        </p:nvSpPr>
        <p:spPr>
          <a:xfrm>
            <a:off x="166914" y="181201"/>
            <a:ext cx="11493364" cy="2352952"/>
          </a:xfrm>
          <a:prstGeom prst="rect">
            <a:avLst/>
          </a:prstGeom>
          <a:noFill/>
        </p:spPr>
        <p:txBody>
          <a:bodyPr wrap="square">
            <a:spAutoFit/>
          </a:bodyPr>
          <a:lstStyle/>
          <a:p>
            <a:pPr algn="just">
              <a:lnSpc>
                <a:spcPct val="150000"/>
              </a:lnSpc>
              <a:spcAft>
                <a:spcPts val="800"/>
              </a:spcAft>
            </a:pPr>
            <a:r>
              <a:rPr lang="ga-IE" sz="2000" dirty="0">
                <a:latin typeface="Calibri" panose="020F0502020204030204" pitchFamily="34" charset="0"/>
                <a:ea typeface="Calibri" panose="020F0502020204030204" pitchFamily="34" charset="0"/>
                <a:cs typeface="Calibri" panose="020F0502020204030204" pitchFamily="34" charset="0"/>
              </a:rPr>
              <a:t>Níos minice ná a mhalairt ceapann daoine go mbaineann an Ghaeilge leis an phobal náisiúnach/</a:t>
            </a:r>
            <a:r>
              <a:rPr lang="ga-IE" sz="2000" dirty="0" err="1">
                <a:latin typeface="Calibri" panose="020F0502020204030204" pitchFamily="34" charset="0"/>
                <a:ea typeface="Calibri" panose="020F0502020204030204" pitchFamily="34" charset="0"/>
                <a:cs typeface="Calibri" panose="020F0502020204030204" pitchFamily="34" charset="0"/>
              </a:rPr>
              <a:t>phoblachtach</a:t>
            </a:r>
            <a:r>
              <a:rPr lang="ga-IE" sz="2000" dirty="0">
                <a:latin typeface="Calibri" panose="020F0502020204030204" pitchFamily="34" charset="0"/>
                <a:ea typeface="Calibri" panose="020F0502020204030204" pitchFamily="34" charset="0"/>
                <a:cs typeface="Calibri" panose="020F0502020204030204" pitchFamily="34" charset="0"/>
              </a:rPr>
              <a:t> amháin. T</a:t>
            </a:r>
            <a:r>
              <a:rPr lang="ga-IE" sz="2000" dirty="0">
                <a:effectLst/>
                <a:latin typeface="Calibri" panose="020F0502020204030204" pitchFamily="34" charset="0"/>
                <a:ea typeface="Calibri" panose="020F0502020204030204" pitchFamily="34" charset="0"/>
                <a:cs typeface="Calibri" panose="020F0502020204030204" pitchFamily="34" charset="0"/>
              </a:rPr>
              <a:t>á</a:t>
            </a:r>
            <a:r>
              <a:rPr lang="ga-IE" sz="2000" dirty="0">
                <a:latin typeface="Calibri" panose="020F0502020204030204" pitchFamily="34" charset="0"/>
                <a:ea typeface="Calibri" panose="020F0502020204030204" pitchFamily="34" charset="0"/>
                <a:cs typeface="Calibri" panose="020F0502020204030204" pitchFamily="34" charset="0"/>
              </a:rPr>
              <a:t> sé tábhachtach a aithint go bhfuil</a:t>
            </a:r>
            <a:r>
              <a:rPr lang="ga-IE" sz="2000" dirty="0">
                <a:effectLst/>
                <a:latin typeface="Calibri" panose="020F0502020204030204" pitchFamily="34" charset="0"/>
                <a:ea typeface="Calibri" panose="020F0502020204030204" pitchFamily="34" charset="0"/>
                <a:cs typeface="Calibri" panose="020F0502020204030204" pitchFamily="34" charset="0"/>
              </a:rPr>
              <a:t> suim ag réimse leathan daoine sa Ghaeilge</a:t>
            </a:r>
            <a:r>
              <a:rPr lang="ga-IE" sz="2000" dirty="0">
                <a:latin typeface="Calibri" panose="020F0502020204030204" pitchFamily="34" charset="0"/>
                <a:ea typeface="Calibri" panose="020F0502020204030204" pitchFamily="34" charset="0"/>
                <a:cs typeface="Calibri" panose="020F0502020204030204" pitchFamily="34" charset="0"/>
              </a:rPr>
              <a:t>, </a:t>
            </a:r>
            <a:r>
              <a:rPr lang="ga-IE" sz="2000" dirty="0">
                <a:effectLst/>
                <a:latin typeface="Calibri" panose="020F0502020204030204" pitchFamily="34" charset="0"/>
                <a:ea typeface="Calibri" panose="020F0502020204030204" pitchFamily="34" charset="0"/>
                <a:cs typeface="Calibri" panose="020F0502020204030204" pitchFamily="34" charset="0"/>
              </a:rPr>
              <a:t>daoine ó chúlra </a:t>
            </a:r>
            <a:r>
              <a:rPr lang="ga-IE" sz="2000" dirty="0" err="1">
                <a:effectLst/>
                <a:latin typeface="Calibri" panose="020F0502020204030204" pitchFamily="34" charset="0"/>
                <a:ea typeface="Calibri" panose="020F0502020204030204" pitchFamily="34" charset="0"/>
                <a:cs typeface="Calibri" panose="020F0502020204030204" pitchFamily="34" charset="0"/>
              </a:rPr>
              <a:t>protastúnach</a:t>
            </a:r>
            <a:r>
              <a:rPr lang="ga-IE" sz="2000" dirty="0">
                <a:effectLst/>
                <a:latin typeface="Calibri" panose="020F0502020204030204" pitchFamily="34" charset="0"/>
                <a:ea typeface="Calibri" panose="020F0502020204030204" pitchFamily="34" charset="0"/>
                <a:cs typeface="Calibri" panose="020F0502020204030204" pitchFamily="34" charset="0"/>
              </a:rPr>
              <a:t>/aontachtach/</a:t>
            </a:r>
            <a:r>
              <a:rPr lang="ga-IE" sz="2000" dirty="0" err="1">
                <a:latin typeface="Calibri" panose="020F0502020204030204" pitchFamily="34" charset="0"/>
                <a:ea typeface="Calibri" panose="020F0502020204030204" pitchFamily="34" charset="0"/>
                <a:cs typeface="Calibri" panose="020F0502020204030204" pitchFamily="34" charset="0"/>
              </a:rPr>
              <a:t>d</a:t>
            </a:r>
            <a:r>
              <a:rPr lang="ga-IE" sz="2000" dirty="0" err="1">
                <a:effectLst/>
                <a:latin typeface="Calibri" panose="020F0502020204030204" pitchFamily="34" charset="0"/>
                <a:ea typeface="Calibri" panose="020F0502020204030204" pitchFamily="34" charset="0"/>
                <a:cs typeface="Calibri" panose="020F0502020204030204" pitchFamily="34" charset="0"/>
              </a:rPr>
              <a:t>ílseach</a:t>
            </a:r>
            <a:r>
              <a:rPr lang="ga-IE" sz="2000" dirty="0">
                <a:effectLst/>
                <a:latin typeface="Calibri" panose="020F0502020204030204" pitchFamily="34" charset="0"/>
                <a:ea typeface="Calibri" panose="020F0502020204030204" pitchFamily="34" charset="0"/>
                <a:cs typeface="Calibri" panose="020F0502020204030204" pitchFamily="34" charset="0"/>
              </a:rPr>
              <a:t> ina measc m.sh. </a:t>
            </a:r>
            <a:r>
              <a:rPr lang="ga-IE" sz="2000" dirty="0" err="1">
                <a:effectLst/>
                <a:latin typeface="Calibri" panose="020F0502020204030204" pitchFamily="34" charset="0"/>
                <a:ea typeface="Calibri" panose="020F0502020204030204" pitchFamily="34" charset="0"/>
                <a:cs typeface="Calibri" panose="020F0502020204030204" pitchFamily="34" charset="0"/>
              </a:rPr>
              <a:t>Linda</a:t>
            </a:r>
            <a:r>
              <a:rPr lang="ga-IE" sz="2000" dirty="0">
                <a:effectLst/>
                <a:latin typeface="Calibri" panose="020F0502020204030204" pitchFamily="34" charset="0"/>
                <a:ea typeface="Calibri" panose="020F0502020204030204" pitchFamily="34" charset="0"/>
                <a:cs typeface="Calibri" panose="020F0502020204030204" pitchFamily="34" charset="0"/>
              </a:rPr>
              <a:t> </a:t>
            </a:r>
            <a:r>
              <a:rPr lang="ga-IE" sz="2000" dirty="0" err="1">
                <a:effectLst/>
                <a:latin typeface="Calibri" panose="020F0502020204030204" pitchFamily="34" charset="0"/>
                <a:ea typeface="Calibri" panose="020F0502020204030204" pitchFamily="34" charset="0"/>
                <a:cs typeface="Calibri" panose="020F0502020204030204" pitchFamily="34" charset="0"/>
              </a:rPr>
              <a:t>Ervine</a:t>
            </a:r>
            <a:r>
              <a:rPr lang="ga-IE" sz="2000" dirty="0">
                <a:effectLst/>
                <a:latin typeface="Calibri" panose="020F0502020204030204" pitchFamily="34" charset="0"/>
                <a:ea typeface="Calibri" panose="020F0502020204030204" pitchFamily="34" charset="0"/>
                <a:cs typeface="Calibri" panose="020F0502020204030204" pitchFamily="34" charset="0"/>
              </a:rPr>
              <a:t>, gníomhaí teanga atá lonnaithe in oirthear Bhéal Feirste, an </a:t>
            </a:r>
            <a:r>
              <a:rPr lang="ga-IE" sz="2000" dirty="0" err="1">
                <a:effectLst/>
                <a:latin typeface="Calibri" panose="020F0502020204030204" pitchFamily="34" charset="0"/>
                <a:ea typeface="Calibri" panose="020F0502020204030204" pitchFamily="34" charset="0"/>
                <a:cs typeface="Calibri" panose="020F0502020204030204" pitchFamily="34" charset="0"/>
              </a:rPr>
              <a:t>Dr</a:t>
            </a:r>
            <a:r>
              <a:rPr lang="ga-IE" sz="2000" dirty="0">
                <a:effectLst/>
                <a:latin typeface="Calibri" panose="020F0502020204030204" pitchFamily="34" charset="0"/>
                <a:ea typeface="Calibri" panose="020F0502020204030204" pitchFamily="34" charset="0"/>
                <a:cs typeface="Calibri" panose="020F0502020204030204" pitchFamily="34" charset="0"/>
              </a:rPr>
              <a:t> Ian </a:t>
            </a:r>
            <a:r>
              <a:rPr lang="ga-IE" sz="2000" dirty="0" err="1">
                <a:effectLst/>
                <a:latin typeface="Calibri" panose="020F0502020204030204" pitchFamily="34" charset="0"/>
                <a:ea typeface="Calibri" panose="020F0502020204030204" pitchFamily="34" charset="0"/>
                <a:cs typeface="Calibri" panose="020F0502020204030204" pitchFamily="34" charset="0"/>
              </a:rPr>
              <a:t>Malcolm</a:t>
            </a:r>
            <a:r>
              <a:rPr lang="ga-IE" sz="2000" dirty="0">
                <a:effectLst/>
                <a:latin typeface="Calibri" panose="020F0502020204030204" pitchFamily="34" charset="0"/>
                <a:ea typeface="Calibri" panose="020F0502020204030204" pitchFamily="34" charset="0"/>
                <a:cs typeface="Calibri" panose="020F0502020204030204" pitchFamily="34" charset="0"/>
              </a:rPr>
              <a:t>, múinteoir/iriseoir/taighdeoir atá lonnaithe ar an Lorgain i gCo. Ard Mhacha</a:t>
            </a:r>
            <a:r>
              <a:rPr lang="en-IE" sz="2000" dirty="0">
                <a:effectLst/>
                <a:latin typeface="Calibri" panose="020F0502020204030204" pitchFamily="34" charset="0"/>
                <a:ea typeface="Calibri" panose="020F0502020204030204" pitchFamily="34" charset="0"/>
                <a:cs typeface="Calibri" panose="020F0502020204030204" pitchFamily="34" charset="0"/>
              </a:rPr>
              <a:t> agus</a:t>
            </a:r>
            <a:r>
              <a:rPr lang="ga-IE" sz="2000" dirty="0">
                <a:effectLst/>
                <a:latin typeface="Calibri" panose="020F0502020204030204" pitchFamily="34" charset="0"/>
                <a:ea typeface="Calibri" panose="020F0502020204030204" pitchFamily="34" charset="0"/>
                <a:cs typeface="Calibri" panose="020F0502020204030204" pitchFamily="34" charset="0"/>
              </a:rPr>
              <a:t> Gordon </a:t>
            </a:r>
            <a:r>
              <a:rPr lang="ga-IE" sz="2000" dirty="0" err="1">
                <a:effectLst/>
                <a:latin typeface="Calibri" panose="020F0502020204030204" pitchFamily="34" charset="0"/>
                <a:ea typeface="Calibri" panose="020F0502020204030204" pitchFamily="34" charset="0"/>
                <a:cs typeface="Calibri" panose="020F0502020204030204" pitchFamily="34" charset="0"/>
              </a:rPr>
              <a:t>McCoy</a:t>
            </a:r>
            <a:r>
              <a:rPr lang="ga-IE" sz="2000" dirty="0">
                <a:effectLst/>
                <a:latin typeface="Calibri" panose="020F0502020204030204" pitchFamily="34" charset="0"/>
                <a:ea typeface="Calibri" panose="020F0502020204030204" pitchFamily="34" charset="0"/>
                <a:cs typeface="Calibri" panose="020F0502020204030204" pitchFamily="34" charset="0"/>
              </a:rPr>
              <a:t>, Oifigeach Oideachais Gaeilge in </a:t>
            </a:r>
            <a:r>
              <a:rPr lang="en-IE" sz="2000" dirty="0">
                <a:effectLst/>
                <a:latin typeface="Calibri" panose="020F0502020204030204" pitchFamily="34" charset="0"/>
                <a:ea typeface="Calibri" panose="020F0502020204030204" pitchFamily="34" charset="0"/>
                <a:cs typeface="Calibri" panose="020F0502020204030204" pitchFamily="34" charset="0"/>
              </a:rPr>
              <a:t>O</a:t>
            </a:r>
            <a:r>
              <a:rPr lang="ga-IE" sz="2000" dirty="0" err="1">
                <a:effectLst/>
                <a:latin typeface="Calibri" panose="020F0502020204030204" pitchFamily="34" charset="0"/>
                <a:ea typeface="Calibri" panose="020F0502020204030204" pitchFamily="34" charset="0"/>
                <a:cs typeface="Calibri" panose="020F0502020204030204" pitchFamily="34" charset="0"/>
              </a:rPr>
              <a:t>irthear</a:t>
            </a:r>
            <a:r>
              <a:rPr lang="ga-IE" sz="2000" dirty="0">
                <a:effectLst/>
                <a:latin typeface="Calibri" panose="020F0502020204030204" pitchFamily="34" charset="0"/>
                <a:ea typeface="Calibri" panose="020F0502020204030204" pitchFamily="34" charset="0"/>
                <a:cs typeface="Calibri" panose="020F0502020204030204" pitchFamily="34" charset="0"/>
              </a:rPr>
              <a:t> Bhéal Feirste</a:t>
            </a:r>
            <a:r>
              <a:rPr lang="en-IE" sz="2000" dirty="0">
                <a:effectLst/>
                <a:latin typeface="Calibri" panose="020F0502020204030204" pitchFamily="34" charset="0"/>
                <a:ea typeface="Calibri" panose="020F0502020204030204" pitchFamily="34" charset="0"/>
                <a:cs typeface="Calibri" panose="020F0502020204030204" pitchFamily="34" charset="0"/>
              </a:rPr>
              <a:t> agus </a:t>
            </a:r>
            <a:r>
              <a:rPr lang="ga-IE" sz="2000" dirty="0">
                <a:effectLst/>
                <a:latin typeface="Calibri" panose="020F0502020204030204" pitchFamily="34" charset="0"/>
                <a:ea typeface="Calibri" panose="020F0502020204030204" pitchFamily="34" charset="0"/>
                <a:cs typeface="Calibri" panose="020F0502020204030204" pitchFamily="34" charset="0"/>
              </a:rPr>
              <a:t>daoine eile nach iad.</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Bosca téacs 6">
            <a:extLst>
              <a:ext uri="{FF2B5EF4-FFF2-40B4-BE49-F238E27FC236}">
                <a16:creationId xmlns:a16="http://schemas.microsoft.com/office/drawing/2014/main" id="{2125A495-62AA-473F-9226-DB95D8666105}"/>
              </a:ext>
            </a:extLst>
          </p:cNvPr>
          <p:cNvSpPr txBox="1"/>
          <p:nvPr/>
        </p:nvSpPr>
        <p:spPr>
          <a:xfrm>
            <a:off x="725716" y="6248536"/>
            <a:ext cx="3461658" cy="276999"/>
          </a:xfrm>
          <a:prstGeom prst="rect">
            <a:avLst/>
          </a:prstGeom>
          <a:noFill/>
        </p:spPr>
        <p:txBody>
          <a:bodyPr wrap="square">
            <a:spAutoFit/>
          </a:bodyPr>
          <a:lstStyle/>
          <a:p>
            <a:r>
              <a:rPr lang="ga-IE" sz="1200" u="sng" dirty="0">
                <a:solidFill>
                  <a:srgbClr val="0000FF"/>
                </a:solidFill>
                <a:effectLst/>
                <a:latin typeface="Calibri" panose="020F0502020204030204" pitchFamily="34" charset="0"/>
                <a:ea typeface="Calibri" panose="020F0502020204030204" pitchFamily="34" charset="0"/>
                <a:cs typeface="Calibri" panose="020F0502020204030204" pitchFamily="34" charset="0"/>
                <a:hlinkClick r:id="rId4"/>
              </a:rPr>
              <a:t>https://www.ebm.org.uk/turas/</a:t>
            </a:r>
            <a:endParaRPr lang="ga-IE" sz="1200" dirty="0"/>
          </a:p>
        </p:txBody>
      </p:sp>
      <p:sp>
        <p:nvSpPr>
          <p:cNvPr id="9" name="Bosca téacs 8">
            <a:extLst>
              <a:ext uri="{FF2B5EF4-FFF2-40B4-BE49-F238E27FC236}">
                <a16:creationId xmlns:a16="http://schemas.microsoft.com/office/drawing/2014/main" id="{56C5DAD6-0C64-4CA1-BB75-0EBDA326ADD7}"/>
              </a:ext>
            </a:extLst>
          </p:cNvPr>
          <p:cNvSpPr txBox="1"/>
          <p:nvPr/>
        </p:nvSpPr>
        <p:spPr>
          <a:xfrm>
            <a:off x="4252952" y="6248536"/>
            <a:ext cx="3859202" cy="276999"/>
          </a:xfrm>
          <a:prstGeom prst="rect">
            <a:avLst/>
          </a:prstGeom>
          <a:noFill/>
        </p:spPr>
        <p:txBody>
          <a:bodyPr wrap="square">
            <a:spAutoFit/>
          </a:bodyPr>
          <a:lstStyle/>
          <a:p>
            <a:r>
              <a:rPr lang="ga-IE" sz="1200" u="sng" dirty="0">
                <a:solidFill>
                  <a:srgbClr val="0000FF"/>
                </a:solidFill>
                <a:effectLst/>
                <a:latin typeface="Calibri" panose="020F0502020204030204" pitchFamily="34" charset="0"/>
                <a:ea typeface="Calibri" panose="020F0502020204030204" pitchFamily="34" charset="0"/>
                <a:cs typeface="Calibri" panose="020F0502020204030204" pitchFamily="34" charset="0"/>
                <a:hlinkClick r:id="rId5"/>
              </a:rPr>
              <a:t>https://irishwithian.wordpress.com/about/</a:t>
            </a:r>
            <a:endParaRPr lang="ga-IE" sz="1200" dirty="0"/>
          </a:p>
        </p:txBody>
      </p:sp>
      <p:sp>
        <p:nvSpPr>
          <p:cNvPr id="8" name="Bosca téacs 7">
            <a:extLst>
              <a:ext uri="{FF2B5EF4-FFF2-40B4-BE49-F238E27FC236}">
                <a16:creationId xmlns:a16="http://schemas.microsoft.com/office/drawing/2014/main" id="{A61F14F9-4D1C-4FF8-AD24-F2CE931A065A}"/>
              </a:ext>
            </a:extLst>
          </p:cNvPr>
          <p:cNvSpPr txBox="1"/>
          <p:nvPr/>
        </p:nvSpPr>
        <p:spPr>
          <a:xfrm>
            <a:off x="7783935" y="6248535"/>
            <a:ext cx="6096698" cy="276999"/>
          </a:xfrm>
          <a:prstGeom prst="rect">
            <a:avLst/>
          </a:prstGeom>
          <a:noFill/>
        </p:spPr>
        <p:txBody>
          <a:bodyPr wrap="square">
            <a:spAutoFit/>
          </a:bodyPr>
          <a:lstStyle/>
          <a:p>
            <a:r>
              <a:rPr lang="ga-IE" sz="1200" dirty="0">
                <a:hlinkClick r:id="rId6"/>
              </a:rPr>
              <a:t>https://cain.ulster.ac.uk/issues/language/mccoy97.htm#learn</a:t>
            </a:r>
            <a:r>
              <a:rPr lang="en-IE" sz="1200" dirty="0"/>
              <a:t> </a:t>
            </a:r>
            <a:endParaRPr lang="ga-IE" sz="1200" dirty="0"/>
          </a:p>
        </p:txBody>
      </p:sp>
      <p:pic>
        <p:nvPicPr>
          <p:cNvPr id="10" name="Pictiúr 9" descr="Pictiúr a bhfuil teachtaireacht téacs ann&#10;&#10;Gineadh an tuairisc go huathoibríoch">
            <a:extLst>
              <a:ext uri="{FF2B5EF4-FFF2-40B4-BE49-F238E27FC236}">
                <a16:creationId xmlns:a16="http://schemas.microsoft.com/office/drawing/2014/main" id="{9D0E0A1B-B0AC-4ADD-97C4-3900A64ECCB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27409" y="2585487"/>
            <a:ext cx="2458573" cy="3472562"/>
          </a:xfrm>
          <a:prstGeom prst="rect">
            <a:avLst/>
          </a:prstGeom>
        </p:spPr>
      </p:pic>
    </p:spTree>
    <p:extLst>
      <p:ext uri="{BB962C8B-B14F-4D97-AF65-F5344CB8AC3E}">
        <p14:creationId xmlns:p14="http://schemas.microsoft.com/office/powerpoint/2010/main" val="2186008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osca téacs 4">
            <a:extLst>
              <a:ext uri="{FF2B5EF4-FFF2-40B4-BE49-F238E27FC236}">
                <a16:creationId xmlns:a16="http://schemas.microsoft.com/office/drawing/2014/main" id="{C23AD8FB-82EC-4EB3-81B0-AB4F5B403566}"/>
              </a:ext>
            </a:extLst>
          </p:cNvPr>
          <p:cNvSpPr txBox="1"/>
          <p:nvPr/>
        </p:nvSpPr>
        <p:spPr>
          <a:xfrm>
            <a:off x="326571" y="4188570"/>
            <a:ext cx="11785600" cy="1600182"/>
          </a:xfrm>
          <a:prstGeom prst="rect">
            <a:avLst/>
          </a:prstGeom>
          <a:noFill/>
        </p:spPr>
        <p:txBody>
          <a:bodyPr wrap="square">
            <a:spAutoFit/>
          </a:bodyPr>
          <a:lstStyle/>
          <a:p>
            <a:pPr algn="just">
              <a:lnSpc>
                <a:spcPct val="107000"/>
              </a:lnSpc>
              <a:spcAft>
                <a:spcPts val="800"/>
              </a:spcAft>
            </a:pPr>
            <a:r>
              <a:rPr lang="ga-IE" sz="2000" dirty="0">
                <a:effectLst/>
                <a:ea typeface="Calibri" panose="020F0502020204030204" pitchFamily="34" charset="0"/>
              </a:rPr>
              <a:t>Tá droch-chlú ar Gregory </a:t>
            </a:r>
            <a:r>
              <a:rPr lang="ga-IE" sz="2000" dirty="0" err="1">
                <a:effectLst/>
                <a:ea typeface="Calibri" panose="020F0502020204030204" pitchFamily="34" charset="0"/>
              </a:rPr>
              <a:t>Campbell</a:t>
            </a:r>
            <a:r>
              <a:rPr lang="ga-IE" sz="2000" dirty="0">
                <a:effectLst/>
                <a:ea typeface="Calibri" panose="020F0502020204030204" pitchFamily="34" charset="0"/>
              </a:rPr>
              <a:t> MP mar gheall ar a dóigh ar dhúirt sé na focail </a:t>
            </a:r>
            <a:r>
              <a:rPr lang="ga-IE" sz="2000" i="1" dirty="0">
                <a:effectLst/>
                <a:ea typeface="Calibri" panose="020F0502020204030204" pitchFamily="34" charset="0"/>
              </a:rPr>
              <a:t>“</a:t>
            </a:r>
            <a:r>
              <a:rPr lang="ga-IE" sz="2000" i="1" dirty="0" err="1">
                <a:effectLst/>
                <a:ea typeface="Calibri" panose="020F0502020204030204" pitchFamily="34" charset="0"/>
              </a:rPr>
              <a:t>Curry</a:t>
            </a:r>
            <a:r>
              <a:rPr lang="ga-IE" sz="2000" i="1" dirty="0">
                <a:effectLst/>
                <a:ea typeface="Calibri" panose="020F0502020204030204" pitchFamily="34" charset="0"/>
              </a:rPr>
              <a:t> </a:t>
            </a:r>
            <a:r>
              <a:rPr lang="ga-IE" sz="2000" i="1" dirty="0" err="1">
                <a:effectLst/>
                <a:ea typeface="Calibri" panose="020F0502020204030204" pitchFamily="34" charset="0"/>
              </a:rPr>
              <a:t>my</a:t>
            </a:r>
            <a:r>
              <a:rPr lang="ga-IE" sz="2000" i="1" dirty="0">
                <a:effectLst/>
                <a:ea typeface="Calibri" panose="020F0502020204030204" pitchFamily="34" charset="0"/>
              </a:rPr>
              <a:t> </a:t>
            </a:r>
            <a:r>
              <a:rPr lang="ga-IE" sz="2000" i="1" dirty="0" err="1">
                <a:effectLst/>
                <a:ea typeface="Calibri" panose="020F0502020204030204" pitchFamily="34" charset="0"/>
              </a:rPr>
              <a:t>Yoghurt</a:t>
            </a:r>
            <a:r>
              <a:rPr lang="ga-IE" sz="2000" i="1" dirty="0">
                <a:effectLst/>
                <a:ea typeface="Calibri" panose="020F0502020204030204" pitchFamily="34" charset="0"/>
              </a:rPr>
              <a:t> Can Coca </a:t>
            </a:r>
            <a:r>
              <a:rPr lang="ga-IE" sz="2000" i="1" dirty="0" err="1">
                <a:effectLst/>
                <a:ea typeface="Calibri" panose="020F0502020204030204" pitchFamily="34" charset="0"/>
              </a:rPr>
              <a:t>Coalyer</a:t>
            </a:r>
            <a:r>
              <a:rPr lang="ga-IE" sz="2000" i="1" dirty="0">
                <a:effectLst/>
                <a:ea typeface="Calibri" panose="020F0502020204030204" pitchFamily="34" charset="0"/>
              </a:rPr>
              <a:t>”</a:t>
            </a:r>
            <a:r>
              <a:rPr lang="ga-IE" sz="2000" dirty="0">
                <a:effectLst/>
                <a:ea typeface="Calibri" panose="020F0502020204030204" pitchFamily="34" charset="0"/>
              </a:rPr>
              <a:t> mar pháirt de dhíospóireacht ar chearta teanga i dTionól Thuaisceart Éireann ar an 4 Samhain 2014.  </a:t>
            </a:r>
            <a:r>
              <a:rPr lang="ga-IE" sz="2000" dirty="0">
                <a:effectLst/>
              </a:rPr>
              <a:t> </a:t>
            </a:r>
            <a:endParaRPr lang="en-IE" sz="2000" dirty="0">
              <a:effectLst/>
            </a:endParaRPr>
          </a:p>
          <a:p>
            <a:pPr algn="ctr">
              <a:lnSpc>
                <a:spcPct val="107000"/>
              </a:lnSpc>
              <a:spcAft>
                <a:spcPts val="800"/>
              </a:spcAft>
            </a:pPr>
            <a:r>
              <a:rPr lang="ga-IE" sz="2000" u="sng" dirty="0">
                <a:solidFill>
                  <a:srgbClr val="0000FF"/>
                </a:solidFill>
                <a:effectLst/>
                <a:ea typeface="Calibri" panose="020F0502020204030204" pitchFamily="34" charset="0"/>
                <a:cs typeface="Calibri" panose="020F0502020204030204" pitchFamily="34" charset="0"/>
                <a:hlinkClick r:id="rId2"/>
              </a:rPr>
              <a:t>https://www.bbc.com/news/uk-northern-ireland-29895593 </a:t>
            </a:r>
            <a:endParaRPr lang="en-IE" sz="2000" u="sng" dirty="0">
              <a:solidFill>
                <a:srgbClr val="0000FF"/>
              </a:solidFill>
              <a:effectLst/>
              <a:ea typeface="Calibri" panose="020F0502020204030204" pitchFamily="34" charset="0"/>
              <a:cs typeface="Calibri" panose="020F0502020204030204" pitchFamily="34" charset="0"/>
            </a:endParaRPr>
          </a:p>
          <a:p>
            <a:pPr algn="just">
              <a:lnSpc>
                <a:spcPct val="107000"/>
              </a:lnSpc>
              <a:spcAft>
                <a:spcPts val="800"/>
              </a:spcAft>
            </a:pPr>
            <a:endParaRPr lang="ga-IE" sz="2000" dirty="0">
              <a:effectLst/>
              <a:ea typeface="Calibri" panose="020F0502020204030204" pitchFamily="34" charset="0"/>
              <a:cs typeface="Times New Roman" panose="02020603050405020304" pitchFamily="18" charset="0"/>
            </a:endParaRPr>
          </a:p>
        </p:txBody>
      </p:sp>
      <p:pic>
        <p:nvPicPr>
          <p:cNvPr id="7" name="Pictiúr 6" descr="Pictiúr a bhfuil duine, fear, culaith, carbhat ann&#10;&#10;Gineadh an tuairisc go huathoibríoch">
            <a:extLst>
              <a:ext uri="{FF2B5EF4-FFF2-40B4-BE49-F238E27FC236}">
                <a16:creationId xmlns:a16="http://schemas.microsoft.com/office/drawing/2014/main" id="{36F18181-3E8D-43BD-B4BD-BE44BB3302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8528" y="108230"/>
            <a:ext cx="4894943" cy="3261126"/>
          </a:xfrm>
          <a:prstGeom prst="rect">
            <a:avLst/>
          </a:prstGeom>
        </p:spPr>
      </p:pic>
    </p:spTree>
    <p:extLst>
      <p:ext uri="{BB962C8B-B14F-4D97-AF65-F5344CB8AC3E}">
        <p14:creationId xmlns:p14="http://schemas.microsoft.com/office/powerpoint/2010/main" val="1201862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Why is an Irish Language act a stumbling block at Stormont? - BBC Newsnight  - YouTube">
            <a:extLst>
              <a:ext uri="{FF2B5EF4-FFF2-40B4-BE49-F238E27FC236}">
                <a16:creationId xmlns:a16="http://schemas.microsoft.com/office/drawing/2014/main" id="{8A91DB86-2BA8-4962-954A-0FE757D301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2571" y="5202996"/>
            <a:ext cx="2857500" cy="16097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FBF228F3-0AC0-4A19-8A7C-34A5FA8D99F5}"/>
              </a:ext>
            </a:extLst>
          </p:cNvPr>
          <p:cNvSpPr>
            <a:spLocks noChangeArrowheads="1"/>
          </p:cNvSpPr>
          <p:nvPr/>
        </p:nvSpPr>
        <p:spPr bwMode="auto">
          <a:xfrm>
            <a:off x="0" y="275611"/>
            <a:ext cx="1200302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ga-IE" altLang="ga-IE"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Bhí eagraíochtaí ar nós </a:t>
            </a:r>
            <a:r>
              <a:rPr kumimoji="0" lang="ga-IE" altLang="ga-IE"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Pobal (</a:t>
            </a:r>
            <a:r>
              <a:rPr kumimoji="0" lang="ga-IE" altLang="ga-IE" sz="20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Scátheagras</a:t>
            </a:r>
            <a:r>
              <a:rPr kumimoji="0" lang="ga-IE" altLang="ga-IE"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Phobal na Gaeilge)</a:t>
            </a:r>
            <a:r>
              <a:rPr kumimoji="0" lang="ga-IE" altLang="ga-IE" sz="2000" b="0" i="0" u="sng" strike="noStrike" cap="none" normalizeH="0" baseline="30000" dirty="0">
                <a:ln>
                  <a:noFill/>
                </a:ln>
                <a:solidFill>
                  <a:srgbClr val="954F72"/>
                </a:solidFill>
                <a:effectLst/>
                <a:latin typeface="Calibri" panose="020F0502020204030204" pitchFamily="34" charset="0"/>
                <a:ea typeface="Calibri" panose="020F0502020204030204" pitchFamily="34" charset="0"/>
                <a:cs typeface="Calibri" panose="020F0502020204030204" pitchFamily="34" charset="0"/>
                <a:hlinkClick r:id="rId3"/>
              </a:rPr>
              <a:t>[</a:t>
            </a:r>
            <a:r>
              <a:rPr kumimoji="0" lang="ga-IE" altLang="ga-IE" sz="2000" b="0" i="0" u="sng" strike="noStrike" cap="none" normalizeH="0" baseline="30000" dirty="0" bmk="">
                <a:ln>
                  <a:noFill/>
                </a:ln>
                <a:solidFill>
                  <a:srgbClr val="954F72"/>
                </a:solidFill>
                <a:effectLst/>
                <a:latin typeface="Calibri" panose="020F0502020204030204" pitchFamily="34" charset="0"/>
                <a:ea typeface="Calibri" panose="020F0502020204030204" pitchFamily="34" charset="0"/>
                <a:cs typeface="Calibri" panose="020F0502020204030204" pitchFamily="34" charset="0"/>
                <a:hlinkClick r:id="rId3"/>
              </a:rPr>
              <a:t>1]</a:t>
            </a:r>
            <a:r>
              <a:rPr kumimoji="0" lang="ga-IE" altLang="ga-IE" sz="2000" b="0" i="0" u="none" strike="noStrike" cap="none" normalizeH="0" baseline="0" dirty="0" bmk="">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agus </a:t>
            </a:r>
            <a:r>
              <a:rPr kumimoji="0" lang="ga-IE" altLang="ga-IE" sz="2000" b="1" i="1" u="none" strike="noStrike" cap="none" normalizeH="0" baseline="0" dirty="0" bmk="">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An Dream Dearg</a:t>
            </a:r>
            <a:r>
              <a:rPr kumimoji="0" lang="ga-IE" altLang="ga-IE" sz="2000" b="0" i="0" u="sng" strike="noStrike" cap="none" normalizeH="0" baseline="30000" dirty="0" bmk="">
                <a:ln>
                  <a:noFill/>
                </a:ln>
                <a:solidFill>
                  <a:srgbClr val="954F72"/>
                </a:solidFill>
                <a:effectLst/>
                <a:latin typeface="Calibri" panose="020F0502020204030204" pitchFamily="34" charset="0"/>
                <a:ea typeface="Calibri" panose="020F0502020204030204" pitchFamily="34" charset="0"/>
                <a:cs typeface="Calibri" panose="020F0502020204030204" pitchFamily="34" charset="0"/>
                <a:hlinkClick r:id="rId4"/>
              </a:rPr>
              <a:t>[2]</a:t>
            </a:r>
            <a:r>
              <a:rPr kumimoji="0" lang="ga-IE" altLang="ga-IE"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iontach gníomhach sna </a:t>
            </a:r>
            <a:endParaRPr kumimoji="0" lang="en-IE" altLang="ga-IE"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ga-IE" altLang="ga-IE"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Sé Chontae le blianta beaga anuas agus iad ag iarraidh go rithfí Acht na Gaeilge</a:t>
            </a:r>
            <a:r>
              <a:rPr kumimoji="0" lang="ga-IE" altLang="ga-IE"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ga-IE" altLang="ga-IE" sz="1800" b="0" i="0" u="none" strike="noStrike" cap="none" normalizeH="0" baseline="0" dirty="0">
              <a:ln>
                <a:noFill/>
              </a:ln>
              <a:solidFill>
                <a:schemeClr val="tx1"/>
              </a:solidFill>
              <a:effectLst/>
              <a:latin typeface="Arial" panose="020B0604020202020204" pitchFamily="34" charset="0"/>
            </a:endParaRPr>
          </a:p>
        </p:txBody>
      </p:sp>
      <p:pic>
        <p:nvPicPr>
          <p:cNvPr id="10243" name="Pictiúr 3" descr="An Dream Dearg 🅾️🦸🏽‍♀️🦸🏻‍♂️ on Twitter: &quot;What is #CulturalSupremacy &amp;  how exactly has the Irish language been politicised? Seo muid ar bhóithrín  na smaointe - Let's look back! From 1366 to 2018,">
            <a:extLst>
              <a:ext uri="{FF2B5EF4-FFF2-40B4-BE49-F238E27FC236}">
                <a16:creationId xmlns:a16="http://schemas.microsoft.com/office/drawing/2014/main" id="{DF2E7ABC-BB23-4C90-8F96-4D669E948B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5714" y="1069748"/>
            <a:ext cx="2390013" cy="23900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5">
            <a:extLst>
              <a:ext uri="{FF2B5EF4-FFF2-40B4-BE49-F238E27FC236}">
                <a16:creationId xmlns:a16="http://schemas.microsoft.com/office/drawing/2014/main" id="{02E2824E-555B-4C62-8E34-16BA41B56AD0}"/>
              </a:ext>
            </a:extLst>
          </p:cNvPr>
          <p:cNvSpPr>
            <a:spLocks noChangeArrowheads="1"/>
          </p:cNvSpPr>
          <p:nvPr/>
        </p:nvSpPr>
        <p:spPr bwMode="auto">
          <a:xfrm>
            <a:off x="1066800" y="204061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ga-IE" altLang="ga-IE" sz="1200" b="0" i="0" u="none" strike="noStrike" cap="none" normalizeH="0" baseline="0">
                <a:ln>
                  <a:noFill/>
                </a:ln>
                <a:solidFill>
                  <a:schemeClr val="tx1"/>
                </a:solidFill>
                <a:effectLst/>
              </a:rPr>
            </a:br>
            <a:endParaRPr kumimoji="0" lang="ga-IE" altLang="ga-IE" sz="1800" b="0" i="0" u="none" strike="noStrike" cap="none" normalizeH="0" baseline="0">
              <a:ln>
                <a:noFill/>
              </a:ln>
              <a:solidFill>
                <a:schemeClr val="tx1"/>
              </a:solidFill>
              <a:effectLst/>
              <a:latin typeface="Arial" panose="020B0604020202020204" pitchFamily="34" charset="0"/>
            </a:endParaRPr>
          </a:p>
        </p:txBody>
      </p:sp>
      <p:sp>
        <p:nvSpPr>
          <p:cNvPr id="11" name="Bosca téacs 10">
            <a:extLst>
              <a:ext uri="{FF2B5EF4-FFF2-40B4-BE49-F238E27FC236}">
                <a16:creationId xmlns:a16="http://schemas.microsoft.com/office/drawing/2014/main" id="{358F9A62-6396-475A-944A-BE3635F215E1}"/>
              </a:ext>
            </a:extLst>
          </p:cNvPr>
          <p:cNvSpPr txBox="1"/>
          <p:nvPr/>
        </p:nvSpPr>
        <p:spPr>
          <a:xfrm>
            <a:off x="446314" y="4069520"/>
            <a:ext cx="11498943" cy="964367"/>
          </a:xfrm>
          <a:prstGeom prst="rect">
            <a:avLst/>
          </a:prstGeom>
          <a:noFill/>
        </p:spPr>
        <p:txBody>
          <a:bodyPr wrap="square">
            <a:spAutoFit/>
          </a:bodyPr>
          <a:lstStyle/>
          <a:p>
            <a:pPr>
              <a:lnSpc>
                <a:spcPct val="150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Bhí díospóireacht spéisiúil faoin ábhar le feiceáil ar</a:t>
            </a:r>
            <a:r>
              <a:rPr lang="ga-IE" sz="2000" i="1" dirty="0">
                <a:effectLst/>
                <a:latin typeface="Calibri" panose="020F0502020204030204" pitchFamily="34" charset="0"/>
                <a:ea typeface="Calibri" panose="020F0502020204030204" pitchFamily="34" charset="0"/>
                <a:cs typeface="Calibri" panose="020F0502020204030204" pitchFamily="34" charset="0"/>
              </a:rPr>
              <a:t> BBC </a:t>
            </a:r>
            <a:r>
              <a:rPr lang="ga-IE" sz="2000" i="1" dirty="0" err="1">
                <a:effectLst/>
                <a:latin typeface="Calibri" panose="020F0502020204030204" pitchFamily="34" charset="0"/>
                <a:ea typeface="Calibri" panose="020F0502020204030204" pitchFamily="34" charset="0"/>
                <a:cs typeface="Calibri" panose="020F0502020204030204" pitchFamily="34" charset="0"/>
              </a:rPr>
              <a:t>Newsnight</a:t>
            </a:r>
            <a:r>
              <a:rPr lang="ga-IE" sz="2000" dirty="0">
                <a:effectLst/>
                <a:latin typeface="Calibri" panose="020F0502020204030204" pitchFamily="34" charset="0"/>
                <a:ea typeface="Calibri" panose="020F0502020204030204" pitchFamily="34" charset="0"/>
                <a:cs typeface="Calibri" panose="020F0502020204030204" pitchFamily="34" charset="0"/>
              </a:rPr>
              <a:t> ar an 15 Feabhra, 2018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r>
              <a:rPr lang="ga-IE" sz="2000" u="sng" dirty="0">
                <a:solidFill>
                  <a:srgbClr val="0000FF"/>
                </a:solidFill>
                <a:effectLst/>
                <a:latin typeface="Calibri" panose="020F0502020204030204" pitchFamily="34" charset="0"/>
                <a:ea typeface="Times New Roman" panose="02020603050405020304" pitchFamily="18" charset="0"/>
                <a:hlinkClick r:id="rId6"/>
              </a:rPr>
              <a:t>https://www.youtube.com/watch?v=Td4dT-AkKbM</a:t>
            </a:r>
            <a:r>
              <a:rPr lang="ga-IE" sz="2000" dirty="0">
                <a:effectLst/>
                <a:latin typeface="Calibri" panose="020F0502020204030204" pitchFamily="34" charset="0"/>
                <a:ea typeface="Times New Roman" panose="02020603050405020304" pitchFamily="18" charset="0"/>
                <a:hlinkClick r:id="rId6"/>
              </a:rPr>
              <a:t>   </a:t>
            </a:r>
            <a:endParaRPr lang="ga-IE" sz="2000" dirty="0">
              <a:effectLst/>
              <a:latin typeface="Times New Roman" panose="02020603050405020304" pitchFamily="18" charset="0"/>
              <a:ea typeface="Times New Roman" panose="02020603050405020304" pitchFamily="18" charset="0"/>
            </a:endParaRPr>
          </a:p>
        </p:txBody>
      </p:sp>
      <p:pic>
        <p:nvPicPr>
          <p:cNvPr id="10" name="Pictiúr 9" descr="Pictiúr a bhfuil comhartha, ag tionól, ag léamh, bean ann&#10;&#10;Gineadh an tuairisc go huathoibríoch">
            <a:extLst>
              <a:ext uri="{FF2B5EF4-FFF2-40B4-BE49-F238E27FC236}">
                <a16:creationId xmlns:a16="http://schemas.microsoft.com/office/drawing/2014/main" id="{6C5D41B3-3156-4E05-B23C-5BD120018EA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10071" y="1069748"/>
            <a:ext cx="2650151" cy="2390013"/>
          </a:xfrm>
          <a:prstGeom prst="rect">
            <a:avLst/>
          </a:prstGeom>
        </p:spPr>
      </p:pic>
    </p:spTree>
    <p:extLst>
      <p:ext uri="{BB962C8B-B14F-4D97-AF65-F5344CB8AC3E}">
        <p14:creationId xmlns:p14="http://schemas.microsoft.com/office/powerpoint/2010/main" val="20496648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ábla 9">
            <a:extLst>
              <a:ext uri="{FF2B5EF4-FFF2-40B4-BE49-F238E27FC236}">
                <a16:creationId xmlns:a16="http://schemas.microsoft.com/office/drawing/2014/main" id="{7D23F80E-5BFD-4850-8A86-A50E9E426647}"/>
              </a:ext>
            </a:extLst>
          </p:cNvPr>
          <p:cNvGraphicFramePr>
            <a:graphicFrameLocks noGrp="1"/>
          </p:cNvGraphicFramePr>
          <p:nvPr>
            <p:extLst>
              <p:ext uri="{D42A27DB-BD31-4B8C-83A1-F6EECF244321}">
                <p14:modId xmlns:p14="http://schemas.microsoft.com/office/powerpoint/2010/main" val="4184151557"/>
              </p:ext>
            </p:extLst>
          </p:nvPr>
        </p:nvGraphicFramePr>
        <p:xfrm>
          <a:off x="3679371" y="456722"/>
          <a:ext cx="8302171" cy="4721518"/>
        </p:xfrm>
        <a:graphic>
          <a:graphicData uri="http://schemas.openxmlformats.org/drawingml/2006/table">
            <a:tbl>
              <a:tblPr firstRow="1" firstCol="1" bandRow="1"/>
              <a:tblGrid>
                <a:gridCol w="385488">
                  <a:extLst>
                    <a:ext uri="{9D8B030D-6E8A-4147-A177-3AD203B41FA5}">
                      <a16:colId xmlns:a16="http://schemas.microsoft.com/office/drawing/2014/main" val="95042662"/>
                    </a:ext>
                  </a:extLst>
                </a:gridCol>
                <a:gridCol w="7916683">
                  <a:extLst>
                    <a:ext uri="{9D8B030D-6E8A-4147-A177-3AD203B41FA5}">
                      <a16:colId xmlns:a16="http://schemas.microsoft.com/office/drawing/2014/main" val="490387002"/>
                    </a:ext>
                  </a:extLst>
                </a:gridCol>
              </a:tblGrid>
              <a:tr h="597851">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1</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Tabharfar stádas oifigiúil ar an Ghaeilge;</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7130881"/>
                  </a:ext>
                </a:extLst>
              </a:tr>
              <a:tr h="597851">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800"/>
                        </a:spcAft>
                      </a:pPr>
                      <a:r>
                        <a:rPr lang="ga-IE" sz="2000">
                          <a:effectLst/>
                          <a:latin typeface="Calibri" panose="020F0502020204030204" pitchFamily="34" charset="0"/>
                          <a:ea typeface="Calibri" panose="020F0502020204030204" pitchFamily="34" charset="0"/>
                          <a:cs typeface="Calibri" panose="020F0502020204030204" pitchFamily="34" charset="0"/>
                        </a:rPr>
                        <a:t>Ceapfar Coimisinéir Gaeilge;</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6341648"/>
                  </a:ext>
                </a:extLst>
              </a:tr>
              <a:tr h="1402313">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3</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Bunófar Lármhol Aistriúcháin sa Roinn Airgeadais le seirbhísí aistriúcháin a chur ar fáil do na 9 Roinn Feidhmiúcháin, Comhlachtaí Neamhthuilleamaí, Rialtas Áitiúil agus Comhlachtaí Poiblí.</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233359"/>
                  </a:ext>
                </a:extLst>
              </a:tr>
              <a:tr h="1525652">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4</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 Aisghairmfear reachtaíocht chonspóideach </a:t>
                      </a:r>
                      <a:r>
                        <a:rPr lang="ga-IE" sz="1000" dirty="0">
                          <a:effectLst/>
                          <a:latin typeface="Calibri" panose="020F0502020204030204" pitchFamily="34" charset="0"/>
                          <a:ea typeface="Calibri" panose="020F0502020204030204" pitchFamily="34" charset="0"/>
                          <a:cs typeface="Calibri" panose="020F0502020204030204" pitchFamily="34" charset="0"/>
                        </a:rPr>
                        <a:t>(</a:t>
                      </a:r>
                      <a:r>
                        <a:rPr lang="en-IE" sz="1000" i="1" noProof="0" dirty="0">
                          <a:effectLst/>
                          <a:latin typeface="Calibri" panose="020F0502020204030204" pitchFamily="34" charset="0"/>
                          <a:ea typeface="Calibri" panose="020F0502020204030204" pitchFamily="34" charset="0"/>
                          <a:cs typeface="Calibri" panose="020F0502020204030204" pitchFamily="34" charset="0"/>
                        </a:rPr>
                        <a:t>Administration of Justice (Language) Act Ireland </a:t>
                      </a:r>
                      <a:r>
                        <a:rPr lang="en-IE" sz="1000" noProof="0" dirty="0">
                          <a:effectLst/>
                          <a:latin typeface="Calibri" panose="020F0502020204030204" pitchFamily="34" charset="0"/>
                          <a:ea typeface="Calibri" panose="020F0502020204030204" pitchFamily="34" charset="0"/>
                          <a:cs typeface="Calibri" panose="020F0502020204030204" pitchFamily="34" charset="0"/>
                        </a:rPr>
                        <a:t>1737</a:t>
                      </a:r>
                      <a:r>
                        <a:rPr lang="ga-IE" sz="1000" dirty="0">
                          <a:effectLst/>
                          <a:latin typeface="Calibri" panose="020F0502020204030204" pitchFamily="34" charset="0"/>
                          <a:ea typeface="Calibri" panose="020F0502020204030204" pitchFamily="34" charset="0"/>
                          <a:cs typeface="Calibri" panose="020F0502020204030204" pitchFamily="34" charset="0"/>
                        </a:rPr>
                        <a:t>) </a:t>
                      </a:r>
                      <a:r>
                        <a:rPr lang="ga-IE" sz="2000" dirty="0">
                          <a:effectLst/>
                          <a:latin typeface="Calibri" panose="020F0502020204030204" pitchFamily="34" charset="0"/>
                          <a:ea typeface="Calibri" panose="020F0502020204030204" pitchFamily="34" charset="0"/>
                          <a:cs typeface="Calibri" panose="020F0502020204030204" pitchFamily="34" charset="0"/>
                        </a:rPr>
                        <a:t>ionas go mbeidh cead ag daoine Gaeilge a úsáid sna cúirteanna agus breitheanna, póstaí agus básanna a chlárú as Gaeilge;</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6766813"/>
                  </a:ext>
                </a:extLst>
              </a:tr>
              <a:tr h="597851">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5</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Cuirfear córas aistriúcháin </a:t>
                      </a:r>
                      <a:r>
                        <a:rPr lang="ga-IE" sz="2000" noProof="0" dirty="0">
                          <a:effectLst/>
                          <a:latin typeface="Calibri" panose="020F0502020204030204" pitchFamily="34" charset="0"/>
                          <a:ea typeface="Calibri" panose="020F0502020204030204" pitchFamily="34" charset="0"/>
                          <a:cs typeface="Calibri" panose="020F0502020204030204" pitchFamily="34" charset="0"/>
                        </a:rPr>
                        <a:t>chomhuainigh</a:t>
                      </a:r>
                      <a:r>
                        <a:rPr lang="ga-IE" sz="2000" dirty="0">
                          <a:effectLst/>
                          <a:latin typeface="Calibri" panose="020F0502020204030204" pitchFamily="34" charset="0"/>
                          <a:ea typeface="Calibri" panose="020F0502020204030204" pitchFamily="34" charset="0"/>
                          <a:cs typeface="Calibri" panose="020F0502020204030204" pitchFamily="34" charset="0"/>
                        </a:rPr>
                        <a:t> ar fáil sa Tionól.</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3758912"/>
                  </a:ext>
                </a:extLst>
              </a:tr>
            </a:tbl>
          </a:graphicData>
        </a:graphic>
      </p:graphicFrame>
      <p:sp>
        <p:nvSpPr>
          <p:cNvPr id="11" name="Rectangle 7">
            <a:extLst>
              <a:ext uri="{FF2B5EF4-FFF2-40B4-BE49-F238E27FC236}">
                <a16:creationId xmlns:a16="http://schemas.microsoft.com/office/drawing/2014/main" id="{AB9F37DB-4BBF-4EDF-A3B8-C13900B92A9A}"/>
              </a:ext>
            </a:extLst>
          </p:cNvPr>
          <p:cNvSpPr>
            <a:spLocks noChangeArrowheads="1"/>
          </p:cNvSpPr>
          <p:nvPr/>
        </p:nvSpPr>
        <p:spPr bwMode="auto">
          <a:xfrm>
            <a:off x="3130777" y="168184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ga-IE" altLang="ga-IE" sz="1800" b="0" i="0" u="none" strike="noStrike" cap="none" normalizeH="0" baseline="0">
                <a:ln>
                  <a:noFill/>
                </a:ln>
                <a:solidFill>
                  <a:schemeClr val="tx1"/>
                </a:solidFill>
                <a:effectLst/>
                <a:latin typeface="Arial" panose="020B0604020202020204" pitchFamily="34" charset="0"/>
              </a:rPr>
            </a:br>
            <a:endParaRPr kumimoji="0" lang="ga-IE" altLang="ga-IE" sz="1800" b="0" i="0" u="none" strike="noStrike" cap="none" normalizeH="0" baseline="0">
              <a:ln>
                <a:noFill/>
              </a:ln>
              <a:solidFill>
                <a:schemeClr val="tx1"/>
              </a:solidFill>
              <a:effectLst/>
              <a:latin typeface="Arial" panose="020B0604020202020204" pitchFamily="34" charset="0"/>
            </a:endParaRPr>
          </a:p>
        </p:txBody>
      </p:sp>
      <p:sp>
        <p:nvSpPr>
          <p:cNvPr id="12" name="Rectangle 8">
            <a:extLst>
              <a:ext uri="{FF2B5EF4-FFF2-40B4-BE49-F238E27FC236}">
                <a16:creationId xmlns:a16="http://schemas.microsoft.com/office/drawing/2014/main" id="{234CC869-7774-4989-BAE8-5103CADFFA43}"/>
              </a:ext>
            </a:extLst>
          </p:cNvPr>
          <p:cNvSpPr>
            <a:spLocks noChangeArrowheads="1"/>
          </p:cNvSpPr>
          <p:nvPr/>
        </p:nvSpPr>
        <p:spPr bwMode="auto">
          <a:xfrm>
            <a:off x="1780948" y="5857965"/>
            <a:ext cx="4022725" cy="635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ga-IE"/>
          </a:p>
        </p:txBody>
      </p:sp>
      <p:sp>
        <p:nvSpPr>
          <p:cNvPr id="13" name="Rectangle 9">
            <a:extLst>
              <a:ext uri="{FF2B5EF4-FFF2-40B4-BE49-F238E27FC236}">
                <a16:creationId xmlns:a16="http://schemas.microsoft.com/office/drawing/2014/main" id="{E5BCBFBB-F5D1-4B68-9CB3-6F98B4B09CDD}"/>
              </a:ext>
            </a:extLst>
          </p:cNvPr>
          <p:cNvSpPr>
            <a:spLocks noChangeArrowheads="1"/>
          </p:cNvSpPr>
          <p:nvPr/>
        </p:nvSpPr>
        <p:spPr bwMode="auto">
          <a:xfrm>
            <a:off x="428624" y="6005382"/>
            <a:ext cx="1291218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1200" b="0" i="0" u="none" strike="noStrike" cap="none" normalizeH="0" baseline="30000" dirty="0">
                <a:ln>
                  <a:noFill/>
                </a:ln>
                <a:solidFill>
                  <a:schemeClr val="tx1"/>
                </a:solidFill>
                <a:effectLst/>
                <a:ea typeface="Times New Roman" panose="02020603050405020304" pitchFamily="18" charset="0"/>
                <a:cs typeface="Calibri" panose="020F0502020204030204" pitchFamily="34" charset="0"/>
                <a:hlinkClick r:id="rId2"/>
              </a:rPr>
              <a:t>[</a:t>
            </a:r>
            <a:r>
              <a:rPr kumimoji="0" lang="ga-IE" altLang="ga-IE" sz="1200" b="0" i="0" u="none" strike="noStrike" cap="none" normalizeH="0" baseline="30000" dirty="0" bmk="">
                <a:ln>
                  <a:noFill/>
                </a:ln>
                <a:solidFill>
                  <a:schemeClr val="tx1"/>
                </a:solidFill>
                <a:effectLst/>
                <a:ea typeface="Times New Roman" panose="02020603050405020304" pitchFamily="18" charset="0"/>
                <a:cs typeface="Calibri" panose="020F0502020204030204" pitchFamily="34" charset="0"/>
                <a:hlinkClick r:id="rId2"/>
              </a:rPr>
              <a:t>1]</a:t>
            </a:r>
            <a:r>
              <a:rPr kumimoji="0" lang="ga-IE" altLang="ga-IE" sz="1200" b="0" i="0" u="none" strike="noStrike" cap="none" normalizeH="0" baseline="0" dirty="0" bmk="">
                <a:ln>
                  <a:noFill/>
                </a:ln>
                <a:solidFill>
                  <a:schemeClr val="tx1"/>
                </a:solidFill>
                <a:effectLst/>
                <a:ea typeface="Times New Roman" panose="02020603050405020304" pitchFamily="18" charset="0"/>
                <a:cs typeface="Calibri" panose="020F0502020204030204" pitchFamily="34" charset="0"/>
              </a:rPr>
              <a:t> </a:t>
            </a:r>
            <a:r>
              <a:rPr kumimoji="0" lang="en-IE" altLang="ga-IE" sz="1200" b="0" i="0" u="none" strike="noStrike" cap="none" normalizeH="0" baseline="0" dirty="0" bmk="">
                <a:ln>
                  <a:noFill/>
                </a:ln>
                <a:solidFill>
                  <a:schemeClr val="tx1"/>
                </a:solidFill>
                <a:effectLst/>
                <a:ea typeface="Times New Roman" panose="02020603050405020304" pitchFamily="18" charset="0"/>
                <a:cs typeface="Calibri" panose="020F0502020204030204" pitchFamily="34" charset="0"/>
              </a:rPr>
              <a:t>A Central Translation Hub will be established within the Department of Finance to provide translation services to the 9 Executive Departments, Arm’s Length Bodies, Local Government and Public Bodies.</a:t>
            </a:r>
            <a:endParaRPr kumimoji="0" lang="ga-IE" altLang="ga-IE" sz="1200" b="0" i="0" u="none" strike="noStrike" cap="none" normalizeH="0" baseline="0" dirty="0" bmk="">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1200" b="0" i="0" u="none" strike="noStrike" cap="none" normalizeH="0" baseline="30000" dirty="0" bmk="">
                <a:ln>
                  <a:noFill/>
                </a:ln>
                <a:solidFill>
                  <a:schemeClr val="tx1"/>
                </a:solidFill>
                <a:effectLst/>
                <a:ea typeface="Times New Roman" panose="02020603050405020304" pitchFamily="18" charset="0"/>
                <a:cs typeface="Calibri" panose="020F0502020204030204" pitchFamily="34" charset="0"/>
                <a:hlinkClick r:id="rId3"/>
              </a:rPr>
              <a:t>[2]</a:t>
            </a:r>
            <a:r>
              <a:rPr kumimoji="0" lang="ga-IE" altLang="ga-IE" sz="1200" b="0" i="0" u="none" strike="noStrike" cap="none" normalizeH="0" baseline="0" dirty="0" bmk="">
                <a:ln>
                  <a:noFill/>
                </a:ln>
                <a:solidFill>
                  <a:schemeClr val="tx1"/>
                </a:solidFill>
                <a:effectLst/>
                <a:ea typeface="Times New Roman" panose="02020603050405020304" pitchFamily="18" charset="0"/>
                <a:cs typeface="Calibri" panose="020F0502020204030204" pitchFamily="34" charset="0"/>
              </a:rPr>
              <a:t> </a:t>
            </a:r>
            <a:r>
              <a:rPr kumimoji="0" lang="en-IE" altLang="ga-IE" sz="1200" b="0" i="0" u="none" strike="noStrike" cap="none" normalizeH="0" baseline="0" dirty="0" bmk="">
                <a:ln>
                  <a:noFill/>
                </a:ln>
                <a:solidFill>
                  <a:schemeClr val="tx1"/>
                </a:solidFill>
                <a:effectLst/>
                <a:ea typeface="Times New Roman" panose="02020603050405020304" pitchFamily="18" charset="0"/>
                <a:cs typeface="Calibri" panose="020F0502020204030204" pitchFamily="34" charset="0"/>
              </a:rPr>
              <a:t>Will be repealed</a:t>
            </a:r>
            <a:endParaRPr kumimoji="0" lang="ga-IE" altLang="ga-IE" sz="1200" b="0" i="0" u="none" strike="noStrike" cap="none" normalizeH="0" baseline="0" dirty="0" bmk="">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1200" b="0" i="0" u="none" strike="noStrike" cap="none" normalizeH="0" baseline="30000" dirty="0" bmk="">
                <a:ln>
                  <a:noFill/>
                </a:ln>
                <a:solidFill>
                  <a:schemeClr val="tx1"/>
                </a:solidFill>
                <a:effectLst/>
                <a:ea typeface="Times New Roman" panose="02020603050405020304" pitchFamily="18" charset="0"/>
                <a:cs typeface="Calibri" panose="020F0502020204030204" pitchFamily="34" charset="0"/>
                <a:hlinkClick r:id="rId4"/>
              </a:rPr>
              <a:t>[3]</a:t>
            </a:r>
            <a:r>
              <a:rPr kumimoji="0" lang="ga-IE" altLang="ga-IE" sz="1200" b="0" i="0" u="none" strike="noStrike" cap="none" normalizeH="0" baseline="0" dirty="0">
                <a:ln>
                  <a:noFill/>
                </a:ln>
                <a:solidFill>
                  <a:schemeClr val="tx1"/>
                </a:solidFill>
                <a:effectLst/>
                <a:ea typeface="Times New Roman" panose="02020603050405020304" pitchFamily="18" charset="0"/>
                <a:cs typeface="Calibri" panose="020F0502020204030204" pitchFamily="34" charset="0"/>
              </a:rPr>
              <a:t> </a:t>
            </a:r>
            <a:r>
              <a:rPr kumimoji="0" lang="en-IE" altLang="ga-IE" sz="1200" b="0" i="0" u="none" strike="noStrike" cap="none" normalizeH="0" baseline="0" dirty="0">
                <a:ln>
                  <a:noFill/>
                </a:ln>
                <a:solidFill>
                  <a:schemeClr val="tx1"/>
                </a:solidFill>
                <a:effectLst/>
                <a:ea typeface="Times New Roman" panose="02020603050405020304" pitchFamily="18" charset="0"/>
                <a:cs typeface="Calibri" panose="020F0502020204030204" pitchFamily="34" charset="0"/>
              </a:rPr>
              <a:t>A simultaneous translation system will be made available in the Assembly.</a:t>
            </a:r>
            <a:r>
              <a:rPr kumimoji="0" lang="en-IE" altLang="ga-IE" sz="1200" b="0" i="0" u="none" strike="noStrike" cap="none" normalizeH="0" baseline="0" dirty="0">
                <a:ln>
                  <a:noFill/>
                </a:ln>
                <a:solidFill>
                  <a:schemeClr val="tx1"/>
                </a:solidFill>
                <a:effectLst/>
                <a:ea typeface="Times New Roman" panose="02020603050405020304" pitchFamily="18" charset="0"/>
              </a:rPr>
              <a:t> </a:t>
            </a:r>
            <a:endParaRPr kumimoji="0" lang="en-IE" altLang="ga-IE" sz="1200" b="0" i="0" u="none" strike="noStrike" cap="none" normalizeH="0" baseline="0" dirty="0">
              <a:ln>
                <a:noFill/>
              </a:ln>
              <a:solidFill>
                <a:schemeClr val="tx1"/>
              </a:solidFill>
              <a:effectLst/>
            </a:endParaRPr>
          </a:p>
        </p:txBody>
      </p:sp>
      <p:pic>
        <p:nvPicPr>
          <p:cNvPr id="14" name="Pictiúr 13">
            <a:extLst>
              <a:ext uri="{FF2B5EF4-FFF2-40B4-BE49-F238E27FC236}">
                <a16:creationId xmlns:a16="http://schemas.microsoft.com/office/drawing/2014/main" id="{6D2C8CA7-9EAE-467A-9480-DFE72AF82475}"/>
              </a:ext>
            </a:extLst>
          </p:cNvPr>
          <p:cNvPicPr>
            <a:picLocks noChangeAspect="1"/>
          </p:cNvPicPr>
          <p:nvPr/>
        </p:nvPicPr>
        <p:blipFill>
          <a:blip r:embed="rId5"/>
          <a:stretch>
            <a:fillRect/>
          </a:stretch>
        </p:blipFill>
        <p:spPr>
          <a:xfrm>
            <a:off x="338136" y="548587"/>
            <a:ext cx="3062692" cy="4338817"/>
          </a:xfrm>
          <a:prstGeom prst="rect">
            <a:avLst/>
          </a:prstGeom>
        </p:spPr>
      </p:pic>
    </p:spTree>
    <p:extLst>
      <p:ext uri="{BB962C8B-B14F-4D97-AF65-F5344CB8AC3E}">
        <p14:creationId xmlns:p14="http://schemas.microsoft.com/office/powerpoint/2010/main" val="2171030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sca téacs 3">
            <a:extLst>
              <a:ext uri="{FF2B5EF4-FFF2-40B4-BE49-F238E27FC236}">
                <a16:creationId xmlns:a16="http://schemas.microsoft.com/office/drawing/2014/main" id="{3B48761D-FFF6-49B8-9355-29534F6D1F9C}"/>
              </a:ext>
            </a:extLst>
          </p:cNvPr>
          <p:cNvSpPr txBox="1"/>
          <p:nvPr/>
        </p:nvSpPr>
        <p:spPr>
          <a:xfrm>
            <a:off x="660400" y="660812"/>
            <a:ext cx="11030857" cy="3250121"/>
          </a:xfrm>
          <a:prstGeom prst="rect">
            <a:avLst/>
          </a:prstGeom>
          <a:noFill/>
        </p:spPr>
        <p:txBody>
          <a:bodyPr wrap="square">
            <a:spAutoFit/>
          </a:bodyPr>
          <a:lstStyle/>
          <a:p>
            <a:pPr>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Cad é an scéal maidir leis an Ghaelscolaíocht?</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ga-IE" sz="1800" dirty="0">
                <a:effectLst/>
                <a:latin typeface="Calibri" panose="020F0502020204030204" pitchFamily="34" charset="0"/>
                <a:ea typeface="Calibri" panose="020F0502020204030204" pitchFamily="34" charset="0"/>
                <a:cs typeface="Calibri" panose="020F0502020204030204" pitchFamily="34" charset="0"/>
              </a:rPr>
              <a:t>Tá an Ghaelscolaíocht ag dul ó neart go neart sna Sé Chontae. </a:t>
            </a:r>
            <a:endParaRPr lang="en-IE" sz="1800" dirty="0">
              <a:effectLst/>
              <a:latin typeface="Calibri" panose="020F0502020204030204" pitchFamily="34" charset="0"/>
              <a:ea typeface="Calibri" panose="020F0502020204030204" pitchFamily="34" charset="0"/>
              <a:cs typeface="Calibri" panose="020F0502020204030204" pitchFamily="34" charset="0"/>
            </a:endParaRPr>
          </a:p>
          <a:p>
            <a:pPr algn="just">
              <a:lnSpc>
                <a:spcPct val="115000"/>
              </a:lnSpc>
              <a:spcAft>
                <a:spcPts val="800"/>
              </a:spcAft>
            </a:pPr>
            <a:r>
              <a:rPr lang="ga-IE" sz="1800" dirty="0">
                <a:effectLst/>
                <a:latin typeface="Calibri" panose="020F0502020204030204" pitchFamily="34" charset="0"/>
                <a:ea typeface="Calibri" panose="020F0502020204030204" pitchFamily="34" charset="0"/>
              </a:rPr>
              <a:t>Bhí </a:t>
            </a:r>
            <a:r>
              <a:rPr lang="ga-IE" dirty="0">
                <a:latin typeface="Calibri" panose="020F0502020204030204" pitchFamily="34" charset="0"/>
                <a:ea typeface="Calibri" panose="020F0502020204030204" pitchFamily="34" charset="0"/>
              </a:rPr>
              <a:t>scéal faoin ábhar sna </a:t>
            </a:r>
            <a:r>
              <a:rPr lang="ga-IE" sz="1800" dirty="0">
                <a:effectLst/>
                <a:latin typeface="Calibri" panose="020F0502020204030204" pitchFamily="34" charset="0"/>
                <a:ea typeface="Calibri" panose="020F0502020204030204" pitchFamily="34" charset="0"/>
              </a:rPr>
              <a:t>meáin le gairid go deimhin: </a:t>
            </a:r>
            <a:r>
              <a:rPr lang="en-IE" sz="1800" dirty="0">
                <a:effectLst/>
                <a:latin typeface="Calibri" panose="020F0502020204030204" pitchFamily="34" charset="0"/>
                <a:ea typeface="Calibri" panose="020F0502020204030204" pitchFamily="34" charset="0"/>
              </a:rPr>
              <a:t>‘</a:t>
            </a:r>
            <a:r>
              <a:rPr lang="en-IE" sz="1800" i="1" dirty="0">
                <a:effectLst/>
                <a:latin typeface="Calibri" panose="020F0502020204030204" pitchFamily="34" charset="0"/>
                <a:ea typeface="Calibri" panose="020F0502020204030204" pitchFamily="34" charset="0"/>
              </a:rPr>
              <a:t>Irish-medium schools: Rise in number of primary pupils’</a:t>
            </a:r>
            <a:r>
              <a:rPr lang="ga-IE" sz="1800" dirty="0">
                <a:effectLst/>
                <a:latin typeface="Calibri" panose="020F0502020204030204" pitchFamily="34" charset="0"/>
                <a:ea typeface="Calibri" panose="020F0502020204030204" pitchFamily="34" charset="0"/>
              </a:rPr>
              <a:t>. </a:t>
            </a:r>
            <a:endParaRPr lang="en-IE" sz="1800" dirty="0">
              <a:effectLst/>
              <a:latin typeface="Calibri" panose="020F0502020204030204" pitchFamily="34" charset="0"/>
              <a:ea typeface="Calibri" panose="020F0502020204030204" pitchFamily="34" charset="0"/>
            </a:endParaRPr>
          </a:p>
          <a:p>
            <a:pPr algn="just">
              <a:lnSpc>
                <a:spcPct val="115000"/>
              </a:lnSpc>
              <a:spcAft>
                <a:spcPts val="800"/>
              </a:spcAft>
            </a:pPr>
            <a:r>
              <a:rPr lang="ga-IE" sz="1800" u="sng" dirty="0">
                <a:solidFill>
                  <a:srgbClr val="0000FF"/>
                </a:solidFill>
                <a:effectLst/>
                <a:latin typeface="Calibri" panose="020F0502020204030204" pitchFamily="34" charset="0"/>
                <a:ea typeface="Times New Roman" panose="02020603050405020304" pitchFamily="18" charset="0"/>
                <a:hlinkClick r:id="rId2"/>
              </a:rPr>
              <a:t>https://www.bbc.com/news/uk-northern-ireland-55136935</a:t>
            </a:r>
            <a:r>
              <a:rPr lang="ga-IE" sz="1800" dirty="0">
                <a:effectLst/>
                <a:latin typeface="Calibri" panose="020F0502020204030204" pitchFamily="34" charset="0"/>
                <a:ea typeface="Times New Roman" panose="02020603050405020304" pitchFamily="18" charset="0"/>
                <a:hlinkClick r:id="rId2"/>
              </a:rPr>
              <a:t> </a:t>
            </a:r>
            <a:endParaRPr lang="ga-IE" sz="1800" dirty="0">
              <a:effectLst/>
              <a:latin typeface="Times New Roman" panose="02020603050405020304" pitchFamily="18" charset="0"/>
              <a:ea typeface="Times New Roman" panose="02020603050405020304" pitchFamily="18" charset="0"/>
            </a:endParaRPr>
          </a:p>
          <a:p>
            <a:pPr algn="just">
              <a:lnSpc>
                <a:spcPct val="115000"/>
              </a:lnSpc>
              <a:spcAft>
                <a:spcPts val="800"/>
              </a:spcAft>
            </a:pPr>
            <a:r>
              <a:rPr lang="ga-IE" sz="1800" dirty="0">
                <a:effectLst/>
                <a:latin typeface="Calibri" panose="020F0502020204030204" pitchFamily="34" charset="0"/>
                <a:ea typeface="Calibri" panose="020F0502020204030204" pitchFamily="34" charset="0"/>
                <a:cs typeface="Calibri" panose="020F0502020204030204" pitchFamily="34" charset="0"/>
              </a:rPr>
              <a:t>Bhí 3,702 dalta </a:t>
            </a:r>
            <a:r>
              <a:rPr lang="en-IE" sz="1800" dirty="0" err="1">
                <a:effectLst/>
                <a:latin typeface="Calibri" panose="020F0502020204030204" pitchFamily="34" charset="0"/>
                <a:ea typeface="Calibri" panose="020F0502020204030204" pitchFamily="34" charset="0"/>
                <a:cs typeface="Calibri" panose="020F0502020204030204" pitchFamily="34" charset="0"/>
              </a:rPr>
              <a:t>i</a:t>
            </a:r>
            <a:r>
              <a:rPr lang="ga-IE" sz="1800" dirty="0">
                <a:effectLst/>
                <a:latin typeface="Calibri" panose="020F0502020204030204" pitchFamily="34" charset="0"/>
                <a:ea typeface="Calibri" panose="020F0502020204030204" pitchFamily="34" charset="0"/>
                <a:cs typeface="Calibri" panose="020F0502020204030204" pitchFamily="34" charset="0"/>
              </a:rPr>
              <a:t>n earnáil</a:t>
            </a:r>
            <a:r>
              <a:rPr lang="en-IE" sz="1800" dirty="0">
                <a:effectLst/>
                <a:latin typeface="Calibri" panose="020F0502020204030204" pitchFamily="34" charset="0"/>
                <a:ea typeface="Calibri" panose="020F0502020204030204" pitchFamily="34" charset="0"/>
                <a:cs typeface="Calibri" panose="020F0502020204030204" pitchFamily="34" charset="0"/>
              </a:rPr>
              <a:t> na</a:t>
            </a:r>
            <a:r>
              <a:rPr lang="ga-IE" sz="1800" dirty="0">
                <a:effectLst/>
                <a:latin typeface="Calibri" panose="020F0502020204030204" pitchFamily="34" charset="0"/>
                <a:ea typeface="Calibri" panose="020F0502020204030204" pitchFamily="34" charset="0"/>
                <a:cs typeface="Calibri" panose="020F0502020204030204" pitchFamily="34" charset="0"/>
              </a:rPr>
              <a:t> Gaelscolaíochta sa bhliain 2006/07 agus tá 6,816 dalta </a:t>
            </a:r>
            <a:r>
              <a:rPr lang="en-IE" sz="1800" dirty="0" err="1">
                <a:effectLst/>
                <a:latin typeface="Calibri" panose="020F0502020204030204" pitchFamily="34" charset="0"/>
                <a:ea typeface="Calibri" panose="020F0502020204030204" pitchFamily="34" charset="0"/>
                <a:cs typeface="Calibri" panose="020F0502020204030204" pitchFamily="34" charset="0"/>
              </a:rPr>
              <a:t>i</a:t>
            </a:r>
            <a:r>
              <a:rPr lang="ga-IE" sz="1800" dirty="0">
                <a:effectLst/>
                <a:latin typeface="Calibri" panose="020F0502020204030204" pitchFamily="34" charset="0"/>
                <a:ea typeface="Calibri" panose="020F0502020204030204" pitchFamily="34" charset="0"/>
                <a:cs typeface="Calibri" panose="020F0502020204030204" pitchFamily="34" charset="0"/>
              </a:rPr>
              <a:t>n earnáil </a:t>
            </a:r>
            <a:r>
              <a:rPr lang="en-IE" sz="1800" dirty="0">
                <a:effectLst/>
                <a:latin typeface="Calibri" panose="020F0502020204030204" pitchFamily="34" charset="0"/>
                <a:ea typeface="Calibri" panose="020F0502020204030204" pitchFamily="34" charset="0"/>
                <a:cs typeface="Calibri" panose="020F0502020204030204" pitchFamily="34" charset="0"/>
              </a:rPr>
              <a:t>na </a:t>
            </a:r>
            <a:r>
              <a:rPr lang="ga-IE" sz="1800" dirty="0">
                <a:effectLst/>
                <a:latin typeface="Calibri" panose="020F0502020204030204" pitchFamily="34" charset="0"/>
                <a:ea typeface="Calibri" panose="020F0502020204030204" pitchFamily="34" charset="0"/>
                <a:cs typeface="Calibri" panose="020F0502020204030204" pitchFamily="34" charset="0"/>
              </a:rPr>
              <a:t>Gaelscolaíochta anois! </a:t>
            </a:r>
            <a:endParaRPr lang="ga-IE"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ga-IE" sz="1800" dirty="0">
                <a:effectLst/>
                <a:latin typeface="Calibri" panose="020F0502020204030204" pitchFamily="34" charset="0"/>
                <a:ea typeface="Calibri" panose="020F0502020204030204" pitchFamily="34" charset="0"/>
                <a:cs typeface="Calibri" panose="020F0502020204030204" pitchFamily="34" charset="0"/>
              </a:rPr>
              <a:t>Seo na staitisticí is déanaí don bhliain</a:t>
            </a:r>
            <a:r>
              <a:rPr lang="ga-IE" sz="1800" b="1" dirty="0">
                <a:effectLst/>
                <a:latin typeface="Calibri" panose="020F0502020204030204" pitchFamily="34" charset="0"/>
                <a:ea typeface="Calibri" panose="020F0502020204030204" pitchFamily="34" charset="0"/>
                <a:cs typeface="Calibri" panose="020F0502020204030204" pitchFamily="34" charset="0"/>
              </a:rPr>
              <a:t> </a:t>
            </a:r>
            <a:r>
              <a:rPr lang="ga-IE" sz="1800" dirty="0">
                <a:effectLst/>
                <a:latin typeface="Calibri" panose="020F0502020204030204" pitchFamily="34" charset="0"/>
                <a:ea typeface="Calibri" panose="020F0502020204030204" pitchFamily="34" charset="0"/>
                <a:cs typeface="Calibri" panose="020F0502020204030204" pitchFamily="34" charset="0"/>
              </a:rPr>
              <a:t>2019/20. </a:t>
            </a:r>
            <a:endParaRPr lang="ga-IE" sz="1800" dirty="0">
              <a:effectLst/>
              <a:latin typeface="Calibri" panose="020F0502020204030204" pitchFamily="34" charset="0"/>
              <a:ea typeface="Calibri" panose="020F0502020204030204" pitchFamily="34" charset="0"/>
              <a:cs typeface="Times New Roman" panose="02020603050405020304" pitchFamily="18" charset="0"/>
            </a:endParaRPr>
          </a:p>
          <a:p>
            <a:r>
              <a:rPr lang="ga-IE" sz="1800" u="sng" dirty="0">
                <a:solidFill>
                  <a:srgbClr val="0000FF"/>
                </a:solidFill>
                <a:effectLst/>
                <a:latin typeface="Calibri" panose="020F0502020204030204" pitchFamily="34" charset="0"/>
                <a:ea typeface="Times New Roman" panose="02020603050405020304" pitchFamily="18" charset="0"/>
                <a:hlinkClick r:id="rId3"/>
              </a:rPr>
              <a:t>https://www.education-ni.gov.uk/publications/school-enrolments-northern-ireland-summary-data</a:t>
            </a:r>
            <a:r>
              <a:rPr lang="ga-IE" sz="1800" dirty="0">
                <a:effectLst/>
                <a:latin typeface="Calibri" panose="020F0502020204030204" pitchFamily="34" charset="0"/>
                <a:ea typeface="Times New Roman" panose="02020603050405020304" pitchFamily="18" charset="0"/>
                <a:hlinkClick r:id="rId3"/>
              </a:rPr>
              <a:t> </a:t>
            </a:r>
            <a:endParaRPr lang="ga-IE" sz="1800" dirty="0">
              <a:effectLst/>
              <a:latin typeface="Times New Roman" panose="02020603050405020304" pitchFamily="18" charset="0"/>
              <a:ea typeface="Times New Roman" panose="02020603050405020304" pitchFamily="18" charset="0"/>
            </a:endParaRPr>
          </a:p>
        </p:txBody>
      </p:sp>
      <p:graphicFrame>
        <p:nvGraphicFramePr>
          <p:cNvPr id="5" name="Tábla 4">
            <a:extLst>
              <a:ext uri="{FF2B5EF4-FFF2-40B4-BE49-F238E27FC236}">
                <a16:creationId xmlns:a16="http://schemas.microsoft.com/office/drawing/2014/main" id="{497713EA-695E-4E93-9929-D6B160258215}"/>
              </a:ext>
            </a:extLst>
          </p:cNvPr>
          <p:cNvGraphicFramePr>
            <a:graphicFrameLocks noGrp="1"/>
          </p:cNvGraphicFramePr>
          <p:nvPr>
            <p:extLst>
              <p:ext uri="{D42A27DB-BD31-4B8C-83A1-F6EECF244321}">
                <p14:modId xmlns:p14="http://schemas.microsoft.com/office/powerpoint/2010/main" val="1507166395"/>
              </p:ext>
            </p:extLst>
          </p:nvPr>
        </p:nvGraphicFramePr>
        <p:xfrm>
          <a:off x="594497" y="4181200"/>
          <a:ext cx="9840686" cy="1991934"/>
        </p:xfrm>
        <a:graphic>
          <a:graphicData uri="http://schemas.openxmlformats.org/drawingml/2006/table">
            <a:tbl>
              <a:tblPr firstRow="1" firstCol="1" bandRow="1"/>
              <a:tblGrid>
                <a:gridCol w="3279865">
                  <a:extLst>
                    <a:ext uri="{9D8B030D-6E8A-4147-A177-3AD203B41FA5}">
                      <a16:colId xmlns:a16="http://schemas.microsoft.com/office/drawing/2014/main" val="3665642092"/>
                    </a:ext>
                  </a:extLst>
                </a:gridCol>
                <a:gridCol w="3279865">
                  <a:extLst>
                    <a:ext uri="{9D8B030D-6E8A-4147-A177-3AD203B41FA5}">
                      <a16:colId xmlns:a16="http://schemas.microsoft.com/office/drawing/2014/main" val="4251855594"/>
                    </a:ext>
                  </a:extLst>
                </a:gridCol>
                <a:gridCol w="3280956">
                  <a:extLst>
                    <a:ext uri="{9D8B030D-6E8A-4147-A177-3AD203B41FA5}">
                      <a16:colId xmlns:a16="http://schemas.microsoft.com/office/drawing/2014/main" val="676870536"/>
                    </a:ext>
                  </a:extLst>
                </a:gridCol>
              </a:tblGrid>
              <a:tr h="613222">
                <a:tc>
                  <a:txBody>
                    <a:bodyPr/>
                    <a:lstStyle/>
                    <a:p>
                      <a:pPr algn="ctr">
                        <a:lnSpc>
                          <a:spcPct val="10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Líon na bpáistí </a:t>
                      </a:r>
                      <a:r>
                        <a:rPr lang="en-IE" sz="2000" b="1" dirty="0">
                          <a:effectLst/>
                          <a:latin typeface="Calibri" panose="020F0502020204030204" pitchFamily="34" charset="0"/>
                          <a:ea typeface="Calibri" panose="020F0502020204030204" pitchFamily="34" charset="0"/>
                          <a:cs typeface="Calibri" panose="020F0502020204030204" pitchFamily="34" charset="0"/>
                        </a:rPr>
                        <a:t>ag </a:t>
                      </a:r>
                      <a:r>
                        <a:rPr lang="ga-IE" sz="2000" b="1" dirty="0">
                          <a:effectLst/>
                          <a:latin typeface="Calibri" panose="020F0502020204030204" pitchFamily="34" charset="0"/>
                          <a:ea typeface="Calibri" panose="020F0502020204030204" pitchFamily="34" charset="0"/>
                          <a:cs typeface="Calibri" panose="020F0502020204030204" pitchFamily="34" charset="0"/>
                        </a:rPr>
                        <a:t>naíscoileanna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Líon na ndaltaí </a:t>
                      </a:r>
                      <a:r>
                        <a:rPr lang="en-IE" sz="2000" b="1" dirty="0">
                          <a:effectLst/>
                          <a:latin typeface="Calibri" panose="020F0502020204030204" pitchFamily="34" charset="0"/>
                          <a:ea typeface="Calibri" panose="020F0502020204030204" pitchFamily="34" charset="0"/>
                          <a:cs typeface="Calibri" panose="020F0502020204030204" pitchFamily="34" charset="0"/>
                        </a:rPr>
                        <a:t>ag </a:t>
                      </a:r>
                      <a:r>
                        <a:rPr lang="ga-IE" sz="2000" b="1" dirty="0">
                          <a:effectLst/>
                          <a:latin typeface="Calibri" panose="020F0502020204030204" pitchFamily="34" charset="0"/>
                          <a:ea typeface="Calibri" panose="020F0502020204030204" pitchFamily="34" charset="0"/>
                          <a:cs typeface="Calibri" panose="020F0502020204030204" pitchFamily="34" charset="0"/>
                        </a:rPr>
                        <a:t>bunscoileanna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Líon na ndaltaí </a:t>
                      </a:r>
                      <a:r>
                        <a:rPr lang="en-IE" sz="2000" b="1" dirty="0">
                          <a:effectLst/>
                          <a:latin typeface="Calibri" panose="020F0502020204030204" pitchFamily="34" charset="0"/>
                          <a:ea typeface="Calibri" panose="020F0502020204030204" pitchFamily="34" charset="0"/>
                          <a:cs typeface="Calibri" panose="020F0502020204030204" pitchFamily="34" charset="0"/>
                        </a:rPr>
                        <a:t>ag                              </a:t>
                      </a:r>
                      <a:r>
                        <a:rPr lang="ga-IE" sz="2000" b="1" dirty="0">
                          <a:effectLst/>
                          <a:latin typeface="Calibri" panose="020F0502020204030204" pitchFamily="34" charset="0"/>
                          <a:ea typeface="Calibri" panose="020F0502020204030204" pitchFamily="34" charset="0"/>
                          <a:cs typeface="Calibri" panose="020F0502020204030204" pitchFamily="34" charset="0"/>
                        </a:rPr>
                        <a:t>iar-bhunscoileanna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3379735"/>
                  </a:ext>
                </a:extLst>
              </a:tr>
              <a:tr h="624631">
                <a:tc>
                  <a:txBody>
                    <a:bodyPr/>
                    <a:lstStyle/>
                    <a:p>
                      <a:pPr algn="ctr">
                        <a:lnSpc>
                          <a:spcPct val="150000"/>
                        </a:lnSpc>
                        <a:spcAft>
                          <a:spcPts val="800"/>
                        </a:spcAft>
                      </a:pPr>
                      <a:r>
                        <a:rPr lang="en-IE" sz="2000" b="1" dirty="0">
                          <a:effectLst/>
                          <a:latin typeface="Calibri" panose="020F0502020204030204" pitchFamily="34" charset="0"/>
                          <a:ea typeface="Calibri" panose="020F0502020204030204" pitchFamily="34" charset="0"/>
                          <a:cs typeface="Calibri" panose="020F0502020204030204" pitchFamily="34" charset="0"/>
                        </a:rPr>
                        <a:t>983</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pPr>
                      <a:r>
                        <a:rPr lang="en-IE" sz="2000" b="1" dirty="0">
                          <a:effectLst/>
                          <a:latin typeface="Calibri" panose="020F0502020204030204" pitchFamily="34" charset="0"/>
                          <a:ea typeface="Calibri" panose="020F0502020204030204" pitchFamily="34" charset="0"/>
                          <a:cs typeface="Calibri" panose="020F0502020204030204" pitchFamily="34" charset="0"/>
                        </a:rPr>
                        <a:t>4510</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pPr>
                      <a:r>
                        <a:rPr lang="en-IE" sz="2000" b="1" dirty="0">
                          <a:effectLst/>
                          <a:latin typeface="Calibri" panose="020F0502020204030204" pitchFamily="34" charset="0"/>
                          <a:ea typeface="Calibri" panose="020F0502020204030204" pitchFamily="34" charset="0"/>
                          <a:cs typeface="Calibri" panose="020F0502020204030204" pitchFamily="34" charset="0"/>
                        </a:rPr>
                        <a:t>1323</a:t>
                      </a:r>
                    </a:p>
                    <a:p>
                      <a:pPr algn="ctr">
                        <a:lnSpc>
                          <a:spcPct val="150000"/>
                        </a:lnSpc>
                        <a:spcAft>
                          <a:spcPts val="800"/>
                        </a:spcAft>
                      </a:pP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9956524"/>
                  </a:ext>
                </a:extLst>
              </a:tr>
              <a:tr h="344125">
                <a:tc gridSpan="3">
                  <a:txBody>
                    <a:bodyPr/>
                    <a:lstStyle/>
                    <a:p>
                      <a:pPr algn="ctr">
                        <a:lnSpc>
                          <a:spcPct val="150000"/>
                        </a:lnSpc>
                        <a:spcAft>
                          <a:spcPts val="800"/>
                        </a:spcAft>
                      </a:pPr>
                      <a:r>
                        <a:rPr lang="ga-IE" sz="2000" b="1" noProof="0" dirty="0">
                          <a:effectLst/>
                          <a:latin typeface="Calibri" panose="020F0502020204030204" pitchFamily="34" charset="0"/>
                          <a:ea typeface="Calibri" panose="020F0502020204030204" pitchFamily="34" charset="0"/>
                          <a:cs typeface="Times New Roman" panose="02020603050405020304" pitchFamily="18" charset="0"/>
                        </a:rPr>
                        <a:t>Iomlán: </a:t>
                      </a:r>
                      <a:r>
                        <a:rPr lang="en-IE" sz="2000" b="1" dirty="0">
                          <a:effectLst/>
                          <a:latin typeface="Calibri" panose="020F0502020204030204" pitchFamily="34" charset="0"/>
                          <a:ea typeface="Calibri" panose="020F0502020204030204" pitchFamily="34" charset="0"/>
                          <a:cs typeface="Times New Roman" panose="02020603050405020304" pitchFamily="18" charset="0"/>
                        </a:rPr>
                        <a:t>6816</a:t>
                      </a:r>
                      <a:endParaRPr lang="ga-IE"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a:lnSpc>
                          <a:spcPct val="150000"/>
                        </a:lnSpc>
                        <a:spcAft>
                          <a:spcPts val="800"/>
                        </a:spcAft>
                      </a:pPr>
                      <a:endParaRPr lang="ga-IE"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a:lnSpc>
                          <a:spcPct val="150000"/>
                        </a:lnSpc>
                        <a:spcAft>
                          <a:spcPts val="800"/>
                        </a:spcAft>
                      </a:pP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7428557"/>
                  </a:ext>
                </a:extLst>
              </a:tr>
            </a:tbl>
          </a:graphicData>
        </a:graphic>
      </p:graphicFrame>
    </p:spTree>
    <p:extLst>
      <p:ext uri="{BB962C8B-B14F-4D97-AF65-F5344CB8AC3E}">
        <p14:creationId xmlns:p14="http://schemas.microsoft.com/office/powerpoint/2010/main" val="3550912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F1D34E4B-9555-4DCE-9BB8-337554F2610C}"/>
              </a:ext>
            </a:extLst>
          </p:cNvPr>
          <p:cNvSpPr txBox="1"/>
          <p:nvPr/>
        </p:nvSpPr>
        <p:spPr>
          <a:xfrm>
            <a:off x="1640182" y="307026"/>
            <a:ext cx="7826467" cy="920252"/>
          </a:xfrm>
          <a:prstGeom prst="rect">
            <a:avLst/>
          </a:prstGeom>
          <a:noFill/>
        </p:spPr>
        <p:txBody>
          <a:bodyPr wrap="square">
            <a:spAutoFit/>
          </a:bodyPr>
          <a:lstStyle/>
          <a:p>
            <a:pPr algn="ctr">
              <a:lnSpc>
                <a:spcPct val="150000"/>
              </a:lnSpc>
              <a:spcAft>
                <a:spcPts val="800"/>
              </a:spcAft>
            </a:pPr>
            <a:r>
              <a:rPr lang="ga-IE" sz="4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3. Cás na Gaeilge sa Ghaeltacht.</a:t>
            </a:r>
            <a:endParaRPr lang="ga-IE" sz="4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ábla 3">
            <a:extLst>
              <a:ext uri="{FF2B5EF4-FFF2-40B4-BE49-F238E27FC236}">
                <a16:creationId xmlns:a16="http://schemas.microsoft.com/office/drawing/2014/main" id="{F3A34C68-CF55-472A-8E8C-D3252C738B47}"/>
              </a:ext>
            </a:extLst>
          </p:cNvPr>
          <p:cNvGraphicFramePr>
            <a:graphicFrameLocks noGrp="1"/>
          </p:cNvGraphicFramePr>
          <p:nvPr>
            <p:extLst>
              <p:ext uri="{D42A27DB-BD31-4B8C-83A1-F6EECF244321}">
                <p14:modId xmlns:p14="http://schemas.microsoft.com/office/powerpoint/2010/main" val="3838864934"/>
              </p:ext>
            </p:extLst>
          </p:nvPr>
        </p:nvGraphicFramePr>
        <p:xfrm>
          <a:off x="911133" y="1676627"/>
          <a:ext cx="10039895" cy="3146627"/>
        </p:xfrm>
        <a:graphic>
          <a:graphicData uri="http://schemas.openxmlformats.org/drawingml/2006/table">
            <a:tbl>
              <a:tblPr firstRow="1" firstCol="1" bandRow="1"/>
              <a:tblGrid>
                <a:gridCol w="8182067">
                  <a:extLst>
                    <a:ext uri="{9D8B030D-6E8A-4147-A177-3AD203B41FA5}">
                      <a16:colId xmlns:a16="http://schemas.microsoft.com/office/drawing/2014/main" val="3898217054"/>
                    </a:ext>
                  </a:extLst>
                </a:gridCol>
                <a:gridCol w="1857828">
                  <a:extLst>
                    <a:ext uri="{9D8B030D-6E8A-4147-A177-3AD203B41FA5}">
                      <a16:colId xmlns:a16="http://schemas.microsoft.com/office/drawing/2014/main" val="3066965584"/>
                    </a:ext>
                  </a:extLst>
                </a:gridCol>
              </a:tblGrid>
              <a:tr h="435197">
                <a:tc>
                  <a:txBody>
                    <a:bodyPr/>
                    <a:lstStyle/>
                    <a:p>
                      <a:pPr algn="just">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Líon na ndaoine atá ina gcónaí sa Ghaeltacht</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solidFill>
                            <a:srgbClr val="FF0000"/>
                          </a:solidFill>
                          <a:effectLst/>
                          <a:latin typeface="Calibri" panose="020F0502020204030204" pitchFamily="34" charset="0"/>
                          <a:ea typeface="Calibri" panose="020F0502020204030204" pitchFamily="34" charset="0"/>
                          <a:cs typeface="Calibri" panose="020F0502020204030204" pitchFamily="34" charset="0"/>
                        </a:rPr>
                        <a:t>96,090</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1072948"/>
                  </a:ext>
                </a:extLst>
              </a:tr>
              <a:tr h="435197">
                <a:tc>
                  <a:txBody>
                    <a:bodyPr/>
                    <a:lstStyle/>
                    <a:p>
                      <a:pPr algn="just">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Céatadán de dhaonra na hÉireann</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solidFill>
                            <a:srgbClr val="FF0000"/>
                          </a:solidFill>
                          <a:effectLst/>
                          <a:latin typeface="Calibri" panose="020F0502020204030204" pitchFamily="34" charset="0"/>
                          <a:ea typeface="Calibri" panose="020F0502020204030204" pitchFamily="34" charset="0"/>
                          <a:cs typeface="Calibri" panose="020F0502020204030204" pitchFamily="34" charset="0"/>
                        </a:rPr>
                        <a:t>2%</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95100902"/>
                  </a:ext>
                </a:extLst>
              </a:tr>
              <a:tr h="435197">
                <a:tc>
                  <a:txBody>
                    <a:bodyPr/>
                    <a:lstStyle/>
                    <a:p>
                      <a:pPr algn="just">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Líon na ndaoine sa Ghaeltacht a bhfuil Gaeilge acu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solidFill>
                            <a:srgbClr val="FF0000"/>
                          </a:solidFill>
                          <a:effectLst/>
                          <a:latin typeface="Calibri" panose="020F0502020204030204" pitchFamily="34" charset="0"/>
                          <a:ea typeface="Calibri" panose="020F0502020204030204" pitchFamily="34" charset="0"/>
                          <a:cs typeface="Calibri" panose="020F0502020204030204" pitchFamily="34" charset="0"/>
                        </a:rPr>
                        <a:t>63,664</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2671551"/>
                  </a:ext>
                </a:extLst>
              </a:tr>
              <a:tr h="435197">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Céatadán de dhaonra na Gaeltachta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solidFill>
                            <a:srgbClr val="FF0000"/>
                          </a:solidFill>
                          <a:effectLst/>
                          <a:latin typeface="Calibri" panose="020F0502020204030204" pitchFamily="34" charset="0"/>
                          <a:ea typeface="Calibri" panose="020F0502020204030204" pitchFamily="34" charset="0"/>
                          <a:cs typeface="Calibri" panose="020F0502020204030204" pitchFamily="34" charset="0"/>
                        </a:rPr>
                        <a:t>66.3%</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7157609"/>
                  </a:ext>
                </a:extLst>
              </a:tr>
              <a:tr h="1405839">
                <a:tc>
                  <a:txBody>
                    <a:bodyPr/>
                    <a:lstStyle/>
                    <a:p>
                      <a:pPr algn="just">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Céatadán de chainteoirí Gaeilge i gceantair Ghaeltachta a labhraíodh Gaeilge go laethúil taobh amuigh den chóras oideachais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32%</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2792118"/>
                  </a:ext>
                </a:extLst>
              </a:tr>
            </a:tbl>
          </a:graphicData>
        </a:graphic>
      </p:graphicFrame>
    </p:spTree>
    <p:extLst>
      <p:ext uri="{BB962C8B-B14F-4D97-AF65-F5344CB8AC3E}">
        <p14:creationId xmlns:p14="http://schemas.microsoft.com/office/powerpoint/2010/main" val="3707788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ábla 1">
            <a:extLst>
              <a:ext uri="{FF2B5EF4-FFF2-40B4-BE49-F238E27FC236}">
                <a16:creationId xmlns:a16="http://schemas.microsoft.com/office/drawing/2014/main" id="{AA29D218-A7D6-45CB-B9E9-A14EBE1F882D}"/>
              </a:ext>
            </a:extLst>
          </p:cNvPr>
          <p:cNvGraphicFramePr>
            <a:graphicFrameLocks noGrp="1"/>
          </p:cNvGraphicFramePr>
          <p:nvPr>
            <p:extLst>
              <p:ext uri="{D42A27DB-BD31-4B8C-83A1-F6EECF244321}">
                <p14:modId xmlns:p14="http://schemas.microsoft.com/office/powerpoint/2010/main" val="2065730633"/>
              </p:ext>
            </p:extLst>
          </p:nvPr>
        </p:nvGraphicFramePr>
        <p:xfrm>
          <a:off x="442914" y="207104"/>
          <a:ext cx="11498105" cy="5812369"/>
        </p:xfrm>
        <a:graphic>
          <a:graphicData uri="http://schemas.openxmlformats.org/drawingml/2006/table">
            <a:tbl>
              <a:tblPr firstRow="1" firstCol="1" bandRow="1"/>
              <a:tblGrid>
                <a:gridCol w="5647228">
                  <a:extLst>
                    <a:ext uri="{9D8B030D-6E8A-4147-A177-3AD203B41FA5}">
                      <a16:colId xmlns:a16="http://schemas.microsoft.com/office/drawing/2014/main" val="4037162563"/>
                    </a:ext>
                  </a:extLst>
                </a:gridCol>
                <a:gridCol w="1355023">
                  <a:extLst>
                    <a:ext uri="{9D8B030D-6E8A-4147-A177-3AD203B41FA5}">
                      <a16:colId xmlns:a16="http://schemas.microsoft.com/office/drawing/2014/main" val="378038184"/>
                    </a:ext>
                  </a:extLst>
                </a:gridCol>
                <a:gridCol w="1636993">
                  <a:extLst>
                    <a:ext uri="{9D8B030D-6E8A-4147-A177-3AD203B41FA5}">
                      <a16:colId xmlns:a16="http://schemas.microsoft.com/office/drawing/2014/main" val="1312231860"/>
                    </a:ext>
                  </a:extLst>
                </a:gridCol>
                <a:gridCol w="2858861">
                  <a:extLst>
                    <a:ext uri="{9D8B030D-6E8A-4147-A177-3AD203B41FA5}">
                      <a16:colId xmlns:a16="http://schemas.microsoft.com/office/drawing/2014/main" val="3268788739"/>
                    </a:ext>
                  </a:extLst>
                </a:gridCol>
              </a:tblGrid>
              <a:tr h="0">
                <a:tc>
                  <a:txBody>
                    <a:bodyPr/>
                    <a:lstStyle/>
                    <a:p>
                      <a:pPr algn="just">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2011</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2016</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Athrú</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6971132"/>
                  </a:ext>
                </a:extLst>
              </a:tr>
              <a:tr h="220015">
                <a:tc>
                  <a:txBody>
                    <a:bodyPr/>
                    <a:lstStyle/>
                    <a:p>
                      <a:pPr>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Daonra na Gaeltachta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96,628</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96,090</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Laghdú 0.6%</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7681405"/>
                  </a:ext>
                </a:extLst>
              </a:tr>
              <a:tr h="1032138">
                <a:tc>
                  <a:txBody>
                    <a:bodyPr/>
                    <a:lstStyle/>
                    <a:p>
                      <a:pPr>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Líon na ndaoine a thug le fios go raibh Gaeilge acu.</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 den daonra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66,238</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2000" b="1" dirty="0">
                          <a:effectLst/>
                          <a:latin typeface="Calibri" panose="020F0502020204030204" pitchFamily="34" charset="0"/>
                          <a:ea typeface="Times New Roman" panose="02020603050405020304" pitchFamily="18" charset="0"/>
                          <a:cs typeface="Calibri" panose="020F0502020204030204" pitchFamily="34" charset="0"/>
                        </a:rPr>
                        <a:t>68.5%</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63,664</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66.3%</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solidFill>
                            <a:srgbClr val="FF0000"/>
                          </a:solidFill>
                          <a:effectLst/>
                          <a:highlight>
                            <a:srgbClr val="FFFF00"/>
                          </a:highlight>
                          <a:latin typeface="Calibri" panose="020F0502020204030204" pitchFamily="34" charset="0"/>
                          <a:ea typeface="Times New Roman" panose="02020603050405020304" pitchFamily="18" charset="0"/>
                          <a:cs typeface="Calibri" panose="020F0502020204030204" pitchFamily="34" charset="0"/>
                        </a:rPr>
                        <a:t>Laghdú 2.2% </a:t>
                      </a:r>
                      <a:endParaRPr lang="ga-IE" sz="20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2000" b="1" dirty="0">
                          <a:solidFill>
                            <a:srgbClr val="FF0000"/>
                          </a:solidFill>
                          <a:effectLst/>
                          <a:highlight>
                            <a:srgbClr val="FFFF00"/>
                          </a:highlight>
                          <a:latin typeface="Calibri" panose="020F0502020204030204" pitchFamily="34" charset="0"/>
                          <a:ea typeface="Times New Roman" panose="02020603050405020304" pitchFamily="18" charset="0"/>
                          <a:cs typeface="Calibri" panose="020F0502020204030204" pitchFamily="34" charset="0"/>
                        </a:rPr>
                        <a:t>Titim de 2,574 duine</a:t>
                      </a:r>
                      <a:endParaRPr lang="ga-IE" sz="20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9602031"/>
                  </a:ext>
                </a:extLst>
              </a:tr>
              <a:tr h="1144044">
                <a:tc>
                  <a:txBody>
                    <a:bodyPr/>
                    <a:lstStyle/>
                    <a:p>
                      <a:pPr>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Líon na ndaoine a thug le fios go labhraíonn siad Gaeilge gach lá, taobh amuigh den chóras oideachais.</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 den daonra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23,175 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23.9%</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20,586</a:t>
                      </a: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21.4%</a:t>
                      </a: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solidFill>
                            <a:srgbClr val="FF0000"/>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Laghdú 2,589 duine </a:t>
                      </a:r>
                      <a:endParaRPr lang="ga-IE" sz="20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2000" b="1" dirty="0">
                          <a:solidFill>
                            <a:srgbClr val="FF0000"/>
                          </a:solidFill>
                          <a:effectLst/>
                          <a:highlight>
                            <a:srgbClr val="FFFF00"/>
                          </a:highlight>
                          <a:latin typeface="Calibri" panose="020F0502020204030204" pitchFamily="34" charset="0"/>
                          <a:ea typeface="Calibri" panose="020F0502020204030204" pitchFamily="34" charset="0"/>
                          <a:cs typeface="Calibri" panose="020F0502020204030204" pitchFamily="34" charset="0"/>
                        </a:rPr>
                        <a:t>Laghdú 11.2%! </a:t>
                      </a:r>
                      <a:endParaRPr lang="ga-IE" sz="20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8279140"/>
                  </a:ext>
                </a:extLst>
              </a:tr>
              <a:tr h="929591">
                <a:tc>
                  <a:txBody>
                    <a:bodyPr/>
                    <a:lstStyle/>
                    <a:p>
                      <a:pPr algn="just">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Líon na ndaoine a labhraíonn Gaeilge go seachtainiúil, taobh amuigh den chóras oideachais.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5453</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Times New Roman" panose="02020603050405020304" pitchFamily="18" charset="0"/>
                          <a:cs typeface="Calibri" panose="020F0502020204030204" pitchFamily="34" charset="0"/>
                        </a:rPr>
                        <a:t>6,284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Méadú de </a:t>
                      </a: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831 duine</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9231547"/>
                  </a:ext>
                </a:extLst>
              </a:tr>
              <a:tr h="553331">
                <a:tc>
                  <a:txBody>
                    <a:bodyPr/>
                    <a:lstStyle/>
                    <a:p>
                      <a:pPr algn="just">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Líon na ndaoine a labhraíonn Gaeilge </a:t>
                      </a:r>
                      <a:r>
                        <a:rPr lang="en-IE" sz="2000" b="1" dirty="0">
                          <a:effectLst/>
                          <a:latin typeface="Calibri" panose="020F0502020204030204" pitchFamily="34" charset="0"/>
                          <a:ea typeface="Calibri" panose="020F0502020204030204" pitchFamily="34" charset="0"/>
                          <a:cs typeface="Calibri" panose="020F0502020204030204" pitchFamily="34" charset="0"/>
                        </a:rPr>
                        <a:t>                                    </a:t>
                      </a:r>
                      <a:r>
                        <a:rPr lang="ga-IE" sz="2000" b="1" dirty="0">
                          <a:effectLst/>
                          <a:latin typeface="Calibri" panose="020F0502020204030204" pitchFamily="34" charset="0"/>
                          <a:ea typeface="Calibri" panose="020F0502020204030204" pitchFamily="34" charset="0"/>
                          <a:cs typeface="Calibri" panose="020F0502020204030204" pitchFamily="34" charset="0"/>
                        </a:rPr>
                        <a:t>“ní chomh minic sin”</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16,244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16,137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Titim 0.7%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5555173"/>
                  </a:ext>
                </a:extLst>
              </a:tr>
              <a:tr h="710788">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Líon na ndaoine a líon isteach an leagan Gaeilge den fhoirm</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8700</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Times New Roman" panose="02020603050405020304" pitchFamily="18" charset="0"/>
                        </a:rPr>
                        <a:t>7,700</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Laghdú 12%</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55939" marR="559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6118005"/>
                  </a:ext>
                </a:extLst>
              </a:tr>
            </a:tbl>
          </a:graphicData>
        </a:graphic>
      </p:graphicFrame>
      <p:sp>
        <p:nvSpPr>
          <p:cNvPr id="3" name="Rectangle 1">
            <a:extLst>
              <a:ext uri="{FF2B5EF4-FFF2-40B4-BE49-F238E27FC236}">
                <a16:creationId xmlns:a16="http://schemas.microsoft.com/office/drawing/2014/main" id="{00D8AAE0-DAD5-4FF8-A27E-3712B22EF1AB}"/>
              </a:ext>
            </a:extLst>
          </p:cNvPr>
          <p:cNvSpPr>
            <a:spLocks noChangeArrowheads="1"/>
          </p:cNvSpPr>
          <p:nvPr/>
        </p:nvSpPr>
        <p:spPr bwMode="auto">
          <a:xfrm>
            <a:off x="3636963" y="17573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ga-IE" altLang="ga-IE" sz="1800" b="0" i="0" u="none" strike="noStrike" cap="none" normalizeH="0" baseline="0">
                <a:ln>
                  <a:noFill/>
                </a:ln>
                <a:solidFill>
                  <a:schemeClr val="tx1"/>
                </a:solidFill>
                <a:effectLst/>
                <a:latin typeface="Arial" panose="020B0604020202020204" pitchFamily="34" charset="0"/>
              </a:rPr>
            </a:br>
            <a:endParaRPr kumimoji="0" lang="ga-IE" altLang="ga-IE" sz="1800" b="0" i="0" u="none" strike="noStrike" cap="none" normalizeH="0" baseline="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FDF8F03D-7E78-4A01-86C6-66F1A0E870F1}"/>
              </a:ext>
            </a:extLst>
          </p:cNvPr>
          <p:cNvSpPr>
            <a:spLocks noChangeArrowheads="1"/>
          </p:cNvSpPr>
          <p:nvPr/>
        </p:nvSpPr>
        <p:spPr bwMode="auto">
          <a:xfrm>
            <a:off x="841510" y="6378476"/>
            <a:ext cx="4022725" cy="635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ga-IE"/>
          </a:p>
        </p:txBody>
      </p:sp>
      <p:sp>
        <p:nvSpPr>
          <p:cNvPr id="5" name="Rectangle 3">
            <a:extLst>
              <a:ext uri="{FF2B5EF4-FFF2-40B4-BE49-F238E27FC236}">
                <a16:creationId xmlns:a16="http://schemas.microsoft.com/office/drawing/2014/main" id="{5CFC31E2-FD3C-453B-A93E-38DA451434E4}"/>
              </a:ext>
            </a:extLst>
          </p:cNvPr>
          <p:cNvSpPr>
            <a:spLocks noChangeArrowheads="1"/>
          </p:cNvSpPr>
          <p:nvPr/>
        </p:nvSpPr>
        <p:spPr bwMode="auto">
          <a:xfrm>
            <a:off x="660750" y="6519732"/>
            <a:ext cx="620528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1200" b="0" i="0" u="sng" strike="noStrike" cap="none" normalizeH="0" baseline="30000" dirty="0">
                <a:ln>
                  <a:noFill/>
                </a:ln>
                <a:solidFill>
                  <a:srgbClr val="954F72"/>
                </a:solidFill>
                <a:effectLst/>
                <a:latin typeface="Calibri" panose="020F0502020204030204" pitchFamily="34" charset="0"/>
                <a:ea typeface="Times New Roman" panose="02020603050405020304" pitchFamily="18" charset="0"/>
                <a:cs typeface="Calibri" panose="020F0502020204030204" pitchFamily="34" charset="0"/>
                <a:hlinkClick r:id="rId2"/>
              </a:rPr>
              <a:t>[</a:t>
            </a:r>
            <a:r>
              <a:rPr kumimoji="0" lang="ga-IE" altLang="ga-IE" sz="1200" b="0" i="0" u="sng" strike="noStrike" cap="none" normalizeH="0" baseline="30000" dirty="0" bmk="">
                <a:ln>
                  <a:noFill/>
                </a:ln>
                <a:solidFill>
                  <a:srgbClr val="954F72"/>
                </a:solidFill>
                <a:effectLst/>
                <a:latin typeface="Calibri" panose="020F0502020204030204" pitchFamily="34" charset="0"/>
                <a:ea typeface="Times New Roman" panose="02020603050405020304" pitchFamily="18" charset="0"/>
                <a:cs typeface="Calibri" panose="020F0502020204030204" pitchFamily="34" charset="0"/>
                <a:hlinkClick r:id="rId2"/>
              </a:rPr>
              <a:t>1]</a:t>
            </a:r>
            <a:r>
              <a:rPr kumimoji="0" lang="ga-IE" altLang="ga-IE"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kumimoji="0" lang="ga-IE" altLang="ga-IE"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hlinkClick r:id="rId3"/>
              </a:rPr>
              <a:t>https://tuairisc.ie/laghdu-ar-lion-na-bhfoirmeacha-gaeilge-a-lionadh-do-dhaonaireamh-2016/</a:t>
            </a:r>
            <a:r>
              <a:rPr kumimoji="0" lang="en-IE" altLang="ga-IE"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hlinkClick r:id="rId3"/>
              </a:rPr>
              <a:t> </a:t>
            </a:r>
            <a:endParaRPr kumimoji="0" lang="en-IE" altLang="ga-IE"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973040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ábla 1">
            <a:extLst>
              <a:ext uri="{FF2B5EF4-FFF2-40B4-BE49-F238E27FC236}">
                <a16:creationId xmlns:a16="http://schemas.microsoft.com/office/drawing/2014/main" id="{064B77F9-F6D5-4C10-88E7-5778CAECEC8B}"/>
              </a:ext>
            </a:extLst>
          </p:cNvPr>
          <p:cNvGraphicFramePr>
            <a:graphicFrameLocks noGrp="1"/>
          </p:cNvGraphicFramePr>
          <p:nvPr>
            <p:extLst>
              <p:ext uri="{D42A27DB-BD31-4B8C-83A1-F6EECF244321}">
                <p14:modId xmlns:p14="http://schemas.microsoft.com/office/powerpoint/2010/main" val="1771334069"/>
              </p:ext>
            </p:extLst>
          </p:nvPr>
        </p:nvGraphicFramePr>
        <p:xfrm>
          <a:off x="747486" y="884500"/>
          <a:ext cx="10646228" cy="5152080"/>
        </p:xfrm>
        <a:graphic>
          <a:graphicData uri="http://schemas.openxmlformats.org/drawingml/2006/table">
            <a:tbl>
              <a:tblPr firstRow="1" firstCol="1" bandRow="1"/>
              <a:tblGrid>
                <a:gridCol w="3429966">
                  <a:extLst>
                    <a:ext uri="{9D8B030D-6E8A-4147-A177-3AD203B41FA5}">
                      <a16:colId xmlns:a16="http://schemas.microsoft.com/office/drawing/2014/main" val="1249355289"/>
                    </a:ext>
                  </a:extLst>
                </a:gridCol>
                <a:gridCol w="2405824">
                  <a:extLst>
                    <a:ext uri="{9D8B030D-6E8A-4147-A177-3AD203B41FA5}">
                      <a16:colId xmlns:a16="http://schemas.microsoft.com/office/drawing/2014/main" val="2735839974"/>
                    </a:ext>
                  </a:extLst>
                </a:gridCol>
                <a:gridCol w="2233720">
                  <a:extLst>
                    <a:ext uri="{9D8B030D-6E8A-4147-A177-3AD203B41FA5}">
                      <a16:colId xmlns:a16="http://schemas.microsoft.com/office/drawing/2014/main" val="3261583499"/>
                    </a:ext>
                  </a:extLst>
                </a:gridCol>
                <a:gridCol w="2576718">
                  <a:extLst>
                    <a:ext uri="{9D8B030D-6E8A-4147-A177-3AD203B41FA5}">
                      <a16:colId xmlns:a16="http://schemas.microsoft.com/office/drawing/2014/main" val="2098167391"/>
                    </a:ext>
                  </a:extLst>
                </a:gridCol>
              </a:tblGrid>
              <a:tr h="515208">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Ceantar Gaeltachta</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2011</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2016</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Fíorathrú 2011-2016</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6429069"/>
                  </a:ext>
                </a:extLst>
              </a:tr>
              <a:tr h="515208">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Contae Chorcaí</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982</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872</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-110</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9542433"/>
                  </a:ext>
                </a:extLst>
              </a:tr>
              <a:tr h="515208">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Contae Dhún na nGall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7,047</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5,929</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-1,118</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5660346"/>
                  </a:ext>
                </a:extLst>
              </a:tr>
              <a:tr h="515208">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Cathair na Gaillimhe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636</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646</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10</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0982465"/>
                  </a:ext>
                </a:extLst>
              </a:tr>
              <a:tr h="515208">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Contae na Gaillimhe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10,085</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9,445</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-640</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4458340"/>
                  </a:ext>
                </a:extLst>
              </a:tr>
              <a:tr h="515208">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Contae Chiarraí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2,501</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2,049</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-452</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9236056"/>
                  </a:ext>
                </a:extLst>
              </a:tr>
              <a:tr h="515208">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Contae Mhaigh Eo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1,172</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895</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-277</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7441534"/>
                  </a:ext>
                </a:extLst>
              </a:tr>
              <a:tr h="515208">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Contae na Mí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314</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283</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-31</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6792674"/>
                  </a:ext>
                </a:extLst>
              </a:tr>
              <a:tr h="515208">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Contae Phort Láirge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438</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467</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29</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4559253"/>
                  </a:ext>
                </a:extLst>
              </a:tr>
              <a:tr h="515208">
                <a:tc>
                  <a:txBody>
                    <a:bodyPr/>
                    <a:lstStyle/>
                    <a:p>
                      <a:pPr algn="just">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Ceantair Ghaeltachta ar fad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23,175</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20,586</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-2,589 (11%)</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5222280"/>
                  </a:ext>
                </a:extLst>
              </a:tr>
            </a:tbl>
          </a:graphicData>
        </a:graphic>
      </p:graphicFrame>
      <p:sp>
        <p:nvSpPr>
          <p:cNvPr id="3" name="Rectangle 1">
            <a:extLst>
              <a:ext uri="{FF2B5EF4-FFF2-40B4-BE49-F238E27FC236}">
                <a16:creationId xmlns:a16="http://schemas.microsoft.com/office/drawing/2014/main" id="{010FB851-7027-48B1-8F01-45FB160E6B03}"/>
              </a:ext>
            </a:extLst>
          </p:cNvPr>
          <p:cNvSpPr>
            <a:spLocks noChangeArrowheads="1"/>
          </p:cNvSpPr>
          <p:nvPr/>
        </p:nvSpPr>
        <p:spPr bwMode="auto">
          <a:xfrm>
            <a:off x="2349136" y="493189"/>
            <a:ext cx="794775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2000" b="1" i="0" u="none" strike="noStrike" cap="none" normalizeH="0" baseline="0" dirty="0">
                <a:ln>
                  <a:noFill/>
                </a:ln>
                <a:solidFill>
                  <a:schemeClr val="tx1"/>
                </a:solidFill>
                <a:effectLst/>
                <a:ea typeface="Calibri" panose="020F0502020204030204" pitchFamily="34" charset="0"/>
                <a:cs typeface="Calibri" panose="020F0502020204030204" pitchFamily="34" charset="0"/>
              </a:rPr>
              <a:t>Tábla 7.1 Cainteoirí laethúla Gaeilge i gceantair Ghaeltachta, 2011-2016</a:t>
            </a:r>
            <a:r>
              <a:rPr kumimoji="0" lang="ga-IE" altLang="ga-IE" sz="2000" b="1" i="0" u="sng" strike="noStrike" cap="none" normalizeH="0" baseline="30000" dirty="0">
                <a:ln>
                  <a:noFill/>
                </a:ln>
                <a:solidFill>
                  <a:srgbClr val="954F72"/>
                </a:solidFill>
                <a:effectLst/>
                <a:ea typeface="Calibri" panose="020F0502020204030204" pitchFamily="34" charset="0"/>
                <a:cs typeface="Calibri" panose="020F0502020204030204" pitchFamily="34" charset="0"/>
                <a:hlinkClick r:id="rId2"/>
              </a:rPr>
              <a:t>[</a:t>
            </a:r>
            <a:r>
              <a:rPr kumimoji="0" lang="ga-IE" altLang="ga-IE" sz="2000" b="1" i="0" u="sng" strike="noStrike" cap="none" normalizeH="0" baseline="30000" dirty="0" bmk="">
                <a:ln>
                  <a:noFill/>
                </a:ln>
                <a:solidFill>
                  <a:srgbClr val="954F72"/>
                </a:solidFill>
                <a:effectLst/>
                <a:ea typeface="Calibri" panose="020F0502020204030204" pitchFamily="34" charset="0"/>
                <a:cs typeface="Calibri" panose="020F0502020204030204" pitchFamily="34" charset="0"/>
                <a:hlinkClick r:id="rId2"/>
              </a:rPr>
              <a:t>1]</a:t>
            </a:r>
            <a:endParaRPr kumimoji="0" lang="ga-IE" altLang="ga-IE"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ga-IE" altLang="ga-IE" sz="2000" b="0" i="0" u="none" strike="noStrike" cap="none" normalizeH="0" baseline="0" dirty="0">
                <a:ln>
                  <a:noFill/>
                </a:ln>
                <a:solidFill>
                  <a:schemeClr val="tx1"/>
                </a:solidFill>
                <a:effectLst/>
              </a:rPr>
            </a:br>
            <a:endParaRPr kumimoji="0" lang="ga-IE" altLang="ga-IE" sz="2000" b="0" i="0" u="none" strike="noStrike" cap="none" normalizeH="0" baseline="0" dirty="0">
              <a:ln>
                <a:noFill/>
              </a:ln>
              <a:solidFill>
                <a:schemeClr val="tx1"/>
              </a:solidFill>
              <a:effectLst/>
            </a:endParaRPr>
          </a:p>
        </p:txBody>
      </p:sp>
      <p:sp>
        <p:nvSpPr>
          <p:cNvPr id="4" name="Rectangle 2">
            <a:extLst>
              <a:ext uri="{FF2B5EF4-FFF2-40B4-BE49-F238E27FC236}">
                <a16:creationId xmlns:a16="http://schemas.microsoft.com/office/drawing/2014/main" id="{4A33A2E7-6947-4454-AF8F-55DD7A71A9C3}"/>
              </a:ext>
            </a:extLst>
          </p:cNvPr>
          <p:cNvSpPr>
            <a:spLocks noChangeArrowheads="1"/>
          </p:cNvSpPr>
          <p:nvPr/>
        </p:nvSpPr>
        <p:spPr bwMode="auto">
          <a:xfrm>
            <a:off x="1470706" y="6030230"/>
            <a:ext cx="4022725" cy="635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ga-IE"/>
          </a:p>
        </p:txBody>
      </p:sp>
      <p:sp>
        <p:nvSpPr>
          <p:cNvPr id="5" name="Rectangle 3">
            <a:extLst>
              <a:ext uri="{FF2B5EF4-FFF2-40B4-BE49-F238E27FC236}">
                <a16:creationId xmlns:a16="http://schemas.microsoft.com/office/drawing/2014/main" id="{9C391CEC-3ED3-45C8-B2AC-377D6A65D818}"/>
              </a:ext>
            </a:extLst>
          </p:cNvPr>
          <p:cNvSpPr>
            <a:spLocks noChangeArrowheads="1"/>
          </p:cNvSpPr>
          <p:nvPr/>
        </p:nvSpPr>
        <p:spPr bwMode="auto">
          <a:xfrm>
            <a:off x="1340077" y="6238262"/>
            <a:ext cx="101881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1200" b="0" i="0" u="sng" strike="noStrike" cap="none" normalizeH="0" baseline="30000" dirty="0">
                <a:ln>
                  <a:noFill/>
                </a:ln>
                <a:solidFill>
                  <a:srgbClr val="954F72"/>
                </a:solidFill>
                <a:effectLst/>
                <a:latin typeface="Calibri" panose="020F0502020204030204" pitchFamily="34" charset="0"/>
                <a:ea typeface="Times New Roman" panose="02020603050405020304" pitchFamily="18" charset="0"/>
                <a:cs typeface="Calibri" panose="020F0502020204030204" pitchFamily="34" charset="0"/>
                <a:hlinkClick r:id="rId3"/>
              </a:rPr>
              <a:t>[</a:t>
            </a:r>
            <a:r>
              <a:rPr kumimoji="0" lang="ga-IE" altLang="ga-IE" sz="1200" b="0" i="0" u="sng" strike="noStrike" cap="none" normalizeH="0" baseline="30000" dirty="0" bmk="">
                <a:ln>
                  <a:noFill/>
                </a:ln>
                <a:solidFill>
                  <a:srgbClr val="954F72"/>
                </a:solidFill>
                <a:effectLst/>
                <a:latin typeface="Calibri" panose="020F0502020204030204" pitchFamily="34" charset="0"/>
                <a:ea typeface="Times New Roman" panose="02020603050405020304" pitchFamily="18" charset="0"/>
                <a:cs typeface="Calibri" panose="020F0502020204030204" pitchFamily="34" charset="0"/>
                <a:hlinkClick r:id="rId3"/>
              </a:rPr>
              <a:t>1]</a:t>
            </a:r>
            <a:r>
              <a:rPr kumimoji="0" lang="ga-IE" altLang="ga-IE"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kumimoji="0" lang="ga-IE" altLang="ga-IE"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hlinkClick r:id="rId4"/>
              </a:rPr>
              <a:t>https://www.cso.ie/en/media/csoie/releasespublications/documents/population/2017/Caibidil_7_An_Ghaeilge_agus_An_Ghaeltacht_nuashonr%C3%BA.pdf </a:t>
            </a:r>
            <a:endParaRPr kumimoji="0" lang="ga-IE" altLang="ga-IE"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46345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7B1A200F-81C3-43A8-A852-C06A4A6FF6FF}"/>
              </a:ext>
            </a:extLst>
          </p:cNvPr>
          <p:cNvSpPr txBox="1"/>
          <p:nvPr/>
        </p:nvSpPr>
        <p:spPr>
          <a:xfrm>
            <a:off x="522109" y="91649"/>
            <a:ext cx="11205434" cy="1962717"/>
          </a:xfrm>
          <a:prstGeom prst="rect">
            <a:avLst/>
          </a:prstGeom>
          <a:noFill/>
        </p:spPr>
        <p:txBody>
          <a:bodyPr wrap="square">
            <a:spAutoFit/>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An Ghaeltacht i gcomparáid leis an Ghalltacht</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ga-IE" dirty="0">
                <a:effectLst/>
                <a:latin typeface="Calibri" panose="020F0502020204030204" pitchFamily="34" charset="0"/>
                <a:ea typeface="Calibri" panose="020F0502020204030204" pitchFamily="34" charset="0"/>
                <a:cs typeface="Calibri" panose="020F0502020204030204" pitchFamily="34" charset="0"/>
              </a:rPr>
              <a:t>Is léir go bhfuil treocht shuimiúil ann maidir le húsáid na Gaeilge sa Ghaeltacht i gcomparáid leis an Ghalltacht le tamall de bhlianta. </a:t>
            </a:r>
            <a:r>
              <a:rPr lang="en-IE" dirty="0">
                <a:effectLst/>
                <a:latin typeface="Calibri" panose="020F0502020204030204" pitchFamily="34" charset="0"/>
                <a:ea typeface="Calibri" panose="020F0502020204030204" pitchFamily="34" charset="0"/>
                <a:cs typeface="Calibri" panose="020F0502020204030204" pitchFamily="34" charset="0"/>
              </a:rPr>
              <a:t> </a:t>
            </a:r>
          </a:p>
          <a:p>
            <a:pPr algn="just">
              <a:lnSpc>
                <a:spcPct val="150000"/>
              </a:lnSpc>
              <a:spcAft>
                <a:spcPts val="800"/>
              </a:spcAft>
            </a:pPr>
            <a:r>
              <a:rPr lang="ga-IE"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Tá i bhfad Éireann níos mó daoine ag labhairt Gaeilge go laethúil sa Ghalltacht i gcomparáid leis an Ghaeltacht. </a:t>
            </a:r>
            <a:endParaRPr lang="ga-IE"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ábla 3">
            <a:extLst>
              <a:ext uri="{FF2B5EF4-FFF2-40B4-BE49-F238E27FC236}">
                <a16:creationId xmlns:a16="http://schemas.microsoft.com/office/drawing/2014/main" id="{1DF76E0D-0A6B-4162-AAAC-10AD9BA8032B}"/>
              </a:ext>
            </a:extLst>
          </p:cNvPr>
          <p:cNvGraphicFramePr>
            <a:graphicFrameLocks noGrp="1"/>
          </p:cNvGraphicFramePr>
          <p:nvPr>
            <p:extLst>
              <p:ext uri="{D42A27DB-BD31-4B8C-83A1-F6EECF244321}">
                <p14:modId xmlns:p14="http://schemas.microsoft.com/office/powerpoint/2010/main" val="190956538"/>
              </p:ext>
            </p:extLst>
          </p:nvPr>
        </p:nvGraphicFramePr>
        <p:xfrm>
          <a:off x="994818" y="2383498"/>
          <a:ext cx="10675073" cy="3578745"/>
        </p:xfrm>
        <a:graphic>
          <a:graphicData uri="http://schemas.openxmlformats.org/drawingml/2006/table">
            <a:tbl>
              <a:tblPr firstRow="1" firstCol="1" bandRow="1"/>
              <a:tblGrid>
                <a:gridCol w="1744049">
                  <a:extLst>
                    <a:ext uri="{9D8B030D-6E8A-4147-A177-3AD203B41FA5}">
                      <a16:colId xmlns:a16="http://schemas.microsoft.com/office/drawing/2014/main" val="3142461145"/>
                    </a:ext>
                  </a:extLst>
                </a:gridCol>
                <a:gridCol w="4138979">
                  <a:extLst>
                    <a:ext uri="{9D8B030D-6E8A-4147-A177-3AD203B41FA5}">
                      <a16:colId xmlns:a16="http://schemas.microsoft.com/office/drawing/2014/main" val="4261047284"/>
                    </a:ext>
                  </a:extLst>
                </a:gridCol>
                <a:gridCol w="2940970">
                  <a:extLst>
                    <a:ext uri="{9D8B030D-6E8A-4147-A177-3AD203B41FA5}">
                      <a16:colId xmlns:a16="http://schemas.microsoft.com/office/drawing/2014/main" val="1280853092"/>
                    </a:ext>
                  </a:extLst>
                </a:gridCol>
                <a:gridCol w="1851075">
                  <a:extLst>
                    <a:ext uri="{9D8B030D-6E8A-4147-A177-3AD203B41FA5}">
                      <a16:colId xmlns:a16="http://schemas.microsoft.com/office/drawing/2014/main" val="3428272459"/>
                    </a:ext>
                  </a:extLst>
                </a:gridCol>
              </a:tblGrid>
              <a:tr h="1649763">
                <a:tc>
                  <a:txBody>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Bliain an Daonáirimh</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Líon na gcainteoirí laethúla Gaeilge</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(taobh amuigh den chóras oideachais)</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Sa Ghaeltacht</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Sa Ghalltacht</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1872031"/>
                  </a:ext>
                </a:extLst>
              </a:tr>
              <a:tr h="642994">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2016</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73,803</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20,586</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53,217</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5365440"/>
                  </a:ext>
                </a:extLst>
              </a:tr>
              <a:tr h="642994">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2011</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77,185</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Times New Roman" panose="02020603050405020304" pitchFamily="18" charset="0"/>
                        </a:rPr>
                        <a:t>23,175</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Times New Roman" panose="02020603050405020304" pitchFamily="18" charset="0"/>
                        </a:rPr>
                        <a:t>54,010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844703"/>
                  </a:ext>
                </a:extLst>
              </a:tr>
              <a:tr h="642994">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2006</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72,148</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22,500</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49,648</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1139705"/>
                  </a:ext>
                </a:extLst>
              </a:tr>
            </a:tbl>
          </a:graphicData>
        </a:graphic>
      </p:graphicFrame>
      <p:sp>
        <p:nvSpPr>
          <p:cNvPr id="5" name="Rectangle 1">
            <a:extLst>
              <a:ext uri="{FF2B5EF4-FFF2-40B4-BE49-F238E27FC236}">
                <a16:creationId xmlns:a16="http://schemas.microsoft.com/office/drawing/2014/main" id="{7F1149BC-2542-435E-9FDB-93987287AFA8}"/>
              </a:ext>
            </a:extLst>
          </p:cNvPr>
          <p:cNvSpPr>
            <a:spLocks noChangeArrowheads="1"/>
          </p:cNvSpPr>
          <p:nvPr/>
        </p:nvSpPr>
        <p:spPr bwMode="auto">
          <a:xfrm>
            <a:off x="2990850" y="33734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ga-IE" altLang="ga-IE" sz="1800" b="0" i="0" u="none" strike="noStrike" cap="none" normalizeH="0" baseline="0">
                <a:ln>
                  <a:noFill/>
                </a:ln>
                <a:solidFill>
                  <a:schemeClr val="tx1"/>
                </a:solidFill>
                <a:effectLst/>
                <a:latin typeface="Arial" panose="020B0604020202020204" pitchFamily="34" charset="0"/>
              </a:rPr>
            </a:br>
            <a:endParaRPr kumimoji="0" lang="ga-IE" altLang="ga-IE" sz="1800" b="0" i="0" u="none" strike="noStrike" cap="none" normalizeH="0" baseline="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98873368-9B0D-4FF4-BD7F-C3266B9100E8}"/>
              </a:ext>
            </a:extLst>
          </p:cNvPr>
          <p:cNvSpPr>
            <a:spLocks noChangeArrowheads="1"/>
          </p:cNvSpPr>
          <p:nvPr/>
        </p:nvSpPr>
        <p:spPr bwMode="auto">
          <a:xfrm>
            <a:off x="908050" y="6006294"/>
            <a:ext cx="4022725" cy="635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ga-IE"/>
          </a:p>
        </p:txBody>
      </p:sp>
      <p:sp>
        <p:nvSpPr>
          <p:cNvPr id="7" name="Rectangle 3">
            <a:extLst>
              <a:ext uri="{FF2B5EF4-FFF2-40B4-BE49-F238E27FC236}">
                <a16:creationId xmlns:a16="http://schemas.microsoft.com/office/drawing/2014/main" id="{1B2ACE82-17F2-4998-9D04-24E0EA752EE4}"/>
              </a:ext>
            </a:extLst>
          </p:cNvPr>
          <p:cNvSpPr>
            <a:spLocks noChangeArrowheads="1"/>
          </p:cNvSpPr>
          <p:nvPr/>
        </p:nvSpPr>
        <p:spPr bwMode="auto">
          <a:xfrm>
            <a:off x="210457" y="6050345"/>
            <a:ext cx="102660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ga-IE" altLang="ga-IE" sz="1200" b="0" i="0" u="sng" strike="noStrike" cap="none" normalizeH="0" baseline="30000" dirty="0">
                <a:ln>
                  <a:noFill/>
                </a:ln>
                <a:solidFill>
                  <a:srgbClr val="954F72"/>
                </a:solidFill>
                <a:effectLst/>
                <a:latin typeface="Calibri" panose="020F0502020204030204" pitchFamily="34" charset="0"/>
                <a:ea typeface="Calibri" panose="020F0502020204030204" pitchFamily="34" charset="0"/>
                <a:cs typeface="Times New Roman" panose="02020603050405020304" pitchFamily="18" charset="0"/>
                <a:hlinkClick r:id="rId2"/>
              </a:rPr>
              <a:t>[</a:t>
            </a:r>
            <a:r>
              <a:rPr kumimoji="0" lang="ga-IE" altLang="ga-IE" sz="1200" b="0" i="0" u="sng" strike="noStrike" cap="none" normalizeH="0" baseline="30000" dirty="0" bmk="">
                <a:ln>
                  <a:noFill/>
                </a:ln>
                <a:solidFill>
                  <a:srgbClr val="954F72"/>
                </a:solidFill>
                <a:effectLst/>
                <a:latin typeface="Calibri" panose="020F0502020204030204" pitchFamily="34" charset="0"/>
                <a:ea typeface="Calibri" panose="020F0502020204030204" pitchFamily="34" charset="0"/>
                <a:cs typeface="Times New Roman" panose="02020603050405020304" pitchFamily="18" charset="0"/>
                <a:hlinkClick r:id="rId2"/>
              </a:rPr>
              <a:t>1]</a:t>
            </a:r>
            <a:r>
              <a:rPr kumimoji="0" lang="ga-IE" altLang="ga-IE"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ga-IE" altLang="ga-IE"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Ba é Baile Átha Cliath an contae is láidre ó thaobh na teanga nach contae Gaeltachta é.</a:t>
            </a:r>
            <a:r>
              <a:rPr kumimoji="0" lang="en-IE" altLang="ga-IE"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ga-IE" altLang="ga-IE"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Le linn na tréimhse (2011-2016), </a:t>
            </a:r>
            <a:endParaRPr kumimoji="0" lang="en-IE" altLang="ga-IE"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ga-IE" altLang="ga-IE"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tháinig méadú 5.1% ar líon na gcainteoirí laethúla Gaeilge lasmuigh den chóras oideachais i mBaile Átha Cliath idir 2011-2016</a:t>
            </a:r>
            <a:r>
              <a:rPr kumimoji="0" lang="ga-IE" altLang="ga-IE" sz="1200" b="0" i="0" u="none" strike="noStrike" cap="none" normalizeH="0" baseline="3000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[1]</a:t>
            </a:r>
            <a:r>
              <a:rPr kumimoji="0" lang="ga-IE" altLang="ga-IE"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en-IE" altLang="ga-IE"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IE" altLang="ga-IE"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ga-IE" altLang="ga-IE"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hlinkClick r:id="rId3"/>
              </a:rPr>
              <a:t>https://tuairisc.ie/achoimre-ar-sceal-na-gaeilge-i-ndaonaireamh-2016/</a:t>
            </a:r>
            <a:endParaRPr kumimoji="0" lang="ga-IE" altLang="ga-IE"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18035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D189BC4B-33B0-4B06-B271-0E4A8A13FD62}"/>
              </a:ext>
            </a:extLst>
          </p:cNvPr>
          <p:cNvSpPr txBox="1"/>
          <p:nvPr/>
        </p:nvSpPr>
        <p:spPr>
          <a:xfrm>
            <a:off x="523875" y="299579"/>
            <a:ext cx="10158639" cy="916982"/>
          </a:xfrm>
          <a:prstGeom prst="rect">
            <a:avLst/>
          </a:prstGeom>
          <a:noFill/>
        </p:spPr>
        <p:txBody>
          <a:bodyPr wrap="square">
            <a:spAutoFit/>
          </a:bodyPr>
          <a:lstStyle/>
          <a:p>
            <a:pPr algn="ctr">
              <a:lnSpc>
                <a:spcPct val="150000"/>
              </a:lnSpc>
              <a:spcAft>
                <a:spcPts val="800"/>
              </a:spcAft>
            </a:pPr>
            <a:r>
              <a:rPr lang="ga-IE" sz="4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Treochtaí Sochtheangeolaíochta</a:t>
            </a:r>
            <a:r>
              <a:rPr lang="en-IE" sz="4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ga-IE" sz="4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sa Ghaeltacht</a:t>
            </a:r>
            <a:endParaRPr lang="ga-IE" sz="4000" dirty="0">
              <a:solidFill>
                <a:srgbClr val="FF0000"/>
              </a:solidFill>
              <a:effectLst/>
              <a:latin typeface="Times New Roman" panose="02020603050405020304" pitchFamily="18" charset="0"/>
              <a:ea typeface="Times New Roman" panose="02020603050405020304" pitchFamily="18" charset="0"/>
            </a:endParaRPr>
          </a:p>
        </p:txBody>
      </p:sp>
      <p:sp>
        <p:nvSpPr>
          <p:cNvPr id="6" name="Bosca téacs 5">
            <a:extLst>
              <a:ext uri="{FF2B5EF4-FFF2-40B4-BE49-F238E27FC236}">
                <a16:creationId xmlns:a16="http://schemas.microsoft.com/office/drawing/2014/main" id="{B2708E58-C8A9-4B32-9512-05D7BF735110}"/>
              </a:ext>
            </a:extLst>
          </p:cNvPr>
          <p:cNvSpPr txBox="1"/>
          <p:nvPr/>
        </p:nvSpPr>
        <p:spPr>
          <a:xfrm>
            <a:off x="471487" y="1216561"/>
            <a:ext cx="11196638" cy="4539704"/>
          </a:xfrm>
          <a:prstGeom prst="rect">
            <a:avLst/>
          </a:prstGeom>
          <a:noFill/>
        </p:spPr>
        <p:txBody>
          <a:bodyPr wrap="square">
            <a:spAutoFit/>
          </a:bodyPr>
          <a:lstStyle/>
          <a:p>
            <a:pPr algn="just">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Cad is Gaeltacht ann?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Cosúil le roinnt mhaith coincheap, ciallaíonn an téarma ‘Gaeltacht’ rudaí éagsúla do dhaoine éagsúla. Tá sainmhíniú úsáideach ag Údarás na Gaeltachta: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“Úsáidtear an téarma ‘Gaeltacht’ chun cur síos a dhéanamh ar </a:t>
            </a:r>
            <a:r>
              <a:rPr lang="ga-IE" sz="2000" b="1" dirty="0">
                <a:effectLst/>
                <a:latin typeface="Calibri" panose="020F0502020204030204" pitchFamily="34" charset="0"/>
                <a:ea typeface="Calibri" panose="020F0502020204030204" pitchFamily="34" charset="0"/>
                <a:cs typeface="Calibri" panose="020F0502020204030204" pitchFamily="34" charset="0"/>
              </a:rPr>
              <a:t>na ceantair sin in Éirinn ina bhfuil, nó ina mbíodh go dtí le gairid, an Ghaeilge mar phríomhtheanga labhartha ag an chuid is mó den phobal</a:t>
            </a:r>
            <a:r>
              <a:rPr lang="ga-IE" sz="2000" dirty="0">
                <a:effectLst/>
                <a:latin typeface="Calibri" panose="020F0502020204030204" pitchFamily="34" charset="0"/>
                <a:ea typeface="Calibri" panose="020F0502020204030204" pitchFamily="34" charset="0"/>
                <a:cs typeface="Calibri" panose="020F0502020204030204" pitchFamily="34" charset="0"/>
              </a:rPr>
              <a:t>.”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r>
              <a:rPr lang="ga-IE" sz="1200" u="sng" dirty="0">
                <a:solidFill>
                  <a:srgbClr val="0000FF"/>
                </a:solidFill>
                <a:effectLst/>
                <a:latin typeface="Calibri" panose="020F0502020204030204" pitchFamily="34" charset="0"/>
                <a:ea typeface="Times New Roman" panose="02020603050405020304" pitchFamily="18" charset="0"/>
                <a:hlinkClick r:id="rId2"/>
              </a:rPr>
              <a:t>https://www.udaras.ie/an-ghaeilge-an-ghaeltacht/an-ghaeltacht/</a:t>
            </a:r>
            <a:r>
              <a:rPr lang="ga-IE" sz="1200" dirty="0">
                <a:effectLst/>
                <a:latin typeface="Calibri" panose="020F0502020204030204" pitchFamily="34" charset="0"/>
                <a:ea typeface="Times New Roman" panose="02020603050405020304" pitchFamily="18" charset="0"/>
                <a:hlinkClick r:id="rId2"/>
              </a:rPr>
              <a:t> </a:t>
            </a:r>
            <a:endParaRPr lang="en-IE" sz="1200" dirty="0">
              <a:effectLst/>
              <a:latin typeface="Calibri" panose="020F0502020204030204" pitchFamily="34" charset="0"/>
              <a:ea typeface="Times New Roman" panose="02020603050405020304" pitchFamily="18" charset="0"/>
            </a:endParaRPr>
          </a:p>
          <a:p>
            <a:endParaRPr lang="en-IE" sz="1200" dirty="0">
              <a:latin typeface="Calibri" panose="020F0502020204030204" pitchFamily="34" charset="0"/>
              <a:ea typeface="Times New Roman" panose="02020603050405020304" pitchFamily="18" charset="0"/>
            </a:endParaRPr>
          </a:p>
          <a:p>
            <a:endParaRPr lang="en-IE" sz="1200" dirty="0">
              <a:effectLst/>
              <a:latin typeface="Calibri" panose="020F0502020204030204" pitchFamily="34" charset="0"/>
              <a:ea typeface="Times New Roman" panose="02020603050405020304" pitchFamily="18" charset="0"/>
            </a:endParaRPr>
          </a:p>
          <a:p>
            <a:r>
              <a:rPr lang="ga-IE" sz="2000" dirty="0">
                <a:ea typeface="Times New Roman" panose="02020603050405020304" pitchFamily="18" charset="0"/>
              </a:rPr>
              <a:t>Tá físeán gairid dar teideal </a:t>
            </a:r>
            <a:r>
              <a:rPr lang="ga-IE" sz="2000" b="1" i="1" dirty="0"/>
              <a:t>Céard í an Gaeltacht? </a:t>
            </a:r>
            <a:r>
              <a:rPr lang="ga-IE" sz="2000" dirty="0">
                <a:ea typeface="Times New Roman" panose="02020603050405020304" pitchFamily="18" charset="0"/>
              </a:rPr>
              <a:t>de chuid Údarás na Gaeltachta </a:t>
            </a:r>
            <a:endParaRPr lang="en-IE" sz="2000" dirty="0">
              <a:ea typeface="Times New Roman" panose="02020603050405020304" pitchFamily="18" charset="0"/>
            </a:endParaRPr>
          </a:p>
          <a:p>
            <a:r>
              <a:rPr lang="ga-IE" sz="2000" dirty="0">
                <a:ea typeface="Times New Roman" panose="02020603050405020304" pitchFamily="18" charset="0"/>
              </a:rPr>
              <a:t>le fáil ar </a:t>
            </a:r>
            <a:r>
              <a:rPr lang="ga-IE" sz="2000" i="1" dirty="0" err="1">
                <a:ea typeface="Times New Roman" panose="02020603050405020304" pitchFamily="18" charset="0"/>
              </a:rPr>
              <a:t>Youtube</a:t>
            </a:r>
            <a:r>
              <a:rPr lang="ga-IE" sz="2000" dirty="0">
                <a:ea typeface="Times New Roman" panose="02020603050405020304" pitchFamily="18" charset="0"/>
              </a:rPr>
              <a:t>:</a:t>
            </a:r>
            <a:r>
              <a:rPr lang="en-IE" sz="2000" dirty="0">
                <a:ea typeface="Times New Roman" panose="02020603050405020304" pitchFamily="18" charset="0"/>
              </a:rPr>
              <a:t> </a:t>
            </a:r>
            <a:r>
              <a:rPr lang="ga-IE" sz="2000" dirty="0">
                <a:ea typeface="Times New Roman" panose="02020603050405020304" pitchFamily="18" charset="0"/>
                <a:hlinkClick r:id="rId3"/>
              </a:rPr>
              <a:t>https://www.youtube.com/watch?v=RgYEQ80uvNU </a:t>
            </a:r>
            <a:endParaRPr lang="ga-IE" sz="2000" dirty="0">
              <a:ea typeface="Times New Roman" panose="02020603050405020304" pitchFamily="18" charset="0"/>
            </a:endParaRPr>
          </a:p>
          <a:p>
            <a:endParaRPr lang="ga-IE" sz="2000" dirty="0">
              <a:ea typeface="Times New Roman" panose="02020603050405020304" pitchFamily="18" charset="0"/>
            </a:endParaRPr>
          </a:p>
          <a:p>
            <a:r>
              <a:rPr lang="ga-IE" sz="2000" dirty="0">
                <a:ea typeface="Times New Roman" panose="02020603050405020304" pitchFamily="18" charset="0"/>
              </a:rPr>
              <a:t>Éist leis an tráchtaireacht agus líon na bearnaí sa bhileog oibre.</a:t>
            </a:r>
          </a:p>
          <a:p>
            <a:endParaRPr lang="en-IE" sz="1200" dirty="0">
              <a:effectLst/>
              <a:latin typeface="Calibri" panose="020F0502020204030204" pitchFamily="34" charset="0"/>
              <a:ea typeface="Times New Roman" panose="02020603050405020304" pitchFamily="18" charset="0"/>
            </a:endParaRPr>
          </a:p>
          <a:p>
            <a:endParaRPr lang="ga-IE" sz="1200" dirty="0">
              <a:effectLst/>
              <a:latin typeface="Times New Roman" panose="02020603050405020304" pitchFamily="18" charset="0"/>
              <a:ea typeface="Times New Roman" panose="02020603050405020304" pitchFamily="18" charset="0"/>
            </a:endParaRPr>
          </a:p>
        </p:txBody>
      </p:sp>
      <p:pic>
        <p:nvPicPr>
          <p:cNvPr id="24582" name="Picture 6" descr="Údarás na Gaeltachta">
            <a:extLst>
              <a:ext uri="{FF2B5EF4-FFF2-40B4-BE49-F238E27FC236}">
                <a16:creationId xmlns:a16="http://schemas.microsoft.com/office/drawing/2014/main" id="{39830971-2E62-4C8C-AAE3-B54A73BD5C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65698" y="4085771"/>
            <a:ext cx="1184550" cy="1179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8704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iúr 1">
            <a:extLst>
              <a:ext uri="{FF2B5EF4-FFF2-40B4-BE49-F238E27FC236}">
                <a16:creationId xmlns:a16="http://schemas.microsoft.com/office/drawing/2014/main" id="{35E51966-65C1-4E95-90D1-B2AE27B97381}"/>
              </a:ext>
            </a:extLst>
          </p:cNvPr>
          <p:cNvPicPr>
            <a:picLocks noChangeAspect="1"/>
          </p:cNvPicPr>
          <p:nvPr/>
        </p:nvPicPr>
        <p:blipFill>
          <a:blip r:embed="rId2"/>
          <a:stretch>
            <a:fillRect/>
          </a:stretch>
        </p:blipFill>
        <p:spPr>
          <a:xfrm>
            <a:off x="159563" y="677659"/>
            <a:ext cx="3726756" cy="4631825"/>
          </a:xfrm>
          <a:prstGeom prst="rect">
            <a:avLst/>
          </a:prstGeom>
        </p:spPr>
      </p:pic>
      <p:sp>
        <p:nvSpPr>
          <p:cNvPr id="4" name="Bosca téacs 3">
            <a:extLst>
              <a:ext uri="{FF2B5EF4-FFF2-40B4-BE49-F238E27FC236}">
                <a16:creationId xmlns:a16="http://schemas.microsoft.com/office/drawing/2014/main" id="{71EFE498-6737-41E6-88A6-4F8C94B298AF}"/>
              </a:ext>
            </a:extLst>
          </p:cNvPr>
          <p:cNvSpPr txBox="1"/>
          <p:nvPr/>
        </p:nvSpPr>
        <p:spPr>
          <a:xfrm>
            <a:off x="2888343" y="0"/>
            <a:ext cx="6096000" cy="782009"/>
          </a:xfrm>
          <a:prstGeom prst="rect">
            <a:avLst/>
          </a:prstGeom>
          <a:noFill/>
        </p:spPr>
        <p:txBody>
          <a:bodyPr wrap="square">
            <a:spAutoFit/>
          </a:bodyPr>
          <a:lstStyle/>
          <a:p>
            <a:pPr algn="just">
              <a:lnSpc>
                <a:spcPct val="150000"/>
              </a:lnSpc>
              <a:spcAft>
                <a:spcPts val="800"/>
              </a:spcAft>
            </a:pPr>
            <a:r>
              <a:rPr lang="ga-IE" sz="1100" dirty="0">
                <a:effectLst/>
                <a:latin typeface="Calibri" panose="020F0502020204030204" pitchFamily="34" charset="0"/>
                <a:ea typeface="Calibri" panose="020F0502020204030204" pitchFamily="34" charset="0"/>
                <a:cs typeface="Calibri" panose="020F0502020204030204" pitchFamily="34" charset="0"/>
              </a:rPr>
              <a:t> </a:t>
            </a:r>
            <a:endParaRPr lang="ga-IE"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Cá bhfuil na Ceantair Ghaeltachta?</a:t>
            </a:r>
          </a:p>
        </p:txBody>
      </p:sp>
      <p:graphicFrame>
        <p:nvGraphicFramePr>
          <p:cNvPr id="5" name="Tábla 4">
            <a:extLst>
              <a:ext uri="{FF2B5EF4-FFF2-40B4-BE49-F238E27FC236}">
                <a16:creationId xmlns:a16="http://schemas.microsoft.com/office/drawing/2014/main" id="{39A9DA74-C38D-474E-ADD0-D0BCFB5105C2}"/>
              </a:ext>
            </a:extLst>
          </p:cNvPr>
          <p:cNvGraphicFramePr>
            <a:graphicFrameLocks noGrp="1"/>
          </p:cNvGraphicFramePr>
          <p:nvPr>
            <p:extLst>
              <p:ext uri="{D42A27DB-BD31-4B8C-83A1-F6EECF244321}">
                <p14:modId xmlns:p14="http://schemas.microsoft.com/office/powerpoint/2010/main" val="3067568736"/>
              </p:ext>
            </p:extLst>
          </p:nvPr>
        </p:nvGraphicFramePr>
        <p:xfrm>
          <a:off x="4172859" y="3319040"/>
          <a:ext cx="7540170" cy="2350770"/>
        </p:xfrm>
        <a:graphic>
          <a:graphicData uri="http://schemas.openxmlformats.org/drawingml/2006/table">
            <a:tbl>
              <a:tblPr firstRow="1" firstCol="1" bandRow="1"/>
              <a:tblGrid>
                <a:gridCol w="1604054">
                  <a:extLst>
                    <a:ext uri="{9D8B030D-6E8A-4147-A177-3AD203B41FA5}">
                      <a16:colId xmlns:a16="http://schemas.microsoft.com/office/drawing/2014/main" val="538474153"/>
                    </a:ext>
                  </a:extLst>
                </a:gridCol>
                <a:gridCol w="5936116">
                  <a:extLst>
                    <a:ext uri="{9D8B030D-6E8A-4147-A177-3AD203B41FA5}">
                      <a16:colId xmlns:a16="http://schemas.microsoft.com/office/drawing/2014/main" val="2031091046"/>
                    </a:ext>
                  </a:extLst>
                </a:gridCol>
              </a:tblGrid>
              <a:tr h="0">
                <a:tc>
                  <a:txBody>
                    <a:bodyPr/>
                    <a:lstStyle/>
                    <a:p>
                      <a:pPr algn="just">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Contae</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Oileáin Ghaeltachta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1819356"/>
                  </a:ext>
                </a:extLst>
              </a:tr>
              <a:tr h="0">
                <a:tc>
                  <a:txBody>
                    <a:bodyPr/>
                    <a:lstStyle/>
                    <a:p>
                      <a:pPr algn="just">
                        <a:lnSpc>
                          <a:spcPct val="115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Dún na nGall</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Árainn Mhór; Inis Bó Finne; Inis Fraoigh; Toraigh agus </a:t>
                      </a:r>
                      <a:r>
                        <a:rPr lang="ga-IE" sz="2000" dirty="0" err="1">
                          <a:effectLst/>
                          <a:latin typeface="Calibri" panose="020F0502020204030204" pitchFamily="34" charset="0"/>
                          <a:ea typeface="Calibri" panose="020F0502020204030204" pitchFamily="34" charset="0"/>
                          <a:cs typeface="Calibri" panose="020F0502020204030204" pitchFamily="34" charset="0"/>
                        </a:rPr>
                        <a:t>Gabhla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3382463"/>
                  </a:ext>
                </a:extLst>
              </a:tr>
              <a:tr h="0">
                <a:tc>
                  <a:txBody>
                    <a:bodyPr/>
                    <a:lstStyle/>
                    <a:p>
                      <a:pPr algn="just">
                        <a:lnSpc>
                          <a:spcPct val="115000"/>
                        </a:lnSpc>
                        <a:spcAft>
                          <a:spcPts val="800"/>
                        </a:spcAft>
                      </a:pPr>
                      <a:r>
                        <a:rPr lang="ga-IE" sz="2000">
                          <a:effectLst/>
                          <a:latin typeface="Calibri" panose="020F0502020204030204" pitchFamily="34" charset="0"/>
                          <a:ea typeface="Calibri" panose="020F0502020204030204" pitchFamily="34" charset="0"/>
                          <a:cs typeface="Calibri" panose="020F0502020204030204" pitchFamily="34" charset="0"/>
                        </a:rPr>
                        <a:t>Maigh Eo</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pPr>
                      <a:r>
                        <a:rPr lang="ga-IE" sz="2000">
                          <a:effectLst/>
                          <a:latin typeface="Calibri" panose="020F0502020204030204" pitchFamily="34" charset="0"/>
                          <a:ea typeface="Calibri" panose="020F0502020204030204" pitchFamily="34" charset="0"/>
                          <a:cs typeface="Calibri" panose="020F0502020204030204" pitchFamily="34" charset="0"/>
                        </a:rPr>
                        <a:t>Inis Bigil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6594146"/>
                  </a:ext>
                </a:extLst>
              </a:tr>
              <a:tr h="0">
                <a:tc>
                  <a:txBody>
                    <a:bodyPr/>
                    <a:lstStyle/>
                    <a:p>
                      <a:pPr algn="just">
                        <a:lnSpc>
                          <a:spcPct val="115000"/>
                        </a:lnSpc>
                        <a:spcAft>
                          <a:spcPts val="800"/>
                        </a:spcAft>
                      </a:pPr>
                      <a:r>
                        <a:rPr lang="ga-IE" sz="2000">
                          <a:effectLst/>
                          <a:latin typeface="Calibri" panose="020F0502020204030204" pitchFamily="34" charset="0"/>
                          <a:ea typeface="Calibri" panose="020F0502020204030204" pitchFamily="34" charset="0"/>
                          <a:cs typeface="Calibri" panose="020F0502020204030204" pitchFamily="34" charset="0"/>
                        </a:rPr>
                        <a:t>Gaillimh</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Árainn; Inis Oírr; Inis Meáin; Inis  Bearacháin; Inis Treabhair; Inse Ghainimh</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9129512"/>
                  </a:ext>
                </a:extLst>
              </a:tr>
              <a:tr h="0">
                <a:tc>
                  <a:txBody>
                    <a:bodyPr/>
                    <a:lstStyle/>
                    <a:p>
                      <a:pPr algn="just">
                        <a:lnSpc>
                          <a:spcPct val="115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Corcaigh</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pPr>
                      <a:r>
                        <a:rPr lang="ga-IE" sz="2000" dirty="0">
                          <a:effectLst/>
                          <a:latin typeface="Calibri" panose="020F0502020204030204" pitchFamily="34" charset="0"/>
                          <a:ea typeface="Calibri" panose="020F0502020204030204" pitchFamily="34" charset="0"/>
                          <a:cs typeface="Times New Roman" panose="02020603050405020304" pitchFamily="18" charset="0"/>
                        </a:rPr>
                        <a:t>Cléire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3367723"/>
                  </a:ext>
                </a:extLst>
              </a:tr>
            </a:tbl>
          </a:graphicData>
        </a:graphic>
      </p:graphicFrame>
      <p:sp>
        <p:nvSpPr>
          <p:cNvPr id="7" name="Bosca téacs 6">
            <a:extLst>
              <a:ext uri="{FF2B5EF4-FFF2-40B4-BE49-F238E27FC236}">
                <a16:creationId xmlns:a16="http://schemas.microsoft.com/office/drawing/2014/main" id="{EB538714-105E-4CEA-8739-02879D703FCC}"/>
              </a:ext>
            </a:extLst>
          </p:cNvPr>
          <p:cNvSpPr txBox="1"/>
          <p:nvPr/>
        </p:nvSpPr>
        <p:spPr>
          <a:xfrm>
            <a:off x="4441369" y="857708"/>
            <a:ext cx="7088643" cy="1589922"/>
          </a:xfrm>
          <a:prstGeom prst="rect">
            <a:avLst/>
          </a:prstGeom>
          <a:noFill/>
        </p:spPr>
        <p:txBody>
          <a:bodyPr wrap="square">
            <a:spAutoFit/>
          </a:bodyPr>
          <a:lstStyle/>
          <a:p>
            <a:pPr algn="just">
              <a:lnSpc>
                <a:spcPct val="115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Tá ceantair Ghaeltachta marcáilte glas sa léarscáil thuas; tá siad le fáil sna contaetha seo a leanas: </a:t>
            </a:r>
            <a:r>
              <a:rPr lang="ga-IE" sz="2000" b="1" dirty="0">
                <a:effectLst/>
                <a:latin typeface="Calibri" panose="020F0502020204030204" pitchFamily="34" charset="0"/>
                <a:ea typeface="Calibri" panose="020F0502020204030204" pitchFamily="34" charset="0"/>
                <a:cs typeface="Calibri" panose="020F0502020204030204" pitchFamily="34" charset="0"/>
              </a:rPr>
              <a:t>Corcaigh, Dún na nGall, Gaillimh, Ciarraí, an Mhí, Maigh Eo</a:t>
            </a:r>
            <a:r>
              <a:rPr lang="ga-IE" sz="2000" dirty="0">
                <a:effectLst/>
                <a:latin typeface="Calibri" panose="020F0502020204030204" pitchFamily="34" charset="0"/>
                <a:ea typeface="Calibri" panose="020F0502020204030204" pitchFamily="34" charset="0"/>
                <a:cs typeface="Calibri" panose="020F0502020204030204" pitchFamily="34" charset="0"/>
              </a:rPr>
              <a:t> agus </a:t>
            </a:r>
            <a:r>
              <a:rPr lang="ga-IE" sz="2000" b="1" dirty="0">
                <a:effectLst/>
                <a:latin typeface="Calibri" panose="020F0502020204030204" pitchFamily="34" charset="0"/>
                <a:ea typeface="Calibri" panose="020F0502020204030204" pitchFamily="34" charset="0"/>
                <a:cs typeface="Calibri" panose="020F0502020204030204" pitchFamily="34" charset="0"/>
              </a:rPr>
              <a:t>Port Láirge</a:t>
            </a:r>
            <a:r>
              <a:rPr lang="ga-IE" sz="2000" dirty="0">
                <a:effectLst/>
                <a:latin typeface="Calibri" panose="020F0502020204030204" pitchFamily="34" charset="0"/>
                <a:ea typeface="Calibri" panose="020F0502020204030204" pitchFamily="34" charset="0"/>
                <a:cs typeface="Calibri" panose="020F0502020204030204" pitchFamily="34" charset="0"/>
              </a:rPr>
              <a:t>. </a:t>
            </a:r>
            <a:endParaRPr lang="en-IE" sz="2000" dirty="0">
              <a:effectLst/>
              <a:latin typeface="Calibri" panose="020F0502020204030204" pitchFamily="34" charset="0"/>
              <a:ea typeface="Calibri" panose="020F0502020204030204" pitchFamily="34" charset="0"/>
              <a:cs typeface="Calibri" panose="020F0502020204030204" pitchFamily="34" charset="0"/>
            </a:endParaRPr>
          </a:p>
          <a:p>
            <a:pPr algn="just">
              <a:lnSpc>
                <a:spcPct val="115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Tá roinnt oileán Gaeltachta ann chomh maith a bhfuil cónaí orthu:</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Bosca téacs 8">
            <a:extLst>
              <a:ext uri="{FF2B5EF4-FFF2-40B4-BE49-F238E27FC236}">
                <a16:creationId xmlns:a16="http://schemas.microsoft.com/office/drawing/2014/main" id="{BE411230-4B20-4882-94CD-4C73C4E683E0}"/>
              </a:ext>
            </a:extLst>
          </p:cNvPr>
          <p:cNvSpPr txBox="1"/>
          <p:nvPr/>
        </p:nvSpPr>
        <p:spPr>
          <a:xfrm>
            <a:off x="159563" y="5342681"/>
            <a:ext cx="3726756"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ga-IE" sz="12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mn-cs"/>
              </a:rPr>
              <a:t>Le caoinchead ó D. de Loingsigh; </a:t>
            </a:r>
            <a:endParaRPr kumimoji="0" lang="en-IE" sz="12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ga-IE" sz="1200" b="0" i="0" u="sng" strike="noStrike" kern="1200" cap="none" spc="0" normalizeH="0" baseline="0" noProof="0" dirty="0">
                <a:ln>
                  <a:noFill/>
                </a:ln>
                <a:solidFill>
                  <a:srgbClr val="0000FF"/>
                </a:solidFill>
                <a:effectLst/>
                <a:uLnTx/>
                <a:uFillTx/>
                <a:latin typeface="Calibri" panose="020F0502020204030204" pitchFamily="34" charset="0"/>
                <a:ea typeface="Times New Roman" panose="02020603050405020304" pitchFamily="18" charset="0"/>
                <a:cs typeface="+mn-cs"/>
                <a:hlinkClick r:id="rId3"/>
              </a:rPr>
              <a:t>https://en.wikipedia.org/wiki/User:D.de.loinsigh</a:t>
            </a:r>
            <a:r>
              <a:rPr kumimoji="0" lang="ga-IE" sz="12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mn-cs"/>
                <a:hlinkClick r:id="rId3"/>
              </a:rPr>
              <a:t> </a:t>
            </a:r>
            <a:endParaRPr kumimoji="0" lang="ga-IE" sz="12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spTree>
    <p:extLst>
      <p:ext uri="{BB962C8B-B14F-4D97-AF65-F5344CB8AC3E}">
        <p14:creationId xmlns:p14="http://schemas.microsoft.com/office/powerpoint/2010/main" val="1324445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31AA1D53-8111-4841-B392-A1CC6EA26F90}"/>
              </a:ext>
            </a:extLst>
          </p:cNvPr>
          <p:cNvSpPr txBox="1"/>
          <p:nvPr/>
        </p:nvSpPr>
        <p:spPr>
          <a:xfrm>
            <a:off x="573314" y="1325099"/>
            <a:ext cx="10501086" cy="4211409"/>
          </a:xfrm>
          <a:prstGeom prst="rect">
            <a:avLst/>
          </a:prstGeom>
          <a:noFill/>
        </p:spPr>
        <p:txBody>
          <a:bodyPr wrap="square">
            <a:spAutoFit/>
          </a:bodyPr>
          <a:lstStyle/>
          <a:p>
            <a:pPr algn="just">
              <a:lnSpc>
                <a:spcPct val="115000"/>
              </a:lnSpc>
              <a:spcAft>
                <a:spcPts val="800"/>
              </a:spcAft>
            </a:pPr>
            <a:r>
              <a:rPr lang="ga-IE" sz="2000" b="1" dirty="0">
                <a:effectLst/>
                <a:latin typeface="Calibri" panose="020F0502020204030204" pitchFamily="34" charset="0"/>
                <a:ea typeface="Calibri" panose="020F0502020204030204" pitchFamily="34" charset="0"/>
                <a:cs typeface="Times New Roman" panose="02020603050405020304" pitchFamily="18" charset="0"/>
              </a:rPr>
              <a:t>Cad é an scéal maidir le teorainneacha na limistéar Gaeltachta?</a:t>
            </a:r>
            <a:endParaRPr lang="en-IE" sz="2000" b="1"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endParaRPr lang="en-IE" sz="2000" b="1"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ga-IE" sz="2000" dirty="0">
                <a:effectLst/>
                <a:latin typeface="Calibri" panose="020F0502020204030204" pitchFamily="34" charset="0"/>
                <a:ea typeface="Calibri" panose="020F0502020204030204" pitchFamily="34" charset="0"/>
                <a:cs typeface="Times New Roman" panose="02020603050405020304" pitchFamily="18" charset="0"/>
              </a:rPr>
              <a:t>Shainigh </a:t>
            </a:r>
            <a:r>
              <a:rPr lang="ga-IE" sz="2000" i="1" dirty="0">
                <a:effectLst/>
                <a:latin typeface="Calibri" panose="020F0502020204030204" pitchFamily="34" charset="0"/>
                <a:ea typeface="Calibri" panose="020F0502020204030204" pitchFamily="34" charset="0"/>
                <a:cs typeface="Times New Roman" panose="02020603050405020304" pitchFamily="18" charset="0"/>
              </a:rPr>
              <a:t>Orduithe na Limistéar Gaeltachta</a:t>
            </a:r>
            <a:r>
              <a:rPr lang="ga-IE" sz="2000" dirty="0">
                <a:effectLst/>
                <a:latin typeface="Calibri" panose="020F0502020204030204" pitchFamily="34" charset="0"/>
                <a:ea typeface="Calibri" panose="020F0502020204030204" pitchFamily="34" charset="0"/>
                <a:cs typeface="Times New Roman" panose="02020603050405020304" pitchFamily="18" charset="0"/>
              </a:rPr>
              <a:t>, 1956, 1967, 1974 agus 1982 an Ghaeltacht mar 155 Toghroinn nó páirteanna de Thoghranna i gcontaetha Chorcaí, Dhún na nGall, na Gaillimhe, Chiarraí, Mhaigh Eo, na Mí agus Phort Láirge.</a:t>
            </a:r>
            <a:endParaRPr lang="en-IE"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IE" sz="2000" dirty="0">
                <a:latin typeface="Calibri" panose="020F0502020204030204" pitchFamily="34" charset="0"/>
                <a:ea typeface="Calibri" panose="020F0502020204030204" pitchFamily="34" charset="0"/>
                <a:cs typeface="Times New Roman" panose="02020603050405020304" pitchFamily="18" charset="0"/>
                <a:hlinkClick r:id="rId2"/>
              </a:rPr>
              <a:t>https://upload.wikimedia.org/wikipedia/commons/b/bc/Ireland_electoral_divisions.png</a:t>
            </a:r>
            <a:r>
              <a:rPr lang="en-IE" sz="2000" dirty="0">
                <a:latin typeface="Calibri" panose="020F0502020204030204" pitchFamily="34" charset="0"/>
                <a:ea typeface="Calibri" panose="020F0502020204030204" pitchFamily="34" charset="0"/>
                <a:cs typeface="Times New Roman" panose="02020603050405020304" pitchFamily="18" charset="0"/>
              </a:rPr>
              <a:t> </a:t>
            </a:r>
          </a:p>
          <a:p>
            <a:pPr algn="just">
              <a:lnSpc>
                <a:spcPct val="115000"/>
              </a:lnSpc>
              <a:spcAft>
                <a:spcPts val="800"/>
              </a:spcAft>
            </a:pPr>
            <a:endParaRPr lang="en-IE"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r>
              <a:rPr lang="ga-IE" sz="1400" u="sng" dirty="0">
                <a:solidFill>
                  <a:srgbClr val="0000FF"/>
                </a:solidFill>
                <a:effectLst/>
                <a:ea typeface="Times New Roman" panose="02020603050405020304" pitchFamily="18" charset="0"/>
                <a:hlinkClick r:id="rId3"/>
              </a:rPr>
              <a:t>https://data.gov.ie/dataset/gaeltacht-boundaries-generalised-50m-osi-national-administrative-boundaries-2015</a:t>
            </a:r>
            <a:r>
              <a:rPr lang="en-IE" sz="1400" dirty="0">
                <a:effectLst/>
                <a:ea typeface="Times New Roman" panose="02020603050405020304" pitchFamily="18" charset="0"/>
                <a:hlinkClick r:id="rId3"/>
              </a:rPr>
              <a:t>  </a:t>
            </a:r>
            <a:endParaRPr lang="ga-IE" sz="1400" dirty="0">
              <a:effectLst/>
              <a:ea typeface="Times New Roman" panose="02020603050405020304" pitchFamily="18" charset="0"/>
            </a:endParaRPr>
          </a:p>
        </p:txBody>
      </p:sp>
    </p:spTree>
    <p:extLst>
      <p:ext uri="{BB962C8B-B14F-4D97-AF65-F5344CB8AC3E}">
        <p14:creationId xmlns:p14="http://schemas.microsoft.com/office/powerpoint/2010/main" val="3459008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ábla 1">
            <a:extLst>
              <a:ext uri="{FF2B5EF4-FFF2-40B4-BE49-F238E27FC236}">
                <a16:creationId xmlns:a16="http://schemas.microsoft.com/office/drawing/2014/main" id="{7DABDF40-CB6C-42AB-B5A1-C6D2BD58647F}"/>
              </a:ext>
            </a:extLst>
          </p:cNvPr>
          <p:cNvGraphicFramePr>
            <a:graphicFrameLocks noGrp="1"/>
          </p:cNvGraphicFramePr>
          <p:nvPr>
            <p:extLst>
              <p:ext uri="{D42A27DB-BD31-4B8C-83A1-F6EECF244321}">
                <p14:modId xmlns:p14="http://schemas.microsoft.com/office/powerpoint/2010/main" val="382608565"/>
              </p:ext>
            </p:extLst>
          </p:nvPr>
        </p:nvGraphicFramePr>
        <p:xfrm>
          <a:off x="76200" y="1093518"/>
          <a:ext cx="11633199" cy="4782316"/>
        </p:xfrm>
        <a:graphic>
          <a:graphicData uri="http://schemas.openxmlformats.org/drawingml/2006/table">
            <a:tbl>
              <a:tblPr firstRow="1" firstCol="1" bandRow="1"/>
              <a:tblGrid>
                <a:gridCol w="1976715">
                  <a:extLst>
                    <a:ext uri="{9D8B030D-6E8A-4147-A177-3AD203B41FA5}">
                      <a16:colId xmlns:a16="http://schemas.microsoft.com/office/drawing/2014/main" val="2630198040"/>
                    </a:ext>
                  </a:extLst>
                </a:gridCol>
                <a:gridCol w="2561214">
                  <a:extLst>
                    <a:ext uri="{9D8B030D-6E8A-4147-A177-3AD203B41FA5}">
                      <a16:colId xmlns:a16="http://schemas.microsoft.com/office/drawing/2014/main" val="1607388778"/>
                    </a:ext>
                  </a:extLst>
                </a:gridCol>
                <a:gridCol w="1563824">
                  <a:extLst>
                    <a:ext uri="{9D8B030D-6E8A-4147-A177-3AD203B41FA5}">
                      <a16:colId xmlns:a16="http://schemas.microsoft.com/office/drawing/2014/main" val="429368066"/>
                    </a:ext>
                  </a:extLst>
                </a:gridCol>
                <a:gridCol w="1979295">
                  <a:extLst>
                    <a:ext uri="{9D8B030D-6E8A-4147-A177-3AD203B41FA5}">
                      <a16:colId xmlns:a16="http://schemas.microsoft.com/office/drawing/2014/main" val="2859261023"/>
                    </a:ext>
                  </a:extLst>
                </a:gridCol>
                <a:gridCol w="1606403">
                  <a:extLst>
                    <a:ext uri="{9D8B030D-6E8A-4147-A177-3AD203B41FA5}">
                      <a16:colId xmlns:a16="http://schemas.microsoft.com/office/drawing/2014/main" val="215329741"/>
                    </a:ext>
                  </a:extLst>
                </a:gridCol>
                <a:gridCol w="1945748">
                  <a:extLst>
                    <a:ext uri="{9D8B030D-6E8A-4147-A177-3AD203B41FA5}">
                      <a16:colId xmlns:a16="http://schemas.microsoft.com/office/drawing/2014/main" val="3750634010"/>
                    </a:ext>
                  </a:extLst>
                </a:gridCol>
              </a:tblGrid>
              <a:tr h="927043">
                <a:tc>
                  <a:txBody>
                    <a:bodyPr/>
                    <a:lstStyle/>
                    <a:p>
                      <a:pPr algn="ctr">
                        <a:lnSpc>
                          <a:spcPct val="115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Ceantar Gaeltachta</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Daonra an chontae</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(Daonáireamh 2016)</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b="1" dirty="0">
                          <a:effectLst/>
                          <a:latin typeface="Calibri" panose="020F0502020204030204" pitchFamily="34" charset="0"/>
                          <a:ea typeface="Calibri" panose="020F0502020204030204" pitchFamily="34" charset="0"/>
                          <a:cs typeface="Calibri" panose="020F0502020204030204" pitchFamily="34" charset="0"/>
                        </a:rPr>
                        <a:t>Daonra Gaeltachta</a:t>
                      </a:r>
                      <a:endParaRPr lang="ga-IE"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 de dhaonra iomlán na Gaeltachta</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Achar geografach</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b="1" dirty="0">
                          <a:effectLst/>
                          <a:latin typeface="Calibri" panose="020F0502020204030204" pitchFamily="34" charset="0"/>
                          <a:ea typeface="Calibri" panose="020F0502020204030204" pitchFamily="34" charset="0"/>
                          <a:cs typeface="Calibri" panose="020F0502020204030204" pitchFamily="34" charset="0"/>
                        </a:rPr>
                        <a:t>% de thalamh uile na Gaeltachta</a:t>
                      </a:r>
                      <a:r>
                        <a:rPr lang="ga-IE" sz="2400" b="1" dirty="0">
                          <a:effectLst/>
                          <a:highlight>
                            <a:srgbClr val="FFFF00"/>
                          </a:highlight>
                          <a:latin typeface="Calibri" panose="020F0502020204030204" pitchFamily="34" charset="0"/>
                          <a:ea typeface="Calibri" panose="020F0502020204030204" pitchFamily="34" charset="0"/>
                          <a:cs typeface="Calibri" panose="020F0502020204030204" pitchFamily="34" charset="0"/>
                        </a:rPr>
                        <a:t>*</a:t>
                      </a:r>
                      <a:endParaRPr lang="ga-IE" sz="24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5479999"/>
                  </a:ext>
                </a:extLst>
              </a:tr>
              <a:tr h="368638">
                <a:tc>
                  <a:txBody>
                    <a:bodyPr/>
                    <a:lstStyle/>
                    <a:p>
                      <a:pPr algn="ctr">
                        <a:lnSpc>
                          <a:spcPct val="150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Gaillimh</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dirty="0">
                          <a:effectLst/>
                          <a:latin typeface="Calibri" panose="020F0502020204030204" pitchFamily="34" charset="0"/>
                          <a:ea typeface="Calibri" panose="020F0502020204030204" pitchFamily="34" charset="0"/>
                          <a:cs typeface="Calibri" panose="020F0502020204030204" pitchFamily="34" charset="0"/>
                        </a:rPr>
                        <a:t>258,058</a:t>
                      </a:r>
                      <a:endParaRPr lang="ga-IE"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50,570</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dirty="0">
                          <a:effectLst/>
                          <a:latin typeface="Calibri" panose="020F0502020204030204" pitchFamily="34" charset="0"/>
                          <a:ea typeface="Calibri" panose="020F0502020204030204" pitchFamily="34" charset="0"/>
                          <a:cs typeface="Calibri" panose="020F0502020204030204" pitchFamily="34" charset="0"/>
                        </a:rPr>
                        <a:t>50.8%</a:t>
                      </a:r>
                      <a:endParaRPr lang="ga-IE"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1,225 km2</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26%</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701037"/>
                  </a:ext>
                </a:extLst>
              </a:tr>
              <a:tr h="368638">
                <a:tc>
                  <a:txBody>
                    <a:bodyPr/>
                    <a:lstStyle/>
                    <a:p>
                      <a:pPr algn="ctr">
                        <a:lnSpc>
                          <a:spcPct val="150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Dún na nGall</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159,192</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23,346</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23.4%</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1,502km2</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26%</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199352"/>
                  </a:ext>
                </a:extLst>
              </a:tr>
              <a:tr h="368638">
                <a:tc>
                  <a:txBody>
                    <a:bodyPr/>
                    <a:lstStyle/>
                    <a:p>
                      <a:pPr algn="ctr">
                        <a:lnSpc>
                          <a:spcPct val="150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Maigh Eo</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130,507</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9,340</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9.4%</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905km2</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19%</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5447978"/>
                  </a:ext>
                </a:extLst>
              </a:tr>
              <a:tr h="368638">
                <a:tc>
                  <a:txBody>
                    <a:bodyPr/>
                    <a:lstStyle/>
                    <a:p>
                      <a:pPr algn="ctr">
                        <a:lnSpc>
                          <a:spcPct val="150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Ciarraí</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147,707</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8,756</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8.8%</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642 km2</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9%</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94109971"/>
                  </a:ext>
                </a:extLst>
              </a:tr>
              <a:tr h="368638">
                <a:tc>
                  <a:txBody>
                    <a:bodyPr/>
                    <a:lstStyle/>
                    <a:p>
                      <a:pPr algn="ctr">
                        <a:lnSpc>
                          <a:spcPct val="150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Corcaigh</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542,868</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3,932</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4%</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262 km2</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6%</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8003233"/>
                  </a:ext>
                </a:extLst>
              </a:tr>
              <a:tr h="368638">
                <a:tc>
                  <a:txBody>
                    <a:bodyPr/>
                    <a:lstStyle/>
                    <a:p>
                      <a:pPr algn="ctr">
                        <a:lnSpc>
                          <a:spcPct val="150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An Mhí</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195,044</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1,857</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1.9%</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44 km2</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1%</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2050968"/>
                  </a:ext>
                </a:extLst>
              </a:tr>
              <a:tr h="368638">
                <a:tc>
                  <a:txBody>
                    <a:bodyPr/>
                    <a:lstStyle/>
                    <a:p>
                      <a:pPr algn="ctr">
                        <a:lnSpc>
                          <a:spcPct val="150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Port Láirge</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116,176</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b="1">
                          <a:effectLst/>
                          <a:latin typeface="Calibri" panose="020F0502020204030204" pitchFamily="34" charset="0"/>
                          <a:ea typeface="Calibri" panose="020F0502020204030204" pitchFamily="34" charset="0"/>
                          <a:cs typeface="Calibri" panose="020F0502020204030204" pitchFamily="34" charset="0"/>
                        </a:rPr>
                        <a:t>1,816</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1.8%</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a:effectLst/>
                          <a:latin typeface="Calibri" panose="020F0502020204030204" pitchFamily="34" charset="0"/>
                          <a:ea typeface="Calibri" panose="020F0502020204030204" pitchFamily="34" charset="0"/>
                          <a:cs typeface="Calibri" panose="020F0502020204030204" pitchFamily="34" charset="0"/>
                        </a:rPr>
                        <a:t>62km2</a:t>
                      </a:r>
                      <a:endParaRPr lang="ga-IE"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pPr>
                      <a:r>
                        <a:rPr lang="ga-IE" sz="2400" dirty="0">
                          <a:effectLst/>
                          <a:latin typeface="Calibri" panose="020F0502020204030204" pitchFamily="34" charset="0"/>
                          <a:ea typeface="Calibri" panose="020F0502020204030204" pitchFamily="34" charset="0"/>
                          <a:cs typeface="Calibri" panose="020F0502020204030204" pitchFamily="34" charset="0"/>
                        </a:rPr>
                        <a:t>1%</a:t>
                      </a:r>
                      <a:endParaRPr lang="ga-IE"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0520591"/>
                  </a:ext>
                </a:extLst>
              </a:tr>
            </a:tbl>
          </a:graphicData>
        </a:graphic>
      </p:graphicFrame>
      <p:sp>
        <p:nvSpPr>
          <p:cNvPr id="4" name="Bosca téacs 3">
            <a:extLst>
              <a:ext uri="{FF2B5EF4-FFF2-40B4-BE49-F238E27FC236}">
                <a16:creationId xmlns:a16="http://schemas.microsoft.com/office/drawing/2014/main" id="{9762CF29-4BA4-46E6-B9A7-370BC5C7678C}"/>
              </a:ext>
            </a:extLst>
          </p:cNvPr>
          <p:cNvSpPr txBox="1"/>
          <p:nvPr/>
        </p:nvSpPr>
        <p:spPr>
          <a:xfrm>
            <a:off x="508001" y="411408"/>
            <a:ext cx="10987314" cy="400110"/>
          </a:xfrm>
          <a:prstGeom prst="rect">
            <a:avLst/>
          </a:prstGeom>
          <a:noFill/>
        </p:spPr>
        <p:txBody>
          <a:bodyPr wrap="square">
            <a:spAutoFit/>
          </a:bodyPr>
          <a:lstStyle/>
          <a:p>
            <a:pPr algn="ctr"/>
            <a:r>
              <a:rPr lang="ga-IE" sz="2000" b="1" dirty="0">
                <a:effectLst/>
                <a:ea typeface="Calibri" panose="020F0502020204030204" pitchFamily="34" charset="0"/>
              </a:rPr>
              <a:t>Fíricí agus Figiúirí maidir leis na Ceantair Ghaeltachta*</a:t>
            </a:r>
            <a:r>
              <a:rPr lang="ga-IE" sz="2000" dirty="0">
                <a:effectLst/>
              </a:rPr>
              <a:t> </a:t>
            </a:r>
            <a:endParaRPr lang="en-IE" sz="2000" dirty="0">
              <a:effectLst/>
            </a:endParaRPr>
          </a:p>
        </p:txBody>
      </p:sp>
      <p:sp>
        <p:nvSpPr>
          <p:cNvPr id="6" name="Bosca téacs 5">
            <a:extLst>
              <a:ext uri="{FF2B5EF4-FFF2-40B4-BE49-F238E27FC236}">
                <a16:creationId xmlns:a16="http://schemas.microsoft.com/office/drawing/2014/main" id="{EBAE2207-5E7A-4F17-9901-AD48AF910443}"/>
              </a:ext>
            </a:extLst>
          </p:cNvPr>
          <p:cNvSpPr txBox="1"/>
          <p:nvPr/>
        </p:nvSpPr>
        <p:spPr>
          <a:xfrm>
            <a:off x="587829" y="6188111"/>
            <a:ext cx="933994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ga-IE" sz="12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mn-cs"/>
              </a:rPr>
              <a:t>Tá an t-eolas seo bunaithe ar ábhar atá ar fáil ar: </a:t>
            </a:r>
            <a:r>
              <a:rPr kumimoji="0" lang="ga-IE" sz="1200" b="0" i="0" u="sng" strike="noStrike" kern="1200" cap="none" spc="0" normalizeH="0" baseline="0" noProof="0" dirty="0">
                <a:ln>
                  <a:noFill/>
                </a:ln>
                <a:solidFill>
                  <a:srgbClr val="0000FF"/>
                </a:solidFill>
                <a:effectLst/>
                <a:uLnTx/>
                <a:uFillTx/>
                <a:latin typeface="Calibri" panose="020F0502020204030204" pitchFamily="34" charset="0"/>
                <a:ea typeface="Times New Roman" panose="02020603050405020304" pitchFamily="18" charset="0"/>
                <a:cs typeface="+mn-cs"/>
                <a:hlinkClick r:id="rId2"/>
              </a:rPr>
              <a:t>https://www.udaras.ie/an-ghaeilge-an-ghaeltacht/an-ghaeltacht/</a:t>
            </a:r>
            <a:r>
              <a:rPr kumimoji="0" lang="ga-IE" sz="12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mn-cs"/>
                <a:hlinkClick r:id="rId2"/>
              </a:rPr>
              <a:t> </a:t>
            </a:r>
            <a:r>
              <a:rPr kumimoji="0" lang="en-US" sz="1200" b="0" i="0"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Times New Roman" panose="02020603050405020304" pitchFamily="18" charset="0"/>
                <a:cs typeface="+mn-cs"/>
              </a:rPr>
              <a:t>*</a:t>
            </a:r>
            <a:endParaRPr kumimoji="0" lang="ga-IE" sz="12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spTree>
    <p:extLst>
      <p:ext uri="{BB962C8B-B14F-4D97-AF65-F5344CB8AC3E}">
        <p14:creationId xmlns:p14="http://schemas.microsoft.com/office/powerpoint/2010/main" val="2462325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DB908036-7B3F-4A04-A086-B4E944CAEA91}"/>
              </a:ext>
            </a:extLst>
          </p:cNvPr>
          <p:cNvPicPr/>
          <p:nvPr/>
        </p:nvPicPr>
        <p:blipFill>
          <a:blip r:embed="rId2" cstate="print"/>
          <a:stretch>
            <a:fillRect/>
          </a:stretch>
        </p:blipFill>
        <p:spPr>
          <a:xfrm>
            <a:off x="4403454" y="787248"/>
            <a:ext cx="2697562" cy="3529379"/>
          </a:xfrm>
          <a:prstGeom prst="rect">
            <a:avLst/>
          </a:prstGeom>
        </p:spPr>
      </p:pic>
      <p:sp>
        <p:nvSpPr>
          <p:cNvPr id="4" name="Bosca téacs 3">
            <a:extLst>
              <a:ext uri="{FF2B5EF4-FFF2-40B4-BE49-F238E27FC236}">
                <a16:creationId xmlns:a16="http://schemas.microsoft.com/office/drawing/2014/main" id="{D66174B2-5969-43CC-B7E0-FE6A15F7AB30}"/>
              </a:ext>
            </a:extLst>
          </p:cNvPr>
          <p:cNvSpPr txBox="1"/>
          <p:nvPr/>
        </p:nvSpPr>
        <p:spPr>
          <a:xfrm>
            <a:off x="2572559" y="60370"/>
            <a:ext cx="6096000" cy="589072"/>
          </a:xfrm>
          <a:prstGeom prst="rect">
            <a:avLst/>
          </a:prstGeom>
          <a:noFill/>
        </p:spPr>
        <p:txBody>
          <a:bodyPr wrap="square">
            <a:spAutoFit/>
          </a:bodyPr>
          <a:lstStyle/>
          <a:p>
            <a:pPr algn="ctr">
              <a:lnSpc>
                <a:spcPct val="150000"/>
              </a:lnSpc>
              <a:spcAft>
                <a:spcPts val="800"/>
              </a:spcAft>
            </a:pPr>
            <a:r>
              <a:rPr lang="ga-IE" sz="2400" b="1" dirty="0">
                <a:effectLst/>
                <a:latin typeface="Calibri" panose="020F0502020204030204" pitchFamily="34" charset="0"/>
                <a:ea typeface="Calibri" panose="020F0502020204030204" pitchFamily="34" charset="0"/>
                <a:cs typeface="Calibri" panose="020F0502020204030204" pitchFamily="34" charset="0"/>
              </a:rPr>
              <a:t>Taighde conspóideach</a:t>
            </a:r>
            <a:endParaRPr lang="ga-IE" sz="24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5" name="Tábla 4">
            <a:extLst>
              <a:ext uri="{FF2B5EF4-FFF2-40B4-BE49-F238E27FC236}">
                <a16:creationId xmlns:a16="http://schemas.microsoft.com/office/drawing/2014/main" id="{2C4426AE-6539-4829-A585-6C8D82914F29}"/>
              </a:ext>
            </a:extLst>
          </p:cNvPr>
          <p:cNvGraphicFramePr>
            <a:graphicFrameLocks noGrp="1"/>
          </p:cNvGraphicFramePr>
          <p:nvPr>
            <p:extLst>
              <p:ext uri="{D42A27DB-BD31-4B8C-83A1-F6EECF244321}">
                <p14:modId xmlns:p14="http://schemas.microsoft.com/office/powerpoint/2010/main" val="3576360717"/>
              </p:ext>
            </p:extLst>
          </p:nvPr>
        </p:nvGraphicFramePr>
        <p:xfrm>
          <a:off x="2243242" y="4509828"/>
          <a:ext cx="8339365" cy="2041398"/>
        </p:xfrm>
        <a:graphic>
          <a:graphicData uri="http://schemas.openxmlformats.org/drawingml/2006/table">
            <a:tbl>
              <a:tblPr firstRow="1" firstCol="1" bandRow="1"/>
              <a:tblGrid>
                <a:gridCol w="1246980">
                  <a:extLst>
                    <a:ext uri="{9D8B030D-6E8A-4147-A177-3AD203B41FA5}">
                      <a16:colId xmlns:a16="http://schemas.microsoft.com/office/drawing/2014/main" val="873437287"/>
                    </a:ext>
                  </a:extLst>
                </a:gridCol>
                <a:gridCol w="7092385">
                  <a:extLst>
                    <a:ext uri="{9D8B030D-6E8A-4147-A177-3AD203B41FA5}">
                      <a16:colId xmlns:a16="http://schemas.microsoft.com/office/drawing/2014/main" val="1942198697"/>
                    </a:ext>
                  </a:extLst>
                </a:gridCol>
              </a:tblGrid>
              <a:tr h="0">
                <a:tc>
                  <a:txBody>
                    <a:bodyPr/>
                    <a:lstStyle/>
                    <a:p>
                      <a:pP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Catagóir A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Limistéir Ghaeltachta a chuimsíonn na toghranna ina bhfuil </a:t>
                      </a:r>
                      <a:r>
                        <a:rPr lang="ga-IE" sz="2000" b="1" dirty="0">
                          <a:effectLst/>
                          <a:latin typeface="Calibri" panose="020F0502020204030204" pitchFamily="34" charset="0"/>
                          <a:ea typeface="Calibri" panose="020F0502020204030204" pitchFamily="34" charset="0"/>
                          <a:cs typeface="Calibri" panose="020F0502020204030204" pitchFamily="34" charset="0"/>
                        </a:rPr>
                        <a:t>breis is 67%</a:t>
                      </a:r>
                      <a:r>
                        <a:rPr lang="ga-IE" sz="2000" dirty="0">
                          <a:effectLst/>
                          <a:latin typeface="Calibri" panose="020F0502020204030204" pitchFamily="34" charset="0"/>
                          <a:ea typeface="Calibri" panose="020F0502020204030204" pitchFamily="34" charset="0"/>
                          <a:cs typeface="Calibri" panose="020F0502020204030204" pitchFamily="34" charset="0"/>
                        </a:rPr>
                        <a:t> dá ndaonra iomlán ina gcainteoirí laethúla Gaeilge.</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1892728"/>
                  </a:ext>
                </a:extLst>
              </a:tr>
              <a:tr h="0">
                <a:tc>
                  <a:txBody>
                    <a:bodyPr/>
                    <a:lstStyle/>
                    <a:p>
                      <a:pP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Catagóir B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Limistéir Ghaeltachta a chuimsíonn na toghranna ina bhfuil </a:t>
                      </a:r>
                      <a:r>
                        <a:rPr lang="ga-IE" sz="2000" b="1" dirty="0">
                          <a:effectLst/>
                          <a:latin typeface="Calibri" panose="020F0502020204030204" pitchFamily="34" charset="0"/>
                          <a:ea typeface="Calibri" panose="020F0502020204030204" pitchFamily="34" charset="0"/>
                          <a:cs typeface="Calibri" panose="020F0502020204030204" pitchFamily="34" charset="0"/>
                        </a:rPr>
                        <a:t>idir 44%–66%</a:t>
                      </a:r>
                      <a:r>
                        <a:rPr lang="ga-IE" sz="2000" dirty="0">
                          <a:effectLst/>
                          <a:latin typeface="Calibri" panose="020F0502020204030204" pitchFamily="34" charset="0"/>
                          <a:ea typeface="Calibri" panose="020F0502020204030204" pitchFamily="34" charset="0"/>
                          <a:cs typeface="Calibri" panose="020F0502020204030204" pitchFamily="34" charset="0"/>
                        </a:rPr>
                        <a:t> dá ndaonra iomlán ina gcainteoirí laethúla Gaeilge.</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0887003"/>
                  </a:ext>
                </a:extLst>
              </a:tr>
              <a:tr h="0">
                <a:tc>
                  <a:txBody>
                    <a:bodyPr/>
                    <a:lstStyle/>
                    <a:p>
                      <a:pPr>
                        <a:lnSpc>
                          <a:spcPct val="115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Catagóir C</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Limistéir Ghaeltachta a chuimsíonn na toghranna ina bhfuil </a:t>
                      </a:r>
                      <a:r>
                        <a:rPr lang="ga-IE" sz="2000" b="1" dirty="0">
                          <a:effectLst/>
                          <a:latin typeface="Calibri" panose="020F0502020204030204" pitchFamily="34" charset="0"/>
                          <a:ea typeface="Calibri" panose="020F0502020204030204" pitchFamily="34" charset="0"/>
                          <a:cs typeface="Calibri" panose="020F0502020204030204" pitchFamily="34" charset="0"/>
                        </a:rPr>
                        <a:t>faoi bhun 44%</a:t>
                      </a:r>
                      <a:r>
                        <a:rPr lang="ga-IE" sz="2000" dirty="0">
                          <a:effectLst/>
                          <a:latin typeface="Calibri" panose="020F0502020204030204" pitchFamily="34" charset="0"/>
                          <a:ea typeface="Calibri" panose="020F0502020204030204" pitchFamily="34" charset="0"/>
                          <a:cs typeface="Calibri" panose="020F0502020204030204" pitchFamily="34" charset="0"/>
                        </a:rPr>
                        <a:t> dá ndaonra iomlán ina gcainteoirí laethúla Gaeilge</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6549190"/>
                  </a:ext>
                </a:extLst>
              </a:tr>
            </a:tbl>
          </a:graphicData>
        </a:graphic>
      </p:graphicFrame>
    </p:spTree>
    <p:extLst>
      <p:ext uri="{BB962C8B-B14F-4D97-AF65-F5344CB8AC3E}">
        <p14:creationId xmlns:p14="http://schemas.microsoft.com/office/powerpoint/2010/main" val="2909884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ábla 1">
            <a:extLst>
              <a:ext uri="{FF2B5EF4-FFF2-40B4-BE49-F238E27FC236}">
                <a16:creationId xmlns:a16="http://schemas.microsoft.com/office/drawing/2014/main" id="{DAD0209C-929C-44DC-9DFC-15C50E0AA358}"/>
              </a:ext>
            </a:extLst>
          </p:cNvPr>
          <p:cNvGraphicFramePr>
            <a:graphicFrameLocks noGrp="1"/>
          </p:cNvGraphicFramePr>
          <p:nvPr>
            <p:extLst>
              <p:ext uri="{D42A27DB-BD31-4B8C-83A1-F6EECF244321}">
                <p14:modId xmlns:p14="http://schemas.microsoft.com/office/powerpoint/2010/main" val="4053049076"/>
              </p:ext>
            </p:extLst>
          </p:nvPr>
        </p:nvGraphicFramePr>
        <p:xfrm>
          <a:off x="1188976" y="2629388"/>
          <a:ext cx="7057100" cy="3041399"/>
        </p:xfrm>
        <a:graphic>
          <a:graphicData uri="http://schemas.openxmlformats.org/drawingml/2006/table">
            <a:tbl>
              <a:tblPr firstRow="1" firstCol="1" bandRow="1"/>
              <a:tblGrid>
                <a:gridCol w="2100480">
                  <a:extLst>
                    <a:ext uri="{9D8B030D-6E8A-4147-A177-3AD203B41FA5}">
                      <a16:colId xmlns:a16="http://schemas.microsoft.com/office/drawing/2014/main" val="2407080992"/>
                    </a:ext>
                  </a:extLst>
                </a:gridCol>
                <a:gridCol w="2100480">
                  <a:extLst>
                    <a:ext uri="{9D8B030D-6E8A-4147-A177-3AD203B41FA5}">
                      <a16:colId xmlns:a16="http://schemas.microsoft.com/office/drawing/2014/main" val="3551869268"/>
                    </a:ext>
                  </a:extLst>
                </a:gridCol>
                <a:gridCol w="2856140">
                  <a:extLst>
                    <a:ext uri="{9D8B030D-6E8A-4147-A177-3AD203B41FA5}">
                      <a16:colId xmlns:a16="http://schemas.microsoft.com/office/drawing/2014/main" val="2234989009"/>
                    </a:ext>
                  </a:extLst>
                </a:gridCol>
              </a:tblGrid>
              <a:tr h="480721">
                <a:tc>
                  <a:txBody>
                    <a:bodyPr/>
                    <a:lstStyle/>
                    <a:p>
                      <a:pPr algn="ctr">
                        <a:lnSpc>
                          <a:spcPct val="107000"/>
                        </a:lnSpc>
                        <a:spcAft>
                          <a:spcPts val="800"/>
                        </a:spcAft>
                      </a:pPr>
                      <a:r>
                        <a:rPr lang="ga-IE" sz="2000" b="1">
                          <a:effectLst/>
                          <a:latin typeface="Calibri" panose="020F0502020204030204" pitchFamily="34" charset="0"/>
                          <a:ea typeface="Calibri" panose="020F0502020204030204" pitchFamily="34" charset="0"/>
                          <a:cs typeface="Times New Roman" panose="02020603050405020304" pitchFamily="18" charset="0"/>
                        </a:rPr>
                        <a:t>Catagóir</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2000" b="1" dirty="0">
                          <a:effectLst/>
                          <a:latin typeface="Calibri" panose="020F0502020204030204" pitchFamily="34" charset="0"/>
                          <a:ea typeface="Calibri" panose="020F0502020204030204" pitchFamily="34" charset="0"/>
                          <a:cs typeface="Times New Roman" panose="02020603050405020304" pitchFamily="18" charset="0"/>
                        </a:rPr>
                        <a:t>Daonra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2000" b="1">
                          <a:effectLst/>
                          <a:latin typeface="Calibri" panose="020F0502020204030204" pitchFamily="34" charset="0"/>
                          <a:ea typeface="Calibri" panose="020F0502020204030204" pitchFamily="34" charset="0"/>
                          <a:cs typeface="Times New Roman" panose="02020603050405020304" pitchFamily="18" charset="0"/>
                        </a:rPr>
                        <a:t>% de Dhaonra na Gaeltachta Oifigiúla</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5005345"/>
                  </a:ext>
                </a:extLst>
              </a:tr>
              <a:tr h="480721">
                <a:tc>
                  <a:txBody>
                    <a:bodyPr/>
                    <a:lstStyle/>
                    <a:p>
                      <a:pPr algn="ctr">
                        <a:lnSpc>
                          <a:spcPct val="107000"/>
                        </a:lnSpc>
                        <a:spcAft>
                          <a:spcPts val="800"/>
                        </a:spcAft>
                      </a:pPr>
                      <a:r>
                        <a:rPr lang="ga-IE" sz="2000" b="1"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2"/>
                        </a:rPr>
                        <a:t>A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2000" b="1">
                          <a:effectLst/>
                          <a:latin typeface="Calibri" panose="020F0502020204030204" pitchFamily="34" charset="0"/>
                          <a:ea typeface="Calibri" panose="020F0502020204030204" pitchFamily="34" charset="0"/>
                          <a:cs typeface="Times New Roman" panose="02020603050405020304" pitchFamily="18" charset="0"/>
                        </a:rPr>
                        <a:t>17,199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2000" b="1" dirty="0">
                          <a:effectLst/>
                          <a:latin typeface="Calibri" panose="020F0502020204030204" pitchFamily="34" charset="0"/>
                          <a:ea typeface="Calibri" panose="020F0502020204030204" pitchFamily="34" charset="0"/>
                          <a:cs typeface="Times New Roman" panose="02020603050405020304" pitchFamily="18" charset="0"/>
                        </a:rPr>
                        <a:t>18%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4819594"/>
                  </a:ext>
                </a:extLst>
              </a:tr>
              <a:tr h="480721">
                <a:tc>
                  <a:txBody>
                    <a:bodyPr/>
                    <a:lstStyle/>
                    <a:p>
                      <a:pPr algn="ctr">
                        <a:lnSpc>
                          <a:spcPct val="107000"/>
                        </a:lnSpc>
                        <a:spcAft>
                          <a:spcPts val="800"/>
                        </a:spcAft>
                      </a:pPr>
                      <a:r>
                        <a:rPr lang="ga-IE" sz="2000" b="1" u="sng">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3"/>
                        </a:rPr>
                        <a:t>B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2000" b="1">
                          <a:effectLst/>
                          <a:latin typeface="Calibri" panose="020F0502020204030204" pitchFamily="34" charset="0"/>
                          <a:ea typeface="Calibri" panose="020F0502020204030204" pitchFamily="34" charset="0"/>
                          <a:cs typeface="Times New Roman" panose="02020603050405020304" pitchFamily="18" charset="0"/>
                        </a:rPr>
                        <a:t>9,780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2000" b="1">
                          <a:effectLst/>
                          <a:latin typeface="Calibri" panose="020F0502020204030204" pitchFamily="34" charset="0"/>
                          <a:ea typeface="Calibri" panose="020F0502020204030204" pitchFamily="34" charset="0"/>
                          <a:cs typeface="Times New Roman" panose="02020603050405020304" pitchFamily="18"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9862261"/>
                  </a:ext>
                </a:extLst>
              </a:tr>
              <a:tr h="480721">
                <a:tc>
                  <a:txBody>
                    <a:bodyPr/>
                    <a:lstStyle/>
                    <a:p>
                      <a:pPr algn="ctr">
                        <a:lnSpc>
                          <a:spcPct val="107000"/>
                        </a:lnSpc>
                        <a:spcAft>
                          <a:spcPts val="800"/>
                        </a:spcAft>
                      </a:pPr>
                      <a:r>
                        <a:rPr lang="ga-IE" sz="2000" b="1" u="sng">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4"/>
                        </a:rPr>
                        <a:t>C </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2000" b="1">
                          <a:effectLst/>
                          <a:latin typeface="Calibri" panose="020F0502020204030204" pitchFamily="34" charset="0"/>
                          <a:ea typeface="Calibri" panose="020F0502020204030204" pitchFamily="34" charset="0"/>
                          <a:cs typeface="Times New Roman" panose="02020603050405020304" pitchFamily="18" charset="0"/>
                        </a:rPr>
                        <a:t>16,871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2000" b="1">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0192502"/>
                  </a:ext>
                </a:extLst>
              </a:tr>
              <a:tr h="480721">
                <a:tc>
                  <a:txBody>
                    <a:bodyPr/>
                    <a:lstStyle/>
                    <a:p>
                      <a:pPr algn="ctr">
                        <a:lnSpc>
                          <a:spcPct val="107000"/>
                        </a:lnSpc>
                        <a:spcAft>
                          <a:spcPts val="800"/>
                        </a:spcAft>
                      </a:pPr>
                      <a:r>
                        <a:rPr lang="ga-IE" sz="2000" b="1">
                          <a:effectLst/>
                          <a:latin typeface="Calibri" panose="020F0502020204030204" pitchFamily="34" charset="0"/>
                          <a:ea typeface="Calibri" panose="020F0502020204030204" pitchFamily="34" charset="0"/>
                          <a:cs typeface="Times New Roman" panose="02020603050405020304" pitchFamily="18" charset="0"/>
                        </a:rPr>
                        <a:t>Gan Stádas</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2000" b="1">
                          <a:effectLst/>
                          <a:latin typeface="Calibri" panose="020F0502020204030204" pitchFamily="34" charset="0"/>
                          <a:ea typeface="Calibri" panose="020F0502020204030204" pitchFamily="34" charset="0"/>
                          <a:cs typeface="Times New Roman" panose="02020603050405020304" pitchFamily="18" charset="0"/>
                        </a:rPr>
                        <a:t>51,653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2000" b="1">
                          <a:effectLst/>
                          <a:latin typeface="Calibri" panose="020F0502020204030204" pitchFamily="34" charset="0"/>
                          <a:ea typeface="Calibri" panose="020F0502020204030204" pitchFamily="34" charset="0"/>
                          <a:cs typeface="Times New Roman" panose="02020603050405020304" pitchFamily="18" charset="0"/>
                        </a:rPr>
                        <a:t>54%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3004285"/>
                  </a:ext>
                </a:extLst>
              </a:tr>
              <a:tr h="480721">
                <a:tc>
                  <a:txBody>
                    <a:bodyPr/>
                    <a:lstStyle/>
                    <a:p>
                      <a:pPr algn="ctr">
                        <a:lnSpc>
                          <a:spcPct val="107000"/>
                        </a:lnSpc>
                        <a:spcAft>
                          <a:spcPts val="800"/>
                        </a:spcAft>
                      </a:pPr>
                      <a:r>
                        <a:rPr lang="ga-IE" sz="2000" b="1">
                          <a:effectLst/>
                          <a:latin typeface="Calibri" panose="020F0502020204030204" pitchFamily="34" charset="0"/>
                          <a:ea typeface="Calibri" panose="020F0502020204030204" pitchFamily="34" charset="0"/>
                          <a:cs typeface="Times New Roman" panose="02020603050405020304" pitchFamily="18" charset="0"/>
                        </a:rPr>
                        <a:t>An t-Iomlán</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2000" b="1">
                          <a:effectLst/>
                          <a:latin typeface="Calibri" panose="020F0502020204030204" pitchFamily="34" charset="0"/>
                          <a:ea typeface="Calibri" panose="020F0502020204030204" pitchFamily="34" charset="0"/>
                          <a:cs typeface="Times New Roman" panose="02020603050405020304" pitchFamily="18" charset="0"/>
                        </a:rPr>
                        <a:t>95,503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2000" b="1" dirty="0">
                          <a:effectLst/>
                          <a:latin typeface="Calibri" panose="020F0502020204030204" pitchFamily="34" charset="0"/>
                          <a:ea typeface="Calibri" panose="020F0502020204030204" pitchFamily="34" charset="0"/>
                          <a:cs typeface="Times New Roman" panose="02020603050405020304" pitchFamily="18" charset="0"/>
                        </a:rPr>
                        <a:t>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1374657"/>
                  </a:ext>
                </a:extLst>
              </a:tr>
            </a:tbl>
          </a:graphicData>
        </a:graphic>
      </p:graphicFrame>
      <p:sp>
        <p:nvSpPr>
          <p:cNvPr id="3" name="Rectangle 1">
            <a:extLst>
              <a:ext uri="{FF2B5EF4-FFF2-40B4-BE49-F238E27FC236}">
                <a16:creationId xmlns:a16="http://schemas.microsoft.com/office/drawing/2014/main" id="{0595D692-0EF7-4796-A60E-0CB53462F794}"/>
              </a:ext>
            </a:extLst>
          </p:cNvPr>
          <p:cNvSpPr>
            <a:spLocks noChangeArrowheads="1"/>
          </p:cNvSpPr>
          <p:nvPr/>
        </p:nvSpPr>
        <p:spPr bwMode="auto">
          <a:xfrm>
            <a:off x="642549" y="564513"/>
            <a:ext cx="8007181"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20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Rinne an gníomhaí teanga agus an t-</a:t>
            </a:r>
            <a:r>
              <a:rPr kumimoji="0" lang="ga-IE" altLang="ga-IE" sz="2000" b="0" i="0" u="none" strike="noStrike" cap="none" normalizeH="0" baseline="0" dirty="0" err="1">
                <a:ln>
                  <a:noFill/>
                </a:ln>
                <a:solidFill>
                  <a:schemeClr val="tx1"/>
                </a:solidFill>
                <a:effectLst/>
                <a:ea typeface="Calibri" panose="020F0502020204030204" pitchFamily="34" charset="0"/>
                <a:cs typeface="Calibri" panose="020F0502020204030204" pitchFamily="34" charset="0"/>
              </a:rPr>
              <a:t>iarléachtóir</a:t>
            </a:r>
            <a:r>
              <a:rPr kumimoji="0" lang="ga-IE" altLang="ga-IE" sz="20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matamaitice Donncha Ó hÉallaithe mionscagadh ar na staitisticí i bhfianaise mholtaí an SCT</a:t>
            </a:r>
            <a:r>
              <a:rPr lang="ga-IE" altLang="ga-IE" sz="2000" dirty="0">
                <a:ea typeface="Calibri" panose="020F0502020204030204" pitchFamily="34" charset="0"/>
                <a:cs typeface="Calibri" panose="020F0502020204030204" pitchFamily="34" charset="0"/>
              </a:rPr>
              <a:t>. </a:t>
            </a:r>
            <a:r>
              <a:rPr kumimoji="0" lang="ga-IE" altLang="ga-IE" sz="20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a:t>
            </a:r>
            <a:endParaRPr kumimoji="0" lang="en-IE" altLang="ga-IE" sz="2000" b="0" i="0" u="none" strike="noStrike" cap="none" normalizeH="0" baseline="0" dirty="0">
              <a:ln>
                <a:noFill/>
              </a:ln>
              <a:solidFill>
                <a:schemeClr val="tx1"/>
              </a:solidFill>
              <a:effectLst/>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20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Dar leis nach raibh ach tuairim is seacht déag míle cainteoir Gaeilge ina gcónaí i gceantair a bhféadfaí Catagóir A </a:t>
            </a:r>
            <a:r>
              <a:rPr kumimoji="0" lang="ga-IE" altLang="ga-IE" sz="2000" b="0" i="0" u="none" strike="noStrike" cap="none" normalizeH="0" baseline="0" dirty="0" err="1">
                <a:ln>
                  <a:noFill/>
                </a:ln>
                <a:solidFill>
                  <a:schemeClr val="tx1"/>
                </a:solidFill>
                <a:effectLst/>
                <a:ea typeface="Calibri" panose="020F0502020204030204" pitchFamily="34" charset="0"/>
                <a:cs typeface="Calibri" panose="020F0502020204030204" pitchFamily="34" charset="0"/>
              </a:rPr>
              <a:t>a</a:t>
            </a:r>
            <a:r>
              <a:rPr kumimoji="0" lang="ga-IE" altLang="ga-IE" sz="20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thabhairt orthu!</a:t>
            </a:r>
            <a:endParaRPr kumimoji="0" lang="ga-IE" altLang="ga-IE"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ga-IE" altLang="ga-IE" sz="1800" b="0" i="0" u="none" strike="noStrike" cap="none" normalizeH="0" baseline="0" dirty="0">
                <a:ln>
                  <a:noFill/>
                </a:ln>
                <a:solidFill>
                  <a:schemeClr val="tx1"/>
                </a:solidFill>
                <a:effectLst/>
                <a:latin typeface="Arial" panose="020B0604020202020204" pitchFamily="34" charset="0"/>
              </a:rPr>
            </a:br>
            <a:endParaRPr kumimoji="0" lang="ga-IE" altLang="ga-IE"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110F1131-F7F3-4663-8AC8-F1FBB3FE7A8C}"/>
              </a:ext>
            </a:extLst>
          </p:cNvPr>
          <p:cNvSpPr>
            <a:spLocks noChangeArrowheads="1"/>
          </p:cNvSpPr>
          <p:nvPr/>
        </p:nvSpPr>
        <p:spPr bwMode="auto">
          <a:xfrm>
            <a:off x="348230" y="6077026"/>
            <a:ext cx="4022725" cy="635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ga-IE"/>
          </a:p>
        </p:txBody>
      </p:sp>
      <p:sp>
        <p:nvSpPr>
          <p:cNvPr id="5" name="Rectangle 3">
            <a:extLst>
              <a:ext uri="{FF2B5EF4-FFF2-40B4-BE49-F238E27FC236}">
                <a16:creationId xmlns:a16="http://schemas.microsoft.com/office/drawing/2014/main" id="{20909EED-0E06-451F-A74F-E317CAA12AE0}"/>
              </a:ext>
            </a:extLst>
          </p:cNvPr>
          <p:cNvSpPr>
            <a:spLocks noChangeArrowheads="1"/>
          </p:cNvSpPr>
          <p:nvPr/>
        </p:nvSpPr>
        <p:spPr bwMode="auto">
          <a:xfrm>
            <a:off x="397658" y="6217914"/>
            <a:ext cx="384029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1200" b="1" i="0" u="sng" strike="noStrike" cap="none" normalizeH="0" baseline="30000" dirty="0">
                <a:ln>
                  <a:noFill/>
                </a:ln>
                <a:solidFill>
                  <a:srgbClr val="954F72"/>
                </a:solidFill>
                <a:effectLst/>
                <a:latin typeface="Calibri" panose="020F0502020204030204" pitchFamily="34" charset="0"/>
                <a:ea typeface="Times New Roman" panose="02020603050405020304" pitchFamily="18" charset="0"/>
                <a:cs typeface="Calibri" panose="020F0502020204030204" pitchFamily="34" charset="0"/>
                <a:hlinkClick r:id="rId5"/>
              </a:rPr>
              <a:t>[</a:t>
            </a:r>
            <a:r>
              <a:rPr kumimoji="0" lang="ga-IE" altLang="ga-IE" sz="1200" b="1" i="0" u="sng" strike="noStrike" cap="none" normalizeH="0" baseline="30000" dirty="0" bmk="">
                <a:ln>
                  <a:noFill/>
                </a:ln>
                <a:solidFill>
                  <a:srgbClr val="954F72"/>
                </a:solidFill>
                <a:effectLst/>
                <a:latin typeface="Calibri" panose="020F0502020204030204" pitchFamily="34" charset="0"/>
                <a:ea typeface="Times New Roman" panose="02020603050405020304" pitchFamily="18" charset="0"/>
                <a:cs typeface="Calibri" panose="020F0502020204030204" pitchFamily="34" charset="0"/>
                <a:hlinkClick r:id="rId5"/>
              </a:rPr>
              <a:t>1]</a:t>
            </a:r>
            <a:r>
              <a:rPr kumimoji="0" lang="ga-IE" altLang="ga-IE"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kumimoji="0" lang="ga-IE" altLang="ga-IE"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hlinkClick r:id="rId6"/>
              </a:rPr>
              <a:t>http://anghaeltacht.net/ctg/080323foinse.html</a:t>
            </a:r>
            <a:r>
              <a:rPr kumimoji="0" lang="en-IE" altLang="ga-IE"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endParaRPr kumimoji="0" lang="en-IE" altLang="ga-IE" sz="1200" b="1" i="0" u="none" strike="noStrike" cap="none" normalizeH="0" baseline="0" dirty="0">
              <a:ln>
                <a:noFill/>
              </a:ln>
              <a:solidFill>
                <a:schemeClr val="tx1"/>
              </a:solidFill>
              <a:effectLst/>
              <a:latin typeface="Arial" panose="020B0604020202020204" pitchFamily="34" charset="0"/>
            </a:endParaRPr>
          </a:p>
        </p:txBody>
      </p:sp>
      <p:pic>
        <p:nvPicPr>
          <p:cNvPr id="7" name="Pictiúr 6" descr="Pictiúr a bhfuil duine, fear, spéaclaí, ag caitheamh ann&#10;&#10;Gineadh an tuairisc go huathoibríoch">
            <a:extLst>
              <a:ext uri="{FF2B5EF4-FFF2-40B4-BE49-F238E27FC236}">
                <a16:creationId xmlns:a16="http://schemas.microsoft.com/office/drawing/2014/main" id="{A17C1915-95A6-4E54-9291-5065A9DA171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52127" y="153944"/>
            <a:ext cx="2921000" cy="4457700"/>
          </a:xfrm>
          <a:prstGeom prst="rect">
            <a:avLst/>
          </a:prstGeom>
        </p:spPr>
      </p:pic>
    </p:spTree>
    <p:extLst>
      <p:ext uri="{BB962C8B-B14F-4D97-AF65-F5344CB8AC3E}">
        <p14:creationId xmlns:p14="http://schemas.microsoft.com/office/powerpoint/2010/main" val="42167609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A44D6CEC-B704-4ED8-A64D-3003FB4BE06B}"/>
              </a:ext>
            </a:extLst>
          </p:cNvPr>
          <p:cNvSpPr txBox="1"/>
          <p:nvPr/>
        </p:nvSpPr>
        <p:spPr>
          <a:xfrm>
            <a:off x="1808204" y="65743"/>
            <a:ext cx="8431427" cy="882036"/>
          </a:xfrm>
          <a:prstGeom prst="rect">
            <a:avLst/>
          </a:prstGeom>
          <a:noFill/>
        </p:spPr>
        <p:txBody>
          <a:bodyPr wrap="square">
            <a:spAutoFit/>
          </a:bodyPr>
          <a:lstStyle/>
          <a:p>
            <a:pPr algn="ctr">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Deirtear gur fiú m</a:t>
            </a:r>
            <a:r>
              <a:rPr lang="en-IE" sz="2000" b="1" dirty="0">
                <a:effectLst/>
                <a:latin typeface="Calibri" panose="020F0502020204030204" pitchFamily="34" charset="0"/>
                <a:ea typeface="Calibri" panose="020F0502020204030204" pitchFamily="34" charset="0"/>
                <a:cs typeface="Calibri" panose="020F0502020204030204" pitchFamily="34" charset="0"/>
              </a:rPr>
              <a:t>í</a:t>
            </a:r>
            <a:r>
              <a:rPr lang="ga-IE" sz="2000" b="1" dirty="0">
                <a:effectLst/>
                <a:latin typeface="Calibri" panose="020F0502020204030204" pitchFamily="34" charset="0"/>
                <a:ea typeface="Calibri" panose="020F0502020204030204" pitchFamily="34" charset="0"/>
                <a:cs typeface="Calibri" panose="020F0502020204030204" pitchFamily="34" charset="0"/>
              </a:rPr>
              <a:t>le focal agus íomhá amháin! </a:t>
            </a:r>
            <a:endParaRPr lang="ga-IE" sz="2000" b="1"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Tá staid na Gaeilge sa Ghaeltacht breá soiléir sa léarscáil seo ón SCT.</a:t>
            </a:r>
            <a:endParaRPr lang="ga-IE" sz="2000" b="1"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1" descr="Do people still speak Irish? - Quora">
            <a:extLst>
              <a:ext uri="{FF2B5EF4-FFF2-40B4-BE49-F238E27FC236}">
                <a16:creationId xmlns:a16="http://schemas.microsoft.com/office/drawing/2014/main" id="{94C72189-B7D1-49CB-B8ED-31695D378CF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332206" y="1041457"/>
            <a:ext cx="5025446" cy="5787022"/>
          </a:xfrm>
          <a:prstGeom prst="rect">
            <a:avLst/>
          </a:prstGeom>
          <a:noFill/>
          <a:ln>
            <a:noFill/>
          </a:ln>
        </p:spPr>
      </p:pic>
    </p:spTree>
    <p:extLst>
      <p:ext uri="{BB962C8B-B14F-4D97-AF65-F5344CB8AC3E}">
        <p14:creationId xmlns:p14="http://schemas.microsoft.com/office/powerpoint/2010/main" val="40878051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iúr 1">
            <a:extLst>
              <a:ext uri="{FF2B5EF4-FFF2-40B4-BE49-F238E27FC236}">
                <a16:creationId xmlns:a16="http://schemas.microsoft.com/office/drawing/2014/main" id="{3552D012-68BD-45E6-BFE5-8A06D87C87FC}"/>
              </a:ext>
            </a:extLst>
          </p:cNvPr>
          <p:cNvPicPr>
            <a:picLocks noChangeAspect="1"/>
          </p:cNvPicPr>
          <p:nvPr/>
        </p:nvPicPr>
        <p:blipFill>
          <a:blip r:embed="rId2"/>
          <a:stretch>
            <a:fillRect/>
          </a:stretch>
        </p:blipFill>
        <p:spPr>
          <a:xfrm>
            <a:off x="330387" y="3372668"/>
            <a:ext cx="11374200" cy="2755027"/>
          </a:xfrm>
          <a:prstGeom prst="rect">
            <a:avLst/>
          </a:prstGeom>
        </p:spPr>
      </p:pic>
      <p:pic>
        <p:nvPicPr>
          <p:cNvPr id="3" name="Pictiúr 2" descr="Pictiúr a bhfuil duine, ag tionól, fear, ag suí ann&#10;&#10;Gineadh an tuairisc go huathoibríoch">
            <a:extLst>
              <a:ext uri="{FF2B5EF4-FFF2-40B4-BE49-F238E27FC236}">
                <a16:creationId xmlns:a16="http://schemas.microsoft.com/office/drawing/2014/main" id="{9440C29C-ADCF-4257-8514-36E39DA3EC97}"/>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396242" y="419390"/>
            <a:ext cx="3701553" cy="2470628"/>
          </a:xfrm>
          <a:prstGeom prst="rect">
            <a:avLst/>
          </a:prstGeom>
        </p:spPr>
      </p:pic>
    </p:spTree>
    <p:extLst>
      <p:ext uri="{BB962C8B-B14F-4D97-AF65-F5344CB8AC3E}">
        <p14:creationId xmlns:p14="http://schemas.microsoft.com/office/powerpoint/2010/main" val="34608179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iúr 1" descr="Nuashonrú-ar-an-Staidéar-Cuimsitheach-Teangeolaíoch-ar-Úsáid-na-Gaeilge-sa- Ghaeltacht - Tobar Dhuibhne">
            <a:extLst>
              <a:ext uri="{FF2B5EF4-FFF2-40B4-BE49-F238E27FC236}">
                <a16:creationId xmlns:a16="http://schemas.microsoft.com/office/drawing/2014/main" id="{F228DF28-C6F3-495C-9343-7B4C8B62CDD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8137" y="408471"/>
            <a:ext cx="3283177" cy="5252099"/>
          </a:xfrm>
          <a:prstGeom prst="rect">
            <a:avLst/>
          </a:prstGeom>
          <a:noFill/>
          <a:ln>
            <a:noFill/>
          </a:ln>
        </p:spPr>
      </p:pic>
      <p:sp>
        <p:nvSpPr>
          <p:cNvPr id="4" name="Bosca téacs 3">
            <a:extLst>
              <a:ext uri="{FF2B5EF4-FFF2-40B4-BE49-F238E27FC236}">
                <a16:creationId xmlns:a16="http://schemas.microsoft.com/office/drawing/2014/main" id="{2B07EF02-0B35-4E30-A11E-13C81C372E0D}"/>
              </a:ext>
            </a:extLst>
          </p:cNvPr>
          <p:cNvSpPr txBox="1"/>
          <p:nvPr/>
        </p:nvSpPr>
        <p:spPr>
          <a:xfrm>
            <a:off x="3984171" y="1311242"/>
            <a:ext cx="7685315" cy="3046988"/>
          </a:xfrm>
          <a:prstGeom prst="rect">
            <a:avLst/>
          </a:prstGeom>
          <a:noFill/>
        </p:spPr>
        <p:txBody>
          <a:bodyPr wrap="square">
            <a:spAutoFit/>
          </a:bodyPr>
          <a:lstStyle/>
          <a:p>
            <a:pPr marL="457200" algn="just">
              <a:lnSpc>
                <a:spcPct val="115000"/>
              </a:lnSpc>
            </a:pPr>
            <a:r>
              <a:rPr lang="ga-IE" sz="2000" dirty="0">
                <a:effectLst/>
                <a:latin typeface="Calibri" panose="020F0502020204030204" pitchFamily="34" charset="0"/>
                <a:ea typeface="Times New Roman" panose="02020603050405020304" pitchFamily="18" charset="0"/>
              </a:rPr>
              <a:t>“Léiríonn an anailís atá déanta sa tuarascáil </a:t>
            </a:r>
            <a:r>
              <a:rPr lang="ga-IE" sz="2000" b="1" dirty="0">
                <a:effectLst/>
                <a:latin typeface="Calibri" panose="020F0502020204030204" pitchFamily="34" charset="0"/>
                <a:ea typeface="Times New Roman" panose="02020603050405020304" pitchFamily="18" charset="0"/>
              </a:rPr>
              <a:t>nár tháinig aon mhaolú ar an ráta ag a bhfuil an Ghaeilge á creimeadh</a:t>
            </a:r>
            <a:r>
              <a:rPr lang="en-IE" sz="2000" b="1" dirty="0">
                <a:effectLst/>
                <a:latin typeface="Calibri" panose="020F0502020204030204" pitchFamily="34" charset="0"/>
                <a:ea typeface="Times New Roman" panose="02020603050405020304" pitchFamily="18" charset="0"/>
              </a:rPr>
              <a:t> </a:t>
            </a:r>
            <a:r>
              <a:rPr lang="en-US" sz="2000" dirty="0">
                <a:latin typeface="Calibri" panose="020F0502020204030204" pitchFamily="34" charset="0"/>
                <a:ea typeface="Times New Roman" panose="02020603050405020304" pitchFamily="18" charset="0"/>
              </a:rPr>
              <a:t>(b</a:t>
            </a:r>
            <a:r>
              <a:rPr lang="en-US" sz="2000" dirty="0">
                <a:effectLst/>
                <a:latin typeface="Calibri" panose="020F0502020204030204" pitchFamily="34" charset="0"/>
                <a:ea typeface="Times New Roman" panose="02020603050405020304" pitchFamily="18" charset="0"/>
              </a:rPr>
              <a:t>eing eroded)</a:t>
            </a:r>
            <a:r>
              <a:rPr lang="ga-IE" sz="2000" b="1" dirty="0">
                <a:effectLst/>
                <a:latin typeface="Calibri" panose="020F0502020204030204" pitchFamily="34" charset="0"/>
                <a:ea typeface="Times New Roman" panose="02020603050405020304" pitchFamily="18" charset="0"/>
              </a:rPr>
              <a:t> mar theanga phobail sa Ghaeltacht ón uair a foilsíodh an chéad thuarascáil taighde </a:t>
            </a:r>
            <a:r>
              <a:rPr lang="ga-IE" sz="2000" b="1" i="1" dirty="0">
                <a:effectLst/>
                <a:latin typeface="Calibri" panose="020F0502020204030204" pitchFamily="34" charset="0"/>
                <a:ea typeface="Times New Roman" panose="02020603050405020304" pitchFamily="18" charset="0"/>
              </a:rPr>
              <a:t>An Staidéar Cuimsitheach Teangeolaíoch ar Úsáid na Gaeilge sa Ghaeltacht</a:t>
            </a:r>
            <a:r>
              <a:rPr lang="ga-IE" sz="2000" b="1" dirty="0">
                <a:effectLst/>
                <a:latin typeface="Calibri" panose="020F0502020204030204" pitchFamily="34" charset="0"/>
                <a:ea typeface="Times New Roman" panose="02020603050405020304" pitchFamily="18" charset="0"/>
              </a:rPr>
              <a:t> in 2007</a:t>
            </a:r>
            <a:r>
              <a:rPr lang="ga-IE" sz="2000" dirty="0">
                <a:effectLst/>
                <a:latin typeface="Calibri" panose="020F0502020204030204" pitchFamily="34" charset="0"/>
                <a:ea typeface="Times New Roman" panose="02020603050405020304" pitchFamily="18" charset="0"/>
              </a:rPr>
              <a:t>. Dar leis na húdair go bhfuil an </a:t>
            </a:r>
            <a:r>
              <a:rPr lang="ga-IE" sz="2000" b="1" dirty="0">
                <a:effectLst/>
                <a:latin typeface="Calibri" panose="020F0502020204030204" pitchFamily="34" charset="0"/>
                <a:ea typeface="Times New Roman" panose="02020603050405020304" pitchFamily="18" charset="0"/>
              </a:rPr>
              <a:t>creimeadh ag tarlú ag ráta níos tapúla ná mar a bhí á thuar sa </a:t>
            </a:r>
            <a:r>
              <a:rPr lang="ga-IE" sz="2000" b="1" dirty="0" err="1">
                <a:effectLst/>
                <a:latin typeface="Calibri" panose="020F0502020204030204" pitchFamily="34" charset="0"/>
                <a:ea typeface="Times New Roman" panose="02020603050405020304" pitchFamily="18" charset="0"/>
              </a:rPr>
              <a:t>bhunstaidéar</a:t>
            </a:r>
            <a:r>
              <a:rPr lang="ga-IE" sz="2000" b="1" dirty="0">
                <a:effectLst/>
                <a:latin typeface="Calibri" panose="020F0502020204030204" pitchFamily="34" charset="0"/>
                <a:ea typeface="Times New Roman" panose="02020603050405020304" pitchFamily="18" charset="0"/>
              </a:rPr>
              <a:t> agus go n-éilíonn sé gníomh práinneach idirghabhála</a:t>
            </a:r>
            <a:r>
              <a:rPr lang="ga-IE" sz="2000" dirty="0">
                <a:effectLst/>
                <a:latin typeface="Calibri" panose="020F0502020204030204" pitchFamily="34" charset="0"/>
                <a:ea typeface="Times New Roman" panose="02020603050405020304" pitchFamily="18" charset="0"/>
              </a:rPr>
              <a:t>.” </a:t>
            </a:r>
            <a:r>
              <a:rPr lang="ga-IE" sz="2000" dirty="0">
                <a:effectLst/>
                <a:ea typeface="Times New Roman" panose="02020603050405020304" pitchFamily="18" charset="0"/>
              </a:rPr>
              <a:t>(Údarás na Gaeltachta, 2015)</a:t>
            </a:r>
          </a:p>
          <a:p>
            <a:r>
              <a:rPr lang="en-US" sz="800" dirty="0">
                <a:effectLst/>
                <a:latin typeface="Calibri" panose="020F0502020204030204" pitchFamily="34" charset="0"/>
                <a:ea typeface="Times New Roman" panose="02020603050405020304" pitchFamily="18" charset="0"/>
              </a:rPr>
              <a:t>                                                                                                                 </a:t>
            </a:r>
            <a:endParaRPr lang="ga-IE" sz="1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935835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osca téacs 4">
            <a:extLst>
              <a:ext uri="{FF2B5EF4-FFF2-40B4-BE49-F238E27FC236}">
                <a16:creationId xmlns:a16="http://schemas.microsoft.com/office/drawing/2014/main" id="{7E2D5862-9194-4DFE-980F-2C85AE27FE74}"/>
              </a:ext>
            </a:extLst>
          </p:cNvPr>
          <p:cNvSpPr txBox="1"/>
          <p:nvPr/>
        </p:nvSpPr>
        <p:spPr>
          <a:xfrm>
            <a:off x="3599543" y="159947"/>
            <a:ext cx="8461827" cy="5801588"/>
          </a:xfrm>
          <a:prstGeom prst="rect">
            <a:avLst/>
          </a:prstGeom>
          <a:noFill/>
        </p:spPr>
        <p:txBody>
          <a:bodyPr wrap="square">
            <a:spAutoFit/>
          </a:bodyPr>
          <a:lstStyle/>
          <a:p>
            <a:pPr marL="342900" lvl="0" indent="-342900" algn="just">
              <a:buFont typeface="Symbol" panose="05050102010706020507" pitchFamily="18" charset="2"/>
              <a:buChar char=""/>
            </a:pPr>
            <a:r>
              <a:rPr lang="ga-IE" sz="2000" dirty="0">
                <a:solidFill>
                  <a:srgbClr val="FF0000"/>
                </a:solidFill>
                <a:effectLst/>
                <a:ea typeface="Times New Roman" panose="02020603050405020304" pitchFamily="18" charset="0"/>
              </a:rPr>
              <a:t>Níl an Ghaeltacht buan mar atá sí;</a:t>
            </a:r>
            <a:endParaRPr lang="ga-IE" sz="2000" dirty="0">
              <a:effectLst/>
              <a:ea typeface="Times New Roman" panose="02020603050405020304" pitchFamily="18" charset="0"/>
            </a:endParaRPr>
          </a:p>
          <a:p>
            <a:pPr marL="342900" lvl="0" indent="-342900" algn="just">
              <a:buFont typeface="Symbol" panose="05050102010706020507" pitchFamily="18" charset="2"/>
              <a:buChar char=""/>
            </a:pPr>
            <a:r>
              <a:rPr lang="ga-IE" sz="2000" dirty="0">
                <a:solidFill>
                  <a:srgbClr val="FF0000"/>
                </a:solidFill>
                <a:effectLst/>
                <a:ea typeface="Times New Roman" panose="02020603050405020304" pitchFamily="18" charset="0"/>
              </a:rPr>
              <a:t>Tá an t-aistriú teanga ó Ghaeilge go Béarla á chur i gcrích go tréan i gCatagóir A na Gaeltachta; </a:t>
            </a:r>
            <a:endParaRPr lang="ga-IE" sz="2000" dirty="0">
              <a:effectLst/>
              <a:ea typeface="Times New Roman" panose="02020603050405020304" pitchFamily="18" charset="0"/>
            </a:endParaRPr>
          </a:p>
          <a:p>
            <a:pPr marL="342900" lvl="0" indent="-342900" algn="just">
              <a:lnSpc>
                <a:spcPct val="115000"/>
              </a:lnSpc>
              <a:buFont typeface="Symbol" panose="05050102010706020507" pitchFamily="18" charset="2"/>
              <a:buChar char=""/>
            </a:pPr>
            <a:r>
              <a:rPr lang="ga-IE" sz="2000" dirty="0">
                <a:solidFill>
                  <a:srgbClr val="FF0000"/>
                </a:solidFill>
                <a:effectLst/>
                <a:ea typeface="Times New Roman" panose="02020603050405020304" pitchFamily="18" charset="0"/>
              </a:rPr>
              <a:t>Tiocfaidh ceannas sóisialta an Bhéarla chun cinn i ngach ceantar sa Ghaeltacht taobh istigh d’achar gearr blianta. </a:t>
            </a:r>
            <a:endParaRPr lang="ga-IE" sz="2000" dirty="0">
              <a:effectLst/>
              <a:ea typeface="Times New Roman" panose="02020603050405020304" pitchFamily="18" charset="0"/>
            </a:endParaRPr>
          </a:p>
          <a:p>
            <a:pPr marL="342900" lvl="0" indent="-342900" algn="just">
              <a:lnSpc>
                <a:spcPct val="115000"/>
              </a:lnSpc>
              <a:buFont typeface="Symbol" panose="05050102010706020507" pitchFamily="18" charset="2"/>
              <a:buChar char=""/>
            </a:pPr>
            <a:r>
              <a:rPr lang="ga-IE" sz="2000" dirty="0">
                <a:solidFill>
                  <a:srgbClr val="FF0000"/>
                </a:solidFill>
                <a:effectLst/>
                <a:ea typeface="Times New Roman" panose="02020603050405020304" pitchFamily="18" charset="0"/>
              </a:rPr>
              <a:t>Is é is dóichí nach mairfidh aon cheantar Gaeltachta, mar a thuigtear go sóisialta agus go cultúrtha í, níos faide ná tréimhse deich mbliana ag an bpointe seo;</a:t>
            </a:r>
            <a:endParaRPr lang="ga-IE" sz="2000" dirty="0">
              <a:effectLst/>
              <a:ea typeface="Times New Roman" panose="02020603050405020304" pitchFamily="18" charset="0"/>
            </a:endParaRPr>
          </a:p>
          <a:p>
            <a:pPr marL="342900" lvl="0" indent="-342900" algn="just">
              <a:lnSpc>
                <a:spcPct val="115000"/>
              </a:lnSpc>
              <a:buFont typeface="Symbol" panose="05050102010706020507" pitchFamily="18" charset="2"/>
              <a:buChar char=""/>
            </a:pPr>
            <a:r>
              <a:rPr lang="ga-IE" sz="2000" dirty="0">
                <a:solidFill>
                  <a:srgbClr val="FF0000"/>
                </a:solidFill>
                <a:effectLst/>
                <a:ea typeface="Times New Roman" panose="02020603050405020304" pitchFamily="18" charset="0"/>
              </a:rPr>
              <a:t>Ní hionann seo is a rá nach mbeidh Gaeilgeoirí ag maireachtáil in </a:t>
            </a:r>
            <a:r>
              <a:rPr lang="ga-IE" sz="2000" b="1" dirty="0">
                <a:solidFill>
                  <a:srgbClr val="FF0000"/>
                </a:solidFill>
                <a:effectLst/>
                <a:ea typeface="Times New Roman" panose="02020603050405020304" pitchFamily="18" charset="0"/>
              </a:rPr>
              <a:t>iarsma na Gaeltachta</a:t>
            </a:r>
            <a:r>
              <a:rPr lang="ga-IE" sz="2000" dirty="0">
                <a:solidFill>
                  <a:srgbClr val="FF0000"/>
                </a:solidFill>
                <a:effectLst/>
                <a:ea typeface="Times New Roman" panose="02020603050405020304" pitchFamily="18" charset="0"/>
              </a:rPr>
              <a:t>, ach </a:t>
            </a:r>
            <a:r>
              <a:rPr lang="ga-IE" sz="2000" b="1" dirty="0">
                <a:solidFill>
                  <a:srgbClr val="FF0000"/>
                </a:solidFill>
                <a:effectLst/>
                <a:ea typeface="Times New Roman" panose="02020603050405020304" pitchFamily="18" charset="0"/>
              </a:rPr>
              <a:t>ní bheidh siad sách líonmhar le bonn a chur ar fáil don phobal sa chaoi is go mbeidh nósanna  Gaeilge  á  gcleachtadh  go  saoráideach  ina  measc</a:t>
            </a:r>
            <a:r>
              <a:rPr lang="ga-IE" sz="2000" dirty="0">
                <a:solidFill>
                  <a:srgbClr val="FF0000"/>
                </a:solidFill>
                <a:effectLst/>
                <a:ea typeface="Times New Roman" panose="02020603050405020304" pitchFamily="18" charset="0"/>
              </a:rPr>
              <a:t>;</a:t>
            </a:r>
            <a:endParaRPr lang="ga-IE" sz="2000" dirty="0">
              <a:effectLst/>
              <a:ea typeface="Times New Roman" panose="02020603050405020304" pitchFamily="18" charset="0"/>
            </a:endParaRPr>
          </a:p>
          <a:p>
            <a:pPr marL="342900" lvl="0" indent="-342900" algn="just">
              <a:lnSpc>
                <a:spcPct val="115000"/>
              </a:lnSpc>
              <a:buFont typeface="Symbol" panose="05050102010706020507" pitchFamily="18" charset="2"/>
              <a:buChar char=""/>
            </a:pPr>
            <a:r>
              <a:rPr lang="ga-IE" sz="2000" dirty="0">
                <a:solidFill>
                  <a:srgbClr val="FF0000"/>
                </a:solidFill>
                <a:effectLst/>
                <a:ea typeface="Times New Roman" panose="02020603050405020304" pitchFamily="18" charset="0"/>
              </a:rPr>
              <a:t>Mairfidh  gréasáin scáinte Ghaeilge i gceantair ar leith níos faide ná sin, b’fhéidir, go háirithe i ngréasáin na </a:t>
            </a:r>
            <a:r>
              <a:rPr lang="ga-IE" sz="2000" dirty="0" err="1">
                <a:solidFill>
                  <a:srgbClr val="FF0000"/>
                </a:solidFill>
                <a:effectLst/>
                <a:ea typeface="Times New Roman" panose="02020603050405020304" pitchFamily="18" charset="0"/>
              </a:rPr>
              <a:t>seantuismitheoireachta</a:t>
            </a:r>
            <a:r>
              <a:rPr lang="ga-IE" sz="2000" dirty="0">
                <a:solidFill>
                  <a:srgbClr val="FF0000"/>
                </a:solidFill>
                <a:effectLst/>
                <a:ea typeface="Times New Roman" panose="02020603050405020304" pitchFamily="18" charset="0"/>
              </a:rPr>
              <a:t>, ach ní bheidh na gréasáin sách láidir ná dinimiciúil le heiseamláir ná le ceannaireacht a thabhairt dá bpobail.</a:t>
            </a:r>
            <a:endParaRPr lang="ga-IE" sz="1200" dirty="0">
              <a:effectLst/>
              <a:ea typeface="Times New Roman" panose="02020603050405020304" pitchFamily="18" charset="0"/>
            </a:endParaRPr>
          </a:p>
          <a:p>
            <a:r>
              <a:rPr lang="ga-IE" sz="1200" u="sng" dirty="0">
                <a:solidFill>
                  <a:srgbClr val="0000FF"/>
                </a:solidFill>
                <a:effectLst/>
                <a:ea typeface="Times New Roman" panose="02020603050405020304" pitchFamily="18" charset="0"/>
                <a:hlinkClick r:id="rId2"/>
              </a:rPr>
              <a:t>https://static.rasset.ie/documents/news/udaras-na-gaeltachta.pdf</a:t>
            </a:r>
            <a:r>
              <a:rPr lang="ga-IE" sz="1200" dirty="0">
                <a:effectLst/>
                <a:ea typeface="Times New Roman" panose="02020603050405020304" pitchFamily="18" charset="0"/>
                <a:hlinkClick r:id="rId2"/>
              </a:rPr>
              <a:t> </a:t>
            </a:r>
            <a:endParaRPr lang="ga-IE" sz="1200" dirty="0">
              <a:effectLst/>
              <a:ea typeface="Times New Roman" panose="02020603050405020304" pitchFamily="18" charset="0"/>
            </a:endParaRPr>
          </a:p>
        </p:txBody>
      </p:sp>
      <p:pic>
        <p:nvPicPr>
          <p:cNvPr id="7" name="Pictiúr 6" descr="Pictiúr a bhfuil duine, ag tionól, fear, ag suí ann&#10;&#10;Gineadh an tuairisc go huathoibríoch">
            <a:extLst>
              <a:ext uri="{FF2B5EF4-FFF2-40B4-BE49-F238E27FC236}">
                <a16:creationId xmlns:a16="http://schemas.microsoft.com/office/drawing/2014/main" id="{920BB8F3-C155-4071-B965-D27406EB8267}"/>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30630" y="1807318"/>
            <a:ext cx="3137045" cy="2093843"/>
          </a:xfrm>
          <a:prstGeom prst="rect">
            <a:avLst/>
          </a:prstGeom>
        </p:spPr>
      </p:pic>
    </p:spTree>
    <p:extLst>
      <p:ext uri="{BB962C8B-B14F-4D97-AF65-F5344CB8AC3E}">
        <p14:creationId xmlns:p14="http://schemas.microsoft.com/office/powerpoint/2010/main" val="33763964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iúr 1">
            <a:extLst>
              <a:ext uri="{FF2B5EF4-FFF2-40B4-BE49-F238E27FC236}">
                <a16:creationId xmlns:a16="http://schemas.microsoft.com/office/drawing/2014/main" id="{83F6028C-924D-43DD-9E83-573C27520873}"/>
              </a:ext>
            </a:extLst>
          </p:cNvPr>
          <p:cNvPicPr/>
          <p:nvPr/>
        </p:nvPicPr>
        <p:blipFill>
          <a:blip r:embed="rId2"/>
          <a:stretch>
            <a:fillRect/>
          </a:stretch>
        </p:blipFill>
        <p:spPr>
          <a:xfrm>
            <a:off x="297543" y="831804"/>
            <a:ext cx="2634343" cy="4422367"/>
          </a:xfrm>
          <a:prstGeom prst="rect">
            <a:avLst/>
          </a:prstGeom>
        </p:spPr>
      </p:pic>
      <p:sp>
        <p:nvSpPr>
          <p:cNvPr id="4" name="Bosca téacs 3">
            <a:extLst>
              <a:ext uri="{FF2B5EF4-FFF2-40B4-BE49-F238E27FC236}">
                <a16:creationId xmlns:a16="http://schemas.microsoft.com/office/drawing/2014/main" id="{CD060A6F-B14E-4DBC-AA35-637F4F2A9CAA}"/>
              </a:ext>
            </a:extLst>
          </p:cNvPr>
          <p:cNvSpPr txBox="1"/>
          <p:nvPr/>
        </p:nvSpPr>
        <p:spPr>
          <a:xfrm>
            <a:off x="3207657" y="151828"/>
            <a:ext cx="8686800" cy="6437403"/>
          </a:xfrm>
          <a:prstGeom prst="rect">
            <a:avLst/>
          </a:prstGeom>
          <a:noFill/>
        </p:spPr>
        <p:txBody>
          <a:bodyPr wrap="square">
            <a:spAutoFit/>
          </a:bodyPr>
          <a:lstStyle/>
          <a:p>
            <a:pPr algn="just">
              <a:lnSpc>
                <a:spcPct val="107000"/>
              </a:lnSpc>
              <a:spcAft>
                <a:spcPts val="800"/>
              </a:spcAft>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Dar leis na saineolaithe:</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gur fearr an cumas atá sa Bhéarla ná sa Ghaeilge ag fiú cuid de na cainteoirí dúchais óga is fearr sa Ghaeltacht;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gurb é an Béarla an teanga is cumasaí agus is treise ag cainteoirí óga Gaeltachta a bhfuil Gaeilge amháin acu sa bhaile;</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gur mó an líofacht atá ag na daltaí Gaeltachta sa Ghaeilge ná sa Bhéarla, ach gur mó an cruinneas agus an cumas (‘acmhainneacht’) atá acu sa Bhéarla;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go bhfuil stór focal Béarla níos fairsinge ag cainteoirí dúchais óga na Gaeltachta;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gur fearr a gcruinneas gramadaí agus foghraíochta sa Bhéarla ná sa Ghaeilge.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go raibh cumas níos airde sa Bhéarla le tabhairt faoi deara freisin sa tslí ina gcuireann siad meascán den Ghaeilge agus den Bhéarla i bhfeidhm ina gcuid cainte.</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gur lú go mór cumas na bpáistí sa Ghaeilge ná an cumas a bheadh ag cainteoir aonteangach.</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go n-oireann an téarma ‘Gaeilge laghdaithe’ ar chineál Gaeilge na ndaltaí a taifeadadh;</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go bhfuil cumas ‘éagothrom’ ag formhór na ndaltaí dátheangacha agus gurb é an Béarla is cumasaí acu.</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344958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ADEB4D68-6C6D-4CD2-8F12-B2671A74077E}"/>
              </a:ext>
            </a:extLst>
          </p:cNvPr>
          <p:cNvSpPr txBox="1"/>
          <p:nvPr/>
        </p:nvSpPr>
        <p:spPr>
          <a:xfrm>
            <a:off x="1386115" y="899885"/>
            <a:ext cx="10232570" cy="4315797"/>
          </a:xfrm>
          <a:prstGeom prst="rect">
            <a:avLst/>
          </a:prstGeom>
          <a:noFill/>
        </p:spPr>
        <p:txBody>
          <a:bodyPr wrap="square">
            <a:spAutoFit/>
          </a:bodyPr>
          <a:lstStyle/>
          <a:p>
            <a:pPr marL="342900" lvl="0" indent="-342900" algn="just">
              <a:lnSpc>
                <a:spcPct val="107000"/>
              </a:lnSpc>
              <a:spcAft>
                <a:spcPts val="800"/>
              </a:spcAft>
              <a:buFont typeface="Symbol" panose="05050102010706020507" pitchFamily="18" charset="2"/>
              <a:buChar char=""/>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uileláithreacht chultúr an Bhéarla;</a:t>
            </a:r>
            <a:endParaRPr lang="ga-IE"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rian an Bhéarla, dá réir, ar an gcineál Gaeilge a labhraítear ar na saolta seo;</a:t>
            </a:r>
            <a:endParaRPr lang="ga-IE"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athrú a theacht ar an gcaoi a bhfuil an teanga á cur ar aghaidh go dtí an chéad ghlúin eile agus ar an gcaoi a dtugann an ghlúin sin leo í (‘ionchur teanga’);</a:t>
            </a:r>
            <a:endParaRPr lang="ga-IE"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cúngú na teanga sa Ghaeltacht, fiú sna réimsí saoil traidisiúnta lena ngabhann sí go stairiúil;</a:t>
            </a:r>
            <a:endParaRPr lang="ga-IE"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dlús na gcainteoirí Gaeilge i gceantair thraidisiúnta a éirí tanaí agus an tionchar atá aige sin ar dheiseanna daoine óga dea-Ghaeilge a chloisteáil agus aithris a dhéanamh uirthi;</a:t>
            </a:r>
            <a:endParaRPr lang="ga-IE"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a laghad is féidir le heagraíochtaí pobail agus oideachais a dhéanamh chun dul i ngleic le himpleachtaí na n-athruithe seo;</a:t>
            </a:r>
            <a:endParaRPr lang="ga-IE"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an Béarla a bheith in uachtar agus an t-aos óg ag cur aithne ar a chéile agus ag déanamh comhluadair lena chéile</a:t>
            </a:r>
            <a:endParaRPr lang="ga-IE"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168746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8F27628F-BB48-47CC-B6FB-CB5DB1F23859}"/>
              </a:ext>
            </a:extLst>
          </p:cNvPr>
          <p:cNvSpPr txBox="1"/>
          <p:nvPr/>
        </p:nvSpPr>
        <p:spPr>
          <a:xfrm>
            <a:off x="1045029" y="1118307"/>
            <a:ext cx="9782627" cy="1168269"/>
          </a:xfrm>
          <a:prstGeom prst="rect">
            <a:avLst/>
          </a:prstGeom>
          <a:noFill/>
        </p:spPr>
        <p:txBody>
          <a:bodyPr wrap="square">
            <a:spAutoFit/>
          </a:bodyPr>
          <a:lstStyle/>
          <a:p>
            <a:pPr algn="just">
              <a:lnSpc>
                <a:spcPct val="107000"/>
              </a:lnSpc>
              <a:spcAft>
                <a:spcPts val="800"/>
              </a:spcAft>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Mar pháirt de </a:t>
            </a:r>
            <a:r>
              <a:rPr lang="ga-IE" sz="2000" i="1"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Thóstal</a:t>
            </a:r>
            <a:r>
              <a:rPr lang="ga-IE" sz="2000" i="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na Gaeilge </a:t>
            </a: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2013, d’úsáid an </a:t>
            </a:r>
            <a:r>
              <a:rPr lang="ga-IE" sz="2000"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Dr</a:t>
            </a: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Brian Ó Curnáin modh iontach simplí le taispeáint cad atá ag tarlú maidir le sealbhú teanga sa Ghaeltacht!</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Is fiú go mór amharc ar an fhíseán.</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iúr 3" descr="Tóstal na Gaeilge 2013 | Ag tógáil clainne trí Ghaeilge - YouTube">
            <a:extLst>
              <a:ext uri="{FF2B5EF4-FFF2-40B4-BE49-F238E27FC236}">
                <a16:creationId xmlns:a16="http://schemas.microsoft.com/office/drawing/2014/main" id="{228943A5-9D08-4E9E-82DA-D0071E6062EB}"/>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9226" y="2609490"/>
            <a:ext cx="5363573" cy="3914681"/>
          </a:xfrm>
          <a:prstGeom prst="rect">
            <a:avLst/>
          </a:prstGeom>
          <a:noFill/>
          <a:ln>
            <a:noFill/>
          </a:ln>
        </p:spPr>
      </p:pic>
      <p:sp>
        <p:nvSpPr>
          <p:cNvPr id="6" name="Bosca téacs 5">
            <a:extLst>
              <a:ext uri="{FF2B5EF4-FFF2-40B4-BE49-F238E27FC236}">
                <a16:creationId xmlns:a16="http://schemas.microsoft.com/office/drawing/2014/main" id="{25310EB7-2FDD-4AA0-A2DC-15ABA2543FDC}"/>
              </a:ext>
            </a:extLst>
          </p:cNvPr>
          <p:cNvSpPr txBox="1"/>
          <p:nvPr/>
        </p:nvSpPr>
        <p:spPr>
          <a:xfrm>
            <a:off x="6495142" y="3798667"/>
            <a:ext cx="6096000" cy="276999"/>
          </a:xfrm>
          <a:prstGeom prst="rect">
            <a:avLst/>
          </a:prstGeom>
          <a:noFill/>
        </p:spPr>
        <p:txBody>
          <a:bodyPr wrap="square">
            <a:spAutoFit/>
          </a:bodyPr>
          <a:lstStyle/>
          <a:p>
            <a:r>
              <a:rPr lang="ga-IE" sz="1200" u="sng" dirty="0">
                <a:solidFill>
                  <a:srgbClr val="FF0000"/>
                </a:solidFill>
                <a:effectLst/>
                <a:latin typeface="Calibri" panose="020F0502020204030204" pitchFamily="34" charset="0"/>
                <a:ea typeface="Calibri" panose="020F0502020204030204" pitchFamily="34" charset="0"/>
                <a:cs typeface="Calibri" panose="020F0502020204030204" pitchFamily="34" charset="0"/>
                <a:hlinkClick r:id="rId3"/>
              </a:rPr>
              <a:t>https://www.youtube.com/watch?v=UxrO67DVNxM</a:t>
            </a:r>
            <a:endParaRPr lang="ga-IE" sz="1200" dirty="0"/>
          </a:p>
        </p:txBody>
      </p:sp>
    </p:spTree>
    <p:extLst>
      <p:ext uri="{BB962C8B-B14F-4D97-AF65-F5344CB8AC3E}">
        <p14:creationId xmlns:p14="http://schemas.microsoft.com/office/powerpoint/2010/main" val="6984749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C8F69BAB-CB98-4FBF-9E35-1CC9A71B0B51}"/>
              </a:ext>
            </a:extLst>
          </p:cNvPr>
          <p:cNvSpPr txBox="1"/>
          <p:nvPr/>
        </p:nvSpPr>
        <p:spPr>
          <a:xfrm>
            <a:off x="1009041" y="345275"/>
            <a:ext cx="9746342" cy="407035"/>
          </a:xfrm>
          <a:prstGeom prst="rect">
            <a:avLst/>
          </a:prstGeom>
          <a:noFill/>
        </p:spPr>
        <p:txBody>
          <a:bodyPr wrap="square">
            <a:spAutoFit/>
          </a:bodyPr>
          <a:lstStyle/>
          <a:p>
            <a:pPr>
              <a:lnSpc>
                <a:spcPct val="107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‘An Ghaeilge Thraidisiúnta’, ‘An Ghaeilge Iarthraidisiúnta’ agus ‘An Ghaeilge Laghdaithe’?</a:t>
            </a:r>
            <a:r>
              <a:rPr lang="ga-IE" sz="2000" dirty="0">
                <a:effectLst/>
                <a:latin typeface="Calibri" panose="020F0502020204030204" pitchFamily="34" charset="0"/>
                <a:ea typeface="Calibri" panose="020F0502020204030204" pitchFamily="34" charset="0"/>
                <a:cs typeface="Calibri" panose="020F0502020204030204" pitchFamily="34" charset="0"/>
              </a:rPr>
              <a:t>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ábla 3">
            <a:extLst>
              <a:ext uri="{FF2B5EF4-FFF2-40B4-BE49-F238E27FC236}">
                <a16:creationId xmlns:a16="http://schemas.microsoft.com/office/drawing/2014/main" id="{32DBE120-AA77-4955-A08E-C414A8AC5709}"/>
              </a:ext>
            </a:extLst>
          </p:cNvPr>
          <p:cNvGraphicFramePr>
            <a:graphicFrameLocks noGrp="1"/>
          </p:cNvGraphicFramePr>
          <p:nvPr>
            <p:extLst>
              <p:ext uri="{D42A27DB-BD31-4B8C-83A1-F6EECF244321}">
                <p14:modId xmlns:p14="http://schemas.microsoft.com/office/powerpoint/2010/main" val="506434676"/>
              </p:ext>
            </p:extLst>
          </p:nvPr>
        </p:nvGraphicFramePr>
        <p:xfrm>
          <a:off x="2608452" y="3492980"/>
          <a:ext cx="6202924" cy="2097024"/>
        </p:xfrm>
        <a:graphic>
          <a:graphicData uri="http://schemas.openxmlformats.org/drawingml/2006/table">
            <a:tbl>
              <a:tblPr firstRow="1" firstCol="1" bandRow="1"/>
              <a:tblGrid>
                <a:gridCol w="3254209">
                  <a:extLst>
                    <a:ext uri="{9D8B030D-6E8A-4147-A177-3AD203B41FA5}">
                      <a16:colId xmlns:a16="http://schemas.microsoft.com/office/drawing/2014/main" val="4156017723"/>
                    </a:ext>
                  </a:extLst>
                </a:gridCol>
                <a:gridCol w="2948715">
                  <a:extLst>
                    <a:ext uri="{9D8B030D-6E8A-4147-A177-3AD203B41FA5}">
                      <a16:colId xmlns:a16="http://schemas.microsoft.com/office/drawing/2014/main" val="4165668852"/>
                    </a:ext>
                  </a:extLst>
                </a:gridCol>
              </a:tblGrid>
              <a:tr h="0">
                <a:tc>
                  <a:txBody>
                    <a:bodyPr/>
                    <a:lstStyle/>
                    <a:p>
                      <a:pPr algn="ctr">
                        <a:lnSpc>
                          <a:spcPct val="20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Téarma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Tréimhse Ama</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572636"/>
                  </a:ext>
                </a:extLst>
              </a:tr>
              <a:tr h="0">
                <a:tc>
                  <a:txBody>
                    <a:bodyPr/>
                    <a:lstStyle/>
                    <a:p>
                      <a:pPr algn="just">
                        <a:lnSpc>
                          <a:spcPct val="20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Gaeilge Thraidisiúnta</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Roimh 1960</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2157751"/>
                  </a:ext>
                </a:extLst>
              </a:tr>
              <a:tr h="0">
                <a:tc>
                  <a:txBody>
                    <a:bodyPr/>
                    <a:lstStyle/>
                    <a:p>
                      <a:pPr algn="just">
                        <a:lnSpc>
                          <a:spcPct val="20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Gaeilge Iarthraidisiúnta</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ó 1960 go 1990</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7947789"/>
                  </a:ext>
                </a:extLst>
              </a:tr>
              <a:tr h="0">
                <a:tc>
                  <a:txBody>
                    <a:bodyPr/>
                    <a:lstStyle/>
                    <a:p>
                      <a:pPr algn="just">
                        <a:lnSpc>
                          <a:spcPct val="200000"/>
                        </a:lnSpc>
                        <a:spcAft>
                          <a:spcPts val="800"/>
                        </a:spcAft>
                      </a:pPr>
                      <a:r>
                        <a:rPr lang="ga-IE" sz="2000" b="1">
                          <a:effectLst/>
                          <a:latin typeface="Calibri" panose="020F0502020204030204" pitchFamily="34" charset="0"/>
                          <a:ea typeface="Calibri" panose="020F0502020204030204" pitchFamily="34" charset="0"/>
                          <a:cs typeface="Calibri" panose="020F0502020204030204" pitchFamily="34" charset="0"/>
                        </a:rPr>
                        <a:t>Gaeilge Laghdaithe</a:t>
                      </a:r>
                      <a:endParaRPr lang="ga-IE"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ó 1990 i leith</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6872226"/>
                  </a:ext>
                </a:extLst>
              </a:tr>
            </a:tbl>
          </a:graphicData>
        </a:graphic>
      </p:graphicFrame>
      <p:sp>
        <p:nvSpPr>
          <p:cNvPr id="5" name="Rectangle 1">
            <a:extLst>
              <a:ext uri="{FF2B5EF4-FFF2-40B4-BE49-F238E27FC236}">
                <a16:creationId xmlns:a16="http://schemas.microsoft.com/office/drawing/2014/main" id="{8C4DDAC8-27DD-4088-A2EC-79F7E447BB22}"/>
              </a:ext>
            </a:extLst>
          </p:cNvPr>
          <p:cNvSpPr>
            <a:spLocks noChangeArrowheads="1"/>
          </p:cNvSpPr>
          <p:nvPr/>
        </p:nvSpPr>
        <p:spPr bwMode="auto">
          <a:xfrm>
            <a:off x="2992438" y="32369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ga-IE" altLang="ga-IE" sz="1800" b="0" i="0" u="none" strike="noStrike" cap="none" normalizeH="0" baseline="0">
                <a:ln>
                  <a:noFill/>
                </a:ln>
                <a:solidFill>
                  <a:schemeClr val="tx1"/>
                </a:solidFill>
                <a:effectLst/>
                <a:latin typeface="Arial" panose="020B0604020202020204" pitchFamily="34" charset="0"/>
              </a:rPr>
            </a:br>
            <a:endParaRPr kumimoji="0" lang="ga-IE" altLang="ga-IE" sz="1800" b="0" i="0" u="none" strike="noStrike" cap="none" normalizeH="0" baseline="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C919563C-6096-4A4A-A915-256842084AB9}"/>
              </a:ext>
            </a:extLst>
          </p:cNvPr>
          <p:cNvSpPr>
            <a:spLocks noChangeArrowheads="1"/>
          </p:cNvSpPr>
          <p:nvPr/>
        </p:nvSpPr>
        <p:spPr bwMode="auto">
          <a:xfrm>
            <a:off x="2501446" y="5949752"/>
            <a:ext cx="4022725" cy="635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ga-IE"/>
          </a:p>
        </p:txBody>
      </p:sp>
      <p:sp>
        <p:nvSpPr>
          <p:cNvPr id="7" name="Rectangle 3">
            <a:extLst>
              <a:ext uri="{FF2B5EF4-FFF2-40B4-BE49-F238E27FC236}">
                <a16:creationId xmlns:a16="http://schemas.microsoft.com/office/drawing/2014/main" id="{10580839-1613-4FDF-80BF-A252EB8746F7}"/>
              </a:ext>
            </a:extLst>
          </p:cNvPr>
          <p:cNvSpPr>
            <a:spLocks noChangeArrowheads="1"/>
          </p:cNvSpPr>
          <p:nvPr/>
        </p:nvSpPr>
        <p:spPr bwMode="auto">
          <a:xfrm>
            <a:off x="1103085" y="6112616"/>
            <a:ext cx="63929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1200" b="0" i="0" u="sng" strike="noStrike" cap="none" normalizeH="0" baseline="30000" dirty="0">
                <a:ln>
                  <a:noFill/>
                </a:ln>
                <a:solidFill>
                  <a:srgbClr val="954F72"/>
                </a:solidFill>
                <a:effectLst/>
                <a:latin typeface="Calibri" panose="020F0502020204030204" pitchFamily="34" charset="0"/>
                <a:ea typeface="Times New Roman" panose="02020603050405020304" pitchFamily="18" charset="0"/>
                <a:cs typeface="Calibri" panose="020F0502020204030204" pitchFamily="34" charset="0"/>
                <a:hlinkClick r:id="rId2"/>
              </a:rPr>
              <a:t>[</a:t>
            </a:r>
            <a:r>
              <a:rPr kumimoji="0" lang="ga-IE" altLang="ga-IE" sz="1200" b="0" i="0" u="sng" strike="noStrike" cap="none" normalizeH="0" baseline="30000" dirty="0" bmk="">
                <a:ln>
                  <a:noFill/>
                </a:ln>
                <a:solidFill>
                  <a:srgbClr val="954F72"/>
                </a:solidFill>
                <a:effectLst/>
                <a:latin typeface="Calibri" panose="020F0502020204030204" pitchFamily="34" charset="0"/>
                <a:ea typeface="Times New Roman" panose="02020603050405020304" pitchFamily="18" charset="0"/>
                <a:cs typeface="Calibri" panose="020F0502020204030204" pitchFamily="34" charset="0"/>
                <a:hlinkClick r:id="rId2"/>
              </a:rPr>
              <a:t>1]</a:t>
            </a:r>
            <a:r>
              <a:rPr kumimoji="0" lang="ga-IE" altLang="ga-IE"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Tá bileog oibre faoin téama ‘An Ghaeilge Laghdaithe’ ar fáil ar an suíomh gréasáin </a:t>
            </a:r>
            <a:r>
              <a:rPr kumimoji="0" lang="ga-IE" altLang="ga-IE"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hlinkClick r:id="rId3"/>
              </a:rPr>
              <a:t>www.ceacht.ie</a:t>
            </a:r>
            <a:r>
              <a:rPr kumimoji="0" lang="en-US" altLang="ga-IE"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hlinkClick r:id="rId3"/>
              </a:rPr>
              <a:t> </a:t>
            </a:r>
            <a:endParaRPr kumimoji="0" lang="en-US" altLang="ga-IE"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(Acmhainní don Ardteist: An Ghaeilge agus an Ghaeltacht: D. An Teanga Laghdaithe)</a:t>
            </a:r>
            <a:endParaRPr kumimoji="0" lang="ga-IE" altLang="ga-IE" sz="1200" b="0" i="0" u="none" strike="noStrike" cap="none" normalizeH="0" baseline="0" dirty="0">
              <a:ln>
                <a:noFill/>
              </a:ln>
              <a:solidFill>
                <a:schemeClr val="tx1"/>
              </a:solidFill>
              <a:effectLst/>
              <a:latin typeface="Arial" panose="020B0604020202020204" pitchFamily="34" charset="0"/>
            </a:endParaRPr>
          </a:p>
        </p:txBody>
      </p:sp>
      <p:sp>
        <p:nvSpPr>
          <p:cNvPr id="9" name="Bosca téacs 8">
            <a:extLst>
              <a:ext uri="{FF2B5EF4-FFF2-40B4-BE49-F238E27FC236}">
                <a16:creationId xmlns:a16="http://schemas.microsoft.com/office/drawing/2014/main" id="{EB337A49-DEC4-42E2-A20B-52DCE2996B53}"/>
              </a:ext>
            </a:extLst>
          </p:cNvPr>
          <p:cNvSpPr txBox="1"/>
          <p:nvPr/>
        </p:nvSpPr>
        <p:spPr>
          <a:xfrm>
            <a:off x="950686" y="870834"/>
            <a:ext cx="10290628" cy="736355"/>
          </a:xfrm>
          <a:prstGeom prst="rect">
            <a:avLst/>
          </a:prstGeom>
          <a:noFill/>
        </p:spPr>
        <p:txBody>
          <a:bodyPr wrap="square">
            <a:spAutoFit/>
          </a:bodyPr>
          <a:lstStyle/>
          <a:p>
            <a:pPr>
              <a:lnSpc>
                <a:spcPct val="107000"/>
              </a:lnSpc>
              <a:spcAft>
                <a:spcPts val="800"/>
              </a:spcAft>
            </a:pPr>
            <a:r>
              <a:rPr lang="ga-IE" sz="1100" dirty="0">
                <a:effectLst/>
                <a:latin typeface="Calibri" panose="020F0502020204030204" pitchFamily="34" charset="0"/>
                <a:ea typeface="Calibri" panose="020F0502020204030204" pitchFamily="34" charset="0"/>
                <a:cs typeface="Calibri" panose="020F0502020204030204" pitchFamily="34" charset="0"/>
              </a:rPr>
              <a:t>“</a:t>
            </a:r>
            <a:r>
              <a:rPr lang="ga-IE" sz="2000" dirty="0">
                <a:effectLst/>
                <a:latin typeface="Calibri" panose="020F0502020204030204" pitchFamily="34" charset="0"/>
                <a:ea typeface="Calibri" panose="020F0502020204030204" pitchFamily="34" charset="0"/>
                <a:cs typeface="Calibri" panose="020F0502020204030204" pitchFamily="34" charset="0"/>
              </a:rPr>
              <a:t>Ar mhaithe le bunús na hanailíse ar an nGaeilge a éascú, is féidir trí ré teanga a chríochnú sa chointeanóid ama ó thús an fichiú haois go tús an aonú haois is fiche.” (Ó Curnáin, 2012: 102”)</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Bosca téacs 10">
            <a:extLst>
              <a:ext uri="{FF2B5EF4-FFF2-40B4-BE49-F238E27FC236}">
                <a16:creationId xmlns:a16="http://schemas.microsoft.com/office/drawing/2014/main" id="{42C1B1ED-FA3C-4BFA-809F-EABD233B4DF0}"/>
              </a:ext>
            </a:extLst>
          </p:cNvPr>
          <p:cNvSpPr txBox="1"/>
          <p:nvPr/>
        </p:nvSpPr>
        <p:spPr>
          <a:xfrm>
            <a:off x="537030" y="1711941"/>
            <a:ext cx="10704284" cy="1397947"/>
          </a:xfrm>
          <a:prstGeom prst="rect">
            <a:avLst/>
          </a:prstGeom>
          <a:noFill/>
        </p:spPr>
        <p:txBody>
          <a:bodyPr wrap="square">
            <a:spAutoFit/>
          </a:bodyPr>
          <a:lstStyle/>
          <a:p>
            <a:pPr algn="just">
              <a:lnSpc>
                <a:spcPct val="107000"/>
              </a:lnSpc>
              <a:spcAft>
                <a:spcPts val="800"/>
              </a:spcAft>
            </a:pPr>
            <a:r>
              <a:rPr lang="ga-IE" sz="1600" dirty="0">
                <a:effectLst/>
                <a:latin typeface="Calibri" panose="020F0502020204030204" pitchFamily="34" charset="0"/>
                <a:ea typeface="Calibri" panose="020F0502020204030204" pitchFamily="34" charset="0"/>
                <a:cs typeface="Calibri" panose="020F0502020204030204" pitchFamily="34" charset="0"/>
              </a:rPr>
              <a:t>Is léir go bhfuil </a:t>
            </a:r>
            <a:r>
              <a:rPr lang="ga-IE" sz="1600" b="1" dirty="0">
                <a:effectLst/>
                <a:latin typeface="Calibri" panose="020F0502020204030204" pitchFamily="34" charset="0"/>
                <a:ea typeface="Calibri" panose="020F0502020204030204" pitchFamily="34" charset="0"/>
                <a:cs typeface="Calibri" panose="020F0502020204030204" pitchFamily="34" charset="0"/>
              </a:rPr>
              <a:t>Gaeilge na Gaeltachta</a:t>
            </a:r>
            <a:r>
              <a:rPr lang="ga-IE" sz="1600" dirty="0">
                <a:effectLst/>
                <a:latin typeface="Calibri" panose="020F0502020204030204" pitchFamily="34" charset="0"/>
                <a:ea typeface="Calibri" panose="020F0502020204030204" pitchFamily="34" charset="0"/>
                <a:cs typeface="Calibri" panose="020F0502020204030204" pitchFamily="34" charset="0"/>
              </a:rPr>
              <a:t> ag athrú go mór. Má tá tú ag iarraidh a bheith dearfach seans go ndéarfá gur ‘éabhlóid’ atá ann. “Bíonn an fhírinne searbh”, áfach, agus dar le formhór na saineolaithe, tá ‘creimeadh’ ar siúl. Tá anailís déanta ag Ó Curnáin agus Lenoach ar phatrúin chainte réimse leathan cainteoirí de bhunadh na Gaeltachta. Chum Ó Curnáin téarmaí spéisiúla le cur síos dhéanamh ar an difear idir an Ghaeilge atá ag daoine a tháinig ar an saol ag amanna difriúla. Clúdaíonn an difear sin gach rud a bhaineann le cumas teanga: </a:t>
            </a:r>
            <a:r>
              <a:rPr lang="ga-IE" sz="1600" b="1" dirty="0">
                <a:effectLst/>
                <a:latin typeface="Calibri" panose="020F0502020204030204" pitchFamily="34" charset="0"/>
                <a:ea typeface="Calibri" panose="020F0502020204030204" pitchFamily="34" charset="0"/>
                <a:cs typeface="Calibri" panose="020F0502020204030204" pitchFamily="34" charset="0"/>
              </a:rPr>
              <a:t>foghraíocht; stór focal; gramadach; códmheascadh/códmhalartú</a:t>
            </a:r>
            <a:r>
              <a:rPr lang="ga-IE" sz="1600" dirty="0">
                <a:effectLst/>
                <a:latin typeface="Calibri" panose="020F0502020204030204" pitchFamily="34" charset="0"/>
                <a:ea typeface="Calibri" panose="020F0502020204030204" pitchFamily="34" charset="0"/>
                <a:cs typeface="Calibri" panose="020F0502020204030204" pitchFamily="34" charset="0"/>
              </a:rPr>
              <a:t>.</a:t>
            </a:r>
            <a:endParaRPr lang="ga-IE"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221410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iúr 1" descr="Béarla le díbirt ó naíonáin na Gaeltachta agus polasaí oideachais nua  seolta ag an Taoiseach – Tuairisc.ie">
            <a:extLst>
              <a:ext uri="{FF2B5EF4-FFF2-40B4-BE49-F238E27FC236}">
                <a16:creationId xmlns:a16="http://schemas.microsoft.com/office/drawing/2014/main" id="{4AD5A9CE-A19E-4D08-89A3-6B750BC035C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0421" y="1371507"/>
            <a:ext cx="2648721" cy="4172950"/>
          </a:xfrm>
          <a:prstGeom prst="rect">
            <a:avLst/>
          </a:prstGeom>
          <a:noFill/>
          <a:ln>
            <a:noFill/>
          </a:ln>
        </p:spPr>
      </p:pic>
      <p:sp>
        <p:nvSpPr>
          <p:cNvPr id="4" name="Bosca téacs 3">
            <a:extLst>
              <a:ext uri="{FF2B5EF4-FFF2-40B4-BE49-F238E27FC236}">
                <a16:creationId xmlns:a16="http://schemas.microsoft.com/office/drawing/2014/main" id="{A440B175-14D4-4E39-BADA-0A1722B297A9}"/>
              </a:ext>
            </a:extLst>
          </p:cNvPr>
          <p:cNvSpPr txBox="1"/>
          <p:nvPr/>
        </p:nvSpPr>
        <p:spPr>
          <a:xfrm>
            <a:off x="3389220" y="725619"/>
            <a:ext cx="7583579" cy="506292"/>
          </a:xfrm>
          <a:prstGeom prst="rect">
            <a:avLst/>
          </a:prstGeom>
          <a:noFill/>
        </p:spPr>
        <p:txBody>
          <a:bodyPr wrap="square">
            <a:spAutoFit/>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“An chéad pholasaí dá leithéid ó bhunú an stáit</a:t>
            </a:r>
            <a:r>
              <a:rPr lang="ga-IE" sz="2000" dirty="0">
                <a:effectLst/>
                <a:latin typeface="Calibri" panose="020F0502020204030204" pitchFamily="34" charset="0"/>
                <a:ea typeface="Calibri" panose="020F0502020204030204" pitchFamily="34" charset="0"/>
                <a:cs typeface="Calibri" panose="020F0502020204030204" pitchFamily="34" charset="0"/>
              </a:rPr>
              <a:t>.” (</a:t>
            </a:r>
            <a:r>
              <a:rPr lang="ga-IE" sz="2000" dirty="0" err="1">
                <a:effectLst/>
                <a:latin typeface="Calibri" panose="020F0502020204030204" pitchFamily="34" charset="0"/>
                <a:ea typeface="Calibri" panose="020F0502020204030204" pitchFamily="34" charset="0"/>
                <a:cs typeface="Calibri" panose="020F0502020204030204" pitchFamily="34" charset="0"/>
              </a:rPr>
              <a:t>Enda</a:t>
            </a:r>
            <a:r>
              <a:rPr lang="ga-IE" sz="2000" dirty="0">
                <a:effectLst/>
                <a:latin typeface="Calibri" panose="020F0502020204030204" pitchFamily="34" charset="0"/>
                <a:ea typeface="Calibri" panose="020F0502020204030204" pitchFamily="34" charset="0"/>
                <a:cs typeface="Calibri" panose="020F0502020204030204" pitchFamily="34" charset="0"/>
              </a:rPr>
              <a:t> Kenny, 2016)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Bosca téacs 5">
            <a:extLst>
              <a:ext uri="{FF2B5EF4-FFF2-40B4-BE49-F238E27FC236}">
                <a16:creationId xmlns:a16="http://schemas.microsoft.com/office/drawing/2014/main" id="{95F4B594-1D8C-4E43-B552-DC3CF857C3D2}"/>
              </a:ext>
            </a:extLst>
          </p:cNvPr>
          <p:cNvSpPr txBox="1"/>
          <p:nvPr/>
        </p:nvSpPr>
        <p:spPr>
          <a:xfrm>
            <a:off x="2728686" y="1693634"/>
            <a:ext cx="9223828" cy="4234749"/>
          </a:xfrm>
          <a:prstGeom prst="rect">
            <a:avLst/>
          </a:prstGeom>
          <a:noFill/>
        </p:spPr>
        <p:txBody>
          <a:bodyPr wrap="square">
            <a:spAutoFit/>
          </a:bodyPr>
          <a:lstStyle/>
          <a:p>
            <a:pPr marL="457200" algn="just">
              <a:lnSpc>
                <a:spcPct val="107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Is í sprioc uileghabhálach an Polasaí don Oideachas Gaeltachta a chinntiú go bhfuil eispéireas oideachais ardchaighdeáin agus ábhartha trí mheán na Gaeilge ar fáil do na daoine óga uile atá ina gcónaí i limistéir Ghaeltachta agus, ar an mbealach seo, tacú le húsáid na Gaeilge mar phríomhtheanga na dteaghlach agus na bpobal Gaeltachta. (Lch. 7)</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ga-IE" sz="2000" dirty="0">
                <a:effectLst/>
                <a:latin typeface="Calibri" panose="020F0502020204030204" pitchFamily="34" charset="0"/>
                <a:ea typeface="Calibri" panose="020F0502020204030204" pitchFamily="34" charset="0"/>
                <a:cs typeface="Calibri" panose="020F0502020204030204" pitchFamily="34" charset="0"/>
              </a:rPr>
              <a:t>Faoin bPolasaí, tabharfar cuireadh do scoileanna </a:t>
            </a:r>
            <a:r>
              <a:rPr lang="ga-IE" sz="2000" b="1" dirty="0">
                <a:effectLst/>
                <a:latin typeface="Calibri" panose="020F0502020204030204" pitchFamily="34" charset="0"/>
                <a:ea typeface="Calibri" panose="020F0502020204030204" pitchFamily="34" charset="0"/>
                <a:cs typeface="Calibri" panose="020F0502020204030204" pitchFamily="34" charset="0"/>
              </a:rPr>
              <a:t>aitheantas a lorg mar scoil Ghaeltachta</a:t>
            </a:r>
            <a:r>
              <a:rPr lang="ga-IE" sz="2000" dirty="0">
                <a:effectLst/>
                <a:latin typeface="Calibri" panose="020F0502020204030204" pitchFamily="34" charset="0"/>
                <a:ea typeface="Calibri" panose="020F0502020204030204" pitchFamily="34" charset="0"/>
                <a:cs typeface="Calibri" panose="020F0502020204030204" pitchFamily="34" charset="0"/>
              </a:rPr>
              <a:t>. Chun aitheantas a bhaint amach mar scoil Ghaeltachta, beidh ar scoileanna </a:t>
            </a:r>
            <a:r>
              <a:rPr lang="ga-IE" sz="2000" b="1" dirty="0">
                <a:effectLst/>
                <a:latin typeface="Calibri" panose="020F0502020204030204" pitchFamily="34" charset="0"/>
                <a:ea typeface="Calibri" panose="020F0502020204030204" pitchFamily="34" charset="0"/>
                <a:cs typeface="Calibri" panose="020F0502020204030204" pitchFamily="34" charset="0"/>
              </a:rPr>
              <a:t>feidhmiú go hiomlán trí mheán na Gaeilge</a:t>
            </a:r>
            <a:r>
              <a:rPr lang="ga-IE" sz="2000" dirty="0">
                <a:effectLst/>
                <a:latin typeface="Calibri" panose="020F0502020204030204" pitchFamily="34" charset="0"/>
                <a:ea typeface="Calibri" panose="020F0502020204030204" pitchFamily="34" charset="0"/>
                <a:cs typeface="Calibri" panose="020F0502020204030204" pitchFamily="34" charset="0"/>
              </a:rPr>
              <a:t>, (seachas an curaclam don Bhéarla agus teangacha eile), i gcomhréir leis na </a:t>
            </a:r>
            <a:r>
              <a:rPr lang="ga-IE" sz="2000" b="1" dirty="0">
                <a:effectLst/>
                <a:latin typeface="Calibri" panose="020F0502020204030204" pitchFamily="34" charset="0"/>
                <a:ea typeface="Calibri" panose="020F0502020204030204" pitchFamily="34" charset="0"/>
                <a:cs typeface="Calibri" panose="020F0502020204030204" pitchFamily="34" charset="0"/>
              </a:rPr>
              <a:t>critéir theanga-bhunaithe</a:t>
            </a:r>
            <a:r>
              <a:rPr lang="ga-IE" sz="2000" dirty="0">
                <a:effectLst/>
                <a:latin typeface="Calibri" panose="020F0502020204030204" pitchFamily="34" charset="0"/>
                <a:ea typeface="Calibri" panose="020F0502020204030204" pitchFamily="34" charset="0"/>
                <a:cs typeface="Calibri" panose="020F0502020204030204" pitchFamily="34" charset="0"/>
              </a:rPr>
              <a:t> a leagtar amach i dTábla 1 den Pholasaí seo. Mar shampla, déanfaidh na scoileanna Gaeltachta: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350755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8E8F03CF-70B1-4D33-B91E-83EC524214D2}"/>
              </a:ext>
            </a:extLst>
          </p:cNvPr>
          <p:cNvSpPr txBox="1"/>
          <p:nvPr/>
        </p:nvSpPr>
        <p:spPr>
          <a:xfrm>
            <a:off x="3026228" y="951495"/>
            <a:ext cx="8222343" cy="4688206"/>
          </a:xfrm>
          <a:prstGeom prst="rect">
            <a:avLst/>
          </a:prstGeom>
          <a:noFill/>
        </p:spPr>
        <p:txBody>
          <a:bodyPr wrap="square">
            <a:spAutoFit/>
          </a:bodyPr>
          <a:lstStyle/>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r>
              <a:rPr kumimoji="0" lang="ga-IE"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Clár lántumtha dhá bhliain a chur i bhfeidhm sa tsraith naíonán sna bunscoileanna Gaeltachta uile, nach múinfear Béarla ar bith lena linn;</a:t>
            </a:r>
            <a:endParaRPr kumimoji="0" lang="ga-IE"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r>
              <a:rPr kumimoji="0" lang="ga-IE"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Leathnú a dhéanamh ar an bhfáil ar churaclam iomlán trí Ghaeilge do scoláirí in iar</a:t>
            </a:r>
            <a:r>
              <a:rPr kumimoji="0" lang="en-IE"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t>
            </a:r>
            <a:r>
              <a:rPr kumimoji="0" lang="ga-IE"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bhunscoileanna sa Ghaeltacht trí ghluaiseacht i dtreo cur chuige lántumtha ina múinfear na hábhair uile, seachas an curaclam don Bhéarla agus teangacha eile, trí Ghaeilge;</a:t>
            </a:r>
            <a:endParaRPr kumimoji="0" lang="ga-IE"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r>
              <a:rPr kumimoji="0" lang="ga-IE"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Aird ar leith a dhíriú ar riachtanais teanga idirdhealaithe na gcainteoirí dúchais Gaeilge chomh maith le foghlaimeoirí Gaeilge; </a:t>
            </a:r>
            <a:endParaRPr kumimoji="0" lang="ga-IE"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r>
              <a:rPr kumimoji="0" lang="ga-IE"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Comhdheiseanna a sholáthar dóibh siúd i scoileanna Gaeltachta iargúlta trí chláir ar líne agus foghlama cumaisc;</a:t>
            </a:r>
            <a:endParaRPr kumimoji="0" lang="ga-IE"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r>
              <a:rPr kumimoji="0" lang="ga-IE"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Tacú lena bpobal scoile sa phróiseas pleanála teanga trí chuidiú le húsáid agus cothabháil na Gaeilge sa scoil agus sa phobal áitiúil Gaeltachta;</a:t>
            </a:r>
            <a:endParaRPr kumimoji="0" lang="ga-IE"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lnSpc>
                <a:spcPct val="107000"/>
              </a:lnSpc>
              <a:spcBef>
                <a:spcPts val="0"/>
              </a:spcBef>
              <a:spcAft>
                <a:spcPts val="800"/>
              </a:spcAft>
              <a:buClrTx/>
              <a:buSzTx/>
              <a:buFont typeface="Symbol" panose="05050102010706020507" pitchFamily="18" charset="2"/>
              <a:buChar char=""/>
              <a:tabLst/>
              <a:defRPr/>
            </a:pPr>
            <a:r>
              <a:rPr kumimoji="0" lang="ga-IE"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Páirt a ghlacadh sa phróiseas pleanála teanga, mar a leagtar amach faoi Acht na Gaeltachta, 2012. (Lch. 8)</a:t>
            </a:r>
            <a:endParaRPr kumimoji="0" lang="ga-IE"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iúr 3">
            <a:extLst>
              <a:ext uri="{FF2B5EF4-FFF2-40B4-BE49-F238E27FC236}">
                <a16:creationId xmlns:a16="http://schemas.microsoft.com/office/drawing/2014/main" id="{19D0976B-1B1D-4C2D-A78B-9E4D25243AB9}"/>
              </a:ext>
            </a:extLst>
          </p:cNvPr>
          <p:cNvPicPr>
            <a:picLocks noChangeAspect="1"/>
          </p:cNvPicPr>
          <p:nvPr/>
        </p:nvPicPr>
        <p:blipFill>
          <a:blip r:embed="rId2"/>
          <a:stretch>
            <a:fillRect/>
          </a:stretch>
        </p:blipFill>
        <p:spPr>
          <a:xfrm>
            <a:off x="186539" y="1062394"/>
            <a:ext cx="2645893" cy="4176122"/>
          </a:xfrm>
          <a:prstGeom prst="rect">
            <a:avLst/>
          </a:prstGeom>
        </p:spPr>
      </p:pic>
    </p:spTree>
    <p:extLst>
      <p:ext uri="{BB962C8B-B14F-4D97-AF65-F5344CB8AC3E}">
        <p14:creationId xmlns:p14="http://schemas.microsoft.com/office/powerpoint/2010/main" val="14674752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A0708F51-BDA9-4825-B3FA-37D78E5FDE5A}"/>
              </a:ext>
            </a:extLst>
          </p:cNvPr>
          <p:cNvSpPr txBox="1"/>
          <p:nvPr/>
        </p:nvSpPr>
        <p:spPr>
          <a:xfrm>
            <a:off x="731108" y="270003"/>
            <a:ext cx="10729783" cy="6367192"/>
          </a:xfrm>
          <a:prstGeom prst="rect">
            <a:avLst/>
          </a:prstGeom>
          <a:noFill/>
        </p:spPr>
        <p:txBody>
          <a:bodyPr wrap="square">
            <a:spAutoFit/>
          </a:bodyPr>
          <a:lstStyle/>
          <a:p>
            <a:pPr algn="ctr">
              <a:lnSpc>
                <a:spcPct val="107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Cad is brí leis an téarma ‘pleanáil teanga’?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modhanna pleanáilte faoina ndéantar iarracht</a:t>
            </a: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tionchar a imirt ar an teanga a labhraítear in aon phobal faoi leith.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cnuasach smaointe, dlíthe, rialachán agus cleachtas atá ann chun athrú pleanáilte maidir le húsáid teanga i bpobal faoi leith a bhaint amach</a:t>
            </a: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ga-IE" sz="20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Is é an sprioc atá ag an phleanáil teanga sa chás seo ná </a:t>
            </a:r>
            <a:r>
              <a:rPr lang="ga-IE" sz="20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lucht labhartha na Gaeilge a mhéadú agus buanú a dhéanamh ar úsáid na Gaeilge mar theanga teaghlaigh agus mar theanga pobail. </a:t>
            </a:r>
            <a:endParaRPr lang="ga-IE" sz="20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ga-IE" sz="18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IE" sz="18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ga-IE" sz="2000" dirty="0">
                <a:solidFill>
                  <a:srgbClr val="FF0000"/>
                </a:solidFill>
                <a:latin typeface="Calibri" panose="020F0502020204030204" pitchFamily="34" charset="0"/>
                <a:ea typeface="Calibri" panose="020F0502020204030204" pitchFamily="34" charset="0"/>
                <a:cs typeface="Calibri" panose="020F0502020204030204" pitchFamily="34" charset="0"/>
              </a:rPr>
              <a:t>Foinse:</a:t>
            </a:r>
            <a:endParaRPr lang="ga-IE" sz="2000" u="sng" dirty="0">
              <a:solidFill>
                <a:srgbClr val="0000FF"/>
              </a:solidFill>
              <a:effectLst/>
              <a:latin typeface="Calibri" panose="020F0502020204030204" pitchFamily="34" charset="0"/>
              <a:ea typeface="Times New Roman" panose="02020603050405020304" pitchFamily="18" charset="0"/>
              <a:hlinkClick r:id="rId2"/>
            </a:endParaRPr>
          </a:p>
          <a:p>
            <a:pPr algn="just">
              <a:lnSpc>
                <a:spcPct val="150000"/>
              </a:lnSpc>
              <a:spcAft>
                <a:spcPts val="800"/>
              </a:spcAft>
            </a:pPr>
            <a:endParaRPr lang="en-IE" sz="2000" u="sng" dirty="0">
              <a:solidFill>
                <a:srgbClr val="0000FF"/>
              </a:solidFill>
              <a:latin typeface="Calibri" panose="020F0502020204030204" pitchFamily="34" charset="0"/>
              <a:ea typeface="Times New Roman" panose="02020603050405020304" pitchFamily="18" charset="0"/>
              <a:hlinkClick r:id="rId2"/>
            </a:endParaRPr>
          </a:p>
          <a:p>
            <a:pPr algn="just">
              <a:lnSpc>
                <a:spcPct val="150000"/>
              </a:lnSpc>
              <a:spcAft>
                <a:spcPts val="800"/>
              </a:spcAft>
            </a:pPr>
            <a:endParaRPr lang="en-IE" sz="2000" u="sng" dirty="0">
              <a:solidFill>
                <a:srgbClr val="0000FF"/>
              </a:solidFill>
              <a:effectLst/>
              <a:latin typeface="Calibri" panose="020F0502020204030204" pitchFamily="34" charset="0"/>
              <a:ea typeface="Times New Roman" panose="02020603050405020304" pitchFamily="18" charset="0"/>
              <a:hlinkClick r:id="rId2"/>
            </a:endParaRPr>
          </a:p>
          <a:p>
            <a:pPr algn="just">
              <a:lnSpc>
                <a:spcPct val="150000"/>
              </a:lnSpc>
              <a:spcAft>
                <a:spcPts val="800"/>
              </a:spcAft>
            </a:pPr>
            <a:endParaRPr lang="en-IE" sz="2000" u="sng" dirty="0">
              <a:solidFill>
                <a:srgbClr val="0000FF"/>
              </a:solidFill>
              <a:effectLst/>
              <a:latin typeface="Calibri" panose="020F0502020204030204" pitchFamily="34" charset="0"/>
              <a:ea typeface="Times New Roman" panose="02020603050405020304" pitchFamily="18" charset="0"/>
              <a:hlinkClick r:id="rId2"/>
            </a:endParaRPr>
          </a:p>
          <a:p>
            <a:pPr algn="ctr">
              <a:lnSpc>
                <a:spcPct val="150000"/>
              </a:lnSpc>
              <a:spcAft>
                <a:spcPts val="800"/>
              </a:spcAft>
            </a:pPr>
            <a:endParaRPr lang="en-IE" sz="1400" u="sng" dirty="0">
              <a:solidFill>
                <a:srgbClr val="0000FF"/>
              </a:solidFill>
              <a:effectLst/>
              <a:latin typeface="Calibri" panose="020F0502020204030204" pitchFamily="34" charset="0"/>
              <a:ea typeface="Times New Roman" panose="02020603050405020304" pitchFamily="18" charset="0"/>
              <a:hlinkClick r:id="rId2"/>
            </a:endParaRPr>
          </a:p>
          <a:p>
            <a:pPr algn="ctr">
              <a:lnSpc>
                <a:spcPct val="150000"/>
              </a:lnSpc>
              <a:spcAft>
                <a:spcPts val="800"/>
              </a:spcAft>
            </a:pPr>
            <a:endParaRPr lang="en-IE" sz="1400" b="1" u="sng" dirty="0">
              <a:solidFill>
                <a:srgbClr val="0000FF"/>
              </a:solidFill>
              <a:effectLst/>
              <a:latin typeface="Calibri" panose="020F0502020204030204" pitchFamily="34" charset="0"/>
              <a:ea typeface="Times New Roman" panose="02020603050405020304" pitchFamily="18" charset="0"/>
              <a:hlinkClick r:id="rId2"/>
            </a:endParaRPr>
          </a:p>
          <a:p>
            <a:pPr algn="ctr">
              <a:lnSpc>
                <a:spcPct val="150000"/>
              </a:lnSpc>
              <a:spcAft>
                <a:spcPts val="800"/>
              </a:spcAft>
            </a:pPr>
            <a:r>
              <a:rPr lang="en-IE" sz="1400" b="1" u="sng" dirty="0">
                <a:solidFill>
                  <a:srgbClr val="0000FF"/>
                </a:solidFill>
                <a:effectLst/>
                <a:latin typeface="Calibri" panose="020F0502020204030204" pitchFamily="34" charset="0"/>
                <a:ea typeface="Times New Roman" panose="02020603050405020304" pitchFamily="18" charset="0"/>
                <a:hlinkClick r:id="rId2"/>
              </a:rPr>
              <a:t>https://www.gov.ie/ga/foilsiuchan/treoirlinte-pleanala-teang/</a:t>
            </a:r>
            <a:r>
              <a:rPr lang="en-IE" sz="1400" b="1" dirty="0">
                <a:effectLst/>
                <a:latin typeface="Calibri" panose="020F0502020204030204" pitchFamily="34" charset="0"/>
                <a:ea typeface="Times New Roman" panose="02020603050405020304" pitchFamily="18" charset="0"/>
                <a:hlinkClick r:id="rId2"/>
              </a:rPr>
              <a:t> </a:t>
            </a:r>
            <a:endParaRPr lang="ga-IE" sz="1400" b="1" dirty="0">
              <a:effectLst/>
              <a:latin typeface="Times New Roman" panose="02020603050405020304" pitchFamily="18" charset="0"/>
              <a:ea typeface="Times New Roman" panose="02020603050405020304" pitchFamily="18" charset="0"/>
            </a:endParaRPr>
          </a:p>
        </p:txBody>
      </p:sp>
      <p:pic>
        <p:nvPicPr>
          <p:cNvPr id="4" name="Pictiúr 3">
            <a:extLst>
              <a:ext uri="{FF2B5EF4-FFF2-40B4-BE49-F238E27FC236}">
                <a16:creationId xmlns:a16="http://schemas.microsoft.com/office/drawing/2014/main" id="{35EBFF54-5BA9-4F4E-BC61-DE0EB3142440}"/>
              </a:ext>
            </a:extLst>
          </p:cNvPr>
          <p:cNvPicPr>
            <a:picLocks noChangeAspect="1"/>
          </p:cNvPicPr>
          <p:nvPr/>
        </p:nvPicPr>
        <p:blipFill>
          <a:blip r:embed="rId3"/>
          <a:stretch>
            <a:fillRect/>
          </a:stretch>
        </p:blipFill>
        <p:spPr>
          <a:xfrm>
            <a:off x="4501978" y="3315496"/>
            <a:ext cx="1762898" cy="2761874"/>
          </a:xfrm>
          <a:prstGeom prst="rect">
            <a:avLst/>
          </a:prstGeom>
        </p:spPr>
      </p:pic>
    </p:spTree>
    <p:extLst>
      <p:ext uri="{BB962C8B-B14F-4D97-AF65-F5344CB8AC3E}">
        <p14:creationId xmlns:p14="http://schemas.microsoft.com/office/powerpoint/2010/main" val="4377198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iúr 1">
            <a:extLst>
              <a:ext uri="{FF2B5EF4-FFF2-40B4-BE49-F238E27FC236}">
                <a16:creationId xmlns:a16="http://schemas.microsoft.com/office/drawing/2014/main" id="{DF2662EC-A6FC-4E96-A8DB-60B8C41C44C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7807" y="978498"/>
            <a:ext cx="7793810" cy="5126722"/>
          </a:xfrm>
          <a:prstGeom prst="rect">
            <a:avLst/>
          </a:prstGeom>
          <a:noFill/>
          <a:ln>
            <a:noFill/>
          </a:ln>
        </p:spPr>
      </p:pic>
      <p:sp>
        <p:nvSpPr>
          <p:cNvPr id="4" name="Bosca téacs 3">
            <a:extLst>
              <a:ext uri="{FF2B5EF4-FFF2-40B4-BE49-F238E27FC236}">
                <a16:creationId xmlns:a16="http://schemas.microsoft.com/office/drawing/2014/main" id="{BD8E9604-E84C-4BDA-9740-2AD0648BF478}"/>
              </a:ext>
            </a:extLst>
          </p:cNvPr>
          <p:cNvSpPr txBox="1"/>
          <p:nvPr/>
        </p:nvSpPr>
        <p:spPr>
          <a:xfrm>
            <a:off x="2307771" y="246743"/>
            <a:ext cx="6096000" cy="506292"/>
          </a:xfrm>
          <a:prstGeom prst="rect">
            <a:avLst/>
          </a:prstGeom>
          <a:noFill/>
        </p:spPr>
        <p:txBody>
          <a:bodyPr wrap="square">
            <a:spAutoFit/>
          </a:bodyPr>
          <a:lstStyle/>
          <a:p>
            <a:pPr algn="ctr">
              <a:lnSpc>
                <a:spcPct val="150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Pleanáil Teanga</a:t>
            </a:r>
            <a:endParaRPr lang="ga-IE"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095195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iúr 8">
            <a:extLst>
              <a:ext uri="{FF2B5EF4-FFF2-40B4-BE49-F238E27FC236}">
                <a16:creationId xmlns:a16="http://schemas.microsoft.com/office/drawing/2014/main" id="{F720961E-7F6A-48F9-AF54-BB58D7837F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915" y="101601"/>
            <a:ext cx="11575142" cy="6545942"/>
          </a:xfrm>
          <a:prstGeom prst="rect">
            <a:avLst/>
          </a:prstGeom>
        </p:spPr>
      </p:pic>
    </p:spTree>
    <p:extLst>
      <p:ext uri="{BB962C8B-B14F-4D97-AF65-F5344CB8AC3E}">
        <p14:creationId xmlns:p14="http://schemas.microsoft.com/office/powerpoint/2010/main" val="12712081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AD40FC43-77B9-4EBF-A3EE-63A74CD2E4BC}"/>
              </a:ext>
            </a:extLst>
          </p:cNvPr>
          <p:cNvSpPr txBox="1"/>
          <p:nvPr/>
        </p:nvSpPr>
        <p:spPr>
          <a:xfrm>
            <a:off x="386217" y="380538"/>
            <a:ext cx="11292112" cy="1692771"/>
          </a:xfrm>
          <a:prstGeom prst="rect">
            <a:avLst/>
          </a:prstGeom>
          <a:noFill/>
        </p:spPr>
        <p:txBody>
          <a:bodyPr wrap="square">
            <a:spAutoFit/>
          </a:bodyPr>
          <a:lstStyle/>
          <a:p>
            <a:pPr algn="ctr"/>
            <a:r>
              <a:rPr lang="ga-IE" sz="3200" b="1" dirty="0">
                <a:effectLst/>
                <a:ea typeface="Times New Roman" panose="02020603050405020304" pitchFamily="18" charset="0"/>
              </a:rPr>
              <a:t>Acht na Gaeltachta 2012   </a:t>
            </a:r>
          </a:p>
          <a:p>
            <a:pPr marL="457200" algn="just"/>
            <a:endParaRPr lang="en-IE" sz="2000" dirty="0">
              <a:effectLst/>
              <a:ea typeface="Times New Roman" panose="02020603050405020304" pitchFamily="18" charset="0"/>
            </a:endParaRPr>
          </a:p>
          <a:p>
            <a:pPr marL="457200" algn="just"/>
            <a:r>
              <a:rPr lang="ga-IE" sz="2000" dirty="0">
                <a:effectLst/>
                <a:ea typeface="Times New Roman" panose="02020603050405020304" pitchFamily="18" charset="0"/>
              </a:rPr>
              <a:t>“Faoin Acht, tá sé i gceist go mbeidh an Ghaeltacht bunaithe feasta ar </a:t>
            </a:r>
            <a:r>
              <a:rPr lang="ga-IE" sz="2000" b="1" dirty="0">
                <a:effectLst/>
                <a:ea typeface="Times New Roman" panose="02020603050405020304" pitchFamily="18" charset="0"/>
              </a:rPr>
              <a:t>chritéir theangeolaíochta seachas ar limistéir thíreolaíochta</a:t>
            </a:r>
            <a:r>
              <a:rPr lang="ga-IE" sz="2000" dirty="0">
                <a:effectLst/>
                <a:ea typeface="Times New Roman" panose="02020603050405020304" pitchFamily="18" charset="0"/>
              </a:rPr>
              <a:t> mar a bhí roimhe seo.</a:t>
            </a:r>
            <a:r>
              <a:rPr lang="en-IE" sz="2000" dirty="0">
                <a:effectLst/>
                <a:ea typeface="Times New Roman" panose="02020603050405020304" pitchFamily="18" charset="0"/>
              </a:rPr>
              <a:t>” </a:t>
            </a:r>
            <a:r>
              <a:rPr lang="ga-IE" sz="2000" dirty="0">
                <a:effectLst/>
                <a:ea typeface="Times New Roman" panose="02020603050405020304" pitchFamily="18" charset="0"/>
              </a:rPr>
              <a:t>(Mac Fhionnlaoich, 2012)</a:t>
            </a:r>
          </a:p>
          <a:p>
            <a:r>
              <a:rPr lang="en-IE" sz="1200" dirty="0">
                <a:effectLst/>
                <a:ea typeface="Times New Roman" panose="02020603050405020304" pitchFamily="18" charset="0"/>
              </a:rPr>
              <a:t>              Donnchadh Mac </a:t>
            </a:r>
            <a:r>
              <a:rPr lang="en-IE" sz="1200" dirty="0" err="1">
                <a:effectLst/>
                <a:ea typeface="Times New Roman" panose="02020603050405020304" pitchFamily="18" charset="0"/>
              </a:rPr>
              <a:t>Fhionnlaoich</a:t>
            </a:r>
            <a:r>
              <a:rPr lang="en-IE" sz="1200" dirty="0">
                <a:effectLst/>
                <a:ea typeface="Times New Roman" panose="02020603050405020304" pitchFamily="18" charset="0"/>
              </a:rPr>
              <a:t>/</a:t>
            </a:r>
            <a:r>
              <a:rPr lang="en-IE" sz="1200" dirty="0" err="1">
                <a:effectLst/>
                <a:ea typeface="Times New Roman" panose="02020603050405020304" pitchFamily="18" charset="0"/>
              </a:rPr>
              <a:t>Dinny</a:t>
            </a:r>
            <a:r>
              <a:rPr lang="en-IE" sz="1200" dirty="0">
                <a:effectLst/>
                <a:ea typeface="Times New Roman" panose="02020603050405020304" pitchFamily="18" charset="0"/>
              </a:rPr>
              <a:t> McGinley T.D. </a:t>
            </a:r>
            <a:r>
              <a:rPr lang="en-IE" sz="1200" dirty="0" err="1">
                <a:effectLst/>
                <a:ea typeface="Times New Roman" panose="02020603050405020304" pitchFamily="18" charset="0"/>
              </a:rPr>
              <a:t>Iar</a:t>
            </a:r>
            <a:r>
              <a:rPr lang="en-IE" sz="1200" dirty="0">
                <a:effectLst/>
                <a:ea typeface="Times New Roman" panose="02020603050405020304" pitchFamily="18" charset="0"/>
              </a:rPr>
              <a:t>-Aire </a:t>
            </a:r>
            <a:r>
              <a:rPr lang="en-IE" sz="1200" dirty="0" err="1">
                <a:effectLst/>
                <a:ea typeface="Times New Roman" panose="02020603050405020304" pitchFamily="18" charset="0"/>
              </a:rPr>
              <a:t>Stáit</a:t>
            </a:r>
            <a:r>
              <a:rPr lang="en-IE" sz="1200" dirty="0">
                <a:effectLst/>
                <a:ea typeface="Times New Roman" panose="02020603050405020304" pitchFamily="18" charset="0"/>
              </a:rPr>
              <a:t> </a:t>
            </a:r>
            <a:r>
              <a:rPr lang="en-IE" sz="1200" dirty="0" err="1">
                <a:effectLst/>
                <a:ea typeface="Times New Roman" panose="02020603050405020304" pitchFamily="18" charset="0"/>
              </a:rPr>
              <a:t>sa</a:t>
            </a:r>
            <a:r>
              <a:rPr lang="en-IE" sz="1200" dirty="0">
                <a:effectLst/>
                <a:ea typeface="Times New Roman" panose="02020603050405020304" pitchFamily="18" charset="0"/>
              </a:rPr>
              <a:t> </a:t>
            </a:r>
            <a:r>
              <a:rPr lang="en-IE" sz="1200" dirty="0" err="1">
                <a:effectLst/>
                <a:ea typeface="Times New Roman" panose="02020603050405020304" pitchFamily="18" charset="0"/>
              </a:rPr>
              <a:t>Roinn</a:t>
            </a:r>
            <a:r>
              <a:rPr lang="en-IE" sz="1200" dirty="0">
                <a:effectLst/>
                <a:ea typeface="Times New Roman" panose="02020603050405020304" pitchFamily="18" charset="0"/>
              </a:rPr>
              <a:t> </a:t>
            </a:r>
            <a:r>
              <a:rPr lang="en-IE" sz="1200" dirty="0" err="1">
                <a:effectLst/>
                <a:ea typeface="Times New Roman" panose="02020603050405020304" pitchFamily="18" charset="0"/>
              </a:rPr>
              <a:t>Ealaíon</a:t>
            </a:r>
            <a:r>
              <a:rPr lang="en-IE" sz="1200" dirty="0">
                <a:effectLst/>
                <a:ea typeface="Times New Roman" panose="02020603050405020304" pitchFamily="18" charset="0"/>
              </a:rPr>
              <a:t>, </a:t>
            </a:r>
            <a:r>
              <a:rPr lang="en-IE" sz="1200" dirty="0" err="1">
                <a:effectLst/>
                <a:ea typeface="Times New Roman" panose="02020603050405020304" pitchFamily="18" charset="0"/>
              </a:rPr>
              <a:t>Oidhreachta</a:t>
            </a:r>
            <a:r>
              <a:rPr lang="en-IE" sz="1200" dirty="0">
                <a:effectLst/>
                <a:ea typeface="Times New Roman" panose="02020603050405020304" pitchFamily="18" charset="0"/>
              </a:rPr>
              <a:t> agus </a:t>
            </a:r>
            <a:r>
              <a:rPr lang="en-IE" sz="1200" dirty="0" err="1">
                <a:effectLst/>
                <a:ea typeface="Times New Roman" panose="02020603050405020304" pitchFamily="18" charset="0"/>
              </a:rPr>
              <a:t>Gaeltachta</a:t>
            </a:r>
            <a:r>
              <a:rPr lang="en-IE" sz="1200" dirty="0">
                <a:effectLst/>
                <a:ea typeface="Times New Roman" panose="02020603050405020304" pitchFamily="18" charset="0"/>
              </a:rPr>
              <a:t> (</a:t>
            </a:r>
            <a:r>
              <a:rPr lang="en-IE" sz="1200" dirty="0" err="1">
                <a:effectLst/>
                <a:ea typeface="Times New Roman" panose="02020603050405020304" pitchFamily="18" charset="0"/>
              </a:rPr>
              <a:t>Márta</a:t>
            </a:r>
            <a:r>
              <a:rPr lang="en-IE" sz="1200" dirty="0">
                <a:effectLst/>
                <a:ea typeface="Times New Roman" panose="02020603050405020304" pitchFamily="18" charset="0"/>
              </a:rPr>
              <a:t> 2011-Iúil 2014).</a:t>
            </a:r>
            <a:endParaRPr lang="ga-IE" sz="1200" dirty="0">
              <a:effectLst/>
              <a:ea typeface="Times New Roman" panose="02020603050405020304" pitchFamily="18" charset="0"/>
            </a:endParaRPr>
          </a:p>
        </p:txBody>
      </p:sp>
      <p:pic>
        <p:nvPicPr>
          <p:cNvPr id="4" name="Pictiúr 3">
            <a:extLst>
              <a:ext uri="{FF2B5EF4-FFF2-40B4-BE49-F238E27FC236}">
                <a16:creationId xmlns:a16="http://schemas.microsoft.com/office/drawing/2014/main" id="{C720C996-1C72-45EB-8B0A-9B52D19D9959}"/>
              </a:ext>
            </a:extLst>
          </p:cNvPr>
          <p:cNvPicPr>
            <a:picLocks noChangeAspect="1"/>
          </p:cNvPicPr>
          <p:nvPr/>
        </p:nvPicPr>
        <p:blipFill>
          <a:blip r:embed="rId2"/>
          <a:stretch>
            <a:fillRect/>
          </a:stretch>
        </p:blipFill>
        <p:spPr>
          <a:xfrm>
            <a:off x="4311864" y="2666648"/>
            <a:ext cx="2377646" cy="3724979"/>
          </a:xfrm>
          <a:prstGeom prst="rect">
            <a:avLst/>
          </a:prstGeom>
        </p:spPr>
      </p:pic>
    </p:spTree>
    <p:extLst>
      <p:ext uri="{BB962C8B-B14F-4D97-AF65-F5344CB8AC3E}">
        <p14:creationId xmlns:p14="http://schemas.microsoft.com/office/powerpoint/2010/main" val="35158795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027E01FE-E6A1-44E3-9ECE-81B1B2E35C48}"/>
              </a:ext>
            </a:extLst>
          </p:cNvPr>
          <p:cNvSpPr txBox="1"/>
          <p:nvPr/>
        </p:nvSpPr>
        <p:spPr>
          <a:xfrm>
            <a:off x="774357" y="230659"/>
            <a:ext cx="9971902" cy="3662541"/>
          </a:xfrm>
          <a:prstGeom prst="rect">
            <a:avLst/>
          </a:prstGeom>
          <a:noFill/>
        </p:spPr>
        <p:txBody>
          <a:bodyPr wrap="square">
            <a:spAutoFit/>
          </a:bodyPr>
          <a:lstStyle/>
          <a:p>
            <a:pPr algn="just">
              <a:lnSpc>
                <a:spcPct val="200000"/>
              </a:lnSpc>
            </a:pPr>
            <a:r>
              <a:rPr lang="ga-IE" sz="2000" dirty="0">
                <a:effectLst/>
                <a:ea typeface="Times New Roman" panose="02020603050405020304" pitchFamily="18" charset="0"/>
              </a:rPr>
              <a:t>Ó achtaíodh Acht na Gaeltachta in 2012, tá an Ghaeltacht anois roinnte ina 26 ceantar éagsúil, ar a dtugtar </a:t>
            </a:r>
            <a:r>
              <a:rPr lang="ga-IE" sz="2000" b="1" dirty="0">
                <a:effectLst/>
                <a:ea typeface="Times New Roman" panose="02020603050405020304" pitchFamily="18" charset="0"/>
              </a:rPr>
              <a:t>Limistéir Pleanála Teanga</a:t>
            </a:r>
            <a:r>
              <a:rPr lang="en-IE" sz="2000" dirty="0">
                <a:effectLst/>
                <a:ea typeface="Times New Roman" panose="02020603050405020304" pitchFamily="18" charset="0"/>
              </a:rPr>
              <a:t>.</a:t>
            </a:r>
          </a:p>
          <a:p>
            <a:pPr algn="just">
              <a:lnSpc>
                <a:spcPct val="200000"/>
              </a:lnSpc>
            </a:pPr>
            <a:r>
              <a:rPr lang="ga-IE" sz="2000" dirty="0">
                <a:solidFill>
                  <a:srgbClr val="FF0000"/>
                </a:solidFill>
                <a:effectLst/>
                <a:ea typeface="Times New Roman" panose="02020603050405020304" pitchFamily="18" charset="0"/>
              </a:rPr>
              <a:t>De réir an Achta,</a:t>
            </a:r>
            <a:r>
              <a:rPr lang="ga-IE" sz="2000" b="1" dirty="0">
                <a:solidFill>
                  <a:srgbClr val="FF0000"/>
                </a:solidFill>
                <a:effectLst/>
                <a:ea typeface="Times New Roman" panose="02020603050405020304" pitchFamily="18" charset="0"/>
              </a:rPr>
              <a:t> caithfidh pobal gach LPT plean teanga a ullmhú dá gceantar féin le go </a:t>
            </a:r>
            <a:endParaRPr lang="en-IE" sz="2000" b="1" dirty="0">
              <a:solidFill>
                <a:srgbClr val="FF0000"/>
              </a:solidFill>
              <a:effectLst/>
              <a:ea typeface="Times New Roman" panose="02020603050405020304" pitchFamily="18" charset="0"/>
            </a:endParaRPr>
          </a:p>
          <a:p>
            <a:pPr algn="just">
              <a:lnSpc>
                <a:spcPct val="200000"/>
              </a:lnSpc>
            </a:pPr>
            <a:r>
              <a:rPr lang="ga-IE" sz="2000" b="1" dirty="0">
                <a:solidFill>
                  <a:srgbClr val="FF0000"/>
                </a:solidFill>
                <a:effectLst/>
                <a:ea typeface="Times New Roman" panose="02020603050405020304" pitchFamily="18" charset="0"/>
              </a:rPr>
              <a:t>n-aithneofar an limistéar mar limistéar Gaeltachta feasta</a:t>
            </a:r>
            <a:r>
              <a:rPr lang="ga-IE" sz="2000" dirty="0">
                <a:solidFill>
                  <a:srgbClr val="FF0000"/>
                </a:solidFill>
                <a:effectLst/>
                <a:ea typeface="Times New Roman" panose="02020603050405020304" pitchFamily="18" charset="0"/>
              </a:rPr>
              <a:t>. </a:t>
            </a:r>
            <a:endParaRPr lang="en-IE" sz="2000" dirty="0">
              <a:solidFill>
                <a:srgbClr val="FF0000"/>
              </a:solidFill>
              <a:effectLst/>
              <a:ea typeface="Times New Roman" panose="02020603050405020304" pitchFamily="18" charset="0"/>
            </a:endParaRPr>
          </a:p>
          <a:p>
            <a:pPr algn="just">
              <a:lnSpc>
                <a:spcPct val="200000"/>
              </a:lnSpc>
            </a:pPr>
            <a:r>
              <a:rPr lang="ga-IE" sz="2000" dirty="0">
                <a:solidFill>
                  <a:srgbClr val="FF0000"/>
                </a:solidFill>
                <a:effectLst/>
                <a:ea typeface="Times New Roman" panose="02020603050405020304" pitchFamily="18" charset="0"/>
              </a:rPr>
              <a:t>Tá eolas maidir le gach LPT le fáil ar shuíomh gréasáin Údarás na Gaeltachta.</a:t>
            </a:r>
            <a:endParaRPr lang="ga-IE" sz="2000" dirty="0">
              <a:effectLst/>
              <a:ea typeface="Times New Roman" panose="02020603050405020304" pitchFamily="18" charset="0"/>
            </a:endParaRPr>
          </a:p>
          <a:p>
            <a:pPr marL="228600"/>
            <a:r>
              <a:rPr lang="ga-IE" sz="800" dirty="0">
                <a:solidFill>
                  <a:srgbClr val="FF0000"/>
                </a:solidFill>
                <a:effectLst/>
                <a:latin typeface="Calibri" panose="020F0502020204030204" pitchFamily="34" charset="0"/>
                <a:ea typeface="Times New Roman" panose="02020603050405020304" pitchFamily="18" charset="0"/>
              </a:rPr>
              <a:t> </a:t>
            </a:r>
            <a:endParaRPr lang="ga-IE" sz="1200" dirty="0">
              <a:effectLst/>
              <a:ea typeface="Times New Roman" panose="02020603050405020304" pitchFamily="18" charset="0"/>
            </a:endParaRPr>
          </a:p>
          <a:p>
            <a:r>
              <a:rPr lang="ga-IE" sz="1200" u="sng" dirty="0">
                <a:solidFill>
                  <a:srgbClr val="0000FF"/>
                </a:solidFill>
                <a:effectLst/>
                <a:ea typeface="Times New Roman" panose="02020603050405020304" pitchFamily="18" charset="0"/>
                <a:hlinkClick r:id="rId2"/>
              </a:rPr>
              <a:t>https://data.gov.ie/showcase/amharc-ir-plean-la-teanga-gis-language-planning-viewer-gis</a:t>
            </a:r>
            <a:r>
              <a:rPr lang="ga-IE" sz="1200" dirty="0">
                <a:solidFill>
                  <a:srgbClr val="FF0000"/>
                </a:solidFill>
                <a:effectLst/>
                <a:ea typeface="Times New Roman" panose="02020603050405020304" pitchFamily="18" charset="0"/>
                <a:hlinkClick r:id="rId2"/>
              </a:rPr>
              <a:t>    </a:t>
            </a:r>
            <a:endParaRPr lang="ga-IE" sz="1200" dirty="0">
              <a:effectLst/>
              <a:ea typeface="Times New Roman" panose="02020603050405020304" pitchFamily="18" charset="0"/>
            </a:endParaRPr>
          </a:p>
          <a:p>
            <a:r>
              <a:rPr lang="ga-IE" sz="1200" u="sng" dirty="0">
                <a:solidFill>
                  <a:srgbClr val="0000FF"/>
                </a:solidFill>
                <a:effectLst/>
                <a:ea typeface="Times New Roman" panose="02020603050405020304" pitchFamily="18" charset="0"/>
                <a:hlinkClick r:id="rId3"/>
              </a:rPr>
              <a:t>https://udaras.ie/an-ghaeilge-an-ghaeltacht/limisteir-pleanala-teanga/</a:t>
            </a:r>
            <a:r>
              <a:rPr lang="ga-IE" sz="1200" dirty="0">
                <a:effectLst/>
                <a:ea typeface="Times New Roman" panose="02020603050405020304" pitchFamily="18" charset="0"/>
                <a:hlinkClick r:id="rId3"/>
              </a:rPr>
              <a:t> </a:t>
            </a:r>
            <a:endParaRPr lang="ga-IE" sz="1200" dirty="0">
              <a:effectLst/>
              <a:ea typeface="Times New Roman" panose="02020603050405020304" pitchFamily="18" charset="0"/>
            </a:endParaRPr>
          </a:p>
        </p:txBody>
      </p:sp>
    </p:spTree>
    <p:extLst>
      <p:ext uri="{BB962C8B-B14F-4D97-AF65-F5344CB8AC3E}">
        <p14:creationId xmlns:p14="http://schemas.microsoft.com/office/powerpoint/2010/main" val="1226677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iúr 1" descr="Amharcóir Pleanála Teanga GIS / Language Planning Viewer GIS - Showcases -  data.gov.ie">
            <a:extLst>
              <a:ext uri="{FF2B5EF4-FFF2-40B4-BE49-F238E27FC236}">
                <a16:creationId xmlns:a16="http://schemas.microsoft.com/office/drawing/2014/main" id="{9ACC2548-8C32-43B7-BC0A-31473DA9C97C}"/>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14476" y="566738"/>
            <a:ext cx="8189118" cy="4241509"/>
          </a:xfrm>
          <a:prstGeom prst="rect">
            <a:avLst/>
          </a:prstGeom>
          <a:noFill/>
          <a:ln>
            <a:noFill/>
          </a:ln>
        </p:spPr>
      </p:pic>
      <p:graphicFrame>
        <p:nvGraphicFramePr>
          <p:cNvPr id="3" name="Tábla 2">
            <a:extLst>
              <a:ext uri="{FF2B5EF4-FFF2-40B4-BE49-F238E27FC236}">
                <a16:creationId xmlns:a16="http://schemas.microsoft.com/office/drawing/2014/main" id="{1DA9E69D-B60A-4DF4-9EF6-FFDE17D56FC5}"/>
              </a:ext>
            </a:extLst>
          </p:cNvPr>
          <p:cNvGraphicFramePr>
            <a:graphicFrameLocks noGrp="1"/>
          </p:cNvGraphicFramePr>
          <p:nvPr>
            <p:extLst>
              <p:ext uri="{D42A27DB-BD31-4B8C-83A1-F6EECF244321}">
                <p14:modId xmlns:p14="http://schemas.microsoft.com/office/powerpoint/2010/main" val="1835546656"/>
              </p:ext>
            </p:extLst>
          </p:nvPr>
        </p:nvGraphicFramePr>
        <p:xfrm>
          <a:off x="1919288" y="90803"/>
          <a:ext cx="10272712" cy="554765"/>
        </p:xfrm>
        <a:graphic>
          <a:graphicData uri="http://schemas.openxmlformats.org/drawingml/2006/table">
            <a:tbl>
              <a:tblPr/>
              <a:tblGrid>
                <a:gridCol w="10272712">
                  <a:extLst>
                    <a:ext uri="{9D8B030D-6E8A-4147-A177-3AD203B41FA5}">
                      <a16:colId xmlns:a16="http://schemas.microsoft.com/office/drawing/2014/main" val="1609243740"/>
                    </a:ext>
                  </a:extLst>
                </a:gridCol>
              </a:tblGrid>
              <a:tr h="554765">
                <a:tc>
                  <a:txBody>
                    <a:bodyPr/>
                    <a:lstStyle/>
                    <a:p>
                      <a:pPr algn="ctr">
                        <a:lnSpc>
                          <a:spcPct val="115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An bhfaca tú an </a:t>
                      </a:r>
                      <a:r>
                        <a:rPr lang="en-IE" sz="2000" b="1" dirty="0">
                          <a:effectLst/>
                          <a:latin typeface="Calibri" panose="020F0502020204030204" pitchFamily="34" charset="0"/>
                          <a:ea typeface="Calibri" panose="020F0502020204030204" pitchFamily="34" charset="0"/>
                          <a:cs typeface="Calibri" panose="020F0502020204030204" pitchFamily="34" charset="0"/>
                        </a:rPr>
                        <a:t>á</a:t>
                      </a:r>
                      <a:r>
                        <a:rPr lang="ga-IE" sz="2000" b="1" dirty="0">
                          <a:effectLst/>
                          <a:latin typeface="Calibri" panose="020F0502020204030204" pitchFamily="34" charset="0"/>
                          <a:ea typeface="Calibri" panose="020F0502020204030204" pitchFamily="34" charset="0"/>
                          <a:cs typeface="Calibri" panose="020F0502020204030204" pitchFamily="34" charset="0"/>
                        </a:rPr>
                        <a:t>is seo riamh?</a:t>
                      </a:r>
                      <a:endParaRPr lang="ga-IE" sz="2000" b="1" dirty="0">
                        <a:effectLst/>
                        <a:latin typeface="Calibri" panose="020F0502020204030204" pitchFamily="34" charset="0"/>
                        <a:ea typeface="Calibri" panose="020F0502020204030204" pitchFamily="34" charset="0"/>
                        <a:cs typeface="Arial" panose="020B0604020202020204" pitchFamily="34" charset="0"/>
                      </a:endParaRPr>
                    </a:p>
                  </a:txBody>
                  <a:tcPr marL="114300" marR="114300" marT="0" marB="0">
                    <a:lnL>
                      <a:noFill/>
                    </a:lnL>
                    <a:lnR>
                      <a:noFill/>
                    </a:lnR>
                    <a:lnT>
                      <a:noFill/>
                    </a:lnT>
                    <a:lnB>
                      <a:noFill/>
                    </a:lnB>
                  </a:tcPr>
                </a:tc>
                <a:extLst>
                  <a:ext uri="{0D108BD9-81ED-4DB2-BD59-A6C34878D82A}">
                    <a16:rowId xmlns:a16="http://schemas.microsoft.com/office/drawing/2014/main" val="3678445986"/>
                  </a:ext>
                </a:extLst>
              </a:tr>
            </a:tbl>
          </a:graphicData>
        </a:graphic>
      </p:graphicFrame>
      <p:sp>
        <p:nvSpPr>
          <p:cNvPr id="6" name="Bosca téacs 5">
            <a:extLst>
              <a:ext uri="{FF2B5EF4-FFF2-40B4-BE49-F238E27FC236}">
                <a16:creationId xmlns:a16="http://schemas.microsoft.com/office/drawing/2014/main" id="{E5093237-3C19-467B-91F7-5B1F881EC1CB}"/>
              </a:ext>
            </a:extLst>
          </p:cNvPr>
          <p:cNvSpPr txBox="1"/>
          <p:nvPr/>
        </p:nvSpPr>
        <p:spPr>
          <a:xfrm>
            <a:off x="1304925" y="5440591"/>
            <a:ext cx="9786938" cy="400110"/>
          </a:xfrm>
          <a:prstGeom prst="rect">
            <a:avLst/>
          </a:prstGeom>
          <a:noFill/>
        </p:spPr>
        <p:txBody>
          <a:bodyPr wrap="square">
            <a:spAutoFit/>
          </a:bodyPr>
          <a:lstStyle/>
          <a:p>
            <a:r>
              <a:rPr lang="ga-IE" sz="2000" b="1" u="sng" dirty="0">
                <a:solidFill>
                  <a:srgbClr val="FF0000"/>
                </a:solidFill>
                <a:effectLst/>
                <a:latin typeface="Calibri" panose="020F0502020204030204" pitchFamily="34" charset="0"/>
                <a:ea typeface="Calibri" panose="020F0502020204030204" pitchFamily="34" charset="0"/>
                <a:cs typeface="Calibri" panose="020F0502020204030204" pitchFamily="34" charset="0"/>
                <a:hlinkClick r:id="rId3"/>
              </a:rPr>
              <a:t>https://data.gov.ie/showcase/amharc-ir-plean-la-teanga-gis-language-planning-viewer-gis</a:t>
            </a:r>
            <a:r>
              <a:rPr lang="ga-IE" sz="2000" b="1" dirty="0">
                <a:solidFill>
                  <a:srgbClr val="FF0000"/>
                </a:solidFill>
                <a:effectLst/>
                <a:latin typeface="Calibri" panose="020F0502020204030204" pitchFamily="34" charset="0"/>
                <a:ea typeface="Calibri" panose="020F0502020204030204" pitchFamily="34" charset="0"/>
              </a:rPr>
              <a:t> </a:t>
            </a:r>
            <a:endParaRPr lang="ga-IE" sz="2000" b="1" dirty="0"/>
          </a:p>
        </p:txBody>
      </p:sp>
    </p:spTree>
    <p:extLst>
      <p:ext uri="{BB962C8B-B14F-4D97-AF65-F5344CB8AC3E}">
        <p14:creationId xmlns:p14="http://schemas.microsoft.com/office/powerpoint/2010/main" val="37287901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39B61D9E-2829-4C85-8BCE-2ED427DF1B2E}"/>
              </a:ext>
            </a:extLst>
          </p:cNvPr>
          <p:cNvSpPr txBox="1"/>
          <p:nvPr/>
        </p:nvSpPr>
        <p:spPr>
          <a:xfrm>
            <a:off x="701214" y="210871"/>
            <a:ext cx="10416494" cy="6496137"/>
          </a:xfrm>
          <a:prstGeom prst="rect">
            <a:avLst/>
          </a:prstGeom>
          <a:noFill/>
        </p:spPr>
        <p:txBody>
          <a:bodyPr wrap="square">
            <a:spAutoFit/>
          </a:bodyPr>
          <a:lstStyle/>
          <a:p>
            <a:pPr algn="ctr">
              <a:lnSpc>
                <a:spcPct val="107000"/>
              </a:lnSpc>
              <a:spcAft>
                <a:spcPts val="800"/>
              </a:spcAft>
            </a:pPr>
            <a:r>
              <a:rPr lang="ga-IE" sz="2000" b="1" dirty="0">
                <a:effectLst/>
                <a:ea typeface="Times New Roman" panose="02020603050405020304" pitchFamily="18" charset="0"/>
                <a:cs typeface="Calibri" panose="020F0502020204030204" pitchFamily="34" charset="0"/>
              </a:rPr>
              <a:t>Cad é mar atá ag éirí leis an phróiseas pleanála teanga?</a:t>
            </a:r>
            <a:endParaRPr lang="en-IE" sz="2000" b="1" dirty="0">
              <a:effectLst/>
              <a:ea typeface="Times New Roman" panose="02020603050405020304" pitchFamily="18" charset="0"/>
              <a:cs typeface="Calibri" panose="020F0502020204030204" pitchFamily="34" charset="0"/>
            </a:endParaRPr>
          </a:p>
          <a:p>
            <a:pPr algn="just">
              <a:lnSpc>
                <a:spcPct val="107000"/>
              </a:lnSpc>
              <a:spcAft>
                <a:spcPts val="800"/>
              </a:spcAft>
            </a:pPr>
            <a:endParaRPr lang="ga-IE" sz="2000" dirty="0">
              <a:effectLst/>
              <a:ea typeface="Calibri" panose="020F0502020204030204" pitchFamily="34" charset="0"/>
              <a:cs typeface="Times New Roman" panose="02020603050405020304" pitchFamily="18" charset="0"/>
            </a:endParaRPr>
          </a:p>
          <a:p>
            <a:pPr algn="just"/>
            <a:r>
              <a:rPr lang="ga-IE" sz="2000" b="0" dirty="0">
                <a:effectLst/>
                <a:ea typeface="Times New Roman" panose="02020603050405020304" pitchFamily="18" charset="0"/>
              </a:rPr>
              <a:t>Tá conspóid nach beag ag baint leis an phróiseas pleanála teanga le fada an lá. </a:t>
            </a:r>
            <a:endParaRPr lang="en-IE" sz="2000" b="0" dirty="0">
              <a:effectLst/>
              <a:ea typeface="Times New Roman" panose="02020603050405020304" pitchFamily="18" charset="0"/>
            </a:endParaRPr>
          </a:p>
          <a:p>
            <a:pPr algn="just"/>
            <a:endParaRPr lang="en-IE" sz="2000" b="1" dirty="0">
              <a:effectLst/>
              <a:ea typeface="Times New Roman" panose="02020603050405020304" pitchFamily="18" charset="0"/>
            </a:endParaRPr>
          </a:p>
          <a:p>
            <a:pPr algn="just"/>
            <a:r>
              <a:rPr lang="ga-IE" sz="2000" dirty="0">
                <a:ea typeface="Times New Roman" panose="02020603050405020304" pitchFamily="18" charset="0"/>
              </a:rPr>
              <a:t>Bhí alt fíorshuimiúil ag Donncha Ó h</a:t>
            </a:r>
            <a:r>
              <a:rPr lang="en-IE" sz="2000" dirty="0">
                <a:ea typeface="Times New Roman" panose="02020603050405020304" pitchFamily="18" charset="0"/>
              </a:rPr>
              <a:t>É</a:t>
            </a:r>
            <a:r>
              <a:rPr lang="ga-IE" sz="2000" dirty="0">
                <a:ea typeface="Times New Roman" panose="02020603050405020304" pitchFamily="18" charset="0"/>
              </a:rPr>
              <a:t>allaithe faoin ábhar ar </a:t>
            </a:r>
            <a:r>
              <a:rPr lang="ga-IE" sz="2000" dirty="0">
                <a:ea typeface="Times New Roman" panose="02020603050405020304" pitchFamily="18" charset="0"/>
                <a:hlinkClick r:id="rId2"/>
              </a:rPr>
              <a:t>www.tuairisc.ie</a:t>
            </a:r>
            <a:r>
              <a:rPr lang="ga-IE" sz="2000" dirty="0">
                <a:ea typeface="Times New Roman" panose="02020603050405020304" pitchFamily="18" charset="0"/>
              </a:rPr>
              <a:t> ar an 26 Iúil 2017.</a:t>
            </a:r>
          </a:p>
          <a:p>
            <a:pPr algn="just"/>
            <a:endParaRPr lang="ga-IE" sz="2000" dirty="0">
              <a:ea typeface="Times New Roman" panose="02020603050405020304" pitchFamily="18" charset="0"/>
            </a:endParaRPr>
          </a:p>
          <a:p>
            <a:pPr algn="just"/>
            <a:r>
              <a:rPr lang="ga-IE" sz="2000" dirty="0">
                <a:ea typeface="Times New Roman" panose="02020603050405020304" pitchFamily="18" charset="0"/>
              </a:rPr>
              <a:t>Dar leis nach bhfuil na húdaráis ag tabhairt faoi mar ba chóir.</a:t>
            </a:r>
          </a:p>
          <a:p>
            <a:pPr algn="just"/>
            <a:endParaRPr lang="en-IE" sz="2000" b="1" dirty="0">
              <a:ea typeface="Times New Roman" panose="02020603050405020304" pitchFamily="18" charset="0"/>
            </a:endParaRPr>
          </a:p>
          <a:p>
            <a:pPr algn="just"/>
            <a:r>
              <a:rPr lang="ga-IE" sz="2000" b="1" i="1" dirty="0"/>
              <a:t>Dírímis ar na ceantair atá ‘</a:t>
            </a:r>
            <a:r>
              <a:rPr lang="en-IE" sz="2000" b="1" i="1" dirty="0"/>
              <a:t>substantially Irish Speaking</a:t>
            </a:r>
            <a:r>
              <a:rPr lang="ga-IE" sz="2000" b="1" i="1" dirty="0"/>
              <a:t>’, nó ní bheidh ann ach cur i gcéill</a:t>
            </a:r>
            <a:r>
              <a:rPr lang="en-IE" sz="2000" b="1" i="1" dirty="0"/>
              <a:t>!</a:t>
            </a:r>
            <a:endParaRPr lang="ga-IE" sz="2000" b="1" i="1" dirty="0"/>
          </a:p>
          <a:p>
            <a:pPr algn="just"/>
            <a:endParaRPr lang="en-IE" sz="2000" b="1" dirty="0">
              <a:ea typeface="Times New Roman" panose="02020603050405020304" pitchFamily="18" charset="0"/>
            </a:endParaRPr>
          </a:p>
          <a:p>
            <a:pPr algn="just">
              <a:lnSpc>
                <a:spcPct val="150000"/>
              </a:lnSpc>
            </a:pPr>
            <a:r>
              <a:rPr lang="ga-IE" sz="2000" dirty="0"/>
              <a:t>Ag an am céanna, </a:t>
            </a:r>
            <a:r>
              <a:rPr lang="ga-IE" sz="2000" b="1" dirty="0"/>
              <a:t>tá géarchéim teanga sna ceantair láidre ina bhfuil an Ghaeilge á labhairt iontu, na croícheantair Ghaeltachta</a:t>
            </a:r>
            <a:r>
              <a:rPr lang="ga-IE" sz="2000" dirty="0"/>
              <a:t>. </a:t>
            </a:r>
            <a:r>
              <a:rPr lang="ga-IE" sz="2000" b="1" dirty="0"/>
              <a:t>Más spéis leis an rialtas an teanga a </a:t>
            </a:r>
            <a:r>
              <a:rPr lang="ga-IE" sz="2000" b="1" dirty="0" err="1"/>
              <a:t>shlánú</a:t>
            </a:r>
            <a:r>
              <a:rPr lang="ga-IE" sz="2000" b="1" dirty="0"/>
              <a:t> sna croícheantair, ní mór an próiseas pleanála teanga a mhaoiniú i gceart sna ceantair sin le gur féidir daoine proifisiúnta den scoth a earcú le dul i ngleic leis an gcreimeadh teanga, sna ceantair atá fós ‘</a:t>
            </a:r>
            <a:r>
              <a:rPr lang="en-IE" sz="2000" b="1" dirty="0"/>
              <a:t>substantially Irish-speaking</a:t>
            </a:r>
            <a:r>
              <a:rPr lang="ga-IE" sz="2000" b="1" dirty="0"/>
              <a:t>’</a:t>
            </a:r>
            <a:r>
              <a:rPr lang="ga-IE" sz="2000" dirty="0"/>
              <a:t>. Ní bheidh sé éasca, ach is fiú tabhairt faoi ar bhonn pleanáilte agus má chuirtear dóthain acmhainní ar fáil, b’fhéidir go n-éireodh linn an taoide a chasadh.</a:t>
            </a:r>
            <a:endParaRPr lang="en-IE" sz="2000" dirty="0"/>
          </a:p>
          <a:p>
            <a:pPr algn="just"/>
            <a:endParaRPr lang="ga-IE" sz="2000" b="1" dirty="0">
              <a:effectLst/>
              <a:ea typeface="Times New Roman" panose="02020603050405020304" pitchFamily="18" charset="0"/>
            </a:endParaRPr>
          </a:p>
        </p:txBody>
      </p:sp>
      <p:sp>
        <p:nvSpPr>
          <p:cNvPr id="7" name="Rectangle 2">
            <a:extLst>
              <a:ext uri="{FF2B5EF4-FFF2-40B4-BE49-F238E27FC236}">
                <a16:creationId xmlns:a16="http://schemas.microsoft.com/office/drawing/2014/main" id="{C3CA10F4-7096-4330-BE59-0C52BB1997B6}"/>
              </a:ext>
            </a:extLst>
          </p:cNvPr>
          <p:cNvSpPr>
            <a:spLocks noChangeArrowheads="1"/>
          </p:cNvSpPr>
          <p:nvPr/>
        </p:nvSpPr>
        <p:spPr bwMode="auto">
          <a:xfrm>
            <a:off x="2145166" y="4300084"/>
            <a:ext cx="15108224" cy="971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ga-IE"/>
          </a:p>
        </p:txBody>
      </p:sp>
    </p:spTree>
    <p:extLst>
      <p:ext uri="{BB962C8B-B14F-4D97-AF65-F5344CB8AC3E}">
        <p14:creationId xmlns:p14="http://schemas.microsoft.com/office/powerpoint/2010/main" val="18128112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55879E94-D20B-462E-9CCC-66BB6185BCB3}"/>
              </a:ext>
            </a:extLst>
          </p:cNvPr>
          <p:cNvSpPr txBox="1"/>
          <p:nvPr/>
        </p:nvSpPr>
        <p:spPr>
          <a:xfrm>
            <a:off x="601363" y="561362"/>
            <a:ext cx="10346724" cy="5399940"/>
          </a:xfrm>
          <a:prstGeom prst="rect">
            <a:avLst/>
          </a:prstGeom>
          <a:noFill/>
        </p:spPr>
        <p:txBody>
          <a:bodyPr wrap="square">
            <a:spAutoFit/>
          </a:bodyPr>
          <a:lstStyle/>
          <a:p>
            <a:pPr>
              <a:lnSpc>
                <a:spcPct val="150000"/>
              </a:lnSpc>
            </a:pPr>
            <a:r>
              <a:rPr lang="ga-IE" sz="2000" b="1" dirty="0"/>
              <a:t>Sé bun agus barr an scéil go léiríonn na sonraí ó Dhaonáireamh 2016, i gcuid mhaith de na ceantair a bhfuil stádas oifigiúil Gaeltachta sa Ghaeltacht oifigiúil acu, nach bhfuil dóthain Gaeilge á labhairt iontu le go bhféadfaí iad a aithint mar cheantair Ghaeltachta dá mbeadh critéar teangeolaíoch á úsáid leis na teorannacha a leagan amach</a:t>
            </a:r>
            <a:r>
              <a:rPr lang="ga-IE" sz="2000" dirty="0"/>
              <a:t>. Is bréag é a rá go bhfuil gar do 100,000 duine ina gcónaí i gceantair ina bhfuil an Ghaeilge á labhairt ag sciar substaintiúil den phobal iontu. </a:t>
            </a:r>
            <a:r>
              <a:rPr lang="ga-IE" sz="2000" b="1" dirty="0"/>
              <a:t>Cruthaíonn an </a:t>
            </a:r>
            <a:r>
              <a:rPr lang="ga-IE" sz="2000" b="1" dirty="0" err="1"/>
              <a:t>bhréag</a:t>
            </a:r>
            <a:r>
              <a:rPr lang="ga-IE" sz="2000" b="1" dirty="0"/>
              <a:t> oifigiúil sin </a:t>
            </a:r>
            <a:r>
              <a:rPr lang="ga-IE" sz="2000" b="1" dirty="0" err="1"/>
              <a:t>soiniciúlacht</a:t>
            </a:r>
            <a:r>
              <a:rPr lang="ga-IE" sz="2000" b="1" dirty="0"/>
              <a:t> i measc an phobail, cuireann sé staitisticí don Ghaeltacht as a riocht sna meáin náisiúnta agus, thar aon rud eile, ciallaíonn sé go bhfuil agus go mbeidh airgead poiblí substaintiúil á chur amú ag réiteach pleananna teanga do cheantair laga, ag an am céanna go bhfuil an chontúirt ann nach mbeidh a dhóthain acmhainní ar fáil do na ceantair sin ina bhfuil sciar substaintiúil den phobal ag labhairt na Gaeilge gach lá</a:t>
            </a:r>
            <a:r>
              <a:rPr lang="ga-IE" sz="2000" dirty="0"/>
              <a:t>. </a:t>
            </a:r>
            <a:endParaRPr lang="en-IE" sz="2000" dirty="0"/>
          </a:p>
          <a:p>
            <a:pPr algn="ctr">
              <a:lnSpc>
                <a:spcPct val="150000"/>
              </a:lnSpc>
            </a:pPr>
            <a:r>
              <a:rPr lang="en-IE" sz="1200" dirty="0">
                <a:hlinkClick r:id="rId2"/>
              </a:rPr>
              <a:t>https://tuairisc.ie/dirimis-ar-na-ceantair-ata-substantially-irish-speaking-no-ni-bheidh-ann-ach-cur-i-gceill/</a:t>
            </a:r>
            <a:r>
              <a:rPr lang="en-IE" sz="1200" dirty="0"/>
              <a:t> </a:t>
            </a:r>
          </a:p>
          <a:p>
            <a:pPr>
              <a:lnSpc>
                <a:spcPct val="150000"/>
              </a:lnSpc>
            </a:pPr>
            <a:endParaRPr lang="ga-IE" sz="2000" dirty="0"/>
          </a:p>
        </p:txBody>
      </p:sp>
    </p:spTree>
    <p:extLst>
      <p:ext uri="{BB962C8B-B14F-4D97-AF65-F5344CB8AC3E}">
        <p14:creationId xmlns:p14="http://schemas.microsoft.com/office/powerpoint/2010/main" val="10612750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1A8F0616-1DD8-4BE9-8536-60E8DF27D45F}"/>
              </a:ext>
            </a:extLst>
          </p:cNvPr>
          <p:cNvSpPr txBox="1"/>
          <p:nvPr/>
        </p:nvSpPr>
        <p:spPr>
          <a:xfrm>
            <a:off x="589005" y="292444"/>
            <a:ext cx="10161373" cy="6201826"/>
          </a:xfrm>
          <a:prstGeom prst="rect">
            <a:avLst/>
          </a:prstGeom>
          <a:noFill/>
        </p:spPr>
        <p:txBody>
          <a:bodyPr wrap="square">
            <a:spAutoFit/>
          </a:bodyPr>
          <a:lstStyle/>
          <a:p>
            <a:pPr algn="ctr">
              <a:lnSpc>
                <a:spcPct val="107000"/>
              </a:lnSpc>
              <a:spcAft>
                <a:spcPts val="800"/>
              </a:spcAft>
            </a:pPr>
            <a:r>
              <a:rPr lang="en-IE" sz="2000" b="1" dirty="0">
                <a:latin typeface="Calibri" panose="020F0502020204030204" pitchFamily="34" charset="0"/>
                <a:ea typeface="Times New Roman" panose="02020603050405020304" pitchFamily="18" charset="0"/>
                <a:cs typeface="Calibri" panose="020F0502020204030204" pitchFamily="34" charset="0"/>
              </a:rPr>
              <a:t>R</a:t>
            </a:r>
            <a:r>
              <a:rPr lang="ga-IE" sz="2000" b="1" dirty="0">
                <a:effectLst/>
                <a:latin typeface="Calibri" panose="020F0502020204030204" pitchFamily="34" charset="0"/>
                <a:ea typeface="Times New Roman" panose="02020603050405020304" pitchFamily="18" charset="0"/>
                <a:cs typeface="Calibri" panose="020F0502020204030204" pitchFamily="34" charset="0"/>
              </a:rPr>
              <a:t>ól Údarás na Gaeltachta maidir le cur chun cinn na Gaeilge (</a:t>
            </a:r>
            <a:r>
              <a:rPr lang="ga-IE" sz="2000" b="1" u="sng" dirty="0">
                <a:solidFill>
                  <a:srgbClr val="0000FF"/>
                </a:solidFill>
                <a:latin typeface="Calibri" panose="020F0502020204030204" pitchFamily="34" charset="0"/>
                <a:ea typeface="Times New Roman" panose="02020603050405020304" pitchFamily="18" charset="0"/>
                <a:cs typeface="Calibri" panose="020F0502020204030204" pitchFamily="34" charset="0"/>
                <a:hlinkClick r:id="rId2"/>
              </a:rPr>
              <a:t>www.tuairisc.ie</a:t>
            </a:r>
            <a:r>
              <a:rPr lang="ga-IE" sz="2000" b="1" dirty="0">
                <a:latin typeface="Calibri" panose="020F0502020204030204" pitchFamily="34" charset="0"/>
                <a:ea typeface="Times New Roman" panose="02020603050405020304" pitchFamily="18" charset="0"/>
                <a:cs typeface="Calibri" panose="020F0502020204030204" pitchFamily="34" charset="0"/>
              </a:rPr>
              <a:t> 16/11/20) </a:t>
            </a:r>
            <a:endParaRPr lang="ga-IE" sz="2000" b="1"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07000"/>
              </a:lnSpc>
              <a:spcAft>
                <a:spcPts val="800"/>
              </a:spcAft>
            </a:pP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ga-IE" dirty="0">
                <a:effectLst/>
                <a:latin typeface="Calibri" panose="020F0502020204030204" pitchFamily="34" charset="0"/>
                <a:ea typeface="Calibri" panose="020F0502020204030204" pitchFamily="34" charset="0"/>
                <a:cs typeface="Times New Roman" panose="02020603050405020304" pitchFamily="18" charset="0"/>
              </a:rPr>
              <a:t>Deir an Teachta Dála Catherine Connolly go bhfuil </a:t>
            </a:r>
            <a:r>
              <a:rPr lang="ga-IE" b="1" dirty="0">
                <a:effectLst/>
                <a:latin typeface="Calibri" panose="020F0502020204030204" pitchFamily="34" charset="0"/>
                <a:ea typeface="Calibri" panose="020F0502020204030204" pitchFamily="34" charset="0"/>
                <a:cs typeface="Times New Roman" panose="02020603050405020304" pitchFamily="18" charset="0"/>
              </a:rPr>
              <a:t>amhras uirthi an gcaitheann Údarás na Gaeltachta an dua céanna lena chinntiú gurb í an Ghaeilge teanga oibre na Gaeltachta is a chaitheann siad ag iarraidh postanna a mhealladh</a:t>
            </a:r>
            <a:r>
              <a:rPr lang="ga-IE" dirty="0">
                <a:effectLst/>
                <a:latin typeface="Calibri" panose="020F0502020204030204" pitchFamily="34" charset="0"/>
                <a:ea typeface="Calibri" panose="020F0502020204030204" pitchFamily="34" charset="0"/>
                <a:cs typeface="Times New Roman" panose="02020603050405020304" pitchFamily="18" charset="0"/>
              </a:rPr>
              <a:t>.</a:t>
            </a:r>
          </a:p>
          <a:p>
            <a:pPr marL="457200" algn="just">
              <a:lnSpc>
                <a:spcPct val="107000"/>
              </a:lnSpc>
              <a:spcAft>
                <a:spcPts val="800"/>
              </a:spcAft>
            </a:pPr>
            <a:r>
              <a:rPr lang="ga-IE" dirty="0">
                <a:effectLst/>
                <a:latin typeface="Calibri" panose="020F0502020204030204" pitchFamily="34" charset="0"/>
                <a:ea typeface="Calibri" panose="020F0502020204030204" pitchFamily="34" charset="0"/>
                <a:cs typeface="Times New Roman" panose="02020603050405020304" pitchFamily="18" charset="0"/>
              </a:rPr>
              <a:t>Dúirt an Teachta Dála neamhspleách do Ghaillimh Thiar gur thuig sí go raibh an tÚdarás “in áit na leathphingine” i gcomparáid le </a:t>
            </a:r>
            <a:r>
              <a:rPr lang="ga-IE" i="1" dirty="0" err="1">
                <a:effectLst/>
                <a:latin typeface="Calibri" panose="020F0502020204030204" pitchFamily="34" charset="0"/>
                <a:ea typeface="Calibri" panose="020F0502020204030204" pitchFamily="34" charset="0"/>
                <a:cs typeface="Times New Roman" panose="02020603050405020304" pitchFamily="18" charset="0"/>
              </a:rPr>
              <a:t>Enterprise</a:t>
            </a:r>
            <a:r>
              <a:rPr lang="ga-IE" i="1" dirty="0">
                <a:effectLst/>
                <a:latin typeface="Calibri" panose="020F0502020204030204" pitchFamily="34" charset="0"/>
                <a:ea typeface="Calibri" panose="020F0502020204030204" pitchFamily="34" charset="0"/>
                <a:cs typeface="Times New Roman" panose="02020603050405020304" pitchFamily="18" charset="0"/>
              </a:rPr>
              <a:t> Ireland</a:t>
            </a:r>
            <a:r>
              <a:rPr lang="ga-IE" dirty="0">
                <a:effectLst/>
                <a:latin typeface="Calibri" panose="020F0502020204030204" pitchFamily="34" charset="0"/>
                <a:ea typeface="Calibri" panose="020F0502020204030204" pitchFamily="34" charset="0"/>
                <a:cs typeface="Times New Roman" panose="02020603050405020304" pitchFamily="18" charset="0"/>
              </a:rPr>
              <a:t> agus an IDA, ach nach raibh sí </a:t>
            </a:r>
            <a:r>
              <a:rPr lang="ga-IE" b="1" dirty="0">
                <a:effectLst/>
                <a:latin typeface="Calibri" panose="020F0502020204030204" pitchFamily="34" charset="0"/>
                <a:ea typeface="Calibri" panose="020F0502020204030204" pitchFamily="34" charset="0"/>
                <a:cs typeface="Times New Roman" panose="02020603050405020304" pitchFamily="18" charset="0"/>
              </a:rPr>
              <a:t>“iomlán sásta” go raibh a ndóthain á dhéanamh maidir lena chinntiú go mbíonn an Ghaeilge á cur chun cinn ag fostóirí sa Ghaeltacht</a:t>
            </a:r>
            <a:r>
              <a:rPr lang="ga-IE" dirty="0">
                <a:effectLst/>
                <a:latin typeface="Calibri" panose="020F0502020204030204" pitchFamily="34" charset="0"/>
                <a:ea typeface="Calibri" panose="020F0502020204030204" pitchFamily="34" charset="0"/>
                <a:cs typeface="Times New Roman" panose="02020603050405020304" pitchFamily="18" charset="0"/>
              </a:rPr>
              <a:t>.</a:t>
            </a:r>
          </a:p>
          <a:p>
            <a:pPr marL="457200" algn="just">
              <a:lnSpc>
                <a:spcPct val="107000"/>
              </a:lnSpc>
              <a:spcAft>
                <a:spcPts val="800"/>
              </a:spcAft>
            </a:pPr>
            <a:r>
              <a:rPr lang="ga-IE" dirty="0">
                <a:effectLst/>
                <a:latin typeface="Calibri" panose="020F0502020204030204" pitchFamily="34" charset="0"/>
                <a:ea typeface="Calibri" panose="020F0502020204030204" pitchFamily="34" charset="0"/>
                <a:cs typeface="Times New Roman" panose="02020603050405020304" pitchFamily="18" charset="0"/>
              </a:rPr>
              <a:t>“Tá freagracht ollmhór ar an Údarás ceannaireacht a thaispeáint. Níl mé iomlán sásta go bhfuil…sin á dhéanamh agaibh chomh héifeachtach is ba chóir.</a:t>
            </a:r>
          </a:p>
          <a:p>
            <a:pPr marL="457200" algn="just">
              <a:lnSpc>
                <a:spcPct val="107000"/>
              </a:lnSpc>
              <a:spcAft>
                <a:spcPts val="800"/>
              </a:spcAft>
            </a:pPr>
            <a:r>
              <a:rPr lang="ga-IE" dirty="0">
                <a:effectLst/>
                <a:latin typeface="Calibri" panose="020F0502020204030204" pitchFamily="34" charset="0"/>
                <a:ea typeface="Calibri" panose="020F0502020204030204" pitchFamily="34" charset="0"/>
                <a:cs typeface="Times New Roman" panose="02020603050405020304" pitchFamily="18" charset="0"/>
              </a:rPr>
              <a:t>“</a:t>
            </a:r>
            <a:r>
              <a:rPr lang="ga-IE" b="1" dirty="0">
                <a:effectLst/>
                <a:latin typeface="Calibri" panose="020F0502020204030204" pitchFamily="34" charset="0"/>
                <a:ea typeface="Calibri" panose="020F0502020204030204" pitchFamily="34" charset="0"/>
                <a:cs typeface="Times New Roman" panose="02020603050405020304" pitchFamily="18" charset="0"/>
              </a:rPr>
              <a:t>Tá fostaíocht thar a bheith tábhachtach ach chomh maith leis sin tá an teanga. Is </a:t>
            </a:r>
            <a:r>
              <a:rPr lang="ga-IE" b="1" dirty="0" err="1">
                <a:effectLst/>
                <a:latin typeface="Calibri" panose="020F0502020204030204" pitchFamily="34" charset="0"/>
                <a:ea typeface="Calibri" panose="020F0502020204030204" pitchFamily="34" charset="0"/>
                <a:cs typeface="Times New Roman" panose="02020603050405020304" pitchFamily="18" charset="0"/>
              </a:rPr>
              <a:t>sibhse</a:t>
            </a:r>
            <a:r>
              <a:rPr lang="ga-IE" b="1" dirty="0">
                <a:effectLst/>
                <a:latin typeface="Calibri" panose="020F0502020204030204" pitchFamily="34" charset="0"/>
                <a:ea typeface="Calibri" panose="020F0502020204030204" pitchFamily="34" charset="0"/>
                <a:cs typeface="Times New Roman" panose="02020603050405020304" pitchFamily="18" charset="0"/>
              </a:rPr>
              <a:t> atá ann chun an teanga a chosaint agus fostaíocht a mhealladh agus a choinneáil sa Ghaeltacht</a:t>
            </a:r>
            <a:r>
              <a:rPr lang="ga-IE" dirty="0">
                <a:effectLst/>
                <a:latin typeface="Calibri" panose="020F0502020204030204" pitchFamily="34" charset="0"/>
                <a:ea typeface="Calibri" panose="020F0502020204030204" pitchFamily="34" charset="0"/>
                <a:cs typeface="Times New Roman" panose="02020603050405020304" pitchFamily="18" charset="0"/>
              </a:rPr>
              <a:t>,” a dúirt sí.</a:t>
            </a:r>
          </a:p>
          <a:p>
            <a:pPr marL="457200" algn="just">
              <a:lnSpc>
                <a:spcPct val="107000"/>
              </a:lnSpc>
              <a:spcAft>
                <a:spcPts val="800"/>
              </a:spcAft>
            </a:pPr>
            <a:r>
              <a:rPr lang="ga-IE" dirty="0">
                <a:effectLst/>
                <a:latin typeface="Calibri" panose="020F0502020204030204" pitchFamily="34" charset="0"/>
                <a:ea typeface="Calibri" panose="020F0502020204030204" pitchFamily="34" charset="0"/>
                <a:cs typeface="Times New Roman" panose="02020603050405020304" pitchFamily="18" charset="0"/>
              </a:rPr>
              <a:t>Dúirt an Teachta Dála neamhspleách gur mheas sí go raibh iarracht á déanamh ag Údarás na Gaeltachta i dtaobh comhlachtaí a mhealladh chun na Gaeltachta agus a choinneáil ann ach nach raibh </a:t>
            </a:r>
            <a:r>
              <a:rPr lang="ga-IE" b="1" dirty="0">
                <a:effectLst/>
                <a:latin typeface="Calibri" panose="020F0502020204030204" pitchFamily="34" charset="0"/>
                <a:ea typeface="Calibri" panose="020F0502020204030204" pitchFamily="34" charset="0"/>
                <a:cs typeface="Times New Roman" panose="02020603050405020304" pitchFamily="18" charset="0"/>
              </a:rPr>
              <a:t>“córas monatóireachta” </a:t>
            </a:r>
            <a:r>
              <a:rPr lang="ga-IE" dirty="0">
                <a:effectLst/>
                <a:latin typeface="Calibri" panose="020F0502020204030204" pitchFamily="34" charset="0"/>
                <a:ea typeface="Calibri" panose="020F0502020204030204" pitchFamily="34" charset="0"/>
                <a:cs typeface="Times New Roman" panose="02020603050405020304" pitchFamily="18" charset="0"/>
              </a:rPr>
              <a:t>i bhfeidhm ag an Údarás chun a chinntiú go raibh an teanga á cosaint.</a:t>
            </a:r>
            <a:endParaRPr lang="en-IE"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endParaRPr lang="ga-IE" dirty="0">
              <a:effectLst/>
              <a:latin typeface="Calibri" panose="020F0502020204030204" pitchFamily="34" charset="0"/>
              <a:ea typeface="Calibri" panose="020F0502020204030204" pitchFamily="34" charset="0"/>
              <a:cs typeface="Times New Roman" panose="02020603050405020304" pitchFamily="18" charset="0"/>
            </a:endParaRPr>
          </a:p>
          <a:p>
            <a:pPr algn="ctr"/>
            <a:r>
              <a:rPr lang="ga-IE" sz="1200" u="sng" dirty="0">
                <a:solidFill>
                  <a:srgbClr val="0000FF"/>
                </a:solidFill>
                <a:effectLst/>
                <a:latin typeface="Calibri" panose="020F0502020204030204" pitchFamily="34" charset="0"/>
                <a:ea typeface="Times New Roman" panose="02020603050405020304" pitchFamily="18" charset="0"/>
                <a:hlinkClick r:id="rId3"/>
              </a:rPr>
              <a:t>https://tuairisc.ie/ga-le-nios-mo-ceannaireachta-o-udaras-na-gaeltachta-i-dtaobh-na-gaeilge-catherine-connolly/</a:t>
            </a:r>
            <a:r>
              <a:rPr lang="ga-IE" sz="1200" dirty="0">
                <a:effectLst/>
                <a:latin typeface="Calibri" panose="020F0502020204030204" pitchFamily="34" charset="0"/>
                <a:ea typeface="Times New Roman" panose="02020603050405020304" pitchFamily="18" charset="0"/>
              </a:rPr>
              <a:t> </a:t>
            </a:r>
            <a:endParaRPr lang="ga-IE"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606011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D8AE930F-C763-42D9-9894-5EBDDF792C3D}"/>
              </a:ext>
            </a:extLst>
          </p:cNvPr>
          <p:cNvSpPr txBox="1"/>
          <p:nvPr/>
        </p:nvSpPr>
        <p:spPr>
          <a:xfrm>
            <a:off x="1005016" y="1792523"/>
            <a:ext cx="9403492" cy="2569934"/>
          </a:xfrm>
          <a:prstGeom prst="rect">
            <a:avLst/>
          </a:prstGeom>
          <a:noFill/>
        </p:spPr>
        <p:txBody>
          <a:bodyPr wrap="square">
            <a:spAutoFit/>
          </a:bodyPr>
          <a:lstStyle/>
          <a:p>
            <a:pPr marL="457200" algn="just">
              <a:lnSpc>
                <a:spcPct val="150000"/>
              </a:lnSpc>
            </a:pPr>
            <a:r>
              <a:rPr lang="ga-IE" sz="2000" b="0" dirty="0">
                <a:effectLst/>
                <a:ea typeface="Times New Roman" panose="02020603050405020304" pitchFamily="18" charset="0"/>
              </a:rPr>
              <a:t>‘Tá díomá agus frustrachas léirithe ag lucht pleanála teanga agus ag polaiteoirí faoin moill atá ag baint le haontú agus cur i bhfeidhm phlean teanga chathair na Gaillimhe. Cuireadh an dréachtphlean, an chéad cheann a ullmhaíodh faoi scáth Acht na Gaeltachta do bhaile seirbhíse Gaeltachta, faoi bhráid Roinn na Gaeltachta mí Dheireadh Fómhair 2019 ach níl aon dul chun cinn déanta ó shin.’</a:t>
            </a:r>
            <a:endParaRPr lang="ga-IE" sz="2000" b="1" dirty="0">
              <a:effectLst/>
              <a:ea typeface="Times New Roman" panose="02020603050405020304" pitchFamily="18" charset="0"/>
            </a:endParaRPr>
          </a:p>
          <a:p>
            <a:pPr algn="ctr"/>
            <a:r>
              <a:rPr lang="ga-IE" sz="1100" u="sng" dirty="0">
                <a:solidFill>
                  <a:srgbClr val="0000FF"/>
                </a:solidFill>
                <a:effectLst/>
                <a:ea typeface="Times New Roman" panose="02020603050405020304" pitchFamily="18" charset="0"/>
                <a:hlinkClick r:id="rId2"/>
              </a:rPr>
              <a:t>https://tuairisc.ie/ta-me-tuirseach-de-bheith-ag-caint-faoin-ngaeilge-dioma-faoin-moill-ar-phlean-teanga-do-chathair-na-gaillimhe/</a:t>
            </a:r>
            <a:r>
              <a:rPr lang="ga-IE" sz="1100" dirty="0">
                <a:effectLst/>
                <a:ea typeface="Times New Roman" panose="02020603050405020304" pitchFamily="18" charset="0"/>
                <a:hlinkClick r:id="rId2"/>
              </a:rPr>
              <a:t> </a:t>
            </a:r>
            <a:r>
              <a:rPr lang="en-IE" sz="1100" b="1" dirty="0">
                <a:effectLst/>
                <a:ea typeface="Times New Roman" panose="02020603050405020304" pitchFamily="18" charset="0"/>
              </a:rPr>
              <a:t>(25/11/20)</a:t>
            </a:r>
            <a:endParaRPr lang="ga-IE" sz="1100" b="1" dirty="0">
              <a:effectLst/>
              <a:ea typeface="Times New Roman" panose="02020603050405020304" pitchFamily="18" charset="0"/>
            </a:endParaRPr>
          </a:p>
        </p:txBody>
      </p:sp>
      <p:sp>
        <p:nvSpPr>
          <p:cNvPr id="7" name="Bosca téacs 6">
            <a:extLst>
              <a:ext uri="{FF2B5EF4-FFF2-40B4-BE49-F238E27FC236}">
                <a16:creationId xmlns:a16="http://schemas.microsoft.com/office/drawing/2014/main" id="{A9B0D07E-E4C4-437A-A51D-32637EED4607}"/>
              </a:ext>
            </a:extLst>
          </p:cNvPr>
          <p:cNvSpPr txBox="1"/>
          <p:nvPr/>
        </p:nvSpPr>
        <p:spPr>
          <a:xfrm>
            <a:off x="2397211" y="650423"/>
            <a:ext cx="6096000" cy="407035"/>
          </a:xfrm>
          <a:prstGeom prst="rect">
            <a:avLst/>
          </a:prstGeom>
          <a:noFill/>
        </p:spPr>
        <p:txBody>
          <a:bodyPr wrap="square">
            <a:spAutoFit/>
          </a:bodyPr>
          <a:lstStyle/>
          <a:p>
            <a:pPr algn="just">
              <a:lnSpc>
                <a:spcPct val="107000"/>
              </a:lnSpc>
              <a:spcAft>
                <a:spcPts val="800"/>
              </a:spcAft>
            </a:pPr>
            <a:r>
              <a:rPr lang="ga-IE" sz="2000" b="1" dirty="0">
                <a:effectLst/>
                <a:ea typeface="Times New Roman" panose="02020603050405020304" pitchFamily="18" charset="0"/>
                <a:cs typeface="Calibri" panose="020F0502020204030204" pitchFamily="34" charset="0"/>
              </a:rPr>
              <a:t>Cad é mar atá ag éirí leis an phróiseas pleanála teanga?</a:t>
            </a:r>
            <a:endParaRPr lang="en-IE" sz="2000" b="1" dirty="0">
              <a:effectLst/>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29203992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0351A75E-F79B-49F6-A01C-7DE04FEA2401}"/>
              </a:ext>
            </a:extLst>
          </p:cNvPr>
          <p:cNvSpPr txBox="1"/>
          <p:nvPr/>
        </p:nvSpPr>
        <p:spPr>
          <a:xfrm>
            <a:off x="815544" y="493801"/>
            <a:ext cx="9971903" cy="5576142"/>
          </a:xfrm>
          <a:prstGeom prst="rect">
            <a:avLst/>
          </a:prstGeom>
          <a:noFill/>
        </p:spPr>
        <p:txBody>
          <a:bodyPr wrap="square">
            <a:spAutoFit/>
          </a:bodyPr>
          <a:lstStyle/>
          <a:p>
            <a:pPr algn="ctr">
              <a:lnSpc>
                <a:spcPct val="107000"/>
              </a:lnSpc>
              <a:spcAft>
                <a:spcPts val="800"/>
              </a:spcAft>
            </a:pPr>
            <a:r>
              <a:rPr lang="ga-IE" sz="2000" b="1" dirty="0">
                <a:effectLst/>
                <a:latin typeface="Calibri" panose="020F0502020204030204" pitchFamily="34" charset="0"/>
                <a:ea typeface="Calibri" panose="020F0502020204030204" pitchFamily="34" charset="0"/>
                <a:cs typeface="Calibri" panose="020F0502020204030204" pitchFamily="34" charset="0"/>
              </a:rPr>
              <a:t>“NPHET na Gaeltachta”</a:t>
            </a:r>
            <a:r>
              <a:rPr lang="en-IE" sz="2000" b="1" u="sng" dirty="0">
                <a:solidFill>
                  <a:srgbClr val="0000FF"/>
                </a:solidFill>
                <a:effectLst/>
                <a:latin typeface="Calibri" panose="020F0502020204030204" pitchFamily="34" charset="0"/>
                <a:ea typeface="Times New Roman" panose="02020603050405020304" pitchFamily="18" charset="0"/>
                <a:cs typeface="Calibri" panose="020F0502020204030204" pitchFamily="34" charset="0"/>
                <a:hlinkClick r:id="rId2"/>
              </a:rPr>
              <a:t>(</a:t>
            </a:r>
            <a:r>
              <a:rPr lang="ga-IE" sz="2000" b="1" u="sng" dirty="0">
                <a:solidFill>
                  <a:srgbClr val="0000FF"/>
                </a:solidFill>
                <a:effectLst/>
                <a:latin typeface="Calibri" panose="020F0502020204030204" pitchFamily="34" charset="0"/>
                <a:ea typeface="Times New Roman" panose="02020603050405020304" pitchFamily="18" charset="0"/>
                <a:cs typeface="Calibri" panose="020F0502020204030204" pitchFamily="34" charset="0"/>
                <a:hlinkClick r:id="rId2"/>
              </a:rPr>
              <a:t>www.tuairisc.ie</a:t>
            </a:r>
            <a:r>
              <a:rPr lang="ga-IE" sz="2000" b="1" dirty="0">
                <a:effectLst/>
                <a:latin typeface="Calibri" panose="020F0502020204030204" pitchFamily="34" charset="0"/>
                <a:ea typeface="Times New Roman" panose="02020603050405020304" pitchFamily="18" charset="0"/>
                <a:cs typeface="Calibri" panose="020F0502020204030204" pitchFamily="34" charset="0"/>
              </a:rPr>
              <a:t> 3</a:t>
            </a:r>
            <a:r>
              <a:rPr lang="en-IE" sz="2000" b="1" dirty="0">
                <a:effectLst/>
                <a:latin typeface="Calibri" panose="020F0502020204030204" pitchFamily="34" charset="0"/>
                <a:ea typeface="Times New Roman" panose="02020603050405020304" pitchFamily="18" charset="0"/>
                <a:cs typeface="Calibri" panose="020F0502020204030204" pitchFamily="34" charset="0"/>
              </a:rPr>
              <a:t>/12/20)</a:t>
            </a:r>
            <a:r>
              <a:rPr lang="ga-IE" sz="2000" b="1" dirty="0">
                <a:effectLst/>
                <a:latin typeface="Calibri" panose="020F0502020204030204" pitchFamily="34" charset="0"/>
                <a:ea typeface="Times New Roman" panose="02020603050405020304" pitchFamily="18" charset="0"/>
                <a:cs typeface="Calibri" panose="020F0502020204030204" pitchFamily="34" charset="0"/>
              </a:rPr>
              <a:t>.</a:t>
            </a:r>
            <a:endParaRPr lang="ga-IE" sz="20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ga-IE" dirty="0">
                <a:effectLst/>
                <a:latin typeface="Calibri" panose="020F0502020204030204" pitchFamily="34" charset="0"/>
                <a:ea typeface="Calibri" panose="020F0502020204030204" pitchFamily="34" charset="0"/>
                <a:cs typeface="Calibri" panose="020F0502020204030204" pitchFamily="34" charset="0"/>
              </a:rPr>
              <a:t>Tá gá le </a:t>
            </a:r>
            <a:r>
              <a:rPr lang="ga-IE" b="1" dirty="0">
                <a:effectLst/>
                <a:latin typeface="Calibri" panose="020F0502020204030204" pitchFamily="34" charset="0"/>
                <a:ea typeface="Calibri" panose="020F0502020204030204" pitchFamily="34" charset="0"/>
                <a:cs typeface="Calibri" panose="020F0502020204030204" pitchFamily="34" charset="0"/>
              </a:rPr>
              <a:t>“NPHET na Gaeltachta” </a:t>
            </a:r>
            <a:r>
              <a:rPr lang="ga-IE" dirty="0">
                <a:effectLst/>
                <a:latin typeface="Calibri" panose="020F0502020204030204" pitchFamily="34" charset="0"/>
                <a:ea typeface="Calibri" panose="020F0502020204030204" pitchFamily="34" charset="0"/>
                <a:cs typeface="Calibri" panose="020F0502020204030204" pitchFamily="34" charset="0"/>
              </a:rPr>
              <a:t>chun </a:t>
            </a:r>
            <a:r>
              <a:rPr lang="ga-IE" b="1" dirty="0">
                <a:effectLst/>
                <a:latin typeface="Calibri" panose="020F0502020204030204" pitchFamily="34" charset="0"/>
                <a:ea typeface="Calibri" panose="020F0502020204030204" pitchFamily="34" charset="0"/>
                <a:cs typeface="Calibri" panose="020F0502020204030204" pitchFamily="34" charset="0"/>
              </a:rPr>
              <a:t>comh-ordú a dhéanamh ar pholasaí teanga an Stáit</a:t>
            </a:r>
            <a:r>
              <a:rPr lang="ga-IE" dirty="0">
                <a:effectLst/>
                <a:latin typeface="Calibri" panose="020F0502020204030204" pitchFamily="34" charset="0"/>
                <a:ea typeface="Calibri" panose="020F0502020204030204" pitchFamily="34" charset="0"/>
                <a:cs typeface="Calibri" panose="020F0502020204030204" pitchFamily="34" charset="0"/>
              </a:rPr>
              <a:t>.</a:t>
            </a:r>
            <a:endParaRPr lang="ga-IE"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ga-IE" dirty="0">
                <a:effectLst/>
                <a:latin typeface="Calibri" panose="020F0502020204030204" pitchFamily="34" charset="0"/>
                <a:ea typeface="Calibri" panose="020F0502020204030204" pitchFamily="34" charset="0"/>
                <a:cs typeface="Calibri" panose="020F0502020204030204" pitchFamily="34" charset="0"/>
              </a:rPr>
              <a:t>B’in a dúradh ag an gcruinniú a bhí ag Coiste Oireachtais na Gaeilge agus na Gaeltachta tráthnóna inné.</a:t>
            </a:r>
            <a:endParaRPr lang="ga-IE"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ga-IE" dirty="0" err="1">
                <a:effectLst/>
                <a:latin typeface="Calibri" panose="020F0502020204030204" pitchFamily="34" charset="0"/>
                <a:ea typeface="Calibri" panose="020F0502020204030204" pitchFamily="34" charset="0"/>
                <a:cs typeface="Calibri" panose="020F0502020204030204" pitchFamily="34" charset="0"/>
              </a:rPr>
              <a:t>Páidí</a:t>
            </a:r>
            <a:r>
              <a:rPr lang="ga-IE" dirty="0">
                <a:effectLst/>
                <a:latin typeface="Calibri" panose="020F0502020204030204" pitchFamily="34" charset="0"/>
                <a:ea typeface="Calibri" panose="020F0502020204030204" pitchFamily="34" charset="0"/>
                <a:cs typeface="Calibri" panose="020F0502020204030204" pitchFamily="34" charset="0"/>
              </a:rPr>
              <a:t> Ó Sé ó chomhlachas na gcomharchumann Gaeltachta a mhol go mbunófaí macasamhail na Foirne um Éigeandáil sa tSláinte Phoiblí le riar ar chás na Gaeltachta.</a:t>
            </a:r>
            <a:endParaRPr lang="ga-IE"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ga-IE" dirty="0">
                <a:effectLst/>
                <a:latin typeface="Calibri" panose="020F0502020204030204" pitchFamily="34" charset="0"/>
                <a:ea typeface="Calibri" panose="020F0502020204030204" pitchFamily="34" charset="0"/>
                <a:cs typeface="Calibri" panose="020F0502020204030204" pitchFamily="34" charset="0"/>
              </a:rPr>
              <a:t>Dúirt Ó Sé, atá ina Bhainisteoir ar Chomharchumann Forbartha Chorca Dhuibhne, go raibh gá le </a:t>
            </a:r>
            <a:r>
              <a:rPr lang="ga-IE" b="1" dirty="0">
                <a:effectLst/>
                <a:latin typeface="Calibri" panose="020F0502020204030204" pitchFamily="34" charset="0"/>
                <a:ea typeface="Calibri" panose="020F0502020204030204" pitchFamily="34" charset="0"/>
                <a:cs typeface="Calibri" panose="020F0502020204030204" pitchFamily="34" charset="0"/>
              </a:rPr>
              <a:t>“NPHET na Gaeltachta” toisc go mbíonn na ranna agus na heagraíochtaí éagsúla a mbíonn plé acu leis an nGaeltacht ag obair i “</a:t>
            </a:r>
            <a:r>
              <a:rPr lang="ga-IE" b="1" dirty="0" err="1">
                <a:effectLst/>
                <a:latin typeface="Calibri" panose="020F0502020204030204" pitchFamily="34" charset="0"/>
                <a:ea typeface="Calibri" panose="020F0502020204030204" pitchFamily="34" charset="0"/>
                <a:cs typeface="Calibri" panose="020F0502020204030204" pitchFamily="34" charset="0"/>
              </a:rPr>
              <a:t>silos</a:t>
            </a:r>
            <a:r>
              <a:rPr lang="ga-IE" b="1" dirty="0">
                <a:effectLst/>
                <a:latin typeface="Calibri" panose="020F0502020204030204" pitchFamily="34" charset="0"/>
                <a:ea typeface="Calibri" panose="020F0502020204030204" pitchFamily="34" charset="0"/>
                <a:cs typeface="Calibri" panose="020F0502020204030204" pitchFamily="34" charset="0"/>
              </a:rPr>
              <a:t>” agus “i bhfolús”.</a:t>
            </a:r>
            <a:endParaRPr lang="ga-IE" b="1"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ga-IE" b="1" dirty="0">
                <a:effectLst/>
                <a:latin typeface="Calibri" panose="020F0502020204030204" pitchFamily="34" charset="0"/>
                <a:ea typeface="Calibri" panose="020F0502020204030204" pitchFamily="34" charset="0"/>
                <a:cs typeface="Calibri" panose="020F0502020204030204" pitchFamily="34" charset="0"/>
              </a:rPr>
              <a:t>Tá gá ag muintir na Gaeltachta lena “vacsaín féin”.</a:t>
            </a:r>
            <a:endParaRPr lang="ga-IE"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ga-IE" dirty="0">
                <a:effectLst/>
                <a:latin typeface="Calibri" panose="020F0502020204030204" pitchFamily="34" charset="0"/>
                <a:ea typeface="Calibri" panose="020F0502020204030204" pitchFamily="34" charset="0"/>
                <a:cs typeface="Calibri" panose="020F0502020204030204" pitchFamily="34" charset="0"/>
              </a:rPr>
              <a:t>Luaigh sé mar shampla amháin den </a:t>
            </a:r>
            <a:r>
              <a:rPr lang="ga-IE" b="1" dirty="0">
                <a:effectLst/>
                <a:latin typeface="Calibri" panose="020F0502020204030204" pitchFamily="34" charset="0"/>
                <a:ea typeface="Calibri" panose="020F0502020204030204" pitchFamily="34" charset="0"/>
                <a:cs typeface="Calibri" panose="020F0502020204030204" pitchFamily="34" charset="0"/>
              </a:rPr>
              <a:t>easpa comhordaithe na heagraíochtaí éagsúla </a:t>
            </a:r>
            <a:r>
              <a:rPr lang="ga-IE" dirty="0">
                <a:effectLst/>
                <a:latin typeface="Calibri" panose="020F0502020204030204" pitchFamily="34" charset="0"/>
                <a:ea typeface="Calibri" panose="020F0502020204030204" pitchFamily="34" charset="0"/>
                <a:cs typeface="Calibri" panose="020F0502020204030204" pitchFamily="34" charset="0"/>
              </a:rPr>
              <a:t>a mbíonn comharchumann Chorca Dhuibhne ag plé leo agus iad ag iarraidh a chinntiú go mbíonn múinteoirí a bhfuil ardchaighdeán Gaeilge ar fáil do scoileanna an cheantair.</a:t>
            </a:r>
            <a:endParaRPr lang="ga-IE"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ga-IE" dirty="0">
                <a:effectLst/>
                <a:latin typeface="Calibri" panose="020F0502020204030204" pitchFamily="34" charset="0"/>
                <a:ea typeface="Calibri" panose="020F0502020204030204" pitchFamily="34" charset="0"/>
                <a:cs typeface="Calibri" panose="020F0502020204030204" pitchFamily="34" charset="0"/>
              </a:rPr>
              <a:t>Mhol Ó Sé chomh maith go gcuirfeadh Roinn na Gaeltachta baill foirne ar ghrád príomhoifigigh chúnta ar dualgas sna ceantair Ghaeltacht, mar a bhíodh tráth.</a:t>
            </a:r>
            <a:endParaRPr lang="ga-IE" dirty="0">
              <a:effectLst/>
              <a:latin typeface="Calibri" panose="020F0502020204030204" pitchFamily="34" charset="0"/>
              <a:ea typeface="Calibri" panose="020F0502020204030204" pitchFamily="34" charset="0"/>
              <a:cs typeface="Times New Roman" panose="02020603050405020304" pitchFamily="18" charset="0"/>
            </a:endParaRPr>
          </a:p>
          <a:p>
            <a:pPr algn="ctr"/>
            <a:r>
              <a:rPr lang="ga-IE" sz="1200" u="sng" dirty="0">
                <a:solidFill>
                  <a:srgbClr val="0000FF"/>
                </a:solidFill>
                <a:effectLst/>
                <a:latin typeface="Calibri" panose="020F0502020204030204" pitchFamily="34" charset="0"/>
                <a:ea typeface="Times New Roman" panose="02020603050405020304" pitchFamily="18" charset="0"/>
                <a:hlinkClick r:id="rId3"/>
              </a:rPr>
              <a:t>https://tuairisc.ie/ga-le-nphet-na-gaeltachta-chun-comhordu-a-dheanamh-ar-pholasai-teanga/</a:t>
            </a:r>
            <a:r>
              <a:rPr lang="ga-IE" sz="1200" dirty="0">
                <a:effectLst/>
                <a:latin typeface="Calibri" panose="020F0502020204030204" pitchFamily="34" charset="0"/>
                <a:ea typeface="Times New Roman" panose="02020603050405020304" pitchFamily="18" charset="0"/>
              </a:rPr>
              <a:t>  </a:t>
            </a:r>
            <a:endParaRPr lang="ga-IE"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005634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ábla 1">
            <a:extLst>
              <a:ext uri="{FF2B5EF4-FFF2-40B4-BE49-F238E27FC236}">
                <a16:creationId xmlns:a16="http://schemas.microsoft.com/office/drawing/2014/main" id="{A904E10C-BEB1-4FCD-9349-5179561BC92B}"/>
              </a:ext>
            </a:extLst>
          </p:cNvPr>
          <p:cNvGraphicFramePr>
            <a:graphicFrameLocks noGrp="1"/>
          </p:cNvGraphicFramePr>
          <p:nvPr>
            <p:extLst>
              <p:ext uri="{D42A27DB-BD31-4B8C-83A1-F6EECF244321}">
                <p14:modId xmlns:p14="http://schemas.microsoft.com/office/powerpoint/2010/main" val="3042657993"/>
              </p:ext>
            </p:extLst>
          </p:nvPr>
        </p:nvGraphicFramePr>
        <p:xfrm>
          <a:off x="888480" y="3052638"/>
          <a:ext cx="10609943" cy="2319964"/>
        </p:xfrm>
        <a:graphic>
          <a:graphicData uri="http://schemas.openxmlformats.org/drawingml/2006/table">
            <a:tbl>
              <a:tblPr firstRow="1" firstCol="1" bandRow="1"/>
              <a:tblGrid>
                <a:gridCol w="3751943">
                  <a:extLst>
                    <a:ext uri="{9D8B030D-6E8A-4147-A177-3AD203B41FA5}">
                      <a16:colId xmlns:a16="http://schemas.microsoft.com/office/drawing/2014/main" val="2838883338"/>
                    </a:ext>
                  </a:extLst>
                </a:gridCol>
                <a:gridCol w="6858000">
                  <a:extLst>
                    <a:ext uri="{9D8B030D-6E8A-4147-A177-3AD203B41FA5}">
                      <a16:colId xmlns:a16="http://schemas.microsoft.com/office/drawing/2014/main" val="1184749617"/>
                    </a:ext>
                  </a:extLst>
                </a:gridCol>
              </a:tblGrid>
              <a:tr h="712576">
                <a:tc>
                  <a:txBody>
                    <a:bodyPr/>
                    <a:lstStyle/>
                    <a:p>
                      <a:pPr algn="just"/>
                      <a:r>
                        <a:rPr lang="ga-IE" sz="2000" b="1" dirty="0">
                          <a:effectLst/>
                          <a:latin typeface="Calibri" panose="020F0502020204030204" pitchFamily="34" charset="0"/>
                          <a:ea typeface="Times New Roman" panose="02020603050405020304" pitchFamily="18" charset="0"/>
                          <a:cs typeface="Times New Roman" panose="02020603050405020304" pitchFamily="18" charset="0"/>
                        </a:rPr>
                        <a:t>An tOllamh Gearóid Ó Tuathaigh: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ga-IE" sz="16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2"/>
                        </a:rPr>
                        <a:t>https://twitter.com/7latg4/status/1108408508314206214?lang=en</a:t>
                      </a:r>
                      <a:r>
                        <a:rPr lang="ga-IE" sz="1600" b="0" dirty="0">
                          <a:effectLst/>
                          <a:latin typeface="Calibri" panose="020F0502020204030204" pitchFamily="34" charset="0"/>
                          <a:ea typeface="Times New Roman" panose="02020603050405020304" pitchFamily="18" charset="0"/>
                          <a:cs typeface="Times New Roman" panose="02020603050405020304" pitchFamily="18" charset="0"/>
                          <a:hlinkClick r:id="rId2"/>
                        </a:rPr>
                        <a:t> </a:t>
                      </a:r>
                      <a:endParaRPr lang="ga-IE"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0558159"/>
                  </a:ext>
                </a:extLst>
              </a:tr>
              <a:tr h="894812">
                <a:tc>
                  <a:txBody>
                    <a:bodyPr/>
                    <a:lstStyle/>
                    <a:p>
                      <a:pPr algn="just"/>
                      <a:r>
                        <a:rPr lang="ga-IE" sz="2000" b="1" dirty="0">
                          <a:effectLst/>
                          <a:latin typeface="Calibri" panose="020F0502020204030204" pitchFamily="34" charset="0"/>
                          <a:ea typeface="Times New Roman" panose="02020603050405020304" pitchFamily="18" charset="0"/>
                          <a:cs typeface="Times New Roman" panose="02020603050405020304" pitchFamily="18" charset="0"/>
                        </a:rPr>
                        <a:t>An </a:t>
                      </a:r>
                      <a:r>
                        <a:rPr lang="ga-IE" sz="2000" b="1" dirty="0" err="1">
                          <a:effectLst/>
                          <a:latin typeface="Calibri" panose="020F0502020204030204" pitchFamily="34" charset="0"/>
                          <a:ea typeface="Times New Roman" panose="02020603050405020304" pitchFamily="18" charset="0"/>
                          <a:cs typeface="Times New Roman" panose="02020603050405020304" pitchFamily="18" charset="0"/>
                        </a:rPr>
                        <a:t>Dr</a:t>
                      </a:r>
                      <a:r>
                        <a:rPr lang="ga-IE" sz="2000" b="1" dirty="0">
                          <a:effectLst/>
                          <a:latin typeface="Calibri" panose="020F0502020204030204" pitchFamily="34" charset="0"/>
                          <a:ea typeface="Times New Roman" panose="02020603050405020304" pitchFamily="18" charset="0"/>
                          <a:cs typeface="Times New Roman" panose="02020603050405020304" pitchFamily="18" charset="0"/>
                        </a:rPr>
                        <a:t> Brian Ó Curnáin: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ga-IE" sz="16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3"/>
                        </a:rPr>
                        <a:t>https://www.facebook.com/7LATG4/videos/an-dr-brian-%C3%B3-curn%C3%A1in/1290759464395150/</a:t>
                      </a:r>
                      <a:r>
                        <a:rPr lang="ga-IE" sz="1600" b="0" dirty="0">
                          <a:effectLst/>
                          <a:latin typeface="Calibri" panose="020F0502020204030204" pitchFamily="34" charset="0"/>
                          <a:ea typeface="Times New Roman" panose="02020603050405020304" pitchFamily="18" charset="0"/>
                          <a:cs typeface="Times New Roman" panose="02020603050405020304" pitchFamily="18" charset="0"/>
                          <a:hlinkClick r:id="rId3"/>
                        </a:rPr>
                        <a:t> </a:t>
                      </a:r>
                      <a:endParaRPr lang="ga-IE"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11956766"/>
                  </a:ext>
                </a:extLst>
              </a:tr>
              <a:tr h="712576">
                <a:tc>
                  <a:txBody>
                    <a:bodyPr/>
                    <a:lstStyle/>
                    <a:p>
                      <a:pPr algn="just"/>
                      <a:r>
                        <a:rPr lang="ga-IE" sz="2000" b="1" dirty="0">
                          <a:effectLst/>
                          <a:latin typeface="Calibri" panose="020F0502020204030204" pitchFamily="34" charset="0"/>
                          <a:ea typeface="Times New Roman" panose="02020603050405020304" pitchFamily="18" charset="0"/>
                          <a:cs typeface="Times New Roman" panose="02020603050405020304" pitchFamily="18" charset="0"/>
                        </a:rPr>
                        <a:t>An tOllamh Alan </a:t>
                      </a:r>
                      <a:r>
                        <a:rPr lang="ga-IE" sz="2000" b="1" dirty="0" err="1">
                          <a:effectLst/>
                          <a:latin typeface="Calibri" panose="020F0502020204030204" pitchFamily="34" charset="0"/>
                          <a:ea typeface="Times New Roman" panose="02020603050405020304" pitchFamily="18" charset="0"/>
                          <a:cs typeface="Times New Roman" panose="02020603050405020304" pitchFamily="18" charset="0"/>
                        </a:rPr>
                        <a:t>Titley</a:t>
                      </a:r>
                      <a:endParaRPr lang="ga-IE" sz="20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ga-IE" sz="16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4"/>
                        </a:rPr>
                        <a:t>https://twitter.com/7latg4/status/1213483334107586561?lang=en</a:t>
                      </a:r>
                      <a:r>
                        <a:rPr lang="ga-IE" sz="1600" b="0" dirty="0">
                          <a:effectLst/>
                          <a:latin typeface="Calibri" panose="020F0502020204030204" pitchFamily="34" charset="0"/>
                          <a:ea typeface="Times New Roman" panose="02020603050405020304" pitchFamily="18" charset="0"/>
                          <a:cs typeface="Times New Roman" panose="02020603050405020304" pitchFamily="18" charset="0"/>
                          <a:hlinkClick r:id="rId4"/>
                        </a:rPr>
                        <a:t> </a:t>
                      </a:r>
                      <a:endParaRPr lang="ga-IE" sz="16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6175392"/>
                  </a:ext>
                </a:extLst>
              </a:tr>
            </a:tbl>
          </a:graphicData>
        </a:graphic>
      </p:graphicFrame>
      <p:sp>
        <p:nvSpPr>
          <p:cNvPr id="4" name="Bosca téacs 3">
            <a:extLst>
              <a:ext uri="{FF2B5EF4-FFF2-40B4-BE49-F238E27FC236}">
                <a16:creationId xmlns:a16="http://schemas.microsoft.com/office/drawing/2014/main" id="{2D66B2DF-F298-4B93-B6EE-103DCAB14BE1}"/>
              </a:ext>
            </a:extLst>
          </p:cNvPr>
          <p:cNvSpPr txBox="1"/>
          <p:nvPr/>
        </p:nvSpPr>
        <p:spPr>
          <a:xfrm>
            <a:off x="1532238" y="1451156"/>
            <a:ext cx="7229828"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2000" b="0" i="0" u="none" strike="noStrike" cap="none" normalizeH="0" baseline="0" dirty="0">
                <a:ln>
                  <a:noFill/>
                </a:ln>
                <a:solidFill>
                  <a:schemeClr val="tx1"/>
                </a:solidFill>
                <a:effectLst/>
                <a:ea typeface="Times New Roman" panose="02020603050405020304" pitchFamily="18" charset="0"/>
                <a:cs typeface="Calibri" panose="020F0502020204030204" pitchFamily="34" charset="0"/>
              </a:rPr>
              <a:t>Is fiú amharc ar na físeáin seo le roinnt tuairimí a fháil ar an ábhar:</a:t>
            </a:r>
            <a:endParaRPr kumimoji="0" lang="en-IE" altLang="ga-IE" sz="2000" b="1" i="0" u="none" strike="noStrike" cap="none" normalizeH="0" baseline="0" dirty="0">
              <a:ln>
                <a:noFill/>
              </a:ln>
              <a:solidFill>
                <a:schemeClr val="tx1"/>
              </a:solidFill>
              <a:effectLst/>
              <a:ea typeface="Times New Roman" panose="02020603050405020304" pitchFamily="18" charset="0"/>
            </a:endParaRPr>
          </a:p>
        </p:txBody>
      </p:sp>
    </p:spTree>
    <p:extLst>
      <p:ext uri="{BB962C8B-B14F-4D97-AF65-F5344CB8AC3E}">
        <p14:creationId xmlns:p14="http://schemas.microsoft.com/office/powerpoint/2010/main" val="7067301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sca téacs 2">
            <a:extLst>
              <a:ext uri="{FF2B5EF4-FFF2-40B4-BE49-F238E27FC236}">
                <a16:creationId xmlns:a16="http://schemas.microsoft.com/office/drawing/2014/main" id="{01B33AB5-4EB2-4E6B-90C7-0D8D610C9871}"/>
              </a:ext>
            </a:extLst>
          </p:cNvPr>
          <p:cNvSpPr txBox="1"/>
          <p:nvPr/>
        </p:nvSpPr>
        <p:spPr>
          <a:xfrm>
            <a:off x="509975" y="2788793"/>
            <a:ext cx="7401697" cy="3742371"/>
          </a:xfrm>
          <a:prstGeom prst="rect">
            <a:avLst/>
          </a:prstGeom>
          <a:noFill/>
        </p:spPr>
        <p:txBody>
          <a:bodyPr wrap="square">
            <a:spAutoFit/>
          </a:bodyPr>
          <a:lstStyle/>
          <a:p>
            <a:pPr algn="ctr">
              <a:lnSpc>
                <a:spcPct val="107000"/>
              </a:lnSpc>
              <a:spcAft>
                <a:spcPts val="800"/>
              </a:spcAft>
            </a:pPr>
            <a:endParaRPr lang="en-IE"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pPr>
            <a:endParaRPr lang="en-IE"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pPr>
            <a:r>
              <a:rPr lang="ga-IE"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‘Beatha Teanga í a Labhairt’</a:t>
            </a:r>
          </a:p>
          <a:p>
            <a:pPr algn="ctr">
              <a:lnSpc>
                <a:spcPct val="107000"/>
              </a:lnSpc>
              <a:spcAft>
                <a:spcPts val="800"/>
              </a:spcAft>
            </a:pPr>
            <a:r>
              <a:rPr lang="ga-IE"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Bímis dóchasach!</a:t>
            </a:r>
          </a:p>
          <a:p>
            <a:pPr algn="ctr">
              <a:lnSpc>
                <a:spcPct val="107000"/>
              </a:lnSpc>
              <a:spcAft>
                <a:spcPts val="800"/>
              </a:spcAft>
            </a:pPr>
            <a:r>
              <a:rPr lang="ga-IE" sz="36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‘Déanaimis gaisce le chéile!’</a:t>
            </a:r>
            <a:endParaRPr lang="ga-IE" sz="36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endParaRPr lang="ga-IE"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1" name="Pictiúr 10" descr="Stickers: An Ghaeilge (Roll of 100) – An Siopa Leabhar">
            <a:extLst>
              <a:ext uri="{FF2B5EF4-FFF2-40B4-BE49-F238E27FC236}">
                <a16:creationId xmlns:a16="http://schemas.microsoft.com/office/drawing/2014/main" id="{37AFB696-AD69-4DB4-8A9C-E6D5EC788CB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71382" y="640386"/>
            <a:ext cx="2111448" cy="2377584"/>
          </a:xfrm>
          <a:prstGeom prst="rect">
            <a:avLst/>
          </a:prstGeom>
          <a:noFill/>
          <a:ln>
            <a:noFill/>
          </a:ln>
        </p:spPr>
      </p:pic>
      <p:pic>
        <p:nvPicPr>
          <p:cNvPr id="12" name="Picture 55">
            <a:extLst>
              <a:ext uri="{FF2B5EF4-FFF2-40B4-BE49-F238E27FC236}">
                <a16:creationId xmlns:a16="http://schemas.microsoft.com/office/drawing/2014/main" id="{D8913216-5F7C-4AFB-AA80-EEDBBACD31A6}"/>
              </a:ext>
            </a:extLst>
          </p:cNvPr>
          <p:cNvPicPr/>
          <p:nvPr/>
        </p:nvPicPr>
        <p:blipFill>
          <a:blip r:embed="rId3"/>
          <a:stretch>
            <a:fillRect/>
          </a:stretch>
        </p:blipFill>
        <p:spPr>
          <a:xfrm>
            <a:off x="4362569" y="421955"/>
            <a:ext cx="2444522" cy="2458545"/>
          </a:xfrm>
          <a:prstGeom prst="rect">
            <a:avLst/>
          </a:prstGeom>
        </p:spPr>
      </p:pic>
      <p:pic>
        <p:nvPicPr>
          <p:cNvPr id="8" name="Pictiúr 7">
            <a:extLst>
              <a:ext uri="{FF2B5EF4-FFF2-40B4-BE49-F238E27FC236}">
                <a16:creationId xmlns:a16="http://schemas.microsoft.com/office/drawing/2014/main" id="{AAB72876-F3FE-4CAB-8A1B-77A5B9D969D8}"/>
              </a:ext>
            </a:extLst>
          </p:cNvPr>
          <p:cNvPicPr>
            <a:picLocks noChangeAspect="1"/>
          </p:cNvPicPr>
          <p:nvPr/>
        </p:nvPicPr>
        <p:blipFill>
          <a:blip r:embed="rId4"/>
          <a:stretch>
            <a:fillRect/>
          </a:stretch>
        </p:blipFill>
        <p:spPr>
          <a:xfrm>
            <a:off x="8499575" y="421955"/>
            <a:ext cx="2040152" cy="2870785"/>
          </a:xfrm>
          <a:prstGeom prst="rect">
            <a:avLst/>
          </a:prstGeom>
        </p:spPr>
      </p:pic>
      <p:pic>
        <p:nvPicPr>
          <p:cNvPr id="4" name="Pictiúr 3">
            <a:extLst>
              <a:ext uri="{FF2B5EF4-FFF2-40B4-BE49-F238E27FC236}">
                <a16:creationId xmlns:a16="http://schemas.microsoft.com/office/drawing/2014/main" id="{7ADF79BD-BF1F-4F85-8EF8-8072550B3000}"/>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8071945" y="4186231"/>
            <a:ext cx="2817300" cy="1969175"/>
          </a:xfrm>
          <a:prstGeom prst="rect">
            <a:avLst/>
          </a:prstGeom>
        </p:spPr>
      </p:pic>
    </p:spTree>
    <p:extLst>
      <p:ext uri="{BB962C8B-B14F-4D97-AF65-F5344CB8AC3E}">
        <p14:creationId xmlns:p14="http://schemas.microsoft.com/office/powerpoint/2010/main" val="34277633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ábla 1">
            <a:extLst>
              <a:ext uri="{FF2B5EF4-FFF2-40B4-BE49-F238E27FC236}">
                <a16:creationId xmlns:a16="http://schemas.microsoft.com/office/drawing/2014/main" id="{0A21F0BC-3FC2-4C61-A252-3A1F2382B4BF}"/>
              </a:ext>
            </a:extLst>
          </p:cNvPr>
          <p:cNvGraphicFramePr>
            <a:graphicFrameLocks noGrp="1"/>
          </p:cNvGraphicFramePr>
          <p:nvPr>
            <p:extLst>
              <p:ext uri="{D42A27DB-BD31-4B8C-83A1-F6EECF244321}">
                <p14:modId xmlns:p14="http://schemas.microsoft.com/office/powerpoint/2010/main" val="1584701698"/>
              </p:ext>
            </p:extLst>
          </p:nvPr>
        </p:nvGraphicFramePr>
        <p:xfrm>
          <a:off x="384629" y="763815"/>
          <a:ext cx="11234057" cy="5151049"/>
        </p:xfrm>
        <a:graphic>
          <a:graphicData uri="http://schemas.openxmlformats.org/drawingml/2006/table">
            <a:tbl>
              <a:tblPr firstRow="1" firstCol="1" bandRow="1"/>
              <a:tblGrid>
                <a:gridCol w="700259">
                  <a:extLst>
                    <a:ext uri="{9D8B030D-6E8A-4147-A177-3AD203B41FA5}">
                      <a16:colId xmlns:a16="http://schemas.microsoft.com/office/drawing/2014/main" val="3375382208"/>
                    </a:ext>
                  </a:extLst>
                </a:gridCol>
                <a:gridCol w="10533798">
                  <a:extLst>
                    <a:ext uri="{9D8B030D-6E8A-4147-A177-3AD203B41FA5}">
                      <a16:colId xmlns:a16="http://schemas.microsoft.com/office/drawing/2014/main" val="3267849141"/>
                    </a:ext>
                  </a:extLst>
                </a:gridCol>
              </a:tblGrid>
              <a:tr h="114537">
                <a:tc>
                  <a:txBody>
                    <a:bodyPr/>
                    <a:lstStyle/>
                    <a:p>
                      <a:pPr algn="just">
                        <a:lnSpc>
                          <a:spcPct val="107000"/>
                        </a:lnSpc>
                        <a:spcAft>
                          <a:spcPts val="800"/>
                        </a:spcAft>
                      </a:pPr>
                      <a:r>
                        <a:rPr lang="ga-IE" sz="700" b="1">
                          <a:effectLst/>
                          <a:latin typeface="Calibri" panose="020F0502020204030204" pitchFamily="34" charset="0"/>
                          <a:ea typeface="Calibri" panose="020F0502020204030204" pitchFamily="34" charset="0"/>
                          <a:cs typeface="Calibri" panose="020F0502020204030204" pitchFamily="34" charset="0"/>
                        </a:rPr>
                        <a:t> </a:t>
                      </a:r>
                      <a:endParaRPr lang="ga-IE" sz="700">
                        <a:effectLst/>
                        <a:latin typeface="Calibri" panose="020F0502020204030204" pitchFamily="34" charset="0"/>
                        <a:ea typeface="Calibri" panose="020F0502020204030204" pitchFamily="34" charset="0"/>
                        <a:cs typeface="Times New Roman" panose="02020603050405020304" pitchFamily="18" charset="0"/>
                      </a:endParaRPr>
                    </a:p>
                  </a:txBody>
                  <a:tcPr marL="45815" marR="458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1400" b="1">
                          <a:effectLst/>
                          <a:latin typeface="Calibri" panose="020F0502020204030204" pitchFamily="34" charset="0"/>
                          <a:ea typeface="Calibri" panose="020F0502020204030204" pitchFamily="34" charset="0"/>
                          <a:cs typeface="Calibri" panose="020F0502020204030204" pitchFamily="34" charset="0"/>
                        </a:rPr>
                        <a:t>Aiste</a:t>
                      </a:r>
                      <a:endParaRPr lang="ga-IE" sz="1400">
                        <a:effectLst/>
                        <a:latin typeface="Calibri" panose="020F0502020204030204" pitchFamily="34" charset="0"/>
                        <a:ea typeface="Calibri" panose="020F0502020204030204" pitchFamily="34" charset="0"/>
                        <a:cs typeface="Times New Roman" panose="02020603050405020304" pitchFamily="18" charset="0"/>
                      </a:endParaRPr>
                    </a:p>
                  </a:txBody>
                  <a:tcPr marL="45815" marR="458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2102081"/>
                  </a:ext>
                </a:extLst>
              </a:tr>
              <a:tr h="422089">
                <a:tc>
                  <a:txBody>
                    <a:bodyPr/>
                    <a:lstStyle/>
                    <a:p>
                      <a:pPr algn="ctr">
                        <a:lnSpc>
                          <a:spcPct val="107000"/>
                        </a:lnSpc>
                        <a:spcAft>
                          <a:spcPts val="800"/>
                        </a:spcAft>
                      </a:pPr>
                      <a:r>
                        <a:rPr lang="ga-IE" sz="1200" b="1" dirty="0">
                          <a:effectLst/>
                          <a:latin typeface="Calibri" panose="020F0502020204030204" pitchFamily="34" charset="0"/>
                          <a:ea typeface="Calibri" panose="020F0502020204030204" pitchFamily="34" charset="0"/>
                          <a:cs typeface="Calibri" panose="020F0502020204030204" pitchFamily="34" charset="0"/>
                        </a:rPr>
                        <a:t>1.</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5" marR="458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ga-IE" sz="1200">
                          <a:effectLst/>
                          <a:latin typeface="Calibri" panose="020F0502020204030204" pitchFamily="34" charset="0"/>
                          <a:ea typeface="Calibri" panose="020F0502020204030204" pitchFamily="34" charset="0"/>
                          <a:cs typeface="Calibri" panose="020F0502020204030204" pitchFamily="34" charset="0"/>
                        </a:rPr>
                        <a:t>Cé chomh láidir agus atá an Ghaeilge i do cheantar/chontae féin? Cad é mar is féidir an Ghaeilge a chur chun cinn i do cheantar féin sna blianta amach romhainn?</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ga-IE" sz="1200">
                          <a:effectLst/>
                          <a:latin typeface="Calibri" panose="020F0502020204030204" pitchFamily="34" charset="0"/>
                          <a:ea typeface="Calibri" panose="020F0502020204030204" pitchFamily="34" charset="0"/>
                          <a:cs typeface="Calibri" panose="020F0502020204030204" pitchFamily="34" charset="0"/>
                        </a:rPr>
                        <a:t>Tabhair samplaí/staitisticí cuí. </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45815" marR="458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95790426"/>
                  </a:ext>
                </a:extLst>
              </a:tr>
              <a:tr h="1541074">
                <a:tc>
                  <a:txBody>
                    <a:bodyPr/>
                    <a:lstStyle/>
                    <a:p>
                      <a:pPr algn="ctr">
                        <a:lnSpc>
                          <a:spcPct val="107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2</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45815" marR="458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ga-IE" sz="1200" dirty="0">
                          <a:effectLst/>
                          <a:latin typeface="Calibri" panose="020F0502020204030204" pitchFamily="34" charset="0"/>
                          <a:ea typeface="Calibri" panose="020F0502020204030204" pitchFamily="34" charset="0"/>
                          <a:cs typeface="Calibri" panose="020F0502020204030204" pitchFamily="34" charset="0"/>
                        </a:rPr>
                        <a:t>“Ach feicim freisin go bhfuil sé thar a bheith dearfach go bhfuil leathmhilliún duine ann a bhfuil Gaeilge acu ach nach labhraíonn í agus leathmhilliún eile a bhfuil Gaeilge acu ach nach labhraíonn í go seachtainiúil. Samhlaigh dá bhféadfaimis na daoine sin ar fad a chur ag labhairt Gaeilge níos minice; ag tosú le beannachtaí simplí atá ar eolas againn ar fad agus iarracht a dhéanamh í a labhairt le daoine eile.”(Joe McHugh TD, 2017) </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E" sz="1200" dirty="0">
                          <a:effectLst/>
                          <a:latin typeface="Calibri" panose="020F0502020204030204" pitchFamily="34" charset="0"/>
                          <a:ea typeface="Calibri" panose="020F0502020204030204" pitchFamily="34" charset="0"/>
                          <a:cs typeface="Calibri" panose="020F0502020204030204" pitchFamily="34" charset="0"/>
                        </a:rPr>
                        <a:t>I</a:t>
                      </a:r>
                      <a:r>
                        <a:rPr lang="ga-IE" sz="1200" dirty="0">
                          <a:effectLst/>
                          <a:latin typeface="Calibri" panose="020F0502020204030204" pitchFamily="34" charset="0"/>
                          <a:ea typeface="Calibri" panose="020F0502020204030204" pitchFamily="34" charset="0"/>
                          <a:cs typeface="Calibri" panose="020F0502020204030204" pitchFamily="34" charset="0"/>
                        </a:rPr>
                        <a:t>s léir ó thorthaí Dhaonáireamh 2016 go bhfuil Gaeilge ag roinnt mhaith daoine (1,761,420). Thug beagnach duine as ceathrar (418,420) le fios ‘nach labhraíonn siad riamh í.’ </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ga-IE" sz="1200" dirty="0">
                          <a:effectLst/>
                          <a:latin typeface="Calibri" panose="020F0502020204030204" pitchFamily="34" charset="0"/>
                          <a:ea typeface="Calibri" panose="020F0502020204030204" pitchFamily="34" charset="0"/>
                          <a:cs typeface="Calibri" panose="020F0502020204030204" pitchFamily="34" charset="0"/>
                        </a:rPr>
                        <a:t> Cén fáth a bhfuil an figiúr sin chomh hard sin, dar leat? Cad é mar is féidir níos mó daoine a mhealladh le Gaeilge a úsáid mar mhodh cumarsáide i saol an lae inniu?</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5" marR="458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2147072"/>
                  </a:ext>
                </a:extLst>
              </a:tr>
              <a:tr h="1157034">
                <a:tc>
                  <a:txBody>
                    <a:bodyPr/>
                    <a:lstStyle/>
                    <a:p>
                      <a:pPr algn="ctr">
                        <a:lnSpc>
                          <a:spcPct val="107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3</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45815" marR="458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ga-IE" sz="1200" dirty="0">
                          <a:effectLst/>
                          <a:latin typeface="Calibri" panose="020F0502020204030204" pitchFamily="34" charset="0"/>
                          <a:ea typeface="Calibri" panose="020F0502020204030204" pitchFamily="34" charset="0"/>
                          <a:cs typeface="Calibri" panose="020F0502020204030204" pitchFamily="34" charset="0"/>
                        </a:rPr>
                        <a:t>“D’éirigh an Stát as an athbheochan go luath sna Seachtóidí agus tá an chuma ar an scéal, go </a:t>
                      </a:r>
                      <a:r>
                        <a:rPr lang="ga-IE" sz="1200" dirty="0" err="1">
                          <a:effectLst/>
                          <a:latin typeface="Calibri" panose="020F0502020204030204" pitchFamily="34" charset="0"/>
                          <a:ea typeface="Calibri" panose="020F0502020204030204" pitchFamily="34" charset="0"/>
                          <a:cs typeface="Calibri" panose="020F0502020204030204" pitchFamily="34" charset="0"/>
                        </a:rPr>
                        <a:t>háirid</a:t>
                      </a:r>
                      <a:r>
                        <a:rPr lang="ga-IE" sz="1200" dirty="0">
                          <a:effectLst/>
                          <a:latin typeface="Calibri" panose="020F0502020204030204" pitchFamily="34" charset="0"/>
                          <a:ea typeface="Calibri" panose="020F0502020204030204" pitchFamily="34" charset="0"/>
                          <a:cs typeface="Calibri" panose="020F0502020204030204" pitchFamily="34" charset="0"/>
                        </a:rPr>
                        <a:t> ó tugadh isteach an Straitéis 20 Bliain nach bhfuil ag tabhairt aghaidh ar ghéarchéim na Gaeilge atá sa Ghaeltacht ná sa Stát trí chéile. Áirím go bhfuil an Stát ag éirí as an bpolasaí Gaeilge.  Is cosúil go bhfuil lucht ceannais an Stáit ag rá anois gurb é atá sa nGaeilge ach caitheamh aimsire príobháideach.” (Ó Giollagáin, 2013)</a:t>
                      </a:r>
                      <a:r>
                        <a:rPr lang="ga-IE" sz="1200" b="1" dirty="0">
                          <a:effectLst/>
                          <a:latin typeface="Calibri" panose="020F0502020204030204" pitchFamily="34" charset="0"/>
                          <a:ea typeface="Calibri" panose="020F0502020204030204" pitchFamily="34" charset="0"/>
                          <a:cs typeface="Calibri" panose="020F0502020204030204" pitchFamily="34" charset="0"/>
                        </a:rPr>
                        <a:t> </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ga-IE" sz="1200" b="1" dirty="0">
                          <a:effectLst/>
                          <a:latin typeface="Calibri" panose="020F0502020204030204" pitchFamily="34" charset="0"/>
                          <a:ea typeface="Calibri" panose="020F0502020204030204" pitchFamily="34" charset="0"/>
                          <a:cs typeface="Calibri" panose="020F0502020204030204" pitchFamily="34" charset="0"/>
                        </a:rPr>
                        <a:t> </a:t>
                      </a:r>
                      <a:r>
                        <a:rPr lang="ga-IE" sz="1200" dirty="0">
                          <a:effectLst/>
                          <a:latin typeface="Calibri" panose="020F0502020204030204" pitchFamily="34" charset="0"/>
                          <a:ea typeface="Calibri" panose="020F0502020204030204" pitchFamily="34" charset="0"/>
                          <a:cs typeface="Calibri" panose="020F0502020204030204" pitchFamily="34" charset="0"/>
                        </a:rPr>
                        <a:t>Déan plé ar na pointí éagsúla atá luaite ag an Ollamh Ó Giollagáin. </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ga-IE" sz="1200" dirty="0">
                          <a:effectLst/>
                          <a:latin typeface="Calibri" panose="020F0502020204030204" pitchFamily="34" charset="0"/>
                          <a:ea typeface="Calibri" panose="020F0502020204030204" pitchFamily="34" charset="0"/>
                          <a:cs typeface="Calibri" panose="020F0502020204030204" pitchFamily="34" charset="0"/>
                        </a:rPr>
                        <a:t>An bhfuil tú féin dóchasach nó éadóchasach maidir le todhchaí na Gaeilge?</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5" marR="458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5230003"/>
                  </a:ext>
                </a:extLst>
              </a:tr>
              <a:tr h="114537">
                <a:tc>
                  <a:txBody>
                    <a:bodyPr/>
                    <a:lstStyle/>
                    <a:p>
                      <a:pPr algn="ctr">
                        <a:lnSpc>
                          <a:spcPct val="107000"/>
                        </a:lnSpc>
                        <a:spcAft>
                          <a:spcPts val="800"/>
                        </a:spcAft>
                      </a:pPr>
                      <a:r>
                        <a:rPr lang="ga-IE" sz="1200" b="1" dirty="0">
                          <a:effectLst/>
                          <a:latin typeface="Calibri" panose="020F0502020204030204" pitchFamily="34" charset="0"/>
                          <a:ea typeface="Calibri" panose="020F0502020204030204" pitchFamily="34" charset="0"/>
                          <a:cs typeface="Calibri" panose="020F0502020204030204" pitchFamily="34" charset="0"/>
                        </a:rPr>
                        <a:t>4</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n-IE" sz="1200" dirty="0">
                          <a:effectLst/>
                          <a:latin typeface="Calibri" panose="020F0502020204030204" pitchFamily="34" charset="0"/>
                          <a:ea typeface="Calibri" panose="020F0502020204030204" pitchFamily="34" charset="0"/>
                          <a:cs typeface="Calibri" panose="020F0502020204030204" pitchFamily="34" charset="0"/>
                        </a:rPr>
                        <a:t>“</a:t>
                      </a:r>
                      <a:r>
                        <a:rPr lang="ga-IE" sz="1200" dirty="0">
                          <a:effectLst/>
                          <a:latin typeface="Calibri" panose="020F0502020204030204" pitchFamily="34" charset="0"/>
                          <a:ea typeface="Calibri" panose="020F0502020204030204" pitchFamily="34" charset="0"/>
                          <a:cs typeface="Calibri" panose="020F0502020204030204" pitchFamily="34" charset="0"/>
                        </a:rPr>
                        <a:t>Tá gá le ‘NPHET na Gaeltachta’ chun comhordú a dhéanamh ar pholasaí teanga an Stáit.” (Ó Sé, 2020) </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ga-IE" sz="1200" dirty="0">
                          <a:effectLst/>
                          <a:latin typeface="Calibri" panose="020F0502020204030204" pitchFamily="34" charset="0"/>
                          <a:ea typeface="Calibri" panose="020F0502020204030204" pitchFamily="34" charset="0"/>
                          <a:cs typeface="Calibri" panose="020F0502020204030204" pitchFamily="34" charset="0"/>
                        </a:rPr>
                        <a:t>Déan plé ar an tuairim sin. Tabhair samplaí/staitisticí cuí le tacú le do chuid pointí.</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6200754"/>
                  </a:ext>
                </a:extLst>
              </a:tr>
              <a:tr h="114537">
                <a:tc>
                  <a:txBody>
                    <a:bodyPr/>
                    <a:lstStyle/>
                    <a:p>
                      <a:pPr algn="ctr">
                        <a:lnSpc>
                          <a:spcPct val="107000"/>
                        </a:lnSpc>
                        <a:spcAft>
                          <a:spcPts val="800"/>
                        </a:spcAft>
                      </a:pPr>
                      <a:r>
                        <a:rPr lang="en-IE" sz="1200" b="1" dirty="0">
                          <a:effectLst/>
                          <a:latin typeface="Calibri" panose="020F0502020204030204" pitchFamily="34" charset="0"/>
                          <a:ea typeface="Calibri" panose="020F0502020204030204" pitchFamily="34" charset="0"/>
                          <a:cs typeface="Calibri" panose="020F0502020204030204" pitchFamily="34" charset="0"/>
                        </a:rPr>
                        <a:t>5</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ga-IE" sz="1200" dirty="0">
                          <a:effectLst/>
                          <a:latin typeface="Calibri" panose="020F0502020204030204" pitchFamily="34" charset="0"/>
                          <a:ea typeface="Calibri" panose="020F0502020204030204" pitchFamily="34" charset="0"/>
                          <a:cs typeface="Calibri" panose="020F0502020204030204" pitchFamily="34" charset="0"/>
                        </a:rPr>
                        <a:t>“Tá an Ghaeilge ag dul ó neart go neart sna Sé Chontae.” Déan plé ar an tuairim sin.  </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10486563"/>
                  </a:ext>
                </a:extLst>
              </a:tr>
              <a:tr h="114537">
                <a:tc>
                  <a:txBody>
                    <a:bodyPr/>
                    <a:lstStyle/>
                    <a:p>
                      <a:pPr algn="just">
                        <a:lnSpc>
                          <a:spcPct val="107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 </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45815" marR="458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ga-IE" sz="1200" b="1">
                          <a:effectLst/>
                          <a:latin typeface="Calibri" panose="020F0502020204030204" pitchFamily="34" charset="0"/>
                          <a:ea typeface="Calibri" panose="020F0502020204030204" pitchFamily="34" charset="0"/>
                          <a:cs typeface="Calibri" panose="020F0502020204030204" pitchFamily="34" charset="0"/>
                        </a:rPr>
                        <a:t>Tionscnamh</a:t>
                      </a:r>
                      <a:endParaRPr lang="ga-IE" sz="1200">
                        <a:effectLst/>
                        <a:latin typeface="Calibri" panose="020F0502020204030204" pitchFamily="34" charset="0"/>
                        <a:ea typeface="Calibri" panose="020F0502020204030204" pitchFamily="34" charset="0"/>
                        <a:cs typeface="Times New Roman" panose="02020603050405020304" pitchFamily="18" charset="0"/>
                      </a:endParaRPr>
                    </a:p>
                  </a:txBody>
                  <a:tcPr marL="45815" marR="458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8744759"/>
                  </a:ext>
                </a:extLst>
              </a:tr>
              <a:tr h="0">
                <a:tc>
                  <a:txBody>
                    <a:bodyPr/>
                    <a:lstStyle/>
                    <a:p>
                      <a:pPr algn="ctr">
                        <a:lnSpc>
                          <a:spcPct val="107000"/>
                        </a:lnSpc>
                        <a:spcAft>
                          <a:spcPts val="800"/>
                        </a:spcAft>
                      </a:pPr>
                      <a:r>
                        <a:rPr lang="ga-IE" sz="1200" b="1" dirty="0">
                          <a:effectLst/>
                          <a:latin typeface="Calibri" panose="020F0502020204030204" pitchFamily="34" charset="0"/>
                          <a:ea typeface="Calibri" panose="020F0502020204030204" pitchFamily="34" charset="0"/>
                          <a:cs typeface="Calibri" panose="020F0502020204030204" pitchFamily="34" charset="0"/>
                        </a:rPr>
                        <a:t>1</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5" marR="458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ga-IE" sz="1200" dirty="0">
                          <a:effectLst/>
                          <a:latin typeface="Calibri" panose="020F0502020204030204" pitchFamily="34" charset="0"/>
                          <a:ea typeface="Calibri" panose="020F0502020204030204" pitchFamily="34" charset="0"/>
                          <a:cs typeface="Calibri" panose="020F0502020204030204" pitchFamily="34" charset="0"/>
                        </a:rPr>
                        <a:t>Cuir agallamh ar dhuine de na hOifigigh Pleanála Teanga. (Féach Aguisín 1)</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ga-IE" sz="1200" dirty="0">
                          <a:effectLst/>
                          <a:latin typeface="Calibri" panose="020F0502020204030204" pitchFamily="34" charset="0"/>
                          <a:ea typeface="Calibri" panose="020F0502020204030204" pitchFamily="34" charset="0"/>
                          <a:cs typeface="Calibri" panose="020F0502020204030204" pitchFamily="34" charset="0"/>
                        </a:rPr>
                        <a:t>Cad é mar atá ag éirí leis/léi? </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ga-IE" sz="1200" dirty="0">
                          <a:effectLst/>
                          <a:latin typeface="Calibri" panose="020F0502020204030204" pitchFamily="34" charset="0"/>
                          <a:ea typeface="Calibri" panose="020F0502020204030204" pitchFamily="34" charset="0"/>
                          <a:cs typeface="Calibri" panose="020F0502020204030204" pitchFamily="34" charset="0"/>
                        </a:rPr>
                        <a:t>Cad iad na dúshláin a bhaineann leis an obair atá idir lámha aige/aici?</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ga-IE" sz="1200" dirty="0">
                          <a:effectLst/>
                          <a:latin typeface="Calibri" panose="020F0502020204030204" pitchFamily="34" charset="0"/>
                          <a:ea typeface="Calibri" panose="020F0502020204030204" pitchFamily="34" charset="0"/>
                          <a:cs typeface="Calibri" panose="020F0502020204030204" pitchFamily="34" charset="0"/>
                        </a:rPr>
                        <a:t>An bhfuil moltaí ar bith agat a chuideodh leis/léi maidir leis an phleanáil teanga?</a:t>
                      </a:r>
                      <a:endParaRPr lang="ga-I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5" marR="458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238571"/>
                  </a:ext>
                </a:extLst>
              </a:tr>
            </a:tbl>
          </a:graphicData>
        </a:graphic>
      </p:graphicFrame>
      <p:sp>
        <p:nvSpPr>
          <p:cNvPr id="3" name="Rectangle 1">
            <a:extLst>
              <a:ext uri="{FF2B5EF4-FFF2-40B4-BE49-F238E27FC236}">
                <a16:creationId xmlns:a16="http://schemas.microsoft.com/office/drawing/2014/main" id="{C1B92E5D-BEAC-4C1D-AD81-3D571D5AA3A8}"/>
              </a:ext>
            </a:extLst>
          </p:cNvPr>
          <p:cNvSpPr>
            <a:spLocks noChangeArrowheads="1"/>
          </p:cNvSpPr>
          <p:nvPr/>
        </p:nvSpPr>
        <p:spPr bwMode="auto">
          <a:xfrm>
            <a:off x="4154035" y="6124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Ceisteanna don aiste/tionscnamh:</a:t>
            </a:r>
            <a:endParaRPr kumimoji="0" lang="ga-IE" altLang="ga-IE"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ga-IE" altLang="ga-IE" sz="1800" b="0" i="0" u="none" strike="noStrike" cap="none" normalizeH="0" baseline="0" dirty="0">
                <a:ln>
                  <a:noFill/>
                </a:ln>
                <a:solidFill>
                  <a:schemeClr val="tx1"/>
                </a:solidFill>
                <a:effectLst/>
                <a:latin typeface="Arial" panose="020B0604020202020204" pitchFamily="34" charset="0"/>
              </a:rPr>
            </a:br>
            <a:endParaRPr kumimoji="0" lang="ga-IE" altLang="ga-IE"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90BA59A6-0876-4E4C-83CD-43044FD0E2B9}"/>
              </a:ext>
            </a:extLst>
          </p:cNvPr>
          <p:cNvSpPr>
            <a:spLocks noChangeArrowheads="1"/>
          </p:cNvSpPr>
          <p:nvPr/>
        </p:nvSpPr>
        <p:spPr bwMode="auto">
          <a:xfrm>
            <a:off x="3936320" y="971550"/>
            <a:ext cx="4022725" cy="635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ga-IE"/>
          </a:p>
        </p:txBody>
      </p:sp>
      <p:sp>
        <p:nvSpPr>
          <p:cNvPr id="5" name="Rectangle 3">
            <a:extLst>
              <a:ext uri="{FF2B5EF4-FFF2-40B4-BE49-F238E27FC236}">
                <a16:creationId xmlns:a16="http://schemas.microsoft.com/office/drawing/2014/main" id="{0692B872-A8AD-4A36-8C5D-EB304F2A7C1C}"/>
              </a:ext>
            </a:extLst>
          </p:cNvPr>
          <p:cNvSpPr>
            <a:spLocks noChangeArrowheads="1"/>
          </p:cNvSpPr>
          <p:nvPr/>
        </p:nvSpPr>
        <p:spPr bwMode="auto">
          <a:xfrm>
            <a:off x="566056" y="6012515"/>
            <a:ext cx="1105262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1200" b="0" i="0" u="sng" strike="noStrike" cap="none" normalizeH="0" baseline="30000" dirty="0">
                <a:ln>
                  <a:noFill/>
                </a:ln>
                <a:solidFill>
                  <a:srgbClr val="954F72"/>
                </a:solidFill>
                <a:effectLst/>
                <a:ea typeface="Times New Roman" panose="02020603050405020304" pitchFamily="18" charset="0"/>
                <a:cs typeface="Calibri" panose="020F0502020204030204" pitchFamily="34" charset="0"/>
                <a:hlinkClick r:id="rId2"/>
              </a:rPr>
              <a:t>[</a:t>
            </a:r>
            <a:r>
              <a:rPr kumimoji="0" lang="ga-IE" altLang="ga-IE" sz="1200" b="0" i="0" u="sng" strike="noStrike" cap="none" normalizeH="0" baseline="30000" dirty="0" bmk="">
                <a:ln>
                  <a:noFill/>
                </a:ln>
                <a:solidFill>
                  <a:srgbClr val="954F72"/>
                </a:solidFill>
                <a:effectLst/>
                <a:ea typeface="Times New Roman" panose="02020603050405020304" pitchFamily="18" charset="0"/>
                <a:cs typeface="Calibri" panose="020F0502020204030204" pitchFamily="34" charset="0"/>
                <a:hlinkClick r:id="rId2"/>
              </a:rPr>
              <a:t>1]</a:t>
            </a:r>
            <a:r>
              <a:rPr kumimoji="0" lang="ga-IE" altLang="ga-IE" sz="1200" b="0" i="0" u="none" strike="noStrike" cap="none" normalizeH="0" baseline="0" dirty="0" bmk="">
                <a:ln>
                  <a:noFill/>
                </a:ln>
                <a:solidFill>
                  <a:schemeClr val="tx1"/>
                </a:solidFill>
                <a:effectLst/>
                <a:ea typeface="Times New Roman" panose="02020603050405020304" pitchFamily="18" charset="0"/>
                <a:cs typeface="Calibri" panose="020F0502020204030204" pitchFamily="34" charset="0"/>
              </a:rPr>
              <a:t> Is féidir staitisticí a fháil maidir le cainteoirí laethúla Gaeilge de réir toghroinne ar líne: </a:t>
            </a:r>
            <a:r>
              <a:rPr kumimoji="0" lang="ga-IE" altLang="ga-IE" sz="1200" b="0" i="0" u="none" strike="noStrike" cap="none" normalizeH="0" baseline="0" dirty="0" bmk="">
                <a:ln>
                  <a:noFill/>
                </a:ln>
                <a:solidFill>
                  <a:schemeClr val="tx1"/>
                </a:solidFill>
                <a:effectLst/>
                <a:ea typeface="Times New Roman" panose="02020603050405020304" pitchFamily="18" charset="0"/>
                <a:cs typeface="Calibri" panose="020F0502020204030204" pitchFamily="34" charset="0"/>
                <a:hlinkClick r:id="rId3"/>
              </a:rPr>
              <a:t>http://census.cso.ie/p10map51/ </a:t>
            </a:r>
            <a:endParaRPr kumimoji="0" lang="ga-IE" altLang="ga-IE" sz="1200" b="0" i="0" u="none" strike="noStrike" cap="none" normalizeH="0" baseline="0" dirty="0" bmk="">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1200" b="0" i="0" u="sng" strike="noStrike" cap="none" normalizeH="0" baseline="30000" dirty="0" bmk="">
                <a:ln>
                  <a:noFill/>
                </a:ln>
                <a:solidFill>
                  <a:srgbClr val="954F72"/>
                </a:solidFill>
                <a:effectLst/>
                <a:ea typeface="Times New Roman" panose="02020603050405020304" pitchFamily="18" charset="0"/>
                <a:cs typeface="Calibri" panose="020F0502020204030204" pitchFamily="34" charset="0"/>
                <a:hlinkClick r:id="rId4"/>
              </a:rPr>
              <a:t>[2]</a:t>
            </a:r>
            <a:r>
              <a:rPr kumimoji="0" lang="ga-IE" altLang="ga-IE" sz="1200" b="0" i="0" u="none" strike="noStrike" cap="none" normalizeH="0" baseline="0" dirty="0" bmk="">
                <a:ln>
                  <a:noFill/>
                </a:ln>
                <a:solidFill>
                  <a:schemeClr val="tx1"/>
                </a:solidFill>
                <a:effectLst/>
                <a:ea typeface="Times New Roman" panose="02020603050405020304" pitchFamily="18" charset="0"/>
                <a:cs typeface="Calibri" panose="020F0502020204030204" pitchFamily="34" charset="0"/>
              </a:rPr>
              <a:t> </a:t>
            </a:r>
            <a:r>
              <a:rPr kumimoji="0" lang="ga-IE" altLang="ga-IE" sz="1200" b="0" i="0" u="none" strike="noStrike" cap="none" normalizeH="0" baseline="0" dirty="0" bmk="">
                <a:ln>
                  <a:noFill/>
                </a:ln>
                <a:solidFill>
                  <a:schemeClr val="tx1"/>
                </a:solidFill>
                <a:effectLst/>
                <a:ea typeface="Times New Roman" panose="02020603050405020304" pitchFamily="18" charset="0"/>
                <a:cs typeface="Calibri" panose="020F0502020204030204" pitchFamily="34" charset="0"/>
                <a:hlinkClick r:id="rId5"/>
              </a:rPr>
              <a:t>https://www.pressreader.com/ireland/irish-independent-seachtain/20171129/281487866666606 </a:t>
            </a:r>
            <a:endParaRPr kumimoji="0" lang="ga-IE" altLang="ga-IE" sz="1200" b="0" i="0" u="none" strike="noStrike" cap="none" normalizeH="0" baseline="0" dirty="0" bmk="">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1200" b="0" i="0" u="sng" strike="noStrike" cap="none" normalizeH="0" baseline="30000" dirty="0" bmk="">
                <a:ln>
                  <a:noFill/>
                </a:ln>
                <a:solidFill>
                  <a:srgbClr val="954F72"/>
                </a:solidFill>
                <a:effectLst/>
                <a:ea typeface="Times New Roman" panose="02020603050405020304" pitchFamily="18" charset="0"/>
                <a:cs typeface="Calibri" panose="020F0502020204030204" pitchFamily="34" charset="0"/>
                <a:hlinkClick r:id="rId6"/>
              </a:rPr>
              <a:t>[3]</a:t>
            </a:r>
            <a:r>
              <a:rPr kumimoji="0" lang="ga-IE" altLang="ga-IE" sz="1200" b="0" i="0" u="none" strike="noStrike" cap="none" normalizeH="0" baseline="0" dirty="0">
                <a:ln>
                  <a:noFill/>
                </a:ln>
                <a:solidFill>
                  <a:schemeClr val="tx1"/>
                </a:solidFill>
                <a:effectLst/>
                <a:ea typeface="Times New Roman" panose="02020603050405020304" pitchFamily="18" charset="0"/>
                <a:cs typeface="Calibri" panose="020F0502020204030204" pitchFamily="34" charset="0"/>
              </a:rPr>
              <a:t> </a:t>
            </a:r>
            <a:r>
              <a:rPr kumimoji="0" lang="ga-IE" altLang="ga-IE" sz="1200" b="0" i="0" u="none" strike="noStrike" cap="none" normalizeH="0" baseline="0" dirty="0">
                <a:ln>
                  <a:noFill/>
                </a:ln>
                <a:solidFill>
                  <a:schemeClr val="tx1"/>
                </a:solidFill>
                <a:effectLst/>
                <a:ea typeface="Times New Roman" panose="02020603050405020304" pitchFamily="18" charset="0"/>
                <a:cs typeface="Calibri" panose="020F0502020204030204" pitchFamily="34" charset="0"/>
                <a:hlinkClick r:id="rId7"/>
              </a:rPr>
              <a:t>https://udaras.ie/2019/02/06/ochtar-oifigigh-pleanala-teanga-ceaptha-ar-fud-na-tire/</a:t>
            </a:r>
            <a:r>
              <a:rPr kumimoji="0" lang="en-IE" altLang="ga-IE" sz="1200" b="0" i="0" u="none" strike="noStrike" cap="none" normalizeH="0" baseline="0" dirty="0">
                <a:ln>
                  <a:noFill/>
                </a:ln>
                <a:solidFill>
                  <a:schemeClr val="tx1"/>
                </a:solidFill>
                <a:effectLst/>
                <a:ea typeface="Times New Roman" panose="02020603050405020304" pitchFamily="18" charset="0"/>
                <a:cs typeface="Calibri" panose="020F0502020204030204" pitchFamily="34" charset="0"/>
                <a:hlinkClick r:id="rId7"/>
              </a:rPr>
              <a:t>                                                                                                  </a:t>
            </a:r>
            <a:endParaRPr kumimoji="0" lang="en-IE" altLang="ga-IE" sz="1200" b="0" i="0" u="none" strike="noStrike" cap="none" normalizeH="0" baseline="0" dirty="0">
              <a:ln>
                <a:noFill/>
              </a:ln>
              <a:solidFill>
                <a:schemeClr val="tx1"/>
              </a:solidFill>
              <a:effectLst/>
              <a:ea typeface="Times New Roman" panose="02020603050405020304" pitchFamily="18"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ga-IE" altLang="ga-IE" sz="1200" b="0" i="0" u="none" strike="noStrike" cap="none" normalizeH="0" baseline="0" dirty="0">
                <a:ln>
                  <a:noFill/>
                </a:ln>
                <a:solidFill>
                  <a:schemeClr val="tx1"/>
                </a:solidFill>
                <a:effectLst/>
                <a:ea typeface="Times New Roman" panose="02020603050405020304" pitchFamily="18" charset="0"/>
                <a:cs typeface="Calibri" panose="020F0502020204030204" pitchFamily="34" charset="0"/>
              </a:rPr>
              <a:t>B’fhiú teagmháil a dhéanamh le </a:t>
            </a:r>
            <a:r>
              <a:rPr kumimoji="0" lang="ga-IE" altLang="ga-IE" sz="1200" b="0" i="0" u="none" strike="noStrike" cap="none" normalizeH="0" baseline="0" dirty="0" err="1">
                <a:ln>
                  <a:noFill/>
                </a:ln>
                <a:solidFill>
                  <a:schemeClr val="tx1"/>
                </a:solidFill>
                <a:effectLst/>
                <a:ea typeface="Times New Roman" panose="02020603050405020304" pitchFamily="18" charset="0"/>
                <a:cs typeface="Calibri" panose="020F0502020204030204" pitchFamily="34" charset="0"/>
              </a:rPr>
              <a:t>hÚdarás</a:t>
            </a:r>
            <a:r>
              <a:rPr kumimoji="0" lang="ga-IE" altLang="ga-IE" sz="1200" b="0" i="0" u="none" strike="noStrike" cap="none" normalizeH="0" baseline="0" dirty="0">
                <a:ln>
                  <a:noFill/>
                </a:ln>
                <a:solidFill>
                  <a:schemeClr val="tx1"/>
                </a:solidFill>
                <a:effectLst/>
                <a:ea typeface="Times New Roman" panose="02020603050405020304" pitchFamily="18" charset="0"/>
                <a:cs typeface="Calibri" panose="020F0502020204030204" pitchFamily="34" charset="0"/>
              </a:rPr>
              <a:t> na Gaeltachta leis na sonraí is déanaí a fháil faoi Oifigigh Pleanála Teanga</a:t>
            </a:r>
            <a:r>
              <a:rPr kumimoji="0" lang="ga-IE" altLang="ga-IE" sz="8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a:t>
            </a:r>
            <a:endParaRPr kumimoji="0" lang="ga-IE" altLang="ga-I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52563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ábla 1">
            <a:extLst>
              <a:ext uri="{FF2B5EF4-FFF2-40B4-BE49-F238E27FC236}">
                <a16:creationId xmlns:a16="http://schemas.microsoft.com/office/drawing/2014/main" id="{F4F5ADA9-FEA6-4CE8-BB8C-CA826B1D9122}"/>
              </a:ext>
            </a:extLst>
          </p:cNvPr>
          <p:cNvGraphicFramePr>
            <a:graphicFrameLocks noGrp="1"/>
          </p:cNvGraphicFramePr>
          <p:nvPr>
            <p:extLst>
              <p:ext uri="{D42A27DB-BD31-4B8C-83A1-F6EECF244321}">
                <p14:modId xmlns:p14="http://schemas.microsoft.com/office/powerpoint/2010/main" val="1815344700"/>
              </p:ext>
            </p:extLst>
          </p:nvPr>
        </p:nvGraphicFramePr>
        <p:xfrm>
          <a:off x="322943" y="1197429"/>
          <a:ext cx="11546114" cy="4486508"/>
        </p:xfrm>
        <a:graphic>
          <a:graphicData uri="http://schemas.openxmlformats.org/drawingml/2006/table">
            <a:tbl>
              <a:tblPr firstRow="1" firstCol="1" bandRow="1"/>
              <a:tblGrid>
                <a:gridCol w="861029">
                  <a:extLst>
                    <a:ext uri="{9D8B030D-6E8A-4147-A177-3AD203B41FA5}">
                      <a16:colId xmlns:a16="http://schemas.microsoft.com/office/drawing/2014/main" val="3980324098"/>
                    </a:ext>
                  </a:extLst>
                </a:gridCol>
                <a:gridCol w="568628">
                  <a:extLst>
                    <a:ext uri="{9D8B030D-6E8A-4147-A177-3AD203B41FA5}">
                      <a16:colId xmlns:a16="http://schemas.microsoft.com/office/drawing/2014/main" val="2352067184"/>
                    </a:ext>
                  </a:extLst>
                </a:gridCol>
                <a:gridCol w="3131457">
                  <a:extLst>
                    <a:ext uri="{9D8B030D-6E8A-4147-A177-3AD203B41FA5}">
                      <a16:colId xmlns:a16="http://schemas.microsoft.com/office/drawing/2014/main" val="653595324"/>
                    </a:ext>
                  </a:extLst>
                </a:gridCol>
                <a:gridCol w="2801257">
                  <a:extLst>
                    <a:ext uri="{9D8B030D-6E8A-4147-A177-3AD203B41FA5}">
                      <a16:colId xmlns:a16="http://schemas.microsoft.com/office/drawing/2014/main" val="639400126"/>
                    </a:ext>
                  </a:extLst>
                </a:gridCol>
                <a:gridCol w="4183743">
                  <a:extLst>
                    <a:ext uri="{9D8B030D-6E8A-4147-A177-3AD203B41FA5}">
                      <a16:colId xmlns:a16="http://schemas.microsoft.com/office/drawing/2014/main" val="2294874842"/>
                    </a:ext>
                  </a:extLst>
                </a:gridCol>
              </a:tblGrid>
              <a:tr h="425640">
                <a:tc>
                  <a:txBody>
                    <a:bodyPr/>
                    <a:lstStyle/>
                    <a:p>
                      <a:pPr algn="just"/>
                      <a:r>
                        <a:rPr lang="ga-IE" sz="2000" b="1" dirty="0">
                          <a:effectLst/>
                          <a:latin typeface="Calibri" panose="020F0502020204030204" pitchFamily="34" charset="0"/>
                          <a:ea typeface="Times New Roman" panose="02020603050405020304" pitchFamily="18" charset="0"/>
                          <a:cs typeface="Times New Roman" panose="02020603050405020304" pitchFamily="18" charset="0"/>
                        </a:rPr>
                        <a:t>Contae</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2000" b="1" dirty="0">
                          <a:effectLst/>
                          <a:latin typeface="Calibri" panose="020F0502020204030204" pitchFamily="34" charset="0"/>
                          <a:ea typeface="Times New Roman" panose="02020603050405020304" pitchFamily="18" charset="0"/>
                          <a:cs typeface="Times New Roman" panose="02020603050405020304" pitchFamily="18" charset="0"/>
                        </a:rPr>
                        <a:t> </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2000" b="1">
                          <a:effectLst/>
                          <a:latin typeface="Calibri" panose="020F0502020204030204" pitchFamily="34" charset="0"/>
                          <a:ea typeface="Times New Roman" panose="02020603050405020304" pitchFamily="18" charset="0"/>
                          <a:cs typeface="Times New Roman" panose="02020603050405020304" pitchFamily="18" charset="0"/>
                        </a:rPr>
                        <a:t>Limistéar Pleanála Teanga</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2000" b="1">
                          <a:effectLst/>
                          <a:latin typeface="Calibri" panose="020F0502020204030204" pitchFamily="34" charset="0"/>
                          <a:ea typeface="Times New Roman" panose="02020603050405020304" pitchFamily="18" charset="0"/>
                          <a:cs typeface="Times New Roman" panose="02020603050405020304" pitchFamily="18" charset="0"/>
                        </a:rPr>
                        <a:t>Ceanneagraíocht                           </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2000" b="1" dirty="0">
                          <a:effectLst/>
                          <a:latin typeface="Calibri" panose="020F0502020204030204" pitchFamily="34" charset="0"/>
                          <a:ea typeface="Times New Roman" panose="02020603050405020304" pitchFamily="18" charset="0"/>
                          <a:cs typeface="Times New Roman" panose="02020603050405020304" pitchFamily="18" charset="0"/>
                        </a:rPr>
                        <a:t>Breis Eolais/Sonraí Teagmhála</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50304275"/>
                  </a:ext>
                </a:extLst>
              </a:tr>
              <a:tr h="176164">
                <a:tc rowSpan="8">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 </a:t>
                      </a:r>
                    </a:p>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 </a:t>
                      </a:r>
                    </a:p>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 </a:t>
                      </a:r>
                    </a:p>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 </a:t>
                      </a:r>
                    </a:p>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Dún na nGall</a:t>
                      </a:r>
                    </a:p>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 </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1</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Tuaisceart Dhún na nGall</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Céim Aniar Teoranta</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2"/>
                        </a:rPr>
                        <a:t>https://udaras.ie/eolaire/ceim-aniar/</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3179926"/>
                  </a:ext>
                </a:extLst>
              </a:tr>
              <a:tr h="352327">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2</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Gaoth Dobhair, Rann na Feirste, Anagaire agus Loch an Iúir</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Meitheal Pleanála Teanga an Iarthuaiscirt,                                  f/ch Comharchumann Forbartha Ghaoth Dobhair Teo</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3"/>
                        </a:rPr>
                        <a:t>http://mptiarthuaiscirt.ie/?page_id=18</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57232773"/>
                  </a:ext>
                </a:extLst>
              </a:tr>
              <a:tr h="440409">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3</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Cloich Chionnaola, Gort an Choirce, An Fál Carrach agus Machaire Rabhartaigh</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Pobal </a:t>
                      </a:r>
                      <a:r>
                        <a:rPr lang="ga-IE" sz="1200" b="0" dirty="0" err="1">
                          <a:effectLst/>
                          <a:latin typeface="Calibri" panose="020F0502020204030204" pitchFamily="34" charset="0"/>
                          <a:ea typeface="Times New Roman" panose="02020603050405020304" pitchFamily="18" charset="0"/>
                          <a:cs typeface="Times New Roman" panose="02020603050405020304" pitchFamily="18" charset="0"/>
                        </a:rPr>
                        <a:t>Eascarrach</a:t>
                      </a: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 Teo,                  An </a:t>
                      </a:r>
                      <a:r>
                        <a:rPr lang="ga-IE" sz="1200" b="0" dirty="0" err="1">
                          <a:effectLst/>
                          <a:latin typeface="Calibri" panose="020F0502020204030204" pitchFamily="34" charset="0"/>
                          <a:ea typeface="Times New Roman" panose="02020603050405020304" pitchFamily="18" charset="0"/>
                          <a:cs typeface="Times New Roman" panose="02020603050405020304" pitchFamily="18" charset="0"/>
                        </a:rPr>
                        <a:t>tSean-Bheairic</a:t>
                      </a: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 Teo               agus Coiste Pobail                     Ghort a’ Choirce</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4"/>
                        </a:rPr>
                        <a:t>https://udaras.ie/eolaire/pobal-eascarrach-ctr/</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7484527"/>
                  </a:ext>
                </a:extLst>
              </a:tr>
              <a:tr h="211396">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4</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Na Rosa</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Forbairt na Rosann 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tabLst>
                          <a:tab pos="280035" algn="l"/>
                        </a:tabLst>
                      </a:pPr>
                      <a:r>
                        <a:rPr lang="ga-IE" sz="1200" b="0" u="sng">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5"/>
                        </a:rPr>
                        <a:t>https://udaras.ie/an-ghaeilge-an-ghaeltacht/limisteir-pleanala-teanga/dun-na-ngall/na-rosa/</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2977745"/>
                  </a:ext>
                </a:extLst>
              </a:tr>
              <a:tr h="176164">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5</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Árainn Mhór</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Comharchumann Oileán Árainn Mhóir 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6"/>
                        </a:rPr>
                        <a:t>https://udaras.ie/eolaire/comharchumann-arainn-mhoir-teo/</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74039885"/>
                  </a:ext>
                </a:extLst>
              </a:tr>
              <a:tr h="352327">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6</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An Ghaeltacht Láir</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Gleann Fhinne Faoi Theorainn </a:t>
                      </a:r>
                      <a:r>
                        <a:rPr lang="ga-IE" sz="1200" b="0" dirty="0" err="1">
                          <a:effectLst/>
                          <a:latin typeface="Calibri" panose="020F0502020204030204" pitchFamily="34" charset="0"/>
                          <a:ea typeface="Times New Roman" panose="02020603050405020304" pitchFamily="18" charset="0"/>
                          <a:cs typeface="Times New Roman" panose="02020603050405020304" pitchFamily="18" charset="0"/>
                        </a:rPr>
                        <a:t>Rathaíochta</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7"/>
                        </a:rPr>
                        <a:t>https://udaras.ie/an-ghaeilge-an-ghaeltacht/limisteir-pleanala-teanga/dun-na-ngall/an-ghaeltacht-lair/</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p>
                      <a:pPr algn="ctr"/>
                      <a:r>
                        <a:rPr lang="ga-IE" sz="1200" b="0" u="sng">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8"/>
                        </a:rPr>
                        <a:t>https://www.facebook.com/AnGhaeltachtLair/</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56843216"/>
                  </a:ext>
                </a:extLst>
              </a:tr>
              <a:tr h="176164">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7</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Dún na nGall Theas</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Lár Chomhairle Paróiste Ghleann Cholm Cille Teoranta</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9"/>
                        </a:rPr>
                        <a:t>https://udaras.ie/eolaire/lar-chomhairle-paroiste-ghleann-cholm-cille/</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4251846"/>
                  </a:ext>
                </a:extLst>
              </a:tr>
              <a:tr h="140931">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8</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Toraigh</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Comharchumann Thoraí 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10"/>
                        </a:rPr>
                        <a:t>https://udaras.ie/eolaire/comharchumann-thorai-teo/</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4630785"/>
                  </a:ext>
                </a:extLst>
              </a:tr>
              <a:tr h="264245">
                <a:tc rowSpan="2">
                  <a:txBody>
                    <a:bodyPr/>
                    <a:lstStyle/>
                    <a:p>
                      <a:pPr algn="ctr"/>
                      <a:r>
                        <a:rPr lang="ga-IE" sz="1200" b="1" dirty="0">
                          <a:effectLst/>
                          <a:latin typeface="Calibri" panose="020F0502020204030204" pitchFamily="34" charset="0"/>
                          <a:ea typeface="Times New Roman" panose="02020603050405020304" pitchFamily="18" charset="0"/>
                          <a:cs typeface="Times New Roman" panose="02020603050405020304" pitchFamily="18" charset="0"/>
                        </a:rPr>
                        <a:t>Maigh Eo</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9</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Maigh Eo Thuaidh</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Gaeilge Iorrais, f/ch Comharchumann Forbartha Ionad Deirbhile Eachléim 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11"/>
                        </a:rPr>
                        <a:t>http://ionaddeirbhile.ie/</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p>
                      <a:pPr algn="ctr"/>
                      <a:r>
                        <a:rPr lang="ga-IE" sz="1200" b="0" u="sng">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12"/>
                        </a:rPr>
                        <a:t>http://www.gaeilgeiorrais.ie/</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2248172"/>
                  </a:ext>
                </a:extLst>
              </a:tr>
              <a:tr h="769028">
                <a:tc vMerge="1">
                  <a:txBody>
                    <a:bodyPr/>
                    <a:lstStyle/>
                    <a:p>
                      <a:endParaRPr lang="ga-IE"/>
                    </a:p>
                  </a:txBody>
                  <a:tcPr/>
                </a:tc>
                <a:tc>
                  <a:txBody>
                    <a:bodyPr/>
                    <a:lstStyle/>
                    <a:p>
                      <a:pPr algn="ctr"/>
                      <a:r>
                        <a:rPr lang="ga-IE" sz="1200" b="1" dirty="0">
                          <a:effectLst/>
                          <a:latin typeface="Calibri" panose="020F0502020204030204" pitchFamily="34" charset="0"/>
                          <a:ea typeface="Times New Roman" panose="02020603050405020304" pitchFamily="18" charset="0"/>
                          <a:cs typeface="Times New Roman" panose="02020603050405020304" pitchFamily="18" charset="0"/>
                        </a:rPr>
                        <a:t>10</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Maigh Eo Thiar</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err="1">
                          <a:effectLst/>
                          <a:latin typeface="Calibri" panose="020F0502020204030204" pitchFamily="34" charset="0"/>
                          <a:ea typeface="Times New Roman" panose="02020603050405020304" pitchFamily="18" charset="0"/>
                          <a:cs typeface="Times New Roman" panose="02020603050405020304" pitchFamily="18" charset="0"/>
                        </a:rPr>
                        <a:t>Comhlucht</a:t>
                      </a: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 Forbartha Áitiúil Acla 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13"/>
                        </a:rPr>
                        <a:t>https://udaras.ie/eolaire/comhlacht-forbartha-aitiuil-acla/</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5692610"/>
                  </a:ext>
                </a:extLst>
              </a:tr>
            </a:tbl>
          </a:graphicData>
        </a:graphic>
      </p:graphicFrame>
    </p:spTree>
    <p:extLst>
      <p:ext uri="{BB962C8B-B14F-4D97-AF65-F5344CB8AC3E}">
        <p14:creationId xmlns:p14="http://schemas.microsoft.com/office/powerpoint/2010/main" val="4197566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ábla 1">
            <a:extLst>
              <a:ext uri="{FF2B5EF4-FFF2-40B4-BE49-F238E27FC236}">
                <a16:creationId xmlns:a16="http://schemas.microsoft.com/office/drawing/2014/main" id="{534378B4-B3E4-4453-99A3-C3C3C966BE85}"/>
              </a:ext>
            </a:extLst>
          </p:cNvPr>
          <p:cNvGraphicFramePr>
            <a:graphicFrameLocks noGrp="1"/>
          </p:cNvGraphicFramePr>
          <p:nvPr>
            <p:extLst>
              <p:ext uri="{D42A27DB-BD31-4B8C-83A1-F6EECF244321}">
                <p14:modId xmlns:p14="http://schemas.microsoft.com/office/powerpoint/2010/main" val="1546717702"/>
              </p:ext>
            </p:extLst>
          </p:nvPr>
        </p:nvGraphicFramePr>
        <p:xfrm>
          <a:off x="257629" y="1317625"/>
          <a:ext cx="11546114" cy="4572000"/>
        </p:xfrm>
        <a:graphic>
          <a:graphicData uri="http://schemas.openxmlformats.org/drawingml/2006/table">
            <a:tbl>
              <a:tblPr firstRow="1" firstCol="1" bandRow="1"/>
              <a:tblGrid>
                <a:gridCol w="861029">
                  <a:extLst>
                    <a:ext uri="{9D8B030D-6E8A-4147-A177-3AD203B41FA5}">
                      <a16:colId xmlns:a16="http://schemas.microsoft.com/office/drawing/2014/main" val="196571414"/>
                    </a:ext>
                  </a:extLst>
                </a:gridCol>
                <a:gridCol w="499685">
                  <a:extLst>
                    <a:ext uri="{9D8B030D-6E8A-4147-A177-3AD203B41FA5}">
                      <a16:colId xmlns:a16="http://schemas.microsoft.com/office/drawing/2014/main" val="738691656"/>
                    </a:ext>
                  </a:extLst>
                </a:gridCol>
                <a:gridCol w="1988457">
                  <a:extLst>
                    <a:ext uri="{9D8B030D-6E8A-4147-A177-3AD203B41FA5}">
                      <a16:colId xmlns:a16="http://schemas.microsoft.com/office/drawing/2014/main" val="834745113"/>
                    </a:ext>
                  </a:extLst>
                </a:gridCol>
                <a:gridCol w="3447143">
                  <a:extLst>
                    <a:ext uri="{9D8B030D-6E8A-4147-A177-3AD203B41FA5}">
                      <a16:colId xmlns:a16="http://schemas.microsoft.com/office/drawing/2014/main" val="1097958214"/>
                    </a:ext>
                  </a:extLst>
                </a:gridCol>
                <a:gridCol w="4749800">
                  <a:extLst>
                    <a:ext uri="{9D8B030D-6E8A-4147-A177-3AD203B41FA5}">
                      <a16:colId xmlns:a16="http://schemas.microsoft.com/office/drawing/2014/main" val="3271778215"/>
                    </a:ext>
                  </a:extLst>
                </a:gridCol>
              </a:tblGrid>
              <a:tr h="140931">
                <a:tc rowSpan="10">
                  <a:txBody>
                    <a:bodyPr/>
                    <a:lstStyle/>
                    <a:p>
                      <a:r>
                        <a:rPr lang="ga-IE" sz="1200" b="1" dirty="0">
                          <a:effectLst/>
                          <a:latin typeface="Calibri" panose="020F0502020204030204" pitchFamily="34" charset="0"/>
                          <a:ea typeface="Times New Roman" panose="02020603050405020304" pitchFamily="18" charset="0"/>
                          <a:cs typeface="Times New Roman" panose="02020603050405020304" pitchFamily="18" charset="0"/>
                        </a:rPr>
                        <a:t>Gaillimh</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1" dirty="0">
                          <a:effectLst/>
                          <a:latin typeface="Calibri" panose="020F0502020204030204" pitchFamily="34" charset="0"/>
                          <a:ea typeface="Times New Roman" panose="02020603050405020304" pitchFamily="18" charset="0"/>
                          <a:cs typeface="Times New Roman" panose="02020603050405020304" pitchFamily="18" charset="0"/>
                        </a:rPr>
                        <a:t>11</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Oileáin Árann</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Comhar </a:t>
                      </a:r>
                      <a:r>
                        <a:rPr lang="ga-IE" sz="1200" b="0" dirty="0" err="1">
                          <a:effectLst/>
                          <a:latin typeface="Calibri" panose="020F0502020204030204" pitchFamily="34" charset="0"/>
                          <a:ea typeface="Times New Roman" panose="02020603050405020304" pitchFamily="18" charset="0"/>
                          <a:cs typeface="Times New Roman" panose="02020603050405020304" pitchFamily="18" charset="0"/>
                        </a:rPr>
                        <a:t>Caomhán</a:t>
                      </a: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 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2"/>
                        </a:rPr>
                        <a:t>https://udaras.ie/eolaire/comhar-caomhan-teo/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2042033"/>
                  </a:ext>
                </a:extLst>
              </a:tr>
              <a:tr h="140931">
                <a:tc vMerge="1">
                  <a:txBody>
                    <a:bodyPr/>
                    <a:lstStyle/>
                    <a:p>
                      <a:endParaRPr lang="ga-IE"/>
                    </a:p>
                  </a:txBody>
                  <a:tcPr/>
                </a:tc>
                <a:tc>
                  <a:txBody>
                    <a:bodyPr/>
                    <a:lstStyle/>
                    <a:p>
                      <a:pPr algn="ctr"/>
                      <a:r>
                        <a:rPr lang="ga-IE" sz="1200" b="1" dirty="0">
                          <a:effectLst/>
                          <a:latin typeface="Calibri" panose="020F0502020204030204" pitchFamily="34" charset="0"/>
                          <a:ea typeface="Times New Roman" panose="02020603050405020304" pitchFamily="18" charset="0"/>
                          <a:cs typeface="Times New Roman" panose="02020603050405020304" pitchFamily="18" charset="0"/>
                        </a:rPr>
                        <a:t>12</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Ceantar na nOileán</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Comhairle Ceantar na nOileán 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3"/>
                        </a:rPr>
                        <a:t>https://udaras.ie/eolaire/comhairle-ceantar-na-noilean-teo/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4486632"/>
                  </a:ext>
                </a:extLst>
              </a:tr>
              <a:tr h="140931">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13</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An Cheathrú Rua</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Comharchumann Mhic Dara</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4"/>
                        </a:rPr>
                        <a:t>https://udaras.ie/eolaire/comharchumann-mhic-dara/</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8729268"/>
                  </a:ext>
                </a:extLst>
              </a:tr>
              <a:tr h="140931">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14</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Conamara Láir</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Forbairt Chonamara Láir 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5"/>
                        </a:rPr>
                        <a:t>https://udaras.ie/eolaire/forbairt-chonamara-lair-teo/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995758"/>
                  </a:ext>
                </a:extLst>
              </a:tr>
              <a:tr h="264245">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15</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Dúiche Sheoigheach agus Tuar Mhic Éadaigh</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Comharchumann </a:t>
                      </a:r>
                      <a:r>
                        <a:rPr lang="ga-IE" sz="1200" b="0" dirty="0" err="1">
                          <a:effectLst/>
                          <a:latin typeface="Calibri" panose="020F0502020204030204" pitchFamily="34" charset="0"/>
                          <a:ea typeface="Times New Roman" panose="02020603050405020304" pitchFamily="18" charset="0"/>
                          <a:cs typeface="Times New Roman" panose="02020603050405020304" pitchFamily="18" charset="0"/>
                        </a:rPr>
                        <a:t>Dhúiche</a:t>
                      </a: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 Sheoigheach 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6"/>
                        </a:rPr>
                        <a:t>https://udaras.ie/eolaire/comharchumann-dhuiche-sheoigheach/</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3746371"/>
                  </a:ext>
                </a:extLst>
              </a:tr>
              <a:tr h="440409">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16</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Cois Fharraige</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Fóram Chois Fharraige um Phleanáil Teanga                    (faoi chúram Chomharchumann </a:t>
                      </a:r>
                      <a:r>
                        <a:rPr lang="ga-IE" sz="1200" b="0" dirty="0" err="1">
                          <a:effectLst/>
                          <a:latin typeface="Calibri" panose="020F0502020204030204" pitchFamily="34" charset="0"/>
                          <a:ea typeface="Times New Roman" panose="02020603050405020304" pitchFamily="18" charset="0"/>
                          <a:cs typeface="Times New Roman" panose="02020603050405020304" pitchFamily="18" charset="0"/>
                        </a:rPr>
                        <a:t>Shailearna</a:t>
                      </a: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 agus Chomhlacht Forbartha an Spidéil 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7"/>
                        </a:rPr>
                        <a:t>https://udaras.ie/eolaire/comharchumann-shailearna/</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9140843"/>
                  </a:ext>
                </a:extLst>
              </a:tr>
              <a:tr h="140931">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17</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Maigh Cuilinn</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Forbairt Mhaigh Cuilinn 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8"/>
                        </a:rPr>
                        <a:t>https://udaras.ie/eolaire/forbairt-pobal-mhaigh-cuilinn/</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5574367"/>
                  </a:ext>
                </a:extLst>
              </a:tr>
              <a:tr h="352327">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18</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Bearna agus Cnoc                         na Cathrach</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Coiste Pleanála Teanga Bhearna                                         &amp;                                                                                        Chnoc na Cathrach</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9"/>
                        </a:rPr>
                        <a:t>https://udaras.ie/an-ghaeilge-an-ghaeltacht/limisteir-pleanala-teanga/gaillimh/bearna-agus-%E2%80%A8cnoc-na-cathrach/</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10"/>
                        </a:rPr>
                        <a:t>http://ptbc.ie/</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0956590"/>
                  </a:ext>
                </a:extLst>
              </a:tr>
              <a:tr h="281861">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19</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Oirthear Chathair                              na Gaillimhe</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An Bruach Thoir</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11"/>
                        </a:rPr>
                        <a:t>https://udaras.ie/an-ghaeilge-an-ghaeltacht/limisteir-pleanala-teanga/gaillimh/cathair-na-gaillimhe/</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12"/>
                        </a:rPr>
                        <a:t>http://bruachthoir.ie/</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3688380"/>
                  </a:ext>
                </a:extLst>
              </a:tr>
              <a:tr h="176164">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20</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An tEachréidh</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Coiste Stiúrtha Plean Teanga an </a:t>
                      </a:r>
                      <a:r>
                        <a:rPr lang="ga-IE" sz="1200" b="0" dirty="0" err="1">
                          <a:effectLst/>
                          <a:latin typeface="Calibri" panose="020F0502020204030204" pitchFamily="34" charset="0"/>
                          <a:ea typeface="Times New Roman" panose="02020603050405020304" pitchFamily="18" charset="0"/>
                          <a:cs typeface="Times New Roman" panose="02020603050405020304" pitchFamily="18" charset="0"/>
                        </a:rPr>
                        <a:t>Eachréidh</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13"/>
                        </a:rPr>
                        <a:t>http://claregalway.info/plean-teanga-2020-2027/</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2583334"/>
                  </a:ext>
                </a:extLst>
              </a:tr>
              <a:tr h="176164">
                <a:tc rowSpan="2">
                  <a:txBody>
                    <a:bodyPr/>
                    <a:lstStyle/>
                    <a:p>
                      <a:pPr algn="just"/>
                      <a:r>
                        <a:rPr lang="ga-IE" sz="1200" b="1">
                          <a:effectLst/>
                          <a:latin typeface="Calibri" panose="020F0502020204030204" pitchFamily="34" charset="0"/>
                          <a:ea typeface="Times New Roman" panose="02020603050405020304" pitchFamily="18" charset="0"/>
                          <a:cs typeface="Times New Roman" panose="02020603050405020304" pitchFamily="18" charset="0"/>
                        </a:rPr>
                        <a:t>Ciarraí</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21</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Ciarraí Thiar</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Comharchumann Forbartha Chorca Dhuibhne Teo</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14"/>
                        </a:rPr>
                        <a:t>https://udaras.ie/eolaire/comharchumann-forbartha-chorca-dhuibhne-teo/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9981189"/>
                  </a:ext>
                </a:extLst>
              </a:tr>
              <a:tr h="176164">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22</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Ciarraí Theas</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Comhchoiste Ghaeltachtaí Chiarraí Theas Teo</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15"/>
                        </a:rPr>
                        <a:t>http://www.uibhrathach.ie/</a:t>
                      </a: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 </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7774886"/>
                  </a:ext>
                </a:extLst>
              </a:tr>
              <a:tr h="176164">
                <a:tc rowSpan="2">
                  <a:txBody>
                    <a:bodyPr/>
                    <a:lstStyle/>
                    <a:p>
                      <a:pPr algn="just"/>
                      <a:r>
                        <a:rPr lang="ga-IE" sz="1200" b="1">
                          <a:effectLst/>
                          <a:latin typeface="Calibri" panose="020F0502020204030204" pitchFamily="34" charset="0"/>
                          <a:ea typeface="Times New Roman" panose="02020603050405020304" pitchFamily="18" charset="0"/>
                          <a:cs typeface="Times New Roman" panose="02020603050405020304" pitchFamily="18" charset="0"/>
                        </a:rPr>
                        <a:t>Corcaigh</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23</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Múscraí</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Comharchumann Forbartha Mhúscraí Teo</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16"/>
                        </a:rPr>
                        <a:t>https://udaras.ie/eolaire/comharchumann-forbartha-mhuscrai/</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8274768"/>
                  </a:ext>
                </a:extLst>
              </a:tr>
              <a:tr h="140931">
                <a:tc vMerge="1">
                  <a:txBody>
                    <a:bodyPr/>
                    <a:lstStyle/>
                    <a:p>
                      <a:endParaRPr lang="ga-IE"/>
                    </a:p>
                  </a:txBody>
                  <a:tcPr/>
                </a:tc>
                <a:tc>
                  <a:txBody>
                    <a:bodyPr/>
                    <a:lstStyle/>
                    <a:p>
                      <a:pPr algn="ctr"/>
                      <a:r>
                        <a:rPr lang="ga-IE" sz="1200" b="1">
                          <a:effectLst/>
                          <a:latin typeface="Calibri" panose="020F0502020204030204" pitchFamily="34" charset="0"/>
                          <a:ea typeface="Times New Roman" panose="02020603050405020304" pitchFamily="18" charset="0"/>
                          <a:cs typeface="Times New Roman" panose="02020603050405020304" pitchFamily="18" charset="0"/>
                        </a:rPr>
                        <a:t>24</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Cléire</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Comharchumann Chléire Teo</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17"/>
                        </a:rPr>
                        <a:t>https://udaras.ie/eolaire/ionad-seirbhisi-teanga-chleire/</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4800020"/>
                  </a:ext>
                </a:extLst>
              </a:tr>
              <a:tr h="211396">
                <a:tc>
                  <a:txBody>
                    <a:bodyPr/>
                    <a:lstStyle/>
                    <a:p>
                      <a:pPr algn="just"/>
                      <a:r>
                        <a:rPr lang="ga-IE" sz="1200" b="1">
                          <a:effectLst/>
                          <a:latin typeface="Calibri" panose="020F0502020204030204" pitchFamily="34" charset="0"/>
                          <a:ea typeface="Times New Roman" panose="02020603050405020304" pitchFamily="18" charset="0"/>
                          <a:cs typeface="Times New Roman" panose="02020603050405020304" pitchFamily="18" charset="0"/>
                        </a:rPr>
                        <a:t>Port Láirge</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1" dirty="0">
                          <a:effectLst/>
                          <a:latin typeface="Calibri" panose="020F0502020204030204" pitchFamily="34" charset="0"/>
                          <a:ea typeface="Times New Roman" panose="02020603050405020304" pitchFamily="18" charset="0"/>
                          <a:cs typeface="Times New Roman" panose="02020603050405020304" pitchFamily="18" charset="0"/>
                        </a:rPr>
                        <a:t>25</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Na Déise</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Comhlucht Forbartha na nDéise</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tabLst>
                          <a:tab pos="762635" algn="l"/>
                        </a:tabLst>
                      </a:pP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18"/>
                        </a:rPr>
                        <a:t>https://udaras.ie/en/directory/comhlucht-forbartha-na-ndeise-teo/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tabLst>
                          <a:tab pos="762635" algn="l"/>
                        </a:tabLst>
                      </a:pP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19"/>
                        </a:rPr>
                        <a:t>http://www.deise.ie/</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9342224"/>
                  </a:ext>
                </a:extLst>
              </a:tr>
              <a:tr h="0">
                <a:tc>
                  <a:txBody>
                    <a:bodyPr/>
                    <a:lstStyle/>
                    <a:p>
                      <a:pPr algn="just"/>
                      <a:r>
                        <a:rPr lang="ga-IE" sz="1200" b="1">
                          <a:effectLst/>
                          <a:latin typeface="Calibri" panose="020F0502020204030204" pitchFamily="34" charset="0"/>
                          <a:ea typeface="Times New Roman" panose="02020603050405020304" pitchFamily="18" charset="0"/>
                          <a:cs typeface="Times New Roman" panose="02020603050405020304" pitchFamily="18" charset="0"/>
                        </a:rPr>
                        <a:t>An Mhí</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1" dirty="0">
                          <a:effectLst/>
                          <a:latin typeface="Calibri" panose="020F0502020204030204" pitchFamily="34" charset="0"/>
                          <a:ea typeface="Times New Roman" panose="02020603050405020304" pitchFamily="18" charset="0"/>
                          <a:cs typeface="Times New Roman" panose="02020603050405020304" pitchFamily="18" charset="0"/>
                        </a:rPr>
                        <a:t>26</a:t>
                      </a: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dirty="0">
                          <a:effectLst/>
                          <a:latin typeface="Calibri" panose="020F0502020204030204" pitchFamily="34" charset="0"/>
                          <a:ea typeface="Times New Roman" panose="02020603050405020304" pitchFamily="18" charset="0"/>
                          <a:cs typeface="Times New Roman" panose="02020603050405020304" pitchFamily="18" charset="0"/>
                        </a:rPr>
                        <a:t>Ráth Chairn agus Baile </a:t>
                      </a:r>
                      <a:r>
                        <a:rPr lang="ga-IE" sz="1200" b="0" dirty="0" err="1">
                          <a:effectLst/>
                          <a:latin typeface="Calibri" panose="020F0502020204030204" pitchFamily="34" charset="0"/>
                          <a:ea typeface="Times New Roman" panose="02020603050405020304" pitchFamily="18" charset="0"/>
                          <a:cs typeface="Times New Roman" panose="02020603050405020304" pitchFamily="18" charset="0"/>
                        </a:rPr>
                        <a:t>Ghib</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a:effectLst/>
                          <a:latin typeface="Calibri" panose="020F0502020204030204" pitchFamily="34" charset="0"/>
                          <a:ea typeface="Times New Roman" panose="02020603050405020304" pitchFamily="18" charset="0"/>
                          <a:cs typeface="Times New Roman" panose="02020603050405020304" pitchFamily="18" charset="0"/>
                        </a:rPr>
                        <a:t>Comharchumann Ráth Chairn Teo</a:t>
                      </a:r>
                      <a:endParaRPr lang="ga-IE" sz="1200" b="1">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20"/>
                        </a:rPr>
                        <a:t>https://udaras.ie/en/directory/comharchumann-rath-cairn-teo/</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r>
                        <a:rPr lang="ga-IE" sz="1200" b="0" u="sng"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21"/>
                        </a:rPr>
                        <a:t>https://www.rathchairn.com/</a:t>
                      </a:r>
                      <a:endParaRPr lang="ga-IE" sz="1200" b="1"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29052" marR="290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7236881"/>
                  </a:ext>
                </a:extLst>
              </a:tr>
            </a:tbl>
          </a:graphicData>
        </a:graphic>
      </p:graphicFrame>
    </p:spTree>
    <p:extLst>
      <p:ext uri="{BB962C8B-B14F-4D97-AF65-F5344CB8AC3E}">
        <p14:creationId xmlns:p14="http://schemas.microsoft.com/office/powerpoint/2010/main" val="1005851748"/>
      </p:ext>
    </p:extLst>
  </p:cSld>
  <p:clrMapOvr>
    <a:masterClrMapping/>
  </p:clrMapOvr>
</p:sld>
</file>

<file path=ppt/theme/theme1.xml><?xml version="1.0" encoding="utf-8"?>
<a:theme xmlns:a="http://schemas.openxmlformats.org/drawingml/2006/main" name="Téa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2706</TotalTime>
  <Words>6567</Words>
  <Application>Microsoft Office PowerPoint</Application>
  <PresentationFormat>Widescreen</PresentationFormat>
  <Paragraphs>745</Paragraphs>
  <Slides>58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Arial</vt:lpstr>
      <vt:lpstr>Calibri</vt:lpstr>
      <vt:lpstr>Calibri Light</vt:lpstr>
      <vt:lpstr>Symbol</vt:lpstr>
      <vt:lpstr>Times New Roman</vt:lpstr>
      <vt:lpstr>Téama Office</vt:lpstr>
      <vt:lpstr> An Dioplóma sa Ghaeilge (C1)  Saíocht na Gaeilge agus na Gaeltachta An Ghaeilge, an Ghaeltacht agus Pleanáil Teanga. </vt:lpstr>
      <vt:lpstr>Tá bileog oibre le déanamh mar pháirt den cheardlann seo.  Freagair a oiread ceisteanna agus is féidir leat.</vt:lpstr>
      <vt:lpstr>Téamaí na Ceardlainne</vt:lpstr>
      <vt:lpstr>1. Cás na Gaeilge i bPoblacht na hÉireann.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Dioplóma sa Ghaeilge (C1)  Saíocht na Gaeilge agus na Gaeltachta An Ghaeilge, an Ghaeltacht agus Pleanáil Teanga.</dc:title>
  <dc:creator>MacGiolla Eáin, Conchúr</dc:creator>
  <cp:lastModifiedBy>MacGiolla Eáin, Conchúr</cp:lastModifiedBy>
  <cp:revision>70</cp:revision>
  <cp:lastPrinted>2020-11-30T15:04:01Z</cp:lastPrinted>
  <dcterms:created xsi:type="dcterms:W3CDTF">2020-11-29T10:21:26Z</dcterms:created>
  <dcterms:modified xsi:type="dcterms:W3CDTF">2020-12-05T09:50:56Z</dcterms:modified>
</cp:coreProperties>
</file>