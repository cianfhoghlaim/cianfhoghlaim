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381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381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381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381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381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381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414141"/>
          </a:solidFill>
        </a:fill>
      </a:tcStyle>
    </a:band2H>
    <a:firstCol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14141"/>
          </a:solidFill>
        </a:fill>
      </a:tcStyle>
    </a:lastRow>
    <a:firstRow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38100" cap="flat">
              <a:solidFill>
                <a:srgbClr val="414141"/>
              </a:solidFill>
              <a:prstDash val="solid"/>
              <a:round/>
            </a:ln>
          </a:top>
          <a:bottom>
            <a:ln w="127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414141"/>
        </a:fontRef>
        <a:srgbClr val="414141"/>
      </a:tcTxStyle>
      <a:tcStyle>
        <a:tcBdr>
          <a:left>
            <a:ln w="12700" cap="flat">
              <a:solidFill>
                <a:srgbClr val="414141"/>
              </a:solidFill>
              <a:prstDash val="solid"/>
              <a:round/>
            </a:ln>
          </a:left>
          <a:right>
            <a:ln w="12700" cap="flat">
              <a:solidFill>
                <a:srgbClr val="414141"/>
              </a:solidFill>
              <a:prstDash val="solid"/>
              <a:round/>
            </a:ln>
          </a:right>
          <a:top>
            <a:ln w="12700" cap="flat">
              <a:solidFill>
                <a:srgbClr val="414141"/>
              </a:solidFill>
              <a:prstDash val="solid"/>
              <a:round/>
            </a:ln>
          </a:top>
          <a:bottom>
            <a:ln w="38100" cap="flat">
              <a:solidFill>
                <a:srgbClr val="414141"/>
              </a:solidFill>
              <a:prstDash val="solid"/>
              <a:round/>
            </a:ln>
          </a:bottom>
          <a:insideH>
            <a:ln w="12700" cap="flat">
              <a:solidFill>
                <a:srgbClr val="414141"/>
              </a:solidFill>
              <a:prstDash val="solid"/>
              <a:round/>
            </a:ln>
          </a:insideH>
          <a:insideV>
            <a:ln w="12700" cap="flat">
              <a:solidFill>
                <a:srgbClr val="41414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 0">
    <p:bg>
      <p:bgPr>
        <a:solidFill>
          <a:srgbClr val="414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2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Picture Placeholder 2"/>
          <p:cNvSpPr/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/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1" name="Body Level One…"/>
          <p:cNvSpPr txBox="1"/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tif"/><Relationship Id="rId3" Type="http://schemas.openxmlformats.org/officeDocument/2006/relationships/image" Target="../media/image3.tif"/><Relationship Id="rId4" Type="http://schemas.openxmlformats.org/officeDocument/2006/relationships/image" Target="../media/image4.tif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tif"/><Relationship Id="rId3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intersecting circlesGroup 7"/>
          <p:cNvGrpSpPr/>
          <p:nvPr/>
        </p:nvGrpSpPr>
        <p:grpSpPr>
          <a:xfrm>
            <a:off x="1155479" y="498345"/>
            <a:ext cx="9902665" cy="5861308"/>
            <a:chOff x="0" y="-1"/>
            <a:chExt cx="9902664" cy="5861306"/>
          </a:xfrm>
        </p:grpSpPr>
        <p:sp>
          <p:nvSpPr>
            <p:cNvPr id="121" name="Oval 5"/>
            <p:cNvSpPr/>
            <p:nvPr/>
          </p:nvSpPr>
          <p:spPr>
            <a:xfrm>
              <a:off x="-1" y="-2"/>
              <a:ext cx="5861306" cy="5861308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Oval 9"/>
            <p:cNvSpPr/>
            <p:nvPr/>
          </p:nvSpPr>
          <p:spPr>
            <a:xfrm>
              <a:off x="4041358" y="-2"/>
              <a:ext cx="5861306" cy="5861308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3" name="Oval 5"/>
            <p:cNvSpPr/>
            <p:nvPr/>
          </p:nvSpPr>
          <p:spPr>
            <a:xfrm>
              <a:off x="2009866" y="-2"/>
              <a:ext cx="5861306" cy="586130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25" name="ribbonRectangle 12"/>
          <p:cNvSpPr/>
          <p:nvPr/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itle 1"/>
          <p:cNvSpPr txBox="1"/>
          <p:nvPr>
            <p:ph type="title"/>
          </p:nvPr>
        </p:nvSpPr>
        <p:spPr>
          <a:xfrm>
            <a:off x="1524000" y="2776538"/>
            <a:ext cx="9144000" cy="138119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44546A"/>
                </a:solidFill>
              </a:defRPr>
            </a:lvl1pPr>
          </a:lstStyle>
          <a:p>
            <a:pPr/>
            <a:r>
              <a:t>Mathematics, Computer Science, and Education</a:t>
            </a:r>
          </a:p>
        </p:txBody>
      </p:sp>
      <p:sp>
        <p:nvSpPr>
          <p:cNvPr id="127" name="Subtitle 2"/>
          <p:cNvSpPr txBox="1"/>
          <p:nvPr>
            <p:ph type="body" sz="quarter" idx="1"/>
          </p:nvPr>
        </p:nvSpPr>
        <p:spPr>
          <a:xfrm>
            <a:off x="1524000" y="4495800"/>
            <a:ext cx="9144000" cy="7620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/>
            <a:r>
              <a:t>NUI Galway Taster Day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0" name="Content Placeholder 4" descr="Content Placeholder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2730" y="2919665"/>
            <a:ext cx="3841163" cy="2371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8108" y="2919664"/>
            <a:ext cx="3570479" cy="23717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2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15177" y="3630259"/>
            <a:ext cx="3890963" cy="29027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5" name="Content Placeholder 4" descr="Content Placeholder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2192001" cy="68732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Content Placeholder 4" descr="Content Placeholder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338" y="1276350"/>
            <a:ext cx="12115324" cy="40821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https://www.youtube.com/watch?v=QvyTEx1wyOY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39017" y="2973889"/>
            <a:ext cx="5713966" cy="2659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12011" y="365125"/>
            <a:ext cx="6287747" cy="160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3982" y="1485900"/>
            <a:ext cx="1892044" cy="25734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93982" y="4194242"/>
            <a:ext cx="1892044" cy="24824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Picture 7" descr="Picture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468363" y="4194242"/>
            <a:ext cx="2129655" cy="2534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Picture 8" descr="Picture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468363" y="1485900"/>
            <a:ext cx="2129655" cy="25003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2" name="Content Placeholder 4" descr="Content Placeholder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333249" cy="68496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Content Placeholder 8" descr="Content Placeholder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3596"/>
            <a:ext cx="12192000" cy="6861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ounded Rectangle 9"/>
          <p:cNvSpPr/>
          <p:nvPr/>
        </p:nvSpPr>
        <p:spPr>
          <a:xfrm>
            <a:off x="675060" y="5824537"/>
            <a:ext cx="10678740" cy="60971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Content Placeholder 2"/>
          <p:cNvSpPr txBox="1"/>
          <p:nvPr>
            <p:ph type="body" sz="quarter" idx="1"/>
          </p:nvPr>
        </p:nvSpPr>
        <p:spPr>
          <a:xfrm>
            <a:off x="528636" y="5410200"/>
            <a:ext cx="10825166" cy="9191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5582" y="587375"/>
            <a:ext cx="9251273" cy="4759325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TextBox 7"/>
          <p:cNvSpPr txBox="1"/>
          <p:nvPr/>
        </p:nvSpPr>
        <p:spPr>
          <a:xfrm>
            <a:off x="675059" y="5824538"/>
            <a:ext cx="10754577" cy="392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Programmer ⑊ Hacker ⑊ Software Engineer ⑊ Coder ⑊ Computer Scientist ⑊ Developer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4800" y="2519363"/>
            <a:ext cx="914401" cy="914402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itle 1"/>
          <p:cNvSpPr txBox="1"/>
          <p:nvPr>
            <p:ph type="title"/>
          </p:nvPr>
        </p:nvSpPr>
        <p:spPr>
          <a:xfrm>
            <a:off x="433495" y="3433762"/>
            <a:ext cx="3197014" cy="2743202"/>
          </a:xfrm>
          <a:prstGeom prst="rect">
            <a:avLst/>
          </a:prstGeom>
        </p:spPr>
        <p:txBody>
          <a:bodyPr anchor="t"/>
          <a:lstStyle>
            <a:lvl1pPr algn="ctr">
              <a:defRPr sz="3700"/>
            </a:lvl1pPr>
          </a:lstStyle>
          <a:p>
            <a:pPr/>
            <a:r>
              <a:t>The Math Process</a:t>
            </a:r>
          </a:p>
        </p:txBody>
      </p:sp>
      <p:sp>
        <p:nvSpPr>
          <p:cNvPr id="164" name="Content Placeholder 2"/>
          <p:cNvSpPr txBox="1"/>
          <p:nvPr>
            <p:ph type="body" idx="1"/>
          </p:nvPr>
        </p:nvSpPr>
        <p:spPr>
          <a:xfrm>
            <a:off x="4064000" y="643467"/>
            <a:ext cx="7289800" cy="5533496"/>
          </a:xfrm>
          <a:prstGeom prst="rect">
            <a:avLst/>
          </a:prstGeom>
        </p:spPr>
        <p:txBody>
          <a:bodyPr anchor="ctr"/>
          <a:lstStyle/>
          <a:p>
            <a:pPr marL="514350" indent="-514350">
              <a:buFontTx/>
              <a:buAutoNum type="arabicPeriod" startAt="1"/>
              <a:defRPr sz="2600"/>
            </a:pPr>
          </a:p>
          <a:p>
            <a:pPr marL="514350" indent="-514350">
              <a:buClr>
                <a:srgbClr val="0070C0"/>
              </a:buClr>
              <a:buFontTx/>
              <a:buAutoNum type="arabicPeriod" startAt="1"/>
              <a:defRPr sz="2600"/>
            </a:pPr>
            <a:r>
              <a:t>Math teaches understanding and communication through abstract language.</a:t>
            </a:r>
          </a:p>
          <a:p>
            <a:pPr marL="514350" indent="-514350">
              <a:buFontTx/>
              <a:buAutoNum type="arabicPeriod" startAt="1"/>
              <a:defRPr sz="2600"/>
            </a:pPr>
          </a:p>
          <a:p>
            <a:pPr marL="514350" indent="-514350">
              <a:buClr>
                <a:srgbClr val="0070C0"/>
              </a:buClr>
              <a:buFontTx/>
              <a:buAutoNum type="arabicPeriod" startAt="2"/>
              <a:defRPr sz="2600"/>
            </a:pPr>
            <a:r>
              <a:t>Math teaches how to work with algorithms.</a:t>
            </a:r>
          </a:p>
          <a:p>
            <a:pPr marL="514350" indent="-514350">
              <a:buClr>
                <a:srgbClr val="0070C0"/>
              </a:buClr>
              <a:buFontTx/>
              <a:buAutoNum type="arabicPeriod" startAt="2"/>
              <a:defRPr sz="2600"/>
            </a:pPr>
          </a:p>
          <a:p>
            <a:pPr marL="514350" indent="-514350">
              <a:buClr>
                <a:srgbClr val="0070C0"/>
              </a:buClr>
              <a:buFontTx/>
              <a:buAutoNum type="arabicPeriod" startAt="3"/>
              <a:defRPr sz="2600"/>
            </a:pPr>
            <a:r>
              <a:t>Math teaches students how to analyse their work.</a:t>
            </a:r>
          </a:p>
          <a:p>
            <a:pPr marL="0" indent="0">
              <a:buSzTx/>
              <a:buNone/>
              <a:defRPr sz="2600"/>
            </a:pPr>
            <a:br/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5354" y="1825625"/>
            <a:ext cx="2412223" cy="45678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0384" y="365125"/>
            <a:ext cx="3933558" cy="12578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90979" y="-456940"/>
            <a:ext cx="5840637" cy="2901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Picture 13" descr="Picture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90979" y="2033588"/>
            <a:ext cx="5469536" cy="30527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Content Placeholder 11" descr="Content Placeholder 1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305427" y="3877469"/>
            <a:ext cx="3886573" cy="31035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02336">
              <a:defRPr sz="1700"/>
            </a:pPr>
            <a:br/>
            <a:br/>
            <a:r>
              <a:t>How Many Millions of Lines of Code Does It Take?</a:t>
            </a:r>
            <a:br/>
            <a:br/>
          </a:p>
        </p:txBody>
      </p:sp>
      <p:pic>
        <p:nvPicPr>
          <p:cNvPr id="174" name="Content Placeholder 8" descr="Content Placeholder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0989" y="2085975"/>
            <a:ext cx="11330024" cy="39203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026998" y="217952"/>
            <a:ext cx="5618978" cy="3160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Content Placeholder 9" descr="Content Placeholder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00425" y="3088"/>
            <a:ext cx="8658225" cy="68549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414141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1414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1414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